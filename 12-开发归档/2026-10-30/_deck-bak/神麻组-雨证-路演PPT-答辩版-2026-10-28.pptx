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1.svg" ContentType="image/svg+xml"/>
  <Override PartName="/ppt/media/image8.svg" ContentType="image/svg+xml"/>
  <Override PartName="/ppt/media/media1.m4a" ContentType="audi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71" r:id="rId19"/>
    <p:sldId id="257" r:id="rId4"/>
    <p:sldId id="258" r:id="rId5"/>
    <p:sldId id="259" r:id="rId6"/>
    <p:sldId id="260" r:id="rId7"/>
    <p:sldId id="272" r:id="rId20"/>
    <p:sldId id="261" r:id="rId8"/>
    <p:sldId id="270" r:id="rId9"/>
    <p:sldId id="262" r:id="rId10"/>
    <p:sldId id="278" r:id="rId26"/>
    <p:sldId id="269" r:id="rId13"/>
    <p:sldId id="273" r:id="rId21"/>
    <p:sldId id="274" r:id="rId22"/>
    <p:sldId id="279" r:id="rId27"/>
    <p:sldId id="280" r:id="rId28"/>
    <p:sldId id="263" r:id="rId11"/>
    <p:sldId id="281" r:id="rId29"/>
    <p:sldId id="282" r:id="rId30"/>
    <p:sldId id="275" r:id="rId23"/>
    <p:sldId id="283" r:id="rId31"/>
    <p:sldId id="285" r:id="rId33"/>
    <p:sldId id="264" r:id="rId12"/>
    <p:sldId id="276" r:id="rId24"/>
    <p:sldId id="277" r:id="rId25"/>
    <p:sldId id="284" r:id="rId32"/>
    <p:sldId id="266" r:id="rId14"/>
    <p:sldId id="286" r:id="rId34"/>
    <p:sldId id="287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7.xml"/><Relationship Id="rId12" Type="http://schemas.openxmlformats.org/officeDocument/2006/relationships/slide" Target="slides/slide23.xml"/><Relationship Id="rId13" Type="http://schemas.openxmlformats.org/officeDocument/2006/relationships/slide" Target="slides/slide12.xml"/><Relationship Id="rId14" Type="http://schemas.openxmlformats.org/officeDocument/2006/relationships/slide" Target="slides/slide27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2.xml"/><Relationship Id="rId20" Type="http://schemas.openxmlformats.org/officeDocument/2006/relationships/slide" Target="slides/slide7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20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11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1.xml"/><Relationship Id="rId32" Type="http://schemas.openxmlformats.org/officeDocument/2006/relationships/slide" Target="slides/slide26.xml"/><Relationship Id="rId33" Type="http://schemas.openxmlformats.org/officeDocument/2006/relationships/slide" Target="slides/slide22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5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r>
              <a:rPr sz="1350">
                <a:solidFill>
                  <a:srgbClr val="FFFFFF"/>
                </a:solidFill>
              </a:rPr>
              <a:t>各城市触发概率（保单期内累计降雨 ≥ 50 mm，%）</a:t>
            </a:r>
            <a:endParaRPr sz="1350">
              <a:solidFill>
                <a:srgbClr val="FFFFFF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24h 触发概率（≥50mm，%）</c:v>
                </c:pt>
              </c:strCache>
            </c:strRef>
          </c:tx>
          <c:spPr>
            <a:solidFill>
              <a:srgbClr val="2D7FF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{4.77,4.557,2.281,11.574,3.724}</c:f>
              <c:numCache>
                <c:formatCode>General</c:formatCode>
                <c:ptCount val="5"/>
                <c:pt idx="0">
                  <c:v>0.754</c:v>
                </c:pt>
                <c:pt idx="1">
                  <c:v>0.754</c:v>
                </c:pt>
                <c:pt idx="2">
                  <c:v>0.438</c:v>
                </c:pt>
                <c:pt idx="3">
                  <c:v>1.420</c:v>
                </c:pt>
                <c:pt idx="4">
                  <c:v>0.592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12h 触发概率（≥50mm，%）</c:v>
                </c:pt>
              </c:strCache>
            </c:strRef>
          </c:tx>
          <c:spPr>
            <a:solidFill>
              <a:srgbClr val="F5A52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{10,10,10,10,10}</c:f>
              <c:numCache>
                <c:formatCode>General</c:formatCode>
                <c:ptCount val="5"/>
                <c:pt idx="0">
                  <c:v>0.220</c:v>
                </c:pt>
                <c:pt idx="1">
                  <c:v>0.198</c:v>
                </c:pt>
                <c:pt idx="2">
                  <c:v>0.117</c:v>
                </c:pt>
                <c:pt idx="3">
                  <c:v>0.326</c:v>
                </c:pt>
                <c:pt idx="4">
                  <c:v>0.171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0A1422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FFFFFF">
                  <a:alpha val="62000"/>
                </a:s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4c34dc7-2473-4d80-9158-edf07039920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口播：各位评委好，我们是雨证团队。今天只讲一件事 —— 为什么这门生意过去做不成，以及我们把它做成了可以当场验证的样子。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动作：不要念标题，直接说「先看一个人」。停顿 1 秒再翻页。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口播：暴雨橙色预警那天，他还是出门了 —— 因为不出勤就没有收入。全平台 300 万骑手，暴雨日收入掉三成左右，而他拿到的赔偿是 0。不是没人愿意赔，是他不知道该找谁。</a:t>
            </a:r>
          </a:p>
          <a:p>
            <a:r>
              <a:rPr sz="1100"/>
              <a:t>动作：说「0」的时候指第三张卡片，停一秒。这一页不解释技术。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口播：单次赔几十到几百，但人工报案、查勘、核赔这四步走完，固定成本跟赔款同量级。所以保险公司的理性选择是不卖 —— 这不是产品问题，是成本结构问题。</a:t>
            </a:r>
          </a:p>
          <a:p>
            <a:r>
              <a:rPr sz="1100"/>
              <a:t>动作：从左到右划一下这条链，落到「不卖」两个字上。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口播：AI 加天气，行业里几乎所有人都在做预测 —— ECMWF、GFS、ICON。但预报越准，这款产品越难成立：人人都挑下雨那天来买。所以门槛不在算得准，在谁敢按这个数付钱。</a:t>
            </a:r>
          </a:p>
          <a:p>
            <a:r>
              <a:rPr sz="1100"/>
              <a:t>动作：说 BUT 之前停半秒，这是全场唯一的转折点。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口播：所以我们根本不问「你损失了多少」，只看一个公开数字：保单期内这个区域下了多少雨。五步：投保、喂价、判定、赔付、核验。定损这一环，成本是零。</a:t>
            </a:r>
          </a:p>
          <a:p>
            <a:r>
              <a:rPr sz="1100"/>
              <a:t>动作：五个 STEP 逐个点一下，说「定损成本接近零」时停一拍。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口播：三条证据，都能当场核。第一条是 V5 时期的保单 #0：上海 12 小时，档线 30 毫米，买入时基线 172 毫米，窗口内增量 0 毫米 —— 判 DENY，不赔。这是我们特意留在链上的「不赔」样本。第二条是 V6 合约：122 个喂价区划、244 格价目全量迁移，迁移基线哈希已经上链。第三条是资金台账：注资加保费减退赔，逐分等于池子里那 4,958.40 元。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DENY。评委最容易记住的是我们没有藏起不赔的样本。被问到「V6 现在有单吗」就照实说：V6 是 0 张，那张 #0 在 V5 合约上，标注已经写在页面上。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口播：接下来这三分钟我不讲 PPT，请您跟我点四个地方。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演示前 30 分钟必须完成：① node 07-测试工具/build-site.js 构建 site-dist；② python -m http.server 8096 --bind 127.0.0.1 --directory site-dist；③ 预开四个标签并按序各刷一次：verify-v6 → rider → console → insurance；④ 钱包解锁、网络为测试网 968、关掉全部通知；⑤ 喂价保鲜 &lt; 24h，否则投保会 revert「stale feed」。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演示顺序：核验台点「重新核验」看 8/8 → 骑手端看保单与理赔 → 控制台看五城费率与事件流 → 回核验台收住。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兜底：任何一步卡 20 秒以上，立刻切录屏，绝不当场调试。详细步骤见《09-现场演示操作脚本》。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口播：统一定价是错的。同样 24 小时档，湖北最贵的汉南区 10.5 元、最便宜的房县 2.4 元，差 4.4 倍；五城之间武汉 8.80、上海 5.30，差 66%。如果用一个价卖全国：贵的城市赔穿，便宜的城市被逆选择 —— 这是精算问题，不是定价策略问题。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4.4×，再指右边那张价目表。这一页对应专业深度 20%。左边那张 72 小时图只用来说明「窗口越长越不可控」，在售只有 12h / 24h，别说成在售档位。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口播：架构只有一件事值得说 —— 层与层之间传递的不是数据，是哈希。五层里，数据层和 AI 层都可以被替换；只要输入和输出能落成同一个哈希，整条链路照样成立。右边三条硬规则里，最重要的是第 3 条：一张保单的判定只能写一次。</a:t>
            </a:r>
          </a:p>
          <a:p>
            <a:r>
              <a:rPr sz="1100"/>
              <a:t>动作：只讲「接缝是哈希」这一句，别逐层念。评委关心的是责任边界，不是目录层级。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口播：雨是数据，判定是代码，付款不需要我们点头。规则和证据都在链上 —— 您自己验。</a:t>
            </a:r>
          </a:p>
          <a:p>
            <a:r>
              <a:rPr sz="1100"/>
              <a:t>动作：说完这句停住，不要补充。留 2 秒空白再谢场。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口播：全篇二十六页，分六段：问题、方案、现场演示、技术与创新、市场与商业、团队与收束。您手里那张评分表，五个维度我逐项对应，不按分数顺序讲。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动作：只说「六段」，不要逐行念标题。这一页给地图，不是给内容。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口播：把产品拆到最小，就是六个参数：哪个城市、多长时间、雨下到多少、赔多少、卖多少钱、怎么结算。前五个里五个写死在合约，唯一能改的是价格，而每次改价都要上链并附一条依据哈希。</a:t>
            </a:r>
          </a:p>
          <a:p>
            <a:r>
              <a:rPr sz="1100"/>
              <a:t>动作：手指依次点 01→06，只说「六个参数」四个字，别逐个念值。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口播：三个创新不是并列的功能，是一条因果链。第一，把定损删掉 —— 参数化不新，新的是用在个人、小额、高频、没有凭证的收入中断上；第二，AI 只验真不判赔 —— 因为删掉定损之后，判定必须是确定的；第三，结论可以被第三方复算 —— 因为判定确定，所以能复算。前两条决定了第三条成立，第三条才是壁垒。</a:t>
            </a:r>
          </a:p>
          <a:p>
            <a:r>
              <a:rPr sz="1100"/>
              <a:t>动作：讲第三条时手停在最右列，这是 30% 创新分落点。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口播：市场我故意说小。全量骑手 500 到 700 万，但不是每个人都会买、也不是每天都下雨。能被参数化定价、又真的会被打断收入的，第一年只有 2 万人，第三年 80 万人、1.1 亿保费。五条假设都写在右边，换一组参数，结论跟着变 —— 我们不给单点估值。</a:t>
            </a:r>
          </a:p>
          <a:p>
            <a:r>
              <a:rPr sz="1100"/>
              <a:t>动作：先指 TAM 再指 SOM，强调「说小是故意的」，这句能加分。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口播：合规我先说三件。第一，我们不做承保主体，保单法律关系在持牌方，我们收科技服务费；第二，参数化产品的触发口径必须写进条款 —— 城市、时段、档线、数据源、容差、拒收规则，一条都不能少；第三，AI 不进哈希、不改结论，所以算法责任是清晰的。下面三个问题我们还没完全解决，但都有处置方向。</a:t>
            </a:r>
          </a:p>
          <a:p>
            <a:r>
              <a:rPr sz="1100"/>
              <a:t>动作：主动念出「还没解决」，评委就不会拿它当杀手问题。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口播：三年三步。第一年只证一件事 —— 单个城市跑通「判定、赔付、复算」这条闭环，赔付率稳在 60% 以下。这一步过了，后面只是复制。</a:t>
            </a:r>
          </a:p>
          <a:p>
            <a:r>
              <a:rPr sz="1100"/>
              <a:t>动作：指第一行的「1 城 · 2 万骑手」，别说 1.12 亿这个数。学生团队说小目标可信，说大目标扣分。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口播：三个人，三个专业：金融数学做规则与定价，劳动与社会保障做政策与条款口径，城市管理做区划映射与场景落地。下面这六行不是简历，是我们已经交出来的东西 —— 代码在跑、链上有交易、回测有数据。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动作：不要念名字，念「三个专业」和「已经交出来的东西」，名字让评委自己看。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口播：骑手自己不付钱。单均保费只有几元，靠逐单付费撑不起渠道成本。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愿意付费的是有合规与舆情压力的一方 —— 平台：一次决策覆盖上万骑手，边际获客成本趋近于零。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动作：指「平台 / 众包服务商」那行的「推荐」标；第二阶段保险公司那句一句带过。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口播：回到开头那个骑手。传统意外险看实际受伤与实际损失，要报案、要查勘；我们只看链上降雨量有没有越过档线。</a:t>
            </a:r>
          </a:p>
          <a:p>
            <a:r>
              <a:rPr sz="1100"/>
              <a:t>贵的不是赔付，是「查」。</a:t>
            </a:r>
          </a:p>
          <a:p>
            <a:r>
              <a:rPr sz="1100"/>
              <a:t>动作：最后一句放慢，说完立刻翻页，不要停下来解释。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讲这一页只用一句话：费率不是我拍的，是 11 年逐小时数据算出来的，而且换个人跑同一个引擎得同一个数。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如果评委追问极端值：24h 档 VaR99 为负，准备金下限取 0；真正吃紧的是同城集中赔付，靠跨城市分散（10 对城市仅 2 对显著相关）化解。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这一页回答「为什么是你们」。不要说「我们没有竞争对手」，要说清楚四类玩家各自做到了哪一层、为什么跨不到我们这一层：城市级巨灾不解决个人小额高频，平台补贴不是保险、不可审计。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诚实版护城河。主动报弱点，比等评委问出来强。三个弱点都要接一句「已经在做什么」。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单位经济这一页最好用一张嘴算完：2.2 元里 34% 赔出去、14% 是固定成本、25% 是渠道、12% 是科技毛利。评委常问「你怎么保证不赔穿」——答案是三条安全边际，不是靠涨价。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财务这页的关键不是数字漂亮，是假设齐。被问「凭什么 80 万骑手」就答：单城在保规模上限由平台单量决定，不由我们的销售能力决定 —— 这是 B2B2C 的特征。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如果只讲一条，讲逆选择：它不是「注意一下」，而是直接进了价格表（3–6 倍差价）。最后一条主动认，比被问出来好。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Ask 页要短。三件事：一家持牌、一家渠道、150 万。然后立刻解释 150 万和 80 万不是一回事，避免被当成烧钱。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这一页讲格局：不吹市场规模，讲这个能力还能用在哪。政策那条线只陈述文件事实，不引申政策背书。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附录不放正文，被问「怎么证明」时直接翻。重点是「现在就能跑」，不是「可以提供」。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附录 B 的作用是先手：评委质疑某个数字，直接翻到这页给来源；没有来源的我们就不写。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audio" Target="../media/media1.m4a"/><Relationship Id="rId3" Type="http://schemas.microsoft.com/office/2007/relationships/media" Target="../media/media1.m4a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image" Target="../media/image4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tags" Target="../tags/tag23.xml"/><Relationship Id="rId8" Type="http://schemas.openxmlformats.org/officeDocument/2006/relationships/tags" Target="../tags/tag24.xml"/><Relationship Id="rId9" Type="http://schemas.openxmlformats.org/officeDocument/2006/relationships/tags" Target="../tags/tag25.xml"/><Relationship Id="rId10" Type="http://schemas.openxmlformats.org/officeDocument/2006/relationships/tags" Target="../tags/tag26.xml"/><Relationship Id="rId11" Type="http://schemas.openxmlformats.org/officeDocument/2006/relationships/tags" Target="../tags/tag27.xm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" name="" descr="&lt;Slide style={{ width: 1280, height: 720, background: '#0A1422', position: 'relative', overflow: 'hidden', padding: 0 }}&gt;&#13;&#10;&#13;&#10;    &lt;Image src=&quot;assets/hero_rain_night.png&quot; style={{ position: 'absolute', top: 0, left: 0, width: 1280, height: 720, objectFit: 'cover', opacity: 0.95 }} /&gt;&#13;&#10;&#13;&#10;    &lt;Box style={{ position: 'absolute', top: 0, left: 0, width: 1280, height: 720, background: 'linear-gradient(90deg, rgba(10,20,34,0.97) 0%, rgba(10,20,34,0.86) 42%, rgba(10,20,34,0.26) 100%)' }} /&gt;&#13;&#10;&#13;&#10;    &lt;Box style={{ position: 'absolute', top: 0, left: 0, width: 1280, height: 720, background: 'linear-gradient(180deg, rgba(10,20,34,0.60) 0%, rgba(10,20,34,0) 38%, rgba(10,20,34,0.80) 100%)' }} /&gt;&#13;&#10;&#13;&#10;    &lt;Box style={{ position: 'absolute', top: 118, left: 96, width: 56, height: 4, background: 'linear-gradient(135deg, #2D7FF9 0%, #22D3EE 100%)' }} /&gt;&#13;&#10;&#13;&#10;    &lt;Box style={{ position: 'absolute', top: 148, left: 96, width: 700, flexDirection: 'column' }}&gt;&#13;&#10;        &lt;Text style={{ fontFamily: 'Consolas', fontSize: 19, letterSpacing: 5, color: '#22D3EE', lineHeight: 1.4 }}&gt;&#13;&#10;            汉客松 S1 · ETH Wuhan 2026&#13;&#10;        &lt;/Text&gt;&#13;&#10;&#13;&#10;        &lt;Text style={{ fontFamily: 'Microsoft YaHei', fontSize: 74, fontWeight: 'bold', color: '#FFFFFF', letterSpacing: 3, lineHeight: 1.15, marginTop: 18 }}&gt;&#13;&#10;            雨证 · RainProof&#13;&#10;        &lt;/Text&gt;&#13;&#10;&#13;&#10;        &lt;Text style={{ fontFamily: 'Microsoft YaHei', fontSize: 27, color: 'rgba(255,255,255,0.88)', letterSpacing: 1.5, lineHeight: 1.45, marginTop: 20 }}&gt;&#13;&#10;            可验证的 AI 参数化配送险&#13;&#10;        &lt;/Text&gt;&#13;&#10;&#13;&#10;        &lt;Box style={{ width: 640, height: 1, background: 'rgba(255,255,255,0.14)', marginTop: 26, marginBottom: 26 }} /&gt;&#13;&#10;&#13;&#10;        &lt;Text style={{ fontFamily: 'Microsoft YaHei', fontSize: 23, color: 'rgba(255,255,255,0.66)', lineHeight: 1.6 }}&gt;&#13;&#10;            把「你信不信我」换成「&lt;span style={{ color: '#F5A524', fontWeight: 'bold' }}&gt;你自己验&lt;/span&gt;」&#13;&#10;        &lt;/Text&gt;&#13;&#10;    &lt;/Box&gt;&#13;&#10;&#13;&#10;    &lt;Box style={{ position: 'absolute', left: 96, bottom: 60, width: 1000, flexDirection: 'row', alignItems: 'center' }}&gt;&#13;&#10;        &lt;Text style={{ fontFamily: 'Microsoft YaHei', fontSize: 17, color: 'rgba(255,255,255,0.50)', letterSpacing: 1 }}&gt;&#13;&#10;            给外卖骑手的参数化降雨险　·　不核灾、不定损、骑手不举证&#13;&#10;        &lt;/Text&gt;&#13;&#10;    &lt;/Box&gt;&#13;&#10;&#13;&#10;    &lt;Box style={{ position: 'absolute', right: 96, bottom: 58, width: 320, flexDirection: 'row', alignItems: 'center', justifyContent: 'flex-end' }}&gt;&#13;&#10;        &lt;Text style={{ fontFamily: 'Consolas', fontSize: 16, color: 'rgba(255,255,255,0.40)', letterSpacing: 1 }}&gt;&#13;&#10;            TEAM 神麻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</a:blip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7000"/>
                </a:srgbClr>
              </a:gs>
              <a:gs pos="42000">
                <a:srgbClr val="0A1422">
                  <a:alpha val="86000"/>
                </a:srgbClr>
              </a:gs>
              <a:gs pos="100000">
                <a:srgbClr val="0A1422">
                  <a:alpha val="26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60000"/>
                </a:srgbClr>
              </a:gs>
              <a:gs pos="38000">
                <a:srgbClr val="0A1422">
                  <a:alpha val="0"/>
                </a:srgbClr>
              </a:gs>
              <a:gs pos="100000">
                <a:srgbClr val="0A1422">
                  <a:alpha val="80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14400" y="1123950"/>
            <a:ext cx="53340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1409700"/>
            <a:ext cx="694944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2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42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1885950"/>
            <a:ext cx="6667500" cy="981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endParaRPr lang="en-US" sz="5550" b="1" spc="2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14400" y="3057525"/>
            <a:ext cx="66675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可验证的</a:t>
            </a:r>
            <a:r>
              <a:rPr lang="en-US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参数化配送险</a:t>
            </a:r>
            <a:endParaRPr lang="zh-CN" sz="2025" spc="113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4400" y="3752850"/>
            <a:ext cx="6096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14400" y="4010025"/>
            <a:ext cx="66675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把「你信不信我」换成「</a:t>
            </a:r>
            <a:r>
              <a:rPr lang="zh-CN" sz="17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</a:t>
            </a:r>
            <a:endParaRPr lang="zh-CN" sz="172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14400" y="6086475"/>
            <a:ext cx="468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面向配送骑手的模拟降雨保障　·　不核灾、不定损、骑手不举证</a:t>
            </a:r>
            <a:endParaRPr lang="zh-CN" sz="1275" spc="7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391775" y="6115050"/>
            <a:ext cx="885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TEAM </a:t>
            </a:r>
            <a:r>
              <a:rPr lang="zh-CN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神麻</a:t>
            </a:r>
            <a:endParaRPr lang="zh-CN" sz="1200" spc="7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4400" y="3593592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Verifiable AI parametric insurance for delivery riders</a:t>
            </a:r>
            <a:endParaRPr sz="1200"/>
          </a:p>
        </p:txBody>
      </p:sp>
      <p:sp>
        <p:nvSpPr>
          <p:cNvPr id="50" name="TextBox 49"/>
          <p:cNvSpPr txBox="1"/>
          <p:nvPr/>
        </p:nvSpPr>
        <p:spPr>
          <a:xfrm>
            <a:off x="914400" y="4544568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Replace "trust me" with "verify it yourself"</a:t>
            </a:r>
            <a:endParaRPr sz="1200"/>
          </a:p>
        </p:txBody>
      </p:sp>
      <p:pic>
        <p:nvPicPr>
          <p:cNvPr id="14" name="rainproof-opening-15s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4550" y="5524500"/>
            <a:ext cx="412750" cy="4127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882127" y="5815584"/>
            <a:ext cx="23774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Consolas"/>
                <a:ea typeface="Consolas"/>
              </a:rPr>
              <a:t>初赛答辩 · 全篇 29 页 · 含现场演示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01 / 29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全篇结构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How this deck is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00 / RUN OF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02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00">
                <a:solidFill>
                  <a:srgbClr val="22D3EE"/>
                </a:solidFill>
                <a:latin typeface="Consolas"/>
                <a:ea typeface="Consolas"/>
              </a:rPr>
              <a:t>STRUCTURE · 29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682496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开场与路线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56816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先给出判断标准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172821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P01–P02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8384" y="1719072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2 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1783080"/>
            <a:ext cx="26416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1728216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249424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31720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286000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问题：不是没人想保，是算不过来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256032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可行性 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2331720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P03–P05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322576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3 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55664" y="2386584"/>
            <a:ext cx="36322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331720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852928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35224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2889504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方案：把「定损」删掉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163824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创新性 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2935224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P06–P08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2926080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3 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5664" y="2990088"/>
            <a:ext cx="36322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2935224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456432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538727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3493008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现场演示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3767328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展示与答辩 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3538727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P09 + 实跑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4" y="3529584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22D3EE"/>
                </a:solidFill>
                <a:latin typeface="Consolas"/>
                <a:ea typeface="Consolas"/>
              </a:rPr>
              <a:t>共 1 页 + 实跑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5664" y="3593591"/>
            <a:ext cx="528320" cy="118872"/>
          </a:xfrm>
          <a:prstGeom prst="rect">
            <a:avLst/>
          </a:prstGeom>
          <a:solidFill>
            <a:srgbClr val="22D3E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90688" y="3538727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16%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059935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142232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" y="4096512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技术与创新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" y="4370832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专业深度 20%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832" y="4142232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P10–P13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4" y="4133087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4 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55664" y="4197096"/>
            <a:ext cx="46228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90688" y="4142232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663440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745736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0432" y="4700016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商业与合规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" y="4974336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可行性 25%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70832" y="474573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P14–P22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58384" y="4736592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9 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55664" y="4800600"/>
            <a:ext cx="85852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90688" y="4745736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26%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" y="5266944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349240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0432" y="5303520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团队 · 收束 · 附录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0432" y="557784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团队 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0832" y="5349240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P23–P29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58384" y="5340096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7 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55664" y="5404104"/>
            <a:ext cx="46228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90688" y="5349240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14%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" y="5870448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85632" y="1700784"/>
            <a:ext cx="7315" cy="404164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05088" y="1700784"/>
            <a:ext cx="27432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80">
                <a:solidFill>
                  <a:srgbClr val="22D3EE"/>
                </a:solidFill>
                <a:latin typeface="Consolas"/>
                <a:ea typeface="Consolas"/>
              </a:rPr>
              <a:t>SCORING MAP · 100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05088" y="2029968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创新性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22992" y="2093976"/>
            <a:ext cx="786384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00816" y="2020824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05088" y="2596896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可行性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22992" y="2660904"/>
            <a:ext cx="655320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100816" y="2587752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05088" y="3163824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专业深度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22992" y="3227832"/>
            <a:ext cx="524255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100816" y="3154680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05088" y="3730752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团队构成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22992" y="3794760"/>
            <a:ext cx="393192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100816" y="372160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05088" y="4297680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展示与答辩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22992" y="4361688"/>
            <a:ext cx="262127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100816" y="4288536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05088" y="5138928"/>
            <a:ext cx="2798064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不按分数顺序讲：先把问题说清，分数自己会到。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51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那天，他还是出门了&#10;        &lt;/Text&gt;&#10;        &lt;Box style={{ flex: 1 }} /&gt;&#10;        &lt;Text style={{ fontFamily: 'Consolas', fontSize: 16, color: 'rgba(255,255,255,0.34)', letterSpacing: 2 }}&gt;&#10;            01 / THE RIDER&#10;        &lt;/Text&gt;&#10;    &lt;/Box&gt;&#10;&#10;    &lt;Box style={{ height: 540, flexDirection: 'row', gap: 30 }}&gt;&#10;&#10;        &lt;Box style={{ width: 500, height: 540, borderRadius: 6, overflow: 'hidden', border: '1px solid rgba(255,255,255,0.12)' }}&gt;&#10;            &lt;Image src=&quot;assets/rider_rain_street.png&quot; style={{ width: '100%', height: '100%', objectFit: 'cover' }} /&gt;&#10;        &lt;/Box&gt;&#10;&#10;        &lt;Box style={{ width: 606, height: 540, flexDirection: 'column' }}&gt;&#10;&#10;            &lt;Text style={{ fontFamily: 'Microsoft YaHei', fontSize: 21, color: 'rgba(255,255,255,0.74)', lineHeight: 1.55 }}&gt;&#10;                暴雨橙色预警。他穿上雨衣，骑上车，跑了 12 个小时 —— 因为当天不出勤，就没有收入。&#10;            &lt;/Text&gt;&#10;&#10;            &lt;Box style={{ flexDirection: 'column', gap: 12, marginTop: 20 }}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2D7FF9' }}&gt;336 万&lt;/Text&gt;&#10;                    &lt;Text style={{ fontFamily: 'Microsoft YaHei', fontSize: 17, color: 'rgba(255,255,255,0.68)', lineHeight: 1.45 }}&gt;&#10;                        中国月均有单骑手&#10;                    &lt;/Text&gt;&#10;                &lt;/Box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F5A524' }}&gt;-30%&lt;/Text&gt;&#10;                    &lt;Text style={{ fontFamily: 'Microsoft YaHei', fontSize: 17, color: 'rgba(255,255,255,0.68)', lineHeight: 1.45 }}&gt;&#10;                        暴雨日，一个骑手的收入&#10;                    &lt;/Text&gt;&#10;                &lt;/Box&gt;&#10;&#10;                &lt;Box style={{ height: 92, background: 'rgba(245,165,36,0.10)', border: '1px solid rgba(245,165,36,0.34)', borderRadius: 5, padding: '0 22px', flexDirection: 'row', alignItems: 'center', gap: 20 }}&gt;&#10;                    &lt;Text style={{ width: 180, fontFamily: 'Consolas', fontSize: 42, fontWeight: 'bold', color: '#F5A524' }}&gt;0&lt;/Text&gt;&#10;                    &lt;Text style={{ fontFamily: 'Microsoft YaHei', fontSize: 17, fontWeight: 'bold', color: '#FFFFFF', lineHeight: 1.45 }}&gt;&#10;                        他能拿到的赔偿&#10;                    &lt;/Text&gt;&#10;                &lt;/Box&gt;&#10;&#10;            &lt;/Box&gt;&#10;&#10;            &lt;Box style={{ marginTop: 'auto' }}&gt;&#10;                &lt;Text style={{ fontFamily: 'Microsoft YaHei', fontSize: 30, fontWeight: 'bold', color: '#FFFFFF', lineHeight: 1.4 }}&gt;&#10;                    而他不知道该找谁赔。&#10;                &lt;/Text&gt;&#10;                &lt;Text style={{ fontFamily: 'Microsoft YaHei', fontSize: 14, color: 'rgba(255,255,255,0.42)', lineHeight: 1.5, marginTop: 10 }}&gt;&#10;                    336 万为美团研究院 2024 年调研口径；-30% 为暴雨日收入折损量级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2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53" name="矩形 152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914400" y="409575"/>
            <a:ext cx="3086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那天，他还是出门了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0058400" y="571500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RIDER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85800" y="1143000"/>
            <a:ext cx="4762500" cy="5143500"/>
          </a:xfrm>
          <a:prstGeom prst="roundRect">
            <a:avLst>
              <a:gd name="adj" fmla="val 1200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"/>
          <a:srcRect l="21547" r="21547"/>
          <a:stretch>
            <a:fillRect/>
          </a:stretch>
        </p:blipFill>
        <p:spPr>
          <a:xfrm>
            <a:off x="685800" y="1143000"/>
            <a:ext cx="4762500" cy="5143500"/>
          </a:xfrm>
          <a:custGeom>
            <a:avLst/>
            <a:gdLst/>
            <a:ahLst/>
            <a:cxnLst/>
            <a:pathLst>
              <a:path w="500" h="540">
                <a:moveTo>
                  <a:pt x="494" y="0"/>
                </a:moveTo>
                <a:cubicBezTo>
                  <a:pt x="497" y="0"/>
                  <a:pt x="500" y="3"/>
                  <a:pt x="500" y="6"/>
                </a:cubicBezTo>
                <a:lnTo>
                  <a:pt x="500" y="534"/>
                </a:lnTo>
                <a:cubicBezTo>
                  <a:pt x="500" y="537"/>
                  <a:pt x="497" y="540"/>
                  <a:pt x="494" y="540"/>
                </a:cubicBezTo>
                <a:lnTo>
                  <a:pt x="6" y="540"/>
                </a:lnTo>
                <a:cubicBezTo>
                  <a:pt x="3" y="540"/>
                  <a:pt x="0" y="537"/>
                  <a:pt x="0" y="53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4" y="0"/>
                </a:lnTo>
                <a:close/>
              </a:path>
            </a:pathLst>
          </a:custGeom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734050" y="1143000"/>
            <a:ext cx="57721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暴雨橙色预警。他穿上雨衣，骑上车，跑了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个小时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因为当天不出勤，就没有收入。</a:t>
            </a:r>
            <a:endParaRPr lang="zh-CN" sz="157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5734050" y="20859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943600" y="23050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300 </a:t>
            </a:r>
            <a:r>
              <a:rPr lang="zh-CN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万</a:t>
            </a:r>
            <a:endParaRPr lang="zh-CN" sz="285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848600" y="2381250"/>
            <a:ext cx="1295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美团官方口径覆盖骑手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5734050" y="30765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5943600" y="32956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-30%</a:t>
            </a:r>
            <a:endParaRPr lang="en-US" sz="28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848600" y="3371850"/>
            <a:ext cx="17811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暴雨日，一个骑手的收入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5734050" y="40671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943600" y="4267200"/>
            <a:ext cx="17145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</a:t>
            </a:r>
            <a:endParaRPr lang="en-US" sz="31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848600" y="4362450"/>
            <a:ext cx="11334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他能拿到的赔偿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734050" y="5457825"/>
            <a:ext cx="57721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而他不知道该找谁赔。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734050" y="6038850"/>
            <a:ext cx="580644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4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300 万为美团 2025-06-26 官方口径；-30% 为暴雨日收入折损量级（公开口径有分歧，仅作量级）</a:t>
            </a:r>
            <a:endParaRPr lang="zh-CN" sz="1050">
              <a:solidFill>
                <a:srgbClr val="FFFFFF">
                  <a:alpha val="4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03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That day, he still went out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72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不是没人想保，是这笔账算不过来&#10;        &lt;/Text&gt;&#10;        &lt;Box style={{ flex: 1 }} /&gt;&#10;        &lt;Text style={{ fontFamily: 'Consolas', fontSize: 16, color: 'rgba(255,255,255,0.34)', letterSpacing: 2 }}&gt;&#10;            02 / THE MATH&#10;        &lt;/Text&gt;&#10;    &lt;/Box&gt;&#10;&#10;    &lt;Box style={{ height: 540, flexDirection: 'column' }}&gt;&#10;&#10;        &lt;Box style={{ height: 190, flexDirection: 'row', alignItems: 'center', justifyContent: 'center', gap: 34 }}&gt;&#10;            &lt;Text style={{ fontFamily: 'Microsoft YaHei', fontSize: 44, fontWeight: 'bold', color: '#FFFFFF' }}&gt;&#10;                查一次的成本&#10;            &lt;/Text&gt;&#10;            &lt;Text style={{ fontFamily: 'Consolas', fontSize: 54, fontWeight: 'bold', color: '#F5A524' }}&gt;&#10;                ≈&#10;            &lt;/Text&gt;&#10;            &lt;Text style={{ fontFamily: 'Microsoft YaHei', fontSize: 44, fontWeight: 'bold', color: '#FFFFFF' }}&gt;&#10;                赔一次的钱&#10;            &lt;/Text&gt;&#10;        &lt;/Box&gt;&#10;&#10;        &lt;Box style={{ flexDirection: 'column', gap: 12, padding: '0 56px' }}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单次赔几十到几百元&#10;                &lt;/Text&gt;&#10;            &lt;/Box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人工报案 + 查勘 + 核赔的固定成本，与赔款同量级&#10;                &lt;/Text&gt;&#10;            &lt;/Box&gt;&#10;            &lt;Box style={{ flexDirection: 'row', alignItems: 'center', gap: 14 }}&gt;&#10;                &lt;Box style={{ width: 6, height: 6, borderRadius: 3, background: '#F5A524' }} /&gt;&#10;                &lt;Text style={{ fontFamily: 'Microsoft YaHei', fontSize: 19, fontWeight: 'bold', color: '#FFFFFF', lineHeight: 1.45 }}&gt;&#10;                    保险公司的理性选择：不卖&#10;                &lt;/Text&gt;&#10;            &lt;/Box&gt;&#10;        &lt;/Box&gt;&#10;&#10;        &lt;Box style={{ marginTop: 'auto', flexDirection: 'row', gap: 20 }}&gt;&#10;&#10;            &lt;Box style={{ flex: 1, background: 'rgba(255,255,255,0.04)', border: '1px solid rgba(255,255,255,0.10)', borderRadius: 5, padding: '16px 22px', flexDirection: 'column' }}&gt;&#10;                &lt;Text style={{ fontFamily: 'Consolas', fontSize: 13, color: 'rgba(255,255,255,0.44)', letterSpacing: 3 }}&gt;&#10;                    下游的三个结果&#10;                &lt;/Text&gt;&#10;                &lt;Text style={{ fontFamily: 'Microsoft YaHei', fontSize: 16, color: 'rgba(255,255,255,0.62)', lineHeight: 1.55, marginTop: 8 }}&gt;&#10;                    损失核不了 · 逆选择与骗赔 · 身份无正式凭据 —— 都是这个成本结构的下游，不是三个独立的问题。&#10;                &lt;/Text&gt;&#10;            &lt;/Box&gt;&#10;&#10;            &lt;Box style={{ width: 336, background: 'rgba(45,127,249,0.10)', border: '1px solid rgba(45,127,249,0.30)', borderRadius: 5, padding: '16px 22px', flexDirection: 'column' }}&gt;&#10;                &lt;Box style={{ flexDirection: 'row', alignItems: 'baseline', gap: 10 }}&gt;&#10;                    &lt;Text style={{ fontFamily: 'Consolas', fontSize: 34, fontWeight: 'bold', color: '#22D3EE' }}&gt;6.8×&lt;/Text&gt;&#10;                    &lt;Text style={{ fontFamily: 'Microsoft YaHei', fontSize: 15, color: 'rgba(255,255,255,0.80)' }}&gt;雨天配送事故率&lt;/Text&gt;&#10;                &lt;/Box&gt;&#10;                &lt;Text style={{ fontFamily: 'Microsoft YaHei', fontSize: 13, color: 'rgba(255,255,255,0.44)', lineHeight: 1.5, marginTop: 8 }}&gt;&#10;                    泰国骑手交通事故研究，OR = 6.79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3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74" name="矩形 173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14400" y="409575"/>
            <a:ext cx="5143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不是没人想保，是这笔账算不过来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MATH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324225" y="1800225"/>
            <a:ext cx="25146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查一次的成本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162675" y="1743075"/>
            <a:ext cx="28575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0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≈</a:t>
            </a:r>
            <a:endParaRPr sz="40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6772275" y="1800225"/>
            <a:ext cx="2095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赔一次的钱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1219200" y="3086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409700" y="2952750"/>
            <a:ext cx="16287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单次赔几十到几百元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1219200" y="3524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409700" y="3390900"/>
            <a:ext cx="41052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人工报案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查勘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核赔的固定成本，与赔款同量级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1219200" y="3962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409700" y="3829050"/>
            <a:ext cx="21717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保险公司的理性选择：不卖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85800" y="5286375"/>
            <a:ext cx="7429500" cy="1000125"/>
          </a:xfrm>
          <a:prstGeom prst="roundRect">
            <a:avLst>
              <a:gd name="adj" fmla="val 476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95350" y="5438775"/>
            <a:ext cx="701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>下游的三个结果</a:t>
            </a:r>
            <a:endParaRPr lang="zh-CN" sz="975" spc="225">
              <a:solidFill>
                <a:srgbClr val="FFFFFF">
                  <a:alpha val="4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95350" y="5667375"/>
            <a:ext cx="7010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损失核不了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逆选择与骗赔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身份无正式凭据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都是这个成本结构的下游，不是三个独立的问题。</a:t>
            </a:r>
            <a:endParaRPr lang="zh-CN" sz="12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8305800" y="5286375"/>
            <a:ext cx="3200400" cy="1000125"/>
          </a:xfrm>
          <a:prstGeom prst="roundRect">
            <a:avLst>
              <a:gd name="adj" fmla="val 476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8515350" y="5438775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6.8×</a:t>
            </a:r>
            <a:endParaRPr lang="en-US" sz="2550" b="1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9324975" y="5438775"/>
            <a:ext cx="10001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雨天配送事故率</a:t>
            </a:r>
            <a:endParaRPr lang="zh-CN" sz="11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515350" y="5905500"/>
            <a:ext cx="2781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泰国骑手交通事故研究，</a:t>
            </a:r>
            <a:r>
              <a:rPr lang="en-US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OR = 6.79</a:t>
            </a:r>
            <a:endParaRPr lang="en-US" sz="975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04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It is not that nobody wants to insure them - the math does not work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96" name="Rounded Rectangle 195"/>
          <p:cNvSpPr/>
          <p:nvPr/>
        </p:nvSpPr>
        <p:spPr>
          <a:xfrm>
            <a:off x="685800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85800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报案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骑手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203704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2450591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450591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查勘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968496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215383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215383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核损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733288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980176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980176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核赔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85800" y="4956048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后三步都是人工 —— 这笔固定成本与赔款同量级，所以卖一单亏一单。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9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AI + 天气，几乎所有人都在做预测&#10;        &lt;/Text&gt;&#10;        &lt;Box style={{ flex: 1 }} /&gt;&#10;        &lt;Text style={{ fontFamily: 'Consolas', fontSize: 16, color: 'rgba(255,255,255,0.34)', letterSpacing: 2 }}&gt;&#10;            03 / THE INDUSTRY&#10;        &lt;/Text&gt;&#10;    &lt;/Box&gt;&#10;&#10;    &lt;Box style={{ height: 540, flexDirection: 'column' }}&gt;&#10;&#10;        &lt;Box style={{ height: 168, flexDirection: 'column', alignItems: 'center', justifyContent: 'center' }}&gt;&#10;            &lt;Text style={{ fontFamily: 'Consolas', fontSize: 42, fontWeight: 'bold', color: '#22D3EE', letterSpacing: 5 }}&gt;&#10;                ECMWF · GFS · ICON&#10;            &lt;/Text&gt;&#10;            &lt;Text style={{ fontFamily: 'Microsoft YaHei', fontSize: 19, color: 'rgba(255,255,255,0.62)', lineHeight: 1.5, marginTop: 18 }}&gt;&#10;                整个行业在做的事，是把明天算得更准&#10;            &lt;/Text&gt;&#10;        &lt;/Box&gt;&#10;&#10;        &lt;Box style={{ height: 1, background: 'rgba(255,255,255,0.10)', marginLeft: 140, marginRight: 140 }} /&gt;&#10;&#10;        &lt;Box style={{ flex: 1, flexDirection: 'column', alignItems: 'center', justifyContent: 'center' }}&gt;&#10;            &lt;Text style={{ fontFamily: 'Consolas', fontSize: 14, color: '#F5A524', letterSpacing: 6 }}&gt;&#10;                BUT&#10;            &lt;/Text&gt;&#10;            &lt;Text style={{ fontFamily: 'Microsoft YaHei', fontSize: 50, fontWeight: 'bold', color: '#FFFFFF', lineHeight: 1.3, marginTop: 20, textAlign: 'center' }}&gt;&#10;                预报越准，这个产品越难成立。&#10;            &lt;/Text&gt;&#10;            &lt;Text style={{ fontFamily: 'Microsoft YaHei', fontSize: 21, color: 'rgba(255,255,255,0.60)', lineHeight: 1.5, marginTop: 24 }}&gt;&#10;                人人都挑下雨那天来买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4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1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97" name="矩形 19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914400" y="409575"/>
            <a:ext cx="529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+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天气，几乎所有人都在做预测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9753600" y="571500"/>
            <a:ext cx="1752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INDUSTRY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3686175" y="1447800"/>
            <a:ext cx="48196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ECMWF · GFS · ICON</a:t>
            </a:r>
            <a:endParaRPr lang="en-US" sz="3150" b="1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562475" y="2105025"/>
            <a:ext cx="30765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整个行业在做的事，是把明天算得更准</a:t>
            </a:r>
            <a:endParaRPr lang="zh-CN" sz="14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2019300" y="2743200"/>
            <a:ext cx="8153400" cy="9525"/>
          </a:xfrm>
          <a:prstGeom prst="rect">
            <a:avLst/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5417185" y="113665"/>
            <a:ext cx="1356995" cy="6630670"/>
          </a:xfrm>
          <a:prstGeom prst="rect">
            <a:avLst/>
          </a:prstGeom>
        </p:spPr>
        <p:txBody>
          <a:bodyPr wrap="none" lIns="0" tIns="0" rIns="0" bIns="0" anchor="ctr" anchorCtr="0"/>
          <a:p>
            <a:pPr algn="ctr">
              <a:lnSpc>
                <a:spcPct val="110000"/>
              </a:lnSpc>
            </a:pPr>
            <a:r>
              <a:rPr lang="en-US" sz="3600" spc="4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BUT</a:t>
            </a:r>
            <a:endParaRPr lang="en-US" sz="3600" spc="4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2762250" y="4029075"/>
            <a:ext cx="6667500" cy="7429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预报越准，这个产品越难成立。</a:t>
            </a:r>
            <a:endParaRPr lang="zh-CN" sz="3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5000625" y="5000625"/>
            <a:ext cx="2200275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人人都挑下雨那天来买。</a:t>
            </a:r>
            <a:endParaRPr lang="zh-CN" sz="157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05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AI plus weather: almost everyone is forecasting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1188720" y="5577840"/>
            <a:ext cx="9811512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所以保单只能「先买、后下雨」—— 判定看的是买入之后的增量，不是当天累计。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08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所以我们根本不问「你损失了多少」&#10;        &lt;/Text&gt;&#10;        &lt;Box style={{ flex: 1 }} /&gt;&#10;        &lt;Text style={{ fontFamily: 'Consolas', fontSize: 16, color: 'rgba(255,255,255,0.34)', letterSpacing: 2 }}&gt;&#10;            04 / THE TURN&#10;        &lt;/Text&gt;&#10;    &lt;/Box&gt;&#10;&#10;    &lt;Box style={{ height: 540, flexDirection: 'column' }}&gt;&#10;&#10;        &lt;Box style={{ height: 118, background: 'rgba(45,127,249,0.10)', border: '1px solid rgba(45,127,249,0.30)', borderRadius: 6, padding: '0 32px', flexDirection: 'row', alignItems: 'center' }}&gt;&#10;            &lt;Text style={{ fontFamily: 'Microsoft YaHei', fontSize: 30, fontWeight: 'bold', color: '#FFFFFF', lineHeight: 1.45 }}&gt;&#10;                只看一个公开数字：保单期内，这个区域下了多少雨。&#10;            &lt;/Text&gt;&#10;        &lt;/Box&gt;&#10;&#10;        &lt;Box style={{ height: 108, flexDirection: 'row', alignItems: 'center', justifyContent: 'space-between', marginTop: 30 }}&gt;&#10;            &lt;Box style={{ width: 196, height: 84, background: 'rgba(45,127,249,0.12)', border: '1px solid #2D7FF9', borderRadius: 5, flexDirection: 'column', alignItems: 'center', justifyContent: 'center' }}&gt;&#10;                &lt;Text style={{ fontFamily: 'Consolas', fontSize: 12, color: '#22D3EE', letterSpacing: 2 }}&gt;STEP 01&lt;/Text&gt;&#10;                &lt;Text style={{ fontFamily: 'Microsoft YaHei', fontSize: 20, fontWeight: 'bold', color: '#FFFFFF', marginTop: 4 }}&gt;投保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2&lt;/Text&gt;&#10;                &lt;Text style={{ fontFamily: 'Microsoft YaHei', fontSize: 20, fontWeight: 'bold', color: '#FFFFFF', marginTop: 4 }}&gt;喂价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3&lt;/Text&gt;&#10;                &lt;Text style={{ fontFamily: 'Microsoft YaHei', fontSize: 20, fontWeight: 'bold', color: '#FFFFFF', marginTop: 4 }}&gt;判定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4&lt;/Text&gt;&#10;                &lt;Text style={{ fontFamily: 'Microsoft YaHei', fontSize: 20, fontWeight: 'bold', color: '#FFFFFF', marginTop: 4 }}&gt;赔付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5&lt;/Text&gt;&#10;                &lt;Text style={{ fontFamily: 'Microsoft YaHei', fontSize: 20, fontWeight: 'bold', color: '#FFFFFF', marginTop: 4 }}&gt;核验&lt;/Text&gt;&#10;            &lt;/Box&gt;&#10;        &lt;/Box&gt;&#10;&#10;        &lt;Box style={{ marginTop: 30 }}&gt;&#10;            &lt;Text style={{ fontFamily: 'Microsoft YaHei', fontSize: 46, fontWeight: 'bold', color: '#22D3EE', lineHeight: 1.3 }}&gt;&#10;                定损成本，接近零。&#10;            &lt;/Text&gt;&#10;        &lt;/Box&gt;&#10;&#10;        &lt;Box style={{ marginTop: 'auto', flexDirection: 'row', gap: 16 }}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规则写死在合约里 —— 赔付额、阈值、保障期全是 constant，部署后连我们也改不了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claim() 没有任何权限修饰符 —— 任何人可触发，钱只进保单登记的骑手地址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保费由脚本按触发概率算出来写进链，不是手填 —— 每次改价都留一条依据哈希&#10;                &lt;/Text&gt;&#10;            &lt;/Box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5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矩形 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10" name="矩形 209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914400" y="409575"/>
            <a:ext cx="5486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所以我们根本不问「你损失了多少」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THE TURN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85800" y="1143000"/>
            <a:ext cx="10820400" cy="1123950"/>
          </a:xfrm>
          <a:prstGeom prst="roundRect">
            <a:avLst>
              <a:gd name="adj" fmla="val 5085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90600" y="1457325"/>
            <a:ext cx="68580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只看一个公开数字：保单期内，这个区域下了多少雨。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858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2D7FF9">
              <a:alpha val="12000"/>
            </a:srgbClr>
          </a:solidFill>
          <a:ln w="12700">
            <a:solidFill>
              <a:srgbClr val="2D7FF9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3335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01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14287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投保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267652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292417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57187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02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366712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喂价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491490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516255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581025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03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90550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15327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740092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04862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04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14387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39165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96393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02870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05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103822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85800" y="3867150"/>
            <a:ext cx="108204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定损成本，接近零。</a:t>
            </a:r>
            <a:endParaRPr lang="zh-CN" sz="34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734695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34695" y="4953000"/>
            <a:ext cx="3505200" cy="184213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赔付档线、档位比例、单笔上限写死在合约里；价格可以调，但每调一次都要上链，并附一条依据哈希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4343400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4343400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claim()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没有任何权限修饰符</a:t>
            </a: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任何人可触发，钱只进保单登记的骑手地址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8048625" y="4943475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7990205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保费由脚本按触发概率算出来写进链，不是手填；但判定这一环仍须有人提交，合约里没有定时器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06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we never ask how much you lost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4206240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882127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一张保单，六个参数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One policy, six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/ THE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07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POLICY SPEC · 固定规则与可配置参数分别核验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城市 ·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122 个喂价区划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按区划独立定价，档线按全国统一时长表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时长 ·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 h / 24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只用国标时段，不做更长时段的外推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8472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6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6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档线 ·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30 / 70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6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12h 档；24h 为 50 / 100 mm（GB/T 28592—2012）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给付 · PAYOUT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50% / 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越第一档赔一半，越第二档赔四分之三，单笔封顶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单价 · PREMIUM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1.8–10.5 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244 格费率表（122 区划 × 2 档），逐格算，不手填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8472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6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6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结算 · SETTLE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外部任务触发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6216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判定通过后由外部任务领取；无人工定损、无票据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41264"/>
            <a:ext cx="768096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微软雅黑"/>
                <a:ea typeface="微软雅黑"/>
              </a:rPr>
              <a:t>价格、区域及运营参数可由多签调整；常量变更须重新部署。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88736"/>
            <a:ext cx="7680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6000"/>
                  </a:srgbClr>
                </a:solidFill>
                <a:latin typeface="微软雅黑"/>
                <a:ea typeface="微软雅黑"/>
              </a:rPr>
              <a:t>冷静期、暂停与准入影响投保，须核对实时配置。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577840"/>
            <a:ext cx="2724912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参数是产品的法律边界，不是营销话术。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43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三条链上证据，两种相反的结论&#13;&#10;        &lt;/Text&gt;&#13;&#10;        &lt;Box style={{ flex: 1 }} /&gt;&#13;&#10;        &lt;Text style={{ fontFamily: 'Consolas', fontSize: 16, color: 'rgba(255,255,255,0.34)', letterSpacing: 2 }}&gt;&#13;&#10;            05 / EVIDENCE&#13;&#10;        &lt;/Text&gt;&#13;&#10;    &lt;/Box&gt;&#13;&#10;&#13;&#10;    &lt;Box style={{ height: 540, flexDirection: 'row', gap: 26 }}&gt;&#13;&#10;&#13;&#10;        &lt;Box style={{ width: 605, height: 540, flexDirection: 'column', overflow: 'hidden' }}&gt;&#13;&#10;            &lt;Text style={{ fontFamily: 'Consolas', fontSize: 15, color: '#22D3EE', letterSpacing: 4 }}&gt;&#13;&#10;                PAYOUT PER CLAIM&#13;&#10;            &lt;/Text&gt;&#13;&#10;&#13;&#10;            &lt;Box style={{ flexDirection: 'row', alignItems: 'flex-end', gap: 12, marginTop: 8 }}&gt;&#13;&#10;                &lt;Text style={{ fontFamily: 'Consolas', fontSize: 104, fontWeight: 'bold', color: '#F5A524', lineHeight: 1.0 }}&gt;&#13;&#10;                    0.01&#13;&#10;                &lt;/Text&gt;&#13;&#10;                &lt;Text style={{ fontFamily: 'Consolas', fontSize: 30, color: 'rgba(255,255,255,0.50)', lineHeight: 1.6 }}&gt;&#13;&#10;                    ETH&#13;&#10;                &lt;/Text&gt;&#13;&#10;            &lt;/Box&gt;&#13;&#10;&#13;&#10;            &lt;Text style={{ fontFamily: 'Microsoft YaHei', fontSize: 20, color: 'rgba(255,255,255,0.72)', lineHeight: 1.55, marginTop: 12 }}&gt;&#13;&#10;                触发到到账是分钟级。含判定与赔付的链上总成本约 0.00025 ETH，只占赔付额的 2.5% —— 传统保险的钱花在「查」，我们的钱花在「给」。&#13;&#10;            &lt;/Text&gt;&#13;&#10;&#13;&#10;            &lt;Box style={{ height: 1, background: 'rgba(255,255,255,0.14)', marginTop: 18, marginBottom: 16 }} /&gt;&#13;&#10;&#13;&#10;            &lt;Box style={{ flexDirection: 'column', gap: 10 }}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0 · 上海 · 真实气象数据&lt;/Text&gt;&#13;&#10;                        &lt;Text style={{ fontFamily: 'Microsoft YaHei', fontSize: 14, color: 'rgba(255,255,255,0.54)', marginTop: 3 }}&gt;链上增量 34 mm 低于 50 mm 阈值&lt;/Text&gt;&#13;&#10;                    &lt;/Box&gt;&#13;&#10;                    &lt;Text style={{ fontFamily: 'Microsoft YaHei', fontSize: 17, fontWeight: 'bold', color: '#FFFFFF' }}&gt;DENY 95&lt;/Text&gt;&#13;&#10;                    &lt;Text style={{ fontFamily: 'Microsoft YaHei', fontSize: 15, color: 'rgba(255,255,255,0.60)', width: 62, textAlign: 'right' }}&gt;不赔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1 · 成都 · 模拟暴雨&lt;/Text&gt;&#13;&#10;                        &lt;Text style={{ fontFamily: 'Microsoft YaHei', fontSize: 14, color: 'rgba(255,255,255,0.54)', marginTop: 3 }}&gt;6 → 120 mm，链上永久标记 simulated&lt;/Text&gt;&#13;&#10;                    &lt;/Box&gt;&#13;&#10;                    &lt;Text style={{ fontFamily: 'Microsoft YaHei', fontSize: 17, fontWeight: 'bold', color: '#22D3EE' }}&gt;PAY 94&lt;/Text&gt;&#13;&#10;                    &lt;Text style={{ fontFamily: 'Microsoft YaHei', fontSize: 15, color: 'rgba(255,255,255,0.82)', width: 62, textAlign: 'right' }}&gt;赔付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历史回放 · 武汉 2024-06-27 至 29&lt;/Text&gt;&#13;&#10;                        &lt;Text style={{ fontFamily: 'Microsoft YaHei', fontSize: 14, color: 'rgba(255,255,255,0.54)', marginTop: 3 }}&gt;真实历史累计 230 mm，simulated = false&lt;/Text&gt;&#13;&#10;                    &lt;/Box&gt;&#13;&#10;                    &lt;Text style={{ fontFamily: 'Microsoft YaHei', fontSize: 17, fontWeight: 'bold', color: '#22D3EE' }}&gt;PAY 76&lt;/Text&gt;&#13;&#10;                    &lt;Text style={{ fontFamily: 'Microsoft YaHei', fontSize: 15, color: 'rgba(255,255,255,0.82)', width: 62, textAlign: 'right' }}&gt;赔付&lt;/Text&gt;&#13;&#10;                &lt;/Box&gt;&#13;&#10;&#13;&#10;            &lt;/Box&gt;&#13;&#10;&#13;&#10;            &lt;Box style={{ marginTop: 'auto', flexDirection: 'row', alignItems: 'center', gap: 10 }}&gt;&#13;&#10;                &lt;Text style={{ fontFamily: 'Consolas', fontSize: 14, color: 'rgba(255,255,255,0.44)' }}&gt;&#13;&#10;                    Sepolia · 合约 0x89e7C942535930B61cB61631051E8b0bD670596a · 运行时代码 10,758 字节&#13;&#10;                &lt;/Text&gt;&#13;&#10;            &lt;/Box&gt;&#13;&#10;        &lt;/Box&gt;&#13;&#10;&#13;&#10;        &lt;Box style={{ width: 505, height: 540, flexDirection: 'column', overflow: 'hidden' }}&gt;&#13;&#10;            &lt;Text style={{ fontFamily: 'Consolas', fontSize: 15, color: '#22D3EE', letterSpacing: 4 }}&gt;&#13;&#10;                LIVE VERIFIER&#13;&#10;            &lt;/Text&gt;&#13;&#10;&#13;&#10;            &lt;Box style={{ flex: 1, minHeight: 0, marginTop: 12, borderRadius: 6, overflow: 'hidden', border: '1px solid rgba(255,255,255,0.14)' }}&gt;&#13;&#10;                &lt;Image src=&quot;assets/shot_verifier.png&quot; style={{ width: '100%', height: '100%', objectFit: 'cover' }} /&gt;&#13;&#10;            &lt;/Box&gt;&#13;&#10;&#13;&#10;            &lt;Text style={{ fontFamily: 'Microsoft YaHei', fontSize: 17, color: 'rgba(255,255,255,0.80)', lineHeight: 1.5, marginTop: 14 }}&gt;&#13;&#10;                核验台粘一个地址或哈希，就能读到：&lt;span style={{ color: '#FFFFFF', fontWeight: 'bold' }}&gt;这是不是合约、代码多长、事件逐条说了什么&lt;/span&gt; —— 不依赖任何在线区块浏览器。&#13;&#10;            &lt;/Text&gt;&#13;&#10;            &lt;Text style={{ fontFamily: 'Microsoft YaHei', fontSize: 14, color: 'rgba(255,255,255,0.44)', marginTop: 8 }}&gt;&#13;&#10;                截图为 2026-10-07 线上实读，现场可当场重查&#13;&#10;            &lt;/Text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6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45" name="矩形 244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14400" y="409575"/>
            <a:ext cx="48006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三条链上证据，逐项核验读数与结论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EVIDENCE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685800" y="1143000"/>
            <a:ext cx="5762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额度基数 · 最高给付 75 元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1390650"/>
            <a:ext cx="2181225" cy="1190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100</a:t>
            </a:r>
            <a:endParaRPr lang="en-US" sz="78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981325" y="2028825"/>
            <a:ext cx="476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2250">
                <a:solidFill>
                  <a:srgbClr val="FFFFFF">
                    <a:alpha val="50000"/>
                  </a:srgbClr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en-US" sz="2250">
              <a:solidFill>
                <a:srgbClr val="FFFFFF">
                  <a:alpha val="5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685800" y="2562225"/>
            <a:ext cx="576262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外部任务触发到账，不承诺分钟级。判定与赔付全程上链留痕；gas 摊薄后每单不足一元 —— 传统保险的钱花在「查」，我们的钱花在「给」。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50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685800" y="4002405"/>
            <a:ext cx="5762625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53" name="圆角矩形 252"/>
          <p:cNvSpPr/>
          <p:nvPr>
            <p:custDataLst>
              <p:tags r:id="rId1"/>
            </p:custDataLst>
          </p:nvPr>
        </p:nvSpPr>
        <p:spPr>
          <a:xfrm>
            <a:off x="674370" y="42386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矩形 253"/>
          <p:cNvSpPr/>
          <p:nvPr>
            <p:custDataLst>
              <p:tags r:id="rId2"/>
            </p:custDataLst>
          </p:nvPr>
        </p:nvSpPr>
        <p:spPr>
          <a:xfrm>
            <a:off x="826770" y="43719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988695" y="4324350"/>
            <a:ext cx="3990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#0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判定留痕 · V5 合约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988695" y="4552950"/>
            <a:ext cx="3990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买入 172 mm、窗口内增量 0 mm、档线 30 mm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4979670" y="4419600"/>
            <a:ext cx="714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DENY 95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5694045" y="44291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不赔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>
            <p:custDataLst>
              <p:tags r:id="rId7"/>
            </p:custDataLst>
          </p:nvPr>
        </p:nvSpPr>
        <p:spPr>
          <a:xfrm>
            <a:off x="674370" y="48863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0" name="矩形 259"/>
          <p:cNvSpPr/>
          <p:nvPr>
            <p:custDataLst>
              <p:tags r:id="rId8"/>
            </p:custDataLst>
          </p:nvPr>
        </p:nvSpPr>
        <p:spPr>
          <a:xfrm>
            <a:off x="826770" y="50196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988695" y="49720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V6 合约 · 122 区划全量迁移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988695" y="52006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122 个喂价区划 + 244 格价目逐格可读；迁移基线哈希已上链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5132070" y="50673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122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5694045" y="50768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已注册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>
            <p:custDataLst>
              <p:tags r:id="rId13"/>
            </p:custDataLst>
          </p:nvPr>
        </p:nvSpPr>
        <p:spPr>
          <a:xfrm>
            <a:off x="674370" y="55340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矩形 265"/>
          <p:cNvSpPr/>
          <p:nvPr>
            <p:custDataLst>
              <p:tags r:id="rId14"/>
            </p:custDataLst>
          </p:nvPr>
        </p:nvSpPr>
        <p:spPr>
          <a:xfrm>
            <a:off x="826770" y="56673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988695" y="56197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资金台账 · 2026-10-29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988695" y="58483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注资 + 保费 − 赔付 = 池子 4,958.40 元，逐分对账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5132070" y="57150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5694045" y="57245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差额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696075" y="1143000"/>
            <a:ext cx="481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BOT CHAIN 968 · V6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6696075" y="1428750"/>
            <a:ext cx="4810125" cy="3895725"/>
          </a:xfrm>
          <a:prstGeom prst="roundRect">
            <a:avLst>
              <a:gd name="adj" fmla="val 1467"/>
            </a:avLst>
          </a:prstGeom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6696075" y="1428750"/>
            <a:ext cx="4810125" cy="3895725"/>
          </a:xfrm>
          <a:custGeom>
            <a:avLst/>
            <a:gdLst/>
            <a:ahLst/>
            <a:cxnLst/>
            <a:pathLst>
              <a:path w="505" h="409">
                <a:moveTo>
                  <a:pt x="499" y="0"/>
                </a:moveTo>
                <a:cubicBezTo>
                  <a:pt x="502" y="0"/>
                  <a:pt x="505" y="3"/>
                  <a:pt x="505" y="6"/>
                </a:cubicBezTo>
                <a:lnTo>
                  <a:pt x="505" y="403"/>
                </a:lnTo>
                <a:cubicBezTo>
                  <a:pt x="505" y="406"/>
                  <a:pt x="502" y="409"/>
                  <a:pt x="499" y="409"/>
                </a:cubicBezTo>
                <a:lnTo>
                  <a:pt x="6" y="409"/>
                </a:lnTo>
                <a:cubicBezTo>
                  <a:pt x="3" y="409"/>
                  <a:pt x="0" y="406"/>
                  <a:pt x="0" y="40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9" y="0"/>
                </a:lnTo>
                <a:close/>
              </a:path>
            </a:pathLst>
          </a:custGeom>
        </p:spPr>
      </p:pic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696075" y="5457825"/>
            <a:ext cx="48101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核验台粘一个地址或哈希，就能读到：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这是不是合约、代码多长、事件逐条说了什么</a:t>
            </a:r>
            <a:r>
              <a:rPr lang="en-US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不依赖任何在线区块浏览器 —— V6 八条断言现场全绿。</a:t>
            </a:r>
            <a:endParaRPr lang="zh-CN" sz="12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696075" y="6124575"/>
            <a:ext cx="4810125" cy="74231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160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08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Three proofs, independently verifiable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99" name="" descr="演示站三格截图：链上降雨看板 / 链上动态 / 投保面板，全部直读 BOT Chain 测试网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0" y="0"/>
            <a:ext cx="12191970" cy="6858000"/>
          </a:xfrm>
          <a:solidFill>
            <a:srgbClr val="0A1422"/>
          </a:solidFill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521208"/>
            <a:ext cx="36576" cy="283464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14400" y="411480"/>
            <a:ext cx="7863840" cy="51206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不用信这份 PPT，自己点一遍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0058400" y="566928"/>
            <a:ext cx="1453896" cy="19202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03 / LIVE DEMO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85800" y="1207008"/>
            <a:ext cx="576072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LIVE DEMO · BOT CHAIN 968 · V6</a:t>
            </a:r>
            <a:endParaRPr lang="en-US" sz="1500" spc="4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10" name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17352" cy="217022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85800" y="3913632"/>
            <a:ext cx="3749040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· 降雨看板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590288" y="3913632"/>
            <a:ext cx="3547872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· 链上动态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284464" y="3913632"/>
            <a:ext cx="3163824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· 投保入口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685800" y="5225288"/>
            <a:ext cx="10817352" cy="9144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832104" y="5389880"/>
            <a:ext cx="27432" cy="530352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0954512" y="6391656"/>
            <a:ext cx="54864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09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14400" y="955547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Do not trust this deck - click through it yourself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85800" y="4114800"/>
            <a:ext cx="3749039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五城雨量直读链上：上海 173、武汉 88、北京 64、广州 53、成都 24 mm；24h 档线 50 / 100，成都未到第一档。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90288" y="4114800"/>
            <a:ext cx="3547872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判定与赔付逐条留痕：968 上 0 张保单、0 笔赔付，122 个区划每次喂价都可核验。区块号与证据哈希可逐条回溯。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284464" y="4114800"/>
            <a:ext cx="3163824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入口页把基数 100 元、最高 75 元/份、窗口 24 小时摆上台面；武汉 24h 8.80 元见中图 —— 均为合约返回。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" y="5376672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00" b="0" i="0" lang="zh-CN">
                <a:solidFill>
                  <a:srgbClr val="FFFFFF">
                    <a:alpha val="84000"/>
                  </a:srgbClr>
                </a:solidFill>
                <a:latin typeface="微软雅黑"/>
                <a:ea typeface="微软雅黑"/>
              </a:rPr>
              <a:t>三个面板读的是同一份合约。纯静态 HTML，没有后端、没有数据库 —— 浏览器直接向 968 要数：premiumOf(regionId, hours)、thresholdOf(hours, 0)，都不是页面算的。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9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统一定价是错的&#13;&#10;        &lt;/Text&gt;&#13;&#10;        &lt;Box style={{ flex: 1 }} /&gt;&#13;&#10;        &lt;Text style={{ fontFamily: 'Consolas', fontSize: 16, color: 'rgba(255,255,255,0.34)', letterSpacing: 2 }}&gt;&#13;&#10;            06 / ACTUARY&#13;&#10;        &lt;/Text&gt;&#13;&#10;    &lt;/Box&gt;&#13;&#10;&#13;&#10;    &lt;Box style={{ height: 540, flexDirection: 'row', gap: 26 }}&gt;&#13;&#10;&#13;&#10;        &lt;Box style={{ width: 760, height: 540, flexDirection: 'column', overflow: 'hidden' }}&gt;&#13;&#10;            &lt;Text style={{ fontFamily: 'Consolas', fontSize: 15, color: '#22D3EE', letterSpacing: 3 }}&gt;&#13;&#10;                11 YEARS · 96,432 HOURS PER CITY&#13;&#10;            &lt;/Text&gt;&#13;&#10;&#13;&#10;            &lt;Box style={{ flex: 1, minHeight: 0, marginTop: 12 }}&gt;&#13;&#10;                &lt;Chart&#13;&#10;                    style={{ width: '100%', height: '100%' }}&#13;&#10;                    chartType='barChart'&#13;&#10;                    grouping='clustered'&#13;&#10;                    title='72 小时窗口内累计降雨达到 50 mm 的概率（%）'&#13;&#10;                    titleColor='#FFFFFF'&#13;&#10;                    legendColor='rgba(255,255,255,0.62)'&#13;&#10;                    axisColor='rgba(255,255,255,0.50)'&#13;&#10;                    dataLabelColor='#FFFFFF'&#13;&#10;                    showLegend={true}&#13;&#10;                    showDataLabels={true}&#13;&#10;                    colors={['#2D7FF9', '#F5A524']}&#13;&#10;                    background='#0A1422'&#13;&#10;                    data={[&#13;&#10;                        ['城市', '72h 触发概率 (%)', '10% 保本线'],&#13;&#10;                        ['武汉', 4.756, 10],&#13;&#10;                        ['上海', 4.557, 10],&#13;&#10;                        ['北京', 2.265, 10],&#13;&#10;                        ['广州', 11.524, 10],&#13;&#10;                        ['成都', 3.719, 10],&#13;&#10;                    ]}&#13;&#10;                /&gt;&#13;&#10;            &lt;/Box&gt;&#13;&#10;&#13;&#10;        &lt;/Box&gt;&#13;&#10;&#13;&#10;        &lt;Box style={{ width: 350, height: 540, flexDirection: 'column', overflow: 'hidden' }}&gt;&#13;&#10;&#13;&#10;            &lt;Box style={{ background: 'rgba(245,165,36,0.10)', border: '1px solid rgba(245,165,36,0.40)', borderRadius: 5, padding: 16, flexDirection: 'column' }}&gt;&#13;&#10;                &lt;Text style={{ fontFamily: 'Consolas', fontSize: 15, color: '#F5A524', letterSpacing: 2 }}&gt;OUT OF BOUNDS&lt;/Text&gt;&#13;&#10;                &lt;Text style={{ fontFamily: 'Consolas', fontSize: 40, fontWeight: 'bold', color: '#F5A524', lineHeight: 1.15, marginTop: 6 }}&gt;&#13;&#10;                    11.524%&#13;&#10;                &lt;/Text&gt;&#13;&#10;                &lt;Text style={{ fontFamily: 'Microsoft YaHei', fontSize: 16, color: '#FFFFFF', lineHeight: 1.5, marginTop: 8 }}&gt;&#13;&#10;                    广州越过 10% 保本线 —— 按统一价 0.001 ETH 卖 72 小时保单，赔付率 &lt;span style={{ fontWeight: 'bold' }}&gt;115.2%&lt;/span&gt;：收 1 赔 1.15。&#13;&#10;                &lt;/Text&gt;&#13;&#10;            &lt;/Box&gt;&#13;&#10;&#13;&#10;            &lt;Box style={{ background: 'rgba(255,255,255,0.04)', border: '1px solid rgba(255,255,255,0.12)', borderRadius: 5, padding: 16, marginTop: 14, flexDirection: 'column' }}&gt;&#13;&#10;                &lt;Text style={{ fontFamily: 'Microsoft YaHei', fontSize: 17, fontWeight: 'bold', color: '#FFFFFF' }}&gt;链上现行价（ETH）&lt;/Text&gt;&#13;&#10;                &lt;Box style={{ flexDirection: 'column', gap: 7, marginTop: 10 }}&gt;&#13;&#10;                    &lt;Box style={{ flexDirection: 'row' }}&gt;&#13;&#10;                        &lt;Text style={{ fontFamily: 'Microsoft YaHei', fontSize: 16, color: 'rgba(255,255,255,0.66)', flex: 1 }}&gt;武汉 / 上海&lt;/Text&gt;&#13;&#10;                        &lt;Text style={{ fontFamily: 'Consolas', fontSize: 16, color: '#FFFFFF' }}&gt;0.0008&lt;/Text&gt;&#13;&#10;                    &lt;/Box&gt;&#13;&#10;                    &lt;Box style={{ flexDirection: 'row' }}&gt;&#13;&#10;                        &lt;Text style={{ fontFamily: 'Microsoft YaHei', fontSize: 16, color: 'rgba(255,255,255,0.66)', flex: 1 }}&gt;成都&lt;/Text&gt;&#13;&#10;                        &lt;Text style={{ fontFamily: 'Consolas', fontSize: 16, color: '#FFFFFF' }}&gt;0.0007&lt;/Text&gt;&#13;&#10;                    &lt;/Box&gt;&#13;&#10;                    &lt;Box style={{ flexDirection: 'row' }}&gt;&#13;&#10;                        &lt;Text style={{ fontFamily: 'Microsoft YaHei', fontSize: 16, color: 'rgba(255,255,255,0.66)', flex: 1 }}&gt;北京&lt;/Text&gt;&#13;&#10;                        &lt;Text style={{ fontFamily: 'Consolas', fontSize: 16, color: '#FFFFFF' }}&gt;0.0004&lt;/Text&gt;&#13;&#10;                    &lt;/Box&gt;&#13;&#10;                    &lt;Box style={{ flexDirection: 'row' }}&gt;&#13;&#10;                        &lt;Text style={{ fontFamily: 'Microsoft YaHei', fontSize: 16, color: '#F5A524', flex: 1 }}&gt;广州 · RISK_LOADED&lt;/Text&gt;&#13;&#10;                        &lt;Text style={{ fontFamily: 'Consolas', fontSize: 16, color: '#F5A524', fontWeight: 'bold' }}&gt;0.0020&lt;/Text&gt;&#13;&#10;                    &lt;/Box&gt;&#13;&#10;                &lt;/Box&gt;&#13;&#10;            &lt;/Box&gt;&#13;&#10;&#13;&#10;            &lt;Box style={{ marginTop: 'auto', borderLeft: '3px solid #2D7FF9', background: 'rgba(45,127,249,0.10)', padding: '12px 14px' }}&gt;&#13;&#10;                &lt;Text style={{ fontFamily: 'Microsoft YaHei', fontSize: 16, color: 'rgba(255,255,255,0.86)', lineHeight: 1.5 }}&gt;&#13;&#10;                    保费由脚本按「触发概率 × 赔付额 ÷ 目标赔付率 60%」算出写进合约，&lt;span style={{ color: '#FFFFFF', fontWeight: 'bold' }}&gt;不是手填的&lt;/span&gt;；每次改价都留一条带依据哈希的事件。&#13;&#10;                &lt;/Text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7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 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81" name="矩形 280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14400" y="409575"/>
            <a:ext cx="2400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统一定价是错的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10267950" y="571500"/>
            <a:ext cx="123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04 / ACTUARY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114300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11 YEARS · 122 REGIONS　·　只算在售的 12h / 24h 两档</a:t>
            </a:r>
            <a:endParaRPr lang="en-US" sz="1125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285" name="285"/>
          <p:cNvGraphicFramePr/>
          <p:nvPr/>
        </p:nvGraphicFramePr>
        <p:xfrm>
          <a:off x="685800" y="1428750"/>
          <a:ext cx="7239000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6" name="圆角矩形 285"/>
          <p:cNvSpPr/>
          <p:nvPr/>
        </p:nvSpPr>
        <p:spPr>
          <a:xfrm>
            <a:off x="8172450" y="1143000"/>
            <a:ext cx="3333750" cy="1971675"/>
          </a:xfrm>
          <a:prstGeom prst="roundRect">
            <a:avLst>
              <a:gd name="adj" fmla="val 241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324850" y="1295400"/>
            <a:ext cx="3028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PRICE SPREAD</a:t>
            </a:r>
            <a:endParaRPr lang="en-US" sz="1125" spc="1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8343900" y="1428750"/>
            <a:ext cx="30289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4.4×</a:t>
            </a:r>
            <a:endParaRPr lang="en-US" sz="30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8343900" y="1885950"/>
            <a:ext cx="3028950" cy="8286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湖北 24 小时档最贵 10.5 元（汉南区）、最便宜 2.4 元（房县），相差 4.4 倍 —— 用一个价卖全省：贵的城市赔穿，便宜的城市被逆选择。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8172450" y="3248025"/>
            <a:ext cx="3333750" cy="1562100"/>
          </a:xfrm>
          <a:prstGeom prst="roundRect">
            <a:avLst>
              <a:gd name="adj" fmla="val 304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324850" y="3400425"/>
            <a:ext cx="3028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链上现行价（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968 V6 · 24h 档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324850" y="369570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0197465" y="369570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5.10~5.30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324850" y="395287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广州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0848975" y="395287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7.90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324850" y="421005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848975" y="421005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8.20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324850" y="446722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en-US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10848975" y="446722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8.80 元</a:t>
            </a:r>
            <a:endParaRPr lang="en-US" sz="12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8201025" y="5229225"/>
            <a:ext cx="3333750" cy="1057275"/>
          </a:xfrm>
          <a:custGeom>
            <a:avLst/>
            <a:gdLst/>
            <a:ahLst/>
            <a:cxnLst/>
            <a:pathLst>
              <a:path w="350" h="111">
                <a:moveTo>
                  <a:pt x="347" y="111"/>
                </a:moveTo>
                <a:lnTo>
                  <a:pt x="0" y="111"/>
                </a:lnTo>
                <a:lnTo>
                  <a:pt x="0" y="0"/>
                </a:lnTo>
                <a:lnTo>
                  <a:pt x="347" y="0"/>
                </a:lnTo>
                <a:close/>
              </a:path>
            </a:pathLst>
          </a:custGeom>
          <a:solidFill>
            <a:srgbClr val="2D7FF9">
              <a:alpha val="10000"/>
            </a:srgbClr>
          </a:solidFill>
        </p:spPr>
        <p:txBody>
          <a:bodyPr/>
          <a:p/>
        </p:txBody>
      </p:sp>
      <p:sp>
        <p:nvSpPr>
          <p:cNvPr id="301" name="任意多边形 300"/>
          <p:cNvSpPr/>
          <p:nvPr/>
        </p:nvSpPr>
        <p:spPr>
          <a:xfrm>
            <a:off x="8172450" y="5229225"/>
            <a:ext cx="3362325" cy="1057275"/>
          </a:xfrm>
          <a:custGeom>
            <a:avLst/>
            <a:gdLst/>
            <a:ahLst/>
            <a:cxnLst/>
            <a:pathLst>
              <a:path w="353" h="111">
                <a:moveTo>
                  <a:pt x="0" y="0"/>
                </a:moveTo>
                <a:lnTo>
                  <a:pt x="3" y="0"/>
                </a:lnTo>
                <a:lnTo>
                  <a:pt x="3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334375" y="5343525"/>
            <a:ext cx="30384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保费由脚本按「现价 = 上整(（触发概率上界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赔付额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固定成本）÷ 目标赔付率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上限 60%)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」算出写进合约，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不是手填的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；每次改价都留一条带依据哈希的事件。</a:t>
            </a:r>
            <a:endParaRPr lang="zh-CN" sz="1200">
              <a:solidFill>
                <a:srgbClr val="FFFFFF">
                  <a:alpha val="8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10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Flat pricing is wrong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定价是从 11 年逐小时数据里算出来的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Priced off 11 years of hourly rainfall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ACTUARY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ACTUARIAL BASIS · 不是把历史均值填进公式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581912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样本跨度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947672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11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04288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2015-10 → 2026-09，五城逐小时降水（ERA5 再分析），公开可复算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463040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581912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1755648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单城样本量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1947672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96,432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304288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五城同口径；滑动窗口覆盖 6 / 12 / 24 / 48 / 72h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463040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581912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755648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置信区间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947672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4,000 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304288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自举重采样取 97.5% 上界作为期望赔付，不用点估计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2907791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3026663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200399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城市极差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392424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3.2 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749039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24h 首档触发概率：北京约 0.4% → 广州约 1.4%，统一价必亏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9704" y="2907791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026663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3200399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逆选择量化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3392424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5.7–10.4×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3749039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挑最优时点投保，期望赔付/敞口中位比；条件触发率 2.6–6.7 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2907791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6" y="3026663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3200399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计算精度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3392424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22D3EE"/>
                </a:solidFill>
                <a:latin typeface="微软雅黑"/>
                <a:ea typeface="微软雅黑"/>
              </a:rPr>
              <a:t>0.1 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3749039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全程整数十分位累加，零浮点漂移，跨机器复现同一结果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4389120"/>
            <a:ext cx="10561320" cy="76809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3856" y="4489704"/>
            <a:ext cx="2011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定价公式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" y="4709159"/>
            <a:ext cx="1012240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88000"/>
                  </a:srgbClr>
                </a:solidFill>
                <a:latin typeface="Consolas"/>
                <a:ea typeface="Consolas"/>
              </a:rPr>
              <a:t>P = max( ceilTick( (E₉₇.₅ × 满额给付 + C) ÷ 60% ), ceilTick(C × 1.25), 1.0 )　　C = 0.30 元 / 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489704"/>
            <a:ext cx="26974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50" b="0" i="0" lang="zh-CN" spc="120">
                <a:solidFill>
                  <a:srgbClr val="F5A524"/>
                </a:solidFill>
                <a:latin typeface="Consolas"/>
                <a:ea typeface="Consolas"/>
              </a:rPr>
              <a:t>三个数都可复算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321807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三条安全边际不是话术，是引擎里的常数：取 97.5% 上界（不是点估计）· 向上取整 · 赔付率红线 60%。任何人拿同一份数据切片跑同一个引擎，得到同一张费率表 —— 这是定价可被审计的前提。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742431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19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刻意的取舍：只做 12h / 24h（国标没有 48h / 72h，线性外推会造成「多付 4 倍保费、中奖率一半」）；不设特大暴雨档（11 年五城 24h ≥ 250mm 零命中，写进条款却永远赔不到的档是虚假承诺）。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30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3 · 五层架构与三条硬规则&#13;&#10;        &lt;/Text&gt;&#13;&#10;        &lt;Box style={{ flex: 1 }} /&gt;&#13;&#10;        &lt;Text style={{ fontFamily: 'Consolas', fontSize: 16, color: 'rgba(255,255,255,0.34)', letterSpacing: 2 }}&gt;&#13;&#10;            APPENDIX A3&#13;&#10;        &lt;/Text&gt;&#13;&#10;    &lt;/Box&gt;&#13;&#10;&#13;&#10;    &lt;Box style={{ height: 540, flexDirection: 'row', gap: 26 }}&gt;&#13;&#10;&#13;&#10;        &lt;Box style={{ width: 658, height: 540 }}&gt;&#13;&#10;            &lt;svg width={658} height={540} viewBox='0 0 658 540'&gt;&#13;&#10;                &lt;rect x='0' y='16' width='658' height='88' rx='6' fill='rgba(255,255,255,0.05)' stroke='rgba(255,255,255,0.16)' strokeWidth='1' /&gt;&#13;&#10;                &lt;rect x='0' y='16' width='4' height='88' fill='#22D3EE' /&gt;&#13;&#10;                &lt;text x='20' y='44' fontFamily='Microsoft YaHei' fontSize='17' fontWeight='bold' fill='#FFFFFF'&gt;① 外部数据层&lt;/text&gt;&#13;&#10;                &lt;text x='20' y='70' fontFamily='Microsoft YaHei' fontSize='13' fill='rgba(255,255,255,0.60)'&gt;Open-Meteo Archive（ERA5 逐小时，11 年回测）· Forecast（ECMWF / GFS / ICON 三模型）&lt;/text&gt;&#13;&#10;                &lt;text x='20' y='90' fontFamily='Microsoft YaHei' fontSize='13' fill='rgba(255,255,255,0.60)'&gt;气象灾害预警信号、GB/T 28592-2012 降水量等级 —— HTTP 直连，免费、无需密钥&lt;/text&gt;&#13;&#10;&#13;&#10;                &lt;rect x='0' y='117' width='658' height='88' rx='6' fill='rgba(34,211,238,0.10)' stroke='#22D3EE' strokeWidth='1' /&gt;&#13;&#10;                &lt;rect x='0' y='117' width='4' height='88' fill='#22D3EE' /&gt;&#13;&#10;                &lt;text x='20' y='145' fontFamily='Microsoft YaHei' fontSize='17' fontWeight='bold' fill='#FFFFFF'&gt;② AI 判定层&lt;/text&gt;&#13;&#10;                &lt;text x='20' y='171' fontFamily='Microsoft YaHei' fontSize='13' fill='rgba(255,255,255,0.62)'&gt;ai-collect 取数 → canonical 确定性哈希 → ai-judge（R1–R5）→ submit-judgement 上链&lt;/text&gt;&#13;&#10;                &lt;text x='20' y='191' fontFamily='Microsoft YaHei' fontSize='13' fill='rgba(255,255,255,0.62)'&gt;提交前重算哈希比对，提交后读回校验 6/6 字段一致&lt;/text&gt;&#13;&#10;&#13;&#10;                &lt;rect x='0' y='218' width='658' height='88' rx='6' fill='rgba(45,127,249,0.12)' stroke='#2D7FF9' strokeWidth='1' /&gt;&#13;&#10;                &lt;rect x='0' y='218' width='4' height='88' fill='#2D7FF9' /&gt;&#13;&#10;                &lt;text x='20' y='246' fontFamily='Microsoft YaHei' fontSize='17' fontWeight='bold' fill='#FFFFFF'&gt;③ 共识与结算层&lt;/text&gt;&#13;&#10;                &lt;text x='20' y='272' fontFamily='Microsoft YaHei' fontSize='13' fill='rgba(255,255,255,0.62)'&gt;updateRainfall · rejectFeed · setUnderwriting · submitJudgement · claim · fundPool&lt;/text&gt;&#13;&#10;                &lt;text x='20' y='292' fontFamily='Microsoft YaHei' fontSize='13' fill='rgba(255,255,255,0.62)'&gt;Solidity 合约 · v1 上 Sepolia 实链（10,758 字节）；v2 在 BOT Chain 968 彩排通过&lt;/text&gt;&#13;&#10;&#13;&#10;                &lt;rect x='0' y='319' width='658' height='88' rx='6' fill='rgba(255,255,255,0.05)' stroke='rgba(255,255,255,0.16)' strokeWidth='1' /&gt;&#13;&#10;                &lt;rect x='0' y='319' width='4' height='88' fill='#22D3EE' /&gt;&#13;&#10;                &lt;text x='20' y='347' fontFamily='Microsoft YaHei' fontSize='17' fontWeight='bold' fill='#FFFFFF'&gt;④ 自动化与证据层&lt;/text&gt;&#13;&#10;                &lt;text x='20' y='373' fontFamily='Microsoft YaHei' fontSize='13' fill='rgba(255,255,255,0.60)'&gt;keeper.js 轮询保单状态、发现可赔即触发；09-AI判定留痕/ 存档每张保单的输入与输出哈希&lt;/text&gt;&#13;&#10;                &lt;text x='20' y='393' fontFamily='Microsoft YaHei' fontSize='13' fill='rgba(255,255,255,0.60)'&gt;五套自动化门禁共 229 项断言，含「每条留痕的哈希都能当场重算」&lt;/text&gt;&#13;&#10;&#13;&#10;                &lt;rect x='0' y='420' width='658' height='88' rx='6' fill='rgba(255,255,255,0.05)' stroke='rgba(255,255,255,0.16)' strokeWidth='1' /&gt;&#13;&#10;                &lt;rect x='0' y='420' width='4' height='88' fill='#22D3EE' /&gt;&#13;&#10;                &lt;text x='20' y='448' fontFamily='Microsoft YaHei' fontSize='17' fontWeight='bold' fill='#FFFFFF'&gt;⑤ 产品前端层&lt;/text&gt;&#13;&#10;                &lt;text x='20' y='474' fontFamily='Microsoft YaHei' fontSize='13' fill='rgba(255,255,255,0.60)'&gt;index.html 投保 / 五城降雨看板 / 我的保单；verifier.html 粘交易哈希即解码事件&lt;/text&gt;&#13;&#10;                &lt;text x='20' y='494' fontFamily='Microsoft YaHei' fontSize='13' fill='rgba(255,255,255,0.60)'&gt;单文件核验台零依赖，双击即开 —— 前端只读链，不读自家后端&lt;/text&gt;&#13;&#10;            &lt;/svg&gt;&#13;&#10;        &lt;/Box&gt;&#13;&#10;&#13;&#10;        &lt;Box style={{ width: 452, height: 540, flexDirection: 'column', overflow: 'hidden' }}&gt;&#13;&#10;            &lt;Text style={{ fontFamily: 'Consolas', fontSize: 14, color: '#22D3EE', letterSpacing: 4, flexShrink: 0 }}&gt;&#13;&#10;                THREE HARD RULES&#13;&#10;            &lt;/Text&gt;&#13;&#10;&#13;&#10;            &lt;Box style={{ height: 1, background: 'rgba(255,255,255,0.14)', marginTop: 12, marginBottom: 14, flexShrink: 0 }} /&gt;&#13;&#10;&#13;&#10;            &lt;Box style={{ flexDirection: 'column', gap: 11 }}&gt;&#13;&#10;                &lt;Box style={{ flexDirection: 'row', gap: 12 }}&gt;&#13;&#10;                    &lt;Text style={{ fontFamily: 'Consolas', fontSize: 16, color: '#2D7FF9', fontWeight: 'bold' }}&gt;01&lt;/Text&gt;&#13;&#10;                    &lt;Box style={{ flexDirection: 'column' }}&gt;&#13;&#10;                        &lt;Text style={{ fontFamily: 'Microsoft YaHei', fontSize: 18, fontWeight: 'bold', color: '#FFFFFF' }}&gt;数据来源单一化&lt;/Text&gt;&#13;&#10;                        &lt;Text style={{ fontFamily: 'Microsoft YaHei', fontSize: 15, color: 'rgba(255,255,255,0.60)', lineHeight: 1.45, marginTop: 3 }}&gt;&#13;&#10;                            一个账号体系覆盖降水、气温、风速、空气质量 —— 换险种不必换数据方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2&lt;/Text&gt;&#13;&#10;                    &lt;Box style={{ flexDirection: 'column' }}&gt;&#13;&#10;                        &lt;Text style={{ fontFamily: 'Microsoft YaHei', fontSize: 18, fontWeight: 'bold', color: '#FFFFFF' }}&gt;哈希是唯一的跨层契约&lt;/Text&gt;&#13;&#10;                        &lt;Text style={{ fontFamily: 'Microsoft YaHei', fontSize: 15, color: 'rgba(255,255,255,0.60)', lineHeight: 1.45, marginTop: 3 }}&gt;&#13;&#10;                            inputHash 锁输入、outputHash 锁判定，两者都不含任何会变的字段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3&lt;/Text&gt;&#13;&#10;                    &lt;Box style={{ flexDirection: 'column' }}&gt;&#13;&#10;                        &lt;Text style={{ fontFamily: 'Microsoft YaHei', fontSize: 18, fontWeight: 'bold', color: '#FFFFFF' }}&gt;写链操作只有一个出口&lt;/Text&gt;&#13;&#10;                        &lt;Text style={{ fontFamily: 'Microsoft YaHei', fontSize: 15, color: 'rgba(255,255,255,0.60)', lineHeight: 1.45, marginTop: 3 }}&gt;&#13;&#10;                            一张保单的判定只允许写一次，重复提交会被合约直接拒绝。&#13;&#10;                        &lt;/Text&gt;&#13;&#10;                    &lt;/Box&gt;&#13;&#10;                &lt;/Box&gt;&#13;&#10;            &lt;/Box&gt;&#13;&#10;&#13;&#10;            &lt;Box style={{ marginTop: 'auto', background: 'rgba(245,165,36,0.10)', border: '1px solid rgba(245,165,36,0.34)', borderRadius: 5, padding: 13, flexShrink: 0 }}&gt;&#13;&#10;                &lt;Text style={{ fontFamily: 'Microsoft YaHei', fontSize: 16, color: '#FFFFFF', lineHeight: 1.48 }}&gt;&#13;&#10;                    这三层的接缝是&lt;span style={{ color: '#F5A524', fontWeight: 'bold' }}&gt;「哈希」&lt;/span&gt;，不是「模型」。精算与 AI 都可以被替换，只要它们的输入输出能落成同一个可复算的哈希。&#13;&#10;                &lt;/Text&gt;&#13;&#10;            &lt;/Box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五层架构与三条硬规则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Five layers, three hard rules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ARCHITECTURE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12 / 29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ARCHITECTURE · 接缝是「哈希」，不是「模型」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85800" y="1664208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85800" y="1664208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96112" y="1755648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61872" y="1746504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外部数据层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61872" y="2057400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Open-Meteo Archive（ERA5 逐小时，11 年回测）· Forecast（ECMWF / GFS / ICON 三模型）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872" y="2286000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气象灾害预警信号、GB/T 28592—2012 降水量等级 —— HTTP 直连，免费、无需密钥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85800" y="2615184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85800" y="2615184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96112" y="2706624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1872" y="2697480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AI 判定层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61872" y="3008376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ai-collect 取数 → canonical 确定性哈希 → ai-judge（R1–R5）→ submit-judgment 上链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61872" y="3236976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提交前重算哈希比对，提交后读回校验 6/6 字段一致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85800" y="3566160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85800" y="3566160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96112" y="3657600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61872" y="3648456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共识与结算层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61872" y="3959352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updateRainfallBatch · rejectFeed · setUnderwriting · submitJudgment · claim · fundPool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61872" y="4187952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Solidity 合约：V6 在 BOT Chain 968 实链运行，122 个区划全部开通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85800" y="4517136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85800" y="4517136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96112" y="4608576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61872" y="4599432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自动化与证据层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61872" y="4910328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keeper.js 每 30 分钟轮询保单状态，发现可赔即触发；09-AI判定留痕/ 存档每张保单的输入与输出哈希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61872" y="5138928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28 组门禁、596 项断言，含「每条留痕的哈希都能当场重算」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85800" y="5468112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5800" y="5468112"/>
            <a:ext cx="41148" cy="859536"/>
          </a:xfrm>
          <a:prstGeom prst="rect">
            <a:avLst/>
          </a:prstGeom>
          <a:solidFill>
            <a:srgbClr val="F5A52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96112" y="5559552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F5A524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61872" y="555040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产品前端层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61872" y="5861304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insurance.html 落地 / index-v6.html 看板 / console.html 台账 / verify-v6.html 核验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261872" y="6089904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单文件核验台零依赖，双击即开 —— 前端只读链，不读自家后端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58952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THREE HARD RULES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589520" y="1700784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955279" y="1682496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数据来源单一化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955279" y="1975104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一个 Open-Meteo 账号体系覆盖降水、气温、风速、空气质量 —— 换险种不必换数据方。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589520" y="2834640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55279" y="2816352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哈希是唯一的跨层契约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955279" y="3108960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inputHash 锁输入、outputHash 锁判定，两者都不含任何会变的字段。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589520" y="3968496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55279" y="3950208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写链操作只有一个出口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955279" y="4242816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一张保单的判定只允许写一次，重复提交会被合约直接拒绝。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589520" y="4626864"/>
            <a:ext cx="3895344" cy="113385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589520" y="4626864"/>
            <a:ext cx="3895344" cy="11338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45000"/>
              </a:lnSpc>
            </a:pPr>
            <a:r>
              <a:rPr sz="100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精算与 AI 都可以被替换，只要它们的输入输出能落成同一个可复算的哈希。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三个创新，一层叠一层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layers of innovation, stacked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13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INNOVATION · 不是三个功能点，是一条因果链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产品层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把「定损」删掉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参数化早有先例。新的是场景：个人 / 小额 / 高频 / 无凭证的收入中断。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2D3EE"/>
                </a:solidFill>
                <a:latin typeface="微软雅黑"/>
                <a:ea typeface="微软雅黑"/>
              </a:rPr>
              <a:t>传统险的成本结构在这里必亏 —— 删掉定损才有毛利。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D7FF9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技术层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AI 只验真，不判赔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6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行业里 AI 做核保评分，结论是概率、责任是模糊的。我们把它关进笼子。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D7FF9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D7FF9"/>
                </a:solidFill>
                <a:latin typeface="微软雅黑"/>
                <a:ea typeface="微软雅黑"/>
              </a:rPr>
              <a:t>责任边界可审计，才进得了条款报备流程。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F5A524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信任层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结论可被第三方复算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82712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2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原始报文 → SHA-256 → 上链 → 规则 → outputHash，任何人重跑同一个结论。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F5A524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它要求前两层本来就是确定性、可复现的系统。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47488"/>
            <a:ext cx="10817352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047488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5000"/>
              </a:lnSpc>
            </a:pPr>
            <a:r>
              <a:rPr sz="1150" b="0" i="0" lang="zh-CN">
                <a:solidFill>
                  <a:srgbClr val="FFFFFF">
                    <a:alpha val="88000"/>
                  </a:srgbClr>
                </a:solidFill>
                <a:latin typeface="微软雅黑"/>
                <a:ea typeface="微软雅黑"/>
              </a:rPr>
              <a:t>第三条才是壁垒：一套靠「模型判断」的系统永远无法自证；只有确定性系统，才可能被第三方当场复算。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把 TAM 说小，是故意的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We keep the TAM deliberately 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14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50">
                <a:solidFill>
                  <a:srgbClr val="22D3EE"/>
                </a:solidFill>
                <a:latin typeface="Consolas"/>
                <a:ea typeface="Consolas"/>
              </a:rPr>
              <a:t>MARKET · 单位：亿元／年 · 只算「会被暴雨打断收入」的那一群人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D7FF9"/>
                </a:solidFill>
                <a:latin typeface="Consolas"/>
                <a:ea typeface="Consolas"/>
              </a:rPr>
              <a:t>19–26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984248"/>
            <a:ext cx="3931920" cy="146304"/>
          </a:xfrm>
          <a:prstGeom prst="rect">
            <a:avLst/>
          </a:prstGeom>
          <a:solidFill>
            <a:srgbClr val="2D7FF9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5915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500–700 万骑手 × 250 天 × 1.5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1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9067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2D3EE"/>
                </a:solidFill>
                <a:latin typeface="Consolas"/>
                <a:ea typeface="Consolas"/>
              </a:rPr>
              <a:t>3.6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3172968"/>
            <a:ext cx="1572768" cy="146304"/>
          </a:xfrm>
          <a:prstGeom prst="rect">
            <a:avLst/>
          </a:prstGeom>
          <a:solidFill>
            <a:srgbClr val="22D3E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4787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200 万高频骑手 × 120 天 × 1.5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9651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SOM · 第 3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7939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F5A524"/>
                </a:solidFill>
                <a:latin typeface="Consolas"/>
                <a:ea typeface="Consolas"/>
              </a:rPr>
              <a:t>1.1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9152" y="4361688"/>
            <a:ext cx="676656" cy="146304"/>
          </a:xfrm>
          <a:prstGeom prst="rect">
            <a:avLst/>
          </a:prstGeom>
          <a:solidFill>
            <a:srgbClr val="F5A52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3659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80 万骑手 × 100 天 × 1.4 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35824" y="1700784"/>
            <a:ext cx="7315" cy="3749039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1700784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五条假设 · 全部可替换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048256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029968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骑手规模 500–700 万（美团 300 万 ＋ 蜂鸟 400 万，口径并列不混算）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33472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615184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每城每年因暴雨停工的时数：8–12 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218688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200400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客单价 1.4–1.5 元／单日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03904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785616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第 3 年渗透率 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389120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370832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单城在保规模上限由平台单量决定，不由我们的销售能力决定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047488"/>
            <a:ext cx="3529584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9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不给单点估值 —— 参数换一组，结论跟着变，这是这一页唯一的方法论。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68112"/>
            <a:ext cx="6766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我们只算那一小群：收入会被暴雨打断，且损失能被一个公开数字代表。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79729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22D3EE"/>
                </a:solidFill>
                <a:latin typeface="Consolas"/>
                <a:ea typeface="Consolas"/>
              </a:rPr>
              <a:t>竞争位形　</a:t>
            </a:r>
            <a:r>
              <a:rPr sz="9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传统骑手险不保收入中断　·　平台补贴不是保险　·　广东巨灾指数无个人高频场景　·　海外三家玩家佐证赛道　→　</a:t>
            </a:r>
            <a:r>
              <a:rPr sz="900" b="1" i="0" lang="zh-CN">
                <a:solidFill>
                  <a:srgbClr val="F5A524"/>
                </a:solidFill>
                <a:latin typeface="微软雅黑"/>
                <a:ea typeface="微软雅黑"/>
              </a:rPr>
              <a:t>空白在我们这一格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四类玩家，空白在个人小额高频这一格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Four kinds of players, one empty square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COMPETITION · 谁已经在做，谁还没做到这一层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44752"/>
            <a:ext cx="10561320" cy="9144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91056"/>
            <a:ext cx="25603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1591056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传统骑手意外险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1609344"/>
            <a:ext cx="615391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08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平台合作的意外险 / 第三者责任险。只保意外伤害，不保「跑不了单」的收入中断；理赔仍需报案、查勘、定损。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57232" y="1591056"/>
            <a:ext cx="14173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不覆盖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450592"/>
            <a:ext cx="10561320" cy="9144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596896"/>
            <a:ext cx="25603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596896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平台自保障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615184"/>
            <a:ext cx="615391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08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恶劣天气补贴 / 关怀金。无精算、无定价、无分保，是成本中心而不是保险；花多少、赔给谁，事后无法审计。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57232" y="2596896"/>
            <a:ext cx="14173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不是保险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456432"/>
            <a:ext cx="10561320" cy="9144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602736"/>
            <a:ext cx="25603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3602736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国内参数化先例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3621024"/>
            <a:ext cx="615391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08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广东巨灾指数保险（2016 首创，10 市试点）、农业天气指数险。证明了「参数触发」已被监管与市场接受，但颗粒度停在城市级巨灾，没有个人小额高频场景。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7232" y="3602736"/>
            <a:ext cx="14173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无个人场景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62272"/>
            <a:ext cx="10561320" cy="9144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608576"/>
            <a:ext cx="25603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4608576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国际参数化玩家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5576" y="4626864"/>
            <a:ext cx="615391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08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Arbol / Raincoat / FloodFlash。佐证赛道成熟、模式可行；中国即时配送的个人场景，目前仍无成型玩家。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4608576"/>
            <a:ext cx="14173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尚未进入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541264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50992"/>
            <a:ext cx="10561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我们的位置　</a:t>
            </a:r>
            <a:r>
              <a:rPr sz="110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把参数化从「城市巨灾」压到「一个骑手的一天」，再用链上哈希把「可验证」做成产品的一部分 —— 这一格现在空着，因为占它需要同时具备 11 年城市级精算数据、三模型验真工程、以及可被第三方复算的存证。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四条护城河，三个弱点，都写在这一页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Four moats, three weaknesses, all disclosed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MOAT &amp; WEAKNESS · 只讲能验证的部分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50749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四条护城河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69364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数据与精算：244 格费率的完整复算链，换个人跑同一引擎得同一个数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3629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验真层：三模型交叉验证的工程实现，不是「买了 API 就算有」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0322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可验证理赔：规则与证据全程哈希存证，第三方可复算同一结论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7014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先发：已建成、已回测、已真实赔付过，并已完成 V6 迁移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481328"/>
            <a:ext cx="51206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F5A524"/>
                </a:solidFill>
                <a:latin typeface="Consolas"/>
                <a:ea typeface="Consolas"/>
              </a:rPr>
              <a:t>三个弱点与应对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75564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769364"/>
            <a:ext cx="493775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团队小 → 按规则组队 2–4 人 + 指导教师 1–2 名，跨学科配置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22576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36292"/>
            <a:ext cx="493775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尚无持牌伙伴 → 输出型定位（不做承保主体）降低门槛，赛前争取 1 家意向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889504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03220"/>
            <a:ext cx="493775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预言机单点 → 三源交叉已实现，国内合规数据源切换路径已明确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931920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59936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还没解决、也不假装解决的三件事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52544"/>
            <a:ext cx="1417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基差风险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352544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雨量达标但个体未受损 —— 二期接平台订单数据做「实际停单」触发，条款里先明示参数化属性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64608"/>
            <a:ext cx="1417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数据源依赖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864608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三模型 + 容差 + 离群拒收留痕；条款里先约定断供兜底口径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76672"/>
            <a:ext cx="1417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身份核验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376672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保单绑定骑手地址、由平台批量签发，单骑手无法自证 —— 靠 B2B2C 绕开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05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那谁为这个风险付钱？&#13;&#10;        &lt;/Text&gt;&#13;&#10;        &lt;Box style={{ flex: 1 }} /&gt;&#13;&#10;        &lt;Text style={{ fontFamily: 'Consolas', fontSize: 16, color: 'rgba(255,255,255,0.34)', letterSpacing: 2 }}&gt;&#13;&#10;            07 / BUSINESS&#13;&#10;        &lt;/Text&gt;&#13;&#10;    &lt;/Box&gt;&#13;&#10;&#13;&#10;    &lt;Box style={{ height: 540, flexDirection: 'row', gap: 26 }}&gt;&#13;&#10;&#13;&#10;        &lt;Box style={{ width: 400, height: 540, flexDirection: 'column' }}&gt;&#13;&#10;            &lt;Text style={{ fontFamily: 'Consolas', fontSize: 14, color: '#22D3EE', letterSpacing: 4 }}&gt;&#13;&#10;                WHO PAYS&#13;&#10;            &lt;/Text&gt;&#13;&#10;&#13;&#10;            &lt;Text style={{ fontFamily: 'Microsoft YaHei', fontSize: 30, fontWeight: 'bold', color: '#FFFFFF', lineHeight: 1.35, marginTop: 14 }}&gt;&#13;&#10;                骑手自己不付钱。&#13;&#10;                &lt;br /&gt;&#13;&#10;                向有合规与舆情压力的一方收费。&#13;&#10;            &lt;/Text&gt;&#13;&#10;&#13;&#10;            &lt;Box style={{ height: 1, background: 'rgba(255,255,255,0.14)', marginTop: 20, marginBottom: 18 }} /&gt;&#13;&#10;&#13;&#10;            &lt;Text style={{ fontFamily: 'Microsoft YaHei', fontSize: 17, color: 'rgba(255,255,255,0.66)', lineHeight: 1.6 }}&gt;&#13;&#10;                单均保费只有千分之几 ETH，靠骑手逐单付费撑不起渠道成本；但平台一次决策就能覆盖成千上万骑手，边际获客成本趋近于零。&#13;&#10;            &lt;/Text&gt;&#13;&#10;&#13;&#10;            &lt;Text style={{ fontFamily: 'Microsoft YaHei', fontSize: 17, color: 'rgba(255,255,255,0.66)', lineHeight: 1.6, marginTop: 12 }}&gt;&#13;&#10;                更关键的是：暴雨天的运力缺口与事故舆情，本身就是平台必须花的钱。&#13;&#10;            &lt;/Text&gt;&#13;&#10;&#13;&#10;            &lt;Box style={{ marginTop: 'auto', background: 'rgba(45,127,249,0.10)', border: '1px solid rgba(45,127,249,0.30)', borderRadius: 5, padding: 16 }}&gt;&#13;&#10;                &lt;Text style={{ fontFamily: 'Consolas', fontSize: 14, color: '#22D3EE', letterSpacing: 3 }}&gt;&#13;&#10;                    RECOMMENDED PATH&#13;&#10;                &lt;/Text&gt;&#13;&#10;                &lt;Text style={{ fontFamily: 'Microsoft YaHei', fontSize: 16, color: 'rgba(255,255,255,0.88)', lineHeight: 1.5, marginTop: 8 }}&gt;&#13;&#10;                    先以平台为客户做 &lt;span style={{ fontFamily: 'Consolas', fontWeight: 'bold', color: '#FFFFFF' }}&gt;B2B2C&lt;/span&gt;，把单区域在保规模做起来；规模起来后，再向保险公司输出定价与证据能力。&#13;&#10;                &lt;/Text&gt;&#13;&#10;            &lt;/Box&gt;&#13;&#10;        &lt;/Box&gt;&#13;&#10;&#13;&#10;        &lt;Box style={{ width: 710, height: 540, flexDirection: 'column' }}&gt;&#13;&#10;&#13;&#10;            &lt;Box style={{ flex: 1, minHeight: 0, flexDirection: 'column' }}&gt;&#13;&#10;                &lt;Text style={{ fontFamily: 'Consolas', fontSize: 14, color: '#22D3EE', letterSpacing: 3 }}&gt;&#13;&#10;                    THREE BUYERS&#13;&#10;                &lt;/Text&gt;&#13;&#10;&#13;&#10;                &lt;Box style={{ flexDirection: 'column', gap: 8, marginTop: 12 }}&gt;&#13;&#10;&#13;&#10;                    &lt;Box style={{ height: 68, flexDirection: 'row', alignItems: 'center', background: 'rgba(255,255,255,0.03)', borderLeft: '3px solid rgba(255,255,255,0.14)', borderRadius: 4, padding: '0 18px' }}&gt;&#13;&#10;                        &lt;Text style={{ width: 172, fontFamily: 'Microsoft YaHei', fontSize: 18, fontWeight: 'bold', color: 'rgba(255,255,255,0.62)' }}&gt;骑手自付&lt;/Text&gt;&#13;&#10;                        &lt;Text style={{ flex: 1, fontFamily: 'Microsoft YaHei', fontSize: 15, color: 'rgba(255,255,255,0.50)', lineHeight: 1.45 }}&gt;&#13;&#10;                            获客成本高、价格极敏感、单均太小撑不起渠道 —— 不推荐作为主路径&#13;&#10;                        &lt;/Text&gt;&#13;&#10;                    &lt;/Box&gt;&#13;&#10;&#13;&#10;                    &lt;Box style={{ height: 102, flexDirection: 'column', justifyContent: 'center', background: 'rgba(45,127,249,0.12)', borderLeft: '3px solid #2D7FF9', borderRadius: 4, padding: '0 18px' }}&gt;&#13;&#10;                        &lt;Box style={{ flexDirection: 'row', alignItems: 'center', gap: 12 }}&gt;&#13;&#10;                            &lt;Text style={{ fontFamily: 'Microsoft YaHei', fontSize: 20, fontWeight: 'bold', color: '#FFFFFF' }}&gt;平台 / 众包服务商&lt;/Text&gt;&#13;&#10;                            &lt;Box style={{ background: 'rgba(34,211,238,0.16)', border: '1px solid rgba(34,211,238,0.42)', borderRadius: 3, padding: '2px 10px' }}&gt;&#13;&#10;                                &lt;Text style={{ fontFamily: 'Microsoft YaHei', fontSize: 13, color: '#22D3EE' }}&gt;推荐&lt;/Text&gt;&#13;&#10;                            &lt;/Box&gt;&#13;&#10;                        &lt;/Box&gt;&#13;&#10;                        &lt;Text style={{ fontFamily: 'Microsoft YaHei', fontSize: 15, color: 'rgba(255,255,255,0.74)', lineHeight: 1.45, marginTop: 6 }}&gt;&#13;&#10;                            一次决策覆盖成千上万骑手，边际获客成本≈0；且它的合规成本、骑手留存与舆情风险对冲都指向同一笔支出&#13;&#10;                        &lt;/Text&gt;&#13;&#10;                    &lt;/Box&gt;&#13;&#10;&#13;&#10;                    &lt;Box style={{ height: 68, flexDirection: 'row', alignItems: 'center', background: 'rgba(255,255,255,0.04)', borderLeft: '3px solid #22D3EE', borderRadius: 4, padding: '0 18px' }}&gt;&#13;&#10;                        &lt;Text style={{ width: 172, fontFamily: 'Microsoft YaHei', fontSize: 18, fontWeight: 'bold', color: '#FFFFFF' }}&gt;保险公司&lt;/Text&gt;&#13;&#10;                        &lt;Text style={{ flex: 1, fontFamily: 'Microsoft YaHei', fontSize: 15, color: 'rgba(255,255,255,0.62)', lineHeight: 1.45 }}&gt;&#13;&#10;                            我们做风控与技术方：输出参数化定价与链上证据层 —— 第二阶段&#13;&#10;                        &lt;/Text&gt;&#13;&#10;                    &lt;/Box&gt;&#13;&#10;&#13;&#10;                &lt;/Box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8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3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07" name="矩形 30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914400" y="409575"/>
            <a:ext cx="342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那谁为这个风险付钱？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05 / BUSINESS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85800" y="11430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WHO PAYS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685800" y="1438275"/>
            <a:ext cx="4160520" cy="1390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骑手自己不付钱。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向有合规与舆情压力的一方收费。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685800" y="3019425"/>
            <a:ext cx="3810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685800" y="3200400"/>
            <a:ext cx="3810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单均保费只有几元</a:t>
            </a:r>
            <a:r>
              <a:rPr lang="en-US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，靠骑手逐单付费撑不起渠道成本；但平台一次决策就能覆盖成千上万骑手，边际获客成本趋近于零。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5800" y="4248150"/>
            <a:ext cx="3810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更关键的是：暴雨天的运力缺口与事故舆情，本身就是平台必须花的钱。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685800" y="4914900"/>
            <a:ext cx="3810000" cy="1371600"/>
          </a:xfrm>
          <a:prstGeom prst="roundRect">
            <a:avLst>
              <a:gd name="adj" fmla="val 347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38200" y="5067300"/>
            <a:ext cx="3505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RECOMMENDED PATH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38200" y="5305425"/>
            <a:ext cx="35052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先以平台为客户做</a:t>
            </a:r>
            <a:r>
              <a:rPr lang="en-US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B2B2C</a:t>
            </a: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，把单区域在保规模做起来；规模起来后，再向保险公司输出定价与证据能力。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4743450" y="1143000"/>
            <a:ext cx="6762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BUYERS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4772025" y="141922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3000"/>
            </a:srgbClr>
          </a:solidFill>
        </p:spPr>
        <p:txBody>
          <a:bodyPr/>
          <a:p/>
        </p:txBody>
      </p:sp>
      <p:sp>
        <p:nvSpPr>
          <p:cNvPr id="320" name="任意多边形 319"/>
          <p:cNvSpPr/>
          <p:nvPr/>
        </p:nvSpPr>
        <p:spPr>
          <a:xfrm>
            <a:off x="4772025" y="141922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943475" y="163830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骑手自付</a:t>
            </a:r>
            <a:endParaRPr lang="zh-CN" sz="1350" b="1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6581775" y="161925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获客成本高、价格极敏感、单均太小撑不起渠道</a:t>
            </a:r>
            <a:r>
              <a:rPr lang="en-US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不推荐作为主路径</a:t>
            </a:r>
            <a:endParaRPr lang="zh-CN" sz="112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4772025" y="2143125"/>
            <a:ext cx="6762750" cy="971550"/>
          </a:xfrm>
          <a:prstGeom prst="roundRect">
            <a:avLst>
              <a:gd name="adj" fmla="val 3922"/>
            </a:avLst>
          </a:prstGeom>
          <a:solidFill>
            <a:srgbClr val="2D7FF9">
              <a:alpha val="12000"/>
            </a:srgbClr>
          </a:solidFill>
        </p:spPr>
        <p:txBody>
          <a:bodyPr/>
          <a:p/>
        </p:txBody>
      </p:sp>
      <p:sp>
        <p:nvSpPr>
          <p:cNvPr id="324" name="任意多边形 323"/>
          <p:cNvSpPr/>
          <p:nvPr/>
        </p:nvSpPr>
        <p:spPr>
          <a:xfrm>
            <a:off x="4772025" y="2143125"/>
            <a:ext cx="6762750" cy="971550"/>
          </a:xfrm>
          <a:custGeom>
            <a:avLst/>
            <a:gdLst/>
            <a:ahLst/>
            <a:cxnLst/>
            <a:pathLst>
              <a:path w="710" h="10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01"/>
                </a:lnTo>
                <a:cubicBezTo>
                  <a:pt x="3" y="101"/>
                  <a:pt x="3" y="102"/>
                  <a:pt x="4" y="102"/>
                </a:cubicBezTo>
                <a:cubicBezTo>
                  <a:pt x="2" y="102"/>
                  <a:pt x="0" y="100"/>
                  <a:pt x="0" y="9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4943475" y="2238375"/>
            <a:ext cx="1543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众包服务商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6600825" y="2257425"/>
            <a:ext cx="438150" cy="190500"/>
          </a:xfrm>
          <a:prstGeom prst="roundRect">
            <a:avLst>
              <a:gd name="adj" fmla="val 15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6696075" y="2276475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endParaRPr lang="zh-CN" sz="97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4943475" y="2524125"/>
            <a:ext cx="63912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一次决策覆盖成千上万骑手，边际获客成本≈</a:t>
            </a:r>
            <a:r>
              <a:rPr lang="en-US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；且它的合规成本、骑手留存与舆情风险对冲都指向同一笔支出</a:t>
            </a:r>
            <a:endParaRPr lang="zh-CN" sz="112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4772025" y="319087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4000"/>
            </a:srgbClr>
          </a:solidFill>
        </p:spPr>
        <p:txBody>
          <a:bodyPr/>
          <a:p/>
        </p:txBody>
      </p:sp>
      <p:sp>
        <p:nvSpPr>
          <p:cNvPr id="330" name="任意多边形 329"/>
          <p:cNvSpPr/>
          <p:nvPr/>
        </p:nvSpPr>
        <p:spPr>
          <a:xfrm>
            <a:off x="4772025" y="319087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2D3EE"/>
          </a:solidFill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943475" y="340995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581775" y="339090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我们做风控与技术方：输出参数化定价与链上证据层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lang="zh-CN" sz="11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17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who pays for this risk?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336" name="TextBox 335"/>
          <p:cNvSpPr txBox="1"/>
          <p:nvPr/>
        </p:nvSpPr>
        <p:spPr>
          <a:xfrm>
            <a:off x="4754880" y="402336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UNIT ECONOMICS · 每一元保费的去向（平台团体价口径）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754880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期望赔付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754880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5A524"/>
                </a:solidFill>
                <a:latin typeface="Consolas"/>
                <a:ea typeface="Consolas"/>
              </a:rPr>
              <a:t>34%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4754880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0.742 ÷ 2.2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6071616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固定成本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6071616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14%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6071616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出单/结算/存证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7388352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再保 + 准备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7388352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15%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7388352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雨季前前置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705088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渠道与运营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8705088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25%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8705088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平台通道费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0021824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科技毛利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0021824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22D3EE"/>
                </a:solidFill>
                <a:latin typeface="Consolas"/>
                <a:ea typeface="Consolas"/>
              </a:rPr>
              <a:t>12%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0021824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不碰承保利润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4754880" y="5074920"/>
            <a:ext cx="658368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4754880" y="5175504"/>
            <a:ext cx="66751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三条安全边际：97.5% 上界（不是点估计）· 向上取整 · 赔付率红线 60%　｜　Y3 覆盖 80 万骑手时保费约 1.1 亿元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每一元保费去哪了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Where every yuan of premium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UNIT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UNIT ECONOMICS · 以广州 24h 平台团体价 2.2 元为例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813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6184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8105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期望赔付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116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5A524"/>
                </a:solidFill>
                <a:latin typeface="微软雅黑"/>
                <a:ea typeface="微软雅黑"/>
              </a:rPr>
              <a:t>34%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957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0.742 ÷ 2.2；按 97.5% 上界口径，不是点估计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5800" y="14813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6968" y="16184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6968" y="18105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固定成本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6968" y="20116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6968" y="23957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0.30 ÷ 2.2；出单 / 结算 / 存证的边际成本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14813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8368" y="16184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18105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再保 + 风险准备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8368" y="20116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8368" y="23957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只在雨季前前置；24h 档 VaR99 为负，准备金下限取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0815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32186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4107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渠道与运营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6118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9959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B2B2C：平台通道费 + 服务费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5800" y="30815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6968" y="32186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6968" y="34107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科技毛利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6968" y="36118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22D3EE"/>
                </a:solidFill>
                <a:latin typeface="微软雅黑"/>
                <a:ea typeface="微软雅黑"/>
              </a:rPr>
              <a:t>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6968" y="39959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科技服务费口径，不碰承保利润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279392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为什么这个结构能成立：期望赔付压在 34%，是因为定价取上界而非点估计、且只做 12h / 24h 两档；固定成本压到 14%，是因为定损环节被删掉、判定由规则与外部任务完成。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828032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956048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技术成本实测（这台机器就能跑）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248656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机器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5248656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2 核 2G / 50G 单机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248656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喂价一轮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248656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122 区划 · 2.14 s CPU（2.2% 单核）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248656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峰值内存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248656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87 MB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248656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部署体积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19" y="5248656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静态站 + 合约 + 脚本 19 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614416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结论：机器不是瓶颈，天气 API 的额度才是。这也是我们敢把「规模」放在第三年、而不是第一年的原因。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三年三情形，假设全部摊开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years, every assumption disclosed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FINANCIALS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FINANCIALS · 单位：万元 · 假设可替换，结论跟着变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481328"/>
            <a:ext cx="37033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指标（万元）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6631" y="1481328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Y1 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1192" y="1481328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Y2 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1481328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Y3 规模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755648"/>
            <a:ext cx="10561320" cy="731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1810512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1938528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覆盖骑手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1" y="193852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2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193852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20 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5752" y="193852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80 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340864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468880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保费规模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1" y="2468880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144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468880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2,080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468880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11,200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2871216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2999232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赔付（自留口径）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1" y="2999232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≈75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2999232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≈1,080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999232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≈5,800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401568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3529584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科技服务费收入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1" y="3529584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18–22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3529584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250–310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2" y="3529584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1,350–1,680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3931920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4059935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运营成本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6631" y="4059935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≈80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1192" y="4059935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≈350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5752" y="4059935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≈900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4462272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4590288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净利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6631" y="459028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负（投入期）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459028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−40 ~ −100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5752" y="459028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450–780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956048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假设全部显性：单价按平台批发 1.2–1.4 元；投保频次随渗透从 60 天/年升至 100 天/年；自留赔付率 52%（点估计 47% 自留 + 5% 转分保后的净额）。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321808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盈亏平衡约 25–30 万覆盖骑手，Y3 初达成；保守 / 乐观区间 ±40%。不承诺承保利润 —— 收入结构是科技服务费（按保费比例）+ 系统服务费（按单 / 按年）。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742432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5A524"/>
                </a:solidFill>
                <a:latin typeface="微软雅黑"/>
                <a:ea typeface="微软雅黑"/>
              </a:rPr>
              <a:t>一句实话　</a:t>
            </a: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Y1 是亏的，而且我们把它写出来了。这一年的目标是跑通单城闭环与条款报备，不是规模。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三件必须先说清的事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things to state before you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20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COMPLIANCE · 我们不做承保主体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82496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19072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00784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谁承保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682496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700784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我们不做承保主体。前期与持牌险企、保险经纪合作，保单法律关系在持牌方；我们收科技服务费（保费 12–15%）。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15184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651760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33472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条款怎么过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8688" y="2615184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8144" y="2633472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参数化产品的触发口径必须写进条款：城市、时段、档线、数据源、容差、拒收规则；按现行条款费率管理办法报备后销售。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547872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84448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6616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算法怎么被检查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8688" y="3547872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3566160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规则确定性、可复现；AI 只生成解释，不进哈希、不改结论；原始报文与哈希留痕，可供监管与第三方抽查。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63440"/>
            <a:ext cx="10817352" cy="107899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791456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20">
                <a:solidFill>
                  <a:srgbClr val="F5A524"/>
                </a:solidFill>
                <a:latin typeface="Consolas"/>
                <a:ea typeface="Consolas"/>
              </a:rPr>
              <a:t>还没解决的三个问题（不藏）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基差风险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城市雨量 ≠ 骑手街道 → 区划码加权，再接订单数据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数据源断供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三模型 + 容差 + 拒收留痕；条款里先约定兜底口径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身份核验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保单绑定骑手地址，由平台批量签发，单骑手不可自证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把风险清单变成定价参数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Every risk becomes a pricing parameter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RISK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RISK REGISTER · 左边是风险，右边是它落在哪个参数上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44752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72768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1563624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基差风险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1591056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雨量达标但人未受损 → 条款明示参数化属性；二期接订单数据做实际停单触发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563624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微软雅黑"/>
                <a:ea typeface="微软雅黑"/>
              </a:rPr>
              <a:t>已量化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121408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249424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240279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逆选择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267712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看预报挑雨天买 → 量化进价格：众包自助比平台团体贵 3–6 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240279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微软雅黑"/>
                <a:ea typeface="微软雅黑"/>
              </a:rPr>
              <a:t>已产品化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798064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926080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2916936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同城集中赔付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2944368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准备金 ≥ 在保份数 × VaR99；跨城市分散（10 对城市仅 2 对显著相关）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916936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微软雅黑"/>
                <a:ea typeface="微软雅黑"/>
              </a:rPr>
              <a:t>已规则化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474720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602736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593591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数据源污染 / 故障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5576" y="3621024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三机构交叉验真 + 容差 + 离群拒收留痕；断供时暂停投保，已售保单照约履行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593591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微软雅黑"/>
                <a:ea typeface="微软雅黑"/>
              </a:rPr>
              <a:t>已实现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151376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4279392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4270248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极端年份尾部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6" y="4297680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台风季前分出超赔，广深沿海优先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4270248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5A524"/>
                </a:solidFill>
                <a:latin typeface="微软雅黑"/>
                <a:ea typeface="微软雅黑"/>
              </a:rPr>
              <a:t>二期落地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828032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956048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33856" y="4946904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运营方单点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65576" y="4974336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管理操作需 2/3 多签；独立托管仍待落实 —— 这一条我们没做到位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946904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5A524"/>
                </a:solidFill>
                <a:latin typeface="微软雅黑"/>
                <a:ea typeface="微软雅黑"/>
              </a:rPr>
              <a:t>部分实现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32704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同一份清单也出现在项目计划书与代码审计里 —— 不是答辩现场临时想的。最后一条我们不粉饰：独立托管还没做，现在靠 2/3 多签与同机密钥约束，这是已知短板。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补上的是一个缺口，不是一个卖点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Filling a gap, not selling a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IMPACT · 为什么这件事值得做，以及它能长到哪一步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3386328" cy="239572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591056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83080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补上保障缺口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29968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700 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505456"/>
            <a:ext cx="2965704" cy="1243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960" b="0" i="0" lang="zh-CN">
                <a:solidFill>
                  <a:srgbClr val="FFFFFF">
                    <a:alpha val="56000"/>
                  </a:srgbClr>
                </a:solidFill>
                <a:latin typeface="微软雅黑"/>
                <a:ea typeface="微软雅黑"/>
              </a:rPr>
              <a:t>两大平台约 700 万量级即配骑手，「收入中断」这一块没有产品覆盖 —— 现有保障只保意外伤害，不保没收入。小额、高频、可负担，是普惠保险的典型形态。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1896" y="1463040"/>
            <a:ext cx="3386328" cy="239572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3064" y="1591056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3064" y="1783080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踩上政策节奏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3064" y="2029968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F5A524"/>
                </a:solidFill>
                <a:latin typeface="微软雅黑"/>
                <a:ea typeface="微软雅黑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3064" y="2505456"/>
            <a:ext cx="2965704" cy="1243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960" b="0" i="0" lang="zh-CN">
                <a:solidFill>
                  <a:srgbClr val="FFFFFF">
                    <a:alpha val="56000"/>
                  </a:srgbClr>
                </a:solidFill>
                <a:latin typeface="微软雅黑"/>
                <a:ea typeface="微软雅黑"/>
              </a:rPr>
              <a:t>人社部等九部门《关于扩大新就业形态人员职业伤害保障试点工作的通知》（人社部发〔2025〕24 号）把即时配送纳入扩大范围，2026 年推广全国。天气收入保障与职业伤害保障互补成一套。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2" y="1463040"/>
            <a:ext cx="3386328" cy="239572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591056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1783080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同一引擎换参数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560" y="2029968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3 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560" y="2505456"/>
            <a:ext cx="2965704" cy="1243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960" b="0" i="0" lang="zh-CN">
                <a:solidFill>
                  <a:srgbClr val="FFFFFF">
                    <a:alpha val="56000"/>
                  </a:srgbClr>
                </a:solidFill>
                <a:latin typeface="微软雅黑"/>
                <a:ea typeface="微软雅黑"/>
              </a:rPr>
              <a:t>高温津贴触发 · 台风停工保障 · 空气质量户外作业保障 —— 可延展到物流、建筑、环卫等户外劳动者；城市级定价能力可直接输出给险企。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041648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69663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第二条曲线 · 为什么精算引擎必须可复算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43984"/>
            <a:ext cx="105613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8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同一套「城市级天气 → 触发概率 → 费率」的引擎，换一个灾种、换一个人群就能出一张新费率表。但它能被输出给持牌险企的前提是：对方能自己跑一遍、拿到同一个数。所以可复算不是技术洁癖，是商业模式的前提。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58384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5A524"/>
                </a:solidFill>
                <a:latin typeface="微软雅黑"/>
                <a:ea typeface="微软雅黑"/>
              </a:rPr>
              <a:t>一句话　</a:t>
            </a:r>
            <a:r>
              <a:rPr sz="11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我们卖的不是一份保单，是一套「可被独立复核的天气风险定价能力」。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3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回到那个骑手&#10;        &lt;/Text&gt;&#10;        &lt;Box style={{ flex: 1 }} /&gt;&#10;        &lt;Text style={{ fontFamily: 'Consolas', fontSize: 16, color: 'rgba(255,255,255,0.34)', letterSpacing: 2 }}&gt;&#10;            08 / BACK TO HIM&#10;        &lt;/Text&gt;&#10;    &lt;/Box&gt;&#10;&#10;    &lt;Box style={{ height: 540, flexDirection: 'column' }}&gt;&#10;&#10;        &lt;Box style={{ height: 216, position: 'relative', borderRadius: 6, overflow: 'hidden', border: '1px solid rgba(255,255,255,0.12)' }}&gt;&#10;            &lt;Image src=&quot;assets/rider_payout_phone.png&quot; style={{ width: '100%', height: '100%', objectFit: 'cover', objectPosition: 'center 35%' }} /&gt;&#10;            &lt;Box style={{ position: 'absolute', top: 0, left: 0, width: 1136, height: 216, background: 'linear-gradient(180deg, rgba(10,20,34,0) 26%, rgba(10,20,34,0.92) 100%)' }} /&gt;&#10;            &lt;Box style={{ position: 'absolute', left: 28, bottom: 22, width: 920, flexDirection: 'column' }}&gt;&#10;                &lt;Text style={{ fontFamily: 'Consolas', fontSize: 14, color: '#22D3EE', letterSpacing: 4 }}&gt;&#10;                    PRIMARY SCENARIO&#10;                &lt;/Text&gt;&#10;                &lt;Text style={{ fontFamily: 'Microsoft YaHei', fontSize: 22, fontWeight: 'bold', color: '#FFFFFF', lineHeight: 1.4, marginTop: 8 }}&gt;&#10;                    暴雨日平台限流、骑手停工 —— 收入中断由链上判定自动兜底&#10;                &lt;/Text&gt;&#10;            &lt;/Box&gt;&#10;        &lt;/Box&gt;&#10;&#10;        &lt;Box style={{ flexDirection: 'column', marginTop: 20 }}&gt;&#10;            &lt;Text style={{ fontFamily: 'Consolas', fontSize: 14, color: '#22D3EE', letterSpacing: 3 }}&gt;&#10;                TRADITIONAL RIDER ACCIDENT VS. RAINPROOF&#10;            &lt;/Text&gt;&#10;&#10;            &lt;Box style={{ height: 30, flexDirection: 'row', alignItems: 'center', marginTop: 8, gap: 20 }}&gt;&#10;                &lt;Text style={{ width: 140, fontFamily: 'Microsoft YaHei', fontSize: 14, color: 'rgba(255,255,255,0.40)' }}&gt;对比维度&lt;/Text&gt;&#10;                &lt;Text style={{ width: 450, fontFamily: 'Microsoft YaHei', fontSize: 14, color: 'rgba(255,255,255,0.40)' }}&gt;传统骑手意外险&lt;/Text&gt;&#10;                &lt;Text style={{ width: 450, fontFamily: 'Microsoft YaHei', fontSize: 14, color: '#22D3EE' }}&gt;雨证 · 参数化降雨险&lt;/Text&gt;&#10;            &lt;/Box&gt;&#10;&#10;            &lt;Box style={{ flexDirection: 'column', gap: 8, marginTop: 8 }}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触发依据&lt;/Text&gt;&#10;                    &lt;Text style={{ width: 450, fontFamily: 'Microsoft YaHei', fontSize: 16, color: 'rgba(255,255,255,0.56)' }}&gt;实际受伤与实际损失&lt;/Text&gt;&#10;                    &lt;Text style={{ width: 450, fontFamily: 'Microsoft YaHei', fontSize: 16, color: 'rgba(255,255,255,0.88)' }}&gt;链上降雨量是否越过国标线&lt;/Text&gt;&#10;                &lt;/Box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举证责任&lt;/Text&gt;&#10;                    &lt;Text style={{ width: 450, fontFamily: 'Microsoft YaHei', fontSize: 16, color: 'rgba(255,255,255,0.56)' }}&gt;骑手报案 + 人工查勘定损&lt;/Text&gt;&#10;                    &lt;Text style={{ width: 450, fontFamily: 'Microsoft YaHei', fontSize: 16, color: 'rgba(255,255,255,0.88)' }}&gt;无人报案，判定链上自证&lt;/Text&gt;&#10;                &lt;/Box&gt;&#10;            &lt;/Box&gt;&#10;        &lt;/Box&gt;&#10;&#10;        &lt;Box style={{ marginTop: 'auto', background: 'rgba(45,127,249,0.10)', border: '1px solid rgba(45,127,249,0.30)', borderRadius: 5, padding: '16px 26px' }}&gt;&#10;            &lt;Text style={{ fontFamily: 'Microsoft YaHei', fontSize: 28, fontWeight: 'bold', color: '#FFFFFF', lineHeight: 1.3 }}&gt;&#10;                贵的不是赔付，是「&lt;span style={{ color: '#22D3EE' }}&gt;查&lt;/span&gt;」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9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37" name="矩形 33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914400" y="409575"/>
            <a:ext cx="2057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回到那个骑手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9858375" y="571500"/>
            <a:ext cx="1647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06 / BACK TO HIM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685800" y="3390900"/>
            <a:ext cx="10820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TRADITIONAL RIDER ACCIDENT VS. RAINPROOF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685800" y="369570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对比维度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220980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传统骑手意外险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668655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参数化降雨险</a:t>
            </a:r>
            <a:endParaRPr lang="zh-CN" sz="10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圆角矩形 343"/>
          <p:cNvSpPr/>
          <p:nvPr/>
        </p:nvSpPr>
        <p:spPr>
          <a:xfrm>
            <a:off x="685800" y="39909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57250" y="42005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触发依据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238125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实际受伤与实际损失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685800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链上降雨量是否越过合约档线（V6 · 24h 档 50 / 100 mm）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圆角矩形 347"/>
          <p:cNvSpPr/>
          <p:nvPr/>
        </p:nvSpPr>
        <p:spPr>
          <a:xfrm>
            <a:off x="685800" y="46767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857250" y="48863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举证责任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238125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骑手报案</a:t>
            </a:r>
            <a:r>
              <a:rPr lang="en-US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人工查勘定损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85800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无人报案，判定链上自证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685800" y="5562600"/>
            <a:ext cx="10820400" cy="723900"/>
          </a:xfrm>
          <a:prstGeom prst="roundRect">
            <a:avLst>
              <a:gd name="adj" fmla="val 6579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933450" y="5715000"/>
            <a:ext cx="103251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贵的不是赔付，是「</a:t>
            </a:r>
            <a:r>
              <a:rPr lang="zh-CN" sz="2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查</a:t>
            </a: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」。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23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685800" y="1143000"/>
            <a:ext cx="10820400" cy="2057400"/>
          </a:xfrm>
          <a:prstGeom prst="roundRect">
            <a:avLst>
              <a:gd name="adj" fmla="val 2778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7" name="图片 356"/>
          <p:cNvPicPr>
            <a:picLocks noChangeAspect="1"/>
          </p:cNvPicPr>
          <p:nvPr/>
        </p:nvPicPr>
        <p:blipFill>
          <a:blip r:embed="rId1"/>
          <a:srcRect t="34530" b="34530"/>
          <a:stretch>
            <a:fillRect/>
          </a:stretch>
        </p:blipFill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</p:spPr>
      </p:pic>
      <p:sp>
        <p:nvSpPr>
          <p:cNvPr id="358" name="任意多边形 357"/>
          <p:cNvSpPr/>
          <p:nvPr/>
        </p:nvSpPr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  <a:gradFill>
            <a:gsLst>
              <a:gs pos="26000">
                <a:srgbClr val="0A1422">
                  <a:alpha val="0"/>
                </a:srgbClr>
              </a:gs>
              <a:gs pos="100000">
                <a:srgbClr val="0A1422">
                  <a:alpha val="9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952500" y="2400300"/>
            <a:ext cx="876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PRIMARY SCENARIO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952500" y="2638425"/>
            <a:ext cx="8763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暴雨日平台限流、骑手停工</a:t>
            </a: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收入中断由链上判定自动兜底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TextBox 360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Back to that rider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三年三步，第一年只证一件事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years, three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24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ROADMAP · 数字为假设口径的测算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943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年保费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关键动作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8105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1956816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7943" y="2084831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0–12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19751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1 城 · 2 万骑手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1993392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144 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0116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签 1 家平台 + 1 家持牌险企，跑通首单闭环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249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2871216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7943" y="2999232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12–24 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39" y="28895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5 城 · 20 万骑手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2907792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2,080 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9260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复制模板；接平台订单数据补基差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6393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3785615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37943" y="3913632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24–36 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39" y="38039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15 城 · 80 万骑手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3822191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1.12 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38404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加高温 / 台风品类；向险企输出定价系统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36592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80">
                <a:solidFill>
                  <a:srgbClr val="22D3EE"/>
                </a:solidFill>
                <a:latin typeface="Consolas"/>
                <a:ea typeface="Consolas"/>
              </a:rPr>
              <a:t>MILESTONES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6 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首单「判定 → 赔付 → 复算」闭环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34256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5424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12 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5424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单城赔付率稳定在 60% 以下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2712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24 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第二险种上线，同一套引擎换参数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88736"/>
            <a:ext cx="106070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盈亏平衡：在保骑手 25–30 万，第 3 年初达成。不碰承保利润，只收保费 12–15% 的科技服务费。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谁在做这件事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Who is doing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25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TEAM · 三个专业，一条链路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李卓昊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金融数学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产品与精算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规则设计、244 格费率表、历史回测；答辩主讲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孟雨涵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公共管理学院 · 劳动与社会保障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行业与合规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职业伤害保障政策、条款口径与报备路径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吴秋仪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公共管理学院 · 城市管理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场景与落地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城市治理视角、区划映射、平台侧商务与试点对接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85615"/>
            <a:ext cx="10817352" cy="7315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77056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WHAT WE HAVE BUILT · 已完成的工程事实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合约 v1–V6，BOT Chain 968 跑通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保险赛导览 + V6 页面，模拟资金、只读核验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28 组门禁、596 项断言，含每条哈希当场重算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11 年逐小时回测：5 城各 96,432 小时；122 区划 244 格全量定价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判定留痕可被第三方复跑，含「不赔」的样本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从取数、开通、定价到判定的闭环已在 968 跑通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742432"/>
            <a:ext cx="106070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0000"/>
                  </a:srgbClr>
                </a:solidFill>
                <a:latin typeface="微软雅黑"/>
                <a:ea typeface="微软雅黑"/>
              </a:rPr>
              <a:t>指导教师：【姓名 · 职称 · 单位】　｜　队名：神麻　｜　联系方式：13026138368　/　3036377272@qq.com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我们要什么，钱花在哪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What we need, and where it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ASK · 三件事，先说清楚不要什么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3386328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600200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92224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持牌合作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11680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 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468880"/>
            <a:ext cx="296570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持牌险企合作意向 —— 承保主体由对方承担，我们做产品设计、精算定价与自动理赔系统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1896" y="1463040"/>
            <a:ext cx="3386328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3064" y="1600200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3064" y="1792224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渠道试点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3064" y="2011680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 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3064" y="2468880"/>
            <a:ext cx="296570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平台 / 众包服务商试点意向 —— 一次决策覆盖上万骑手，边际获客成本 ≈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2" y="1463040"/>
            <a:ext cx="3386328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600200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1792224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启动资金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560" y="2011680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F5A524"/>
                </a:solidFill>
                <a:latin typeface="微软雅黑"/>
                <a:ea typeface="微软雅黑"/>
              </a:rPr>
              <a:t>150 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560" y="2468880"/>
            <a:ext cx="296570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12 个月现金储备：数据与算力 30 / 团队 80 / 试点运营 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346704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74720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口径说明 · 150 万 ≠ 一年亏损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49039"/>
            <a:ext cx="1056132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Y1 运营成本 ~80 万是「当年损益口径」；150 万是「12 个月现金储备」= 80 万运营 + 70 万试点城市与合规前置投入。两者不是同一个口径，不能混读。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07408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奖金投向 · 先合规后落地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优先投数据合规源切换与试点城市落地，不投市场投放 —— 这个阶段买流量没有意义，先把「数据合规 + 单城闭环 + 条款报备」三件事做实。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303520"/>
            <a:ext cx="10561320" cy="731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431536"/>
            <a:ext cx="10561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5A524">
                    <a:alpha val="85000"/>
                  </a:srgbClr>
                </a:solidFill>
                <a:latin typeface="微软雅黑"/>
                <a:ea typeface="微软雅黑"/>
              </a:rPr>
              <a:t>我们不申请承保牌照，不做资金池，不碰保费归集 —— 这是定位，也是给合作方的定心丸。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" name="" descr="&lt;Slide style={{ width: 1280, height: 720, background: '#0A1422', position: 'relative', overflow: 'hidden', padding: 0 }}&gt;&#13;&#10;&#13;&#10;    &lt;Image src=&quot;assets/dawn_clear_city.png&quot; style={{ position: 'absolute', top: 0, left: 0, width: 1280, height: 720, objectFit: 'cover' }} /&gt;&#13;&#10;&#13;&#10;    &lt;Box style={{ position: 'absolute', top: 0, left: 0, width: 1280, height: 720, background: 'linear-gradient(90deg, rgba(10,20,34,0.96) 0%, rgba(10,20,34,0.86) 46%, rgba(10,20,34,0.30) 100%)' }} /&gt;&#13;&#10;&#13;&#10;    &lt;Box style={{ position: 'absolute', top: 0, left: 0, width: 1280, height: 720, background: 'linear-gradient(180deg, rgba(10,20,34,0.55) 0%, rgba(10,20,34,0) 34%, rgba(10,20,34,0.72) 100%)' }} /&gt;&#13;&#10;&#13;&#10;    &lt;Box style={{ position: 'absolute', top: 150, left: 96, width: 6, height: 4, background: 'linear-gradient(90deg, #2D7FF9 0%, #22D3EE 100%)' }} /&gt;&#13;&#10;&#13;&#10;    &lt;Box style={{ position: 'absolute', top: 186, left: 96, width: 760, flexDirection: 'column' }}&gt;&#13;&#10;        &lt;Text style={{ fontFamily: 'Consolas', fontSize: 17, letterSpacing: 5, color: '#22D3EE', lineHeight: 1.4 }}&gt;&#13;&#10;            汉客松 S1 · ETH Wuhan 2026&#13;&#10;        &lt;/Text&gt;&#13;&#10;&#13;&#10;        &lt;Text style={{ fontFamily: 'Microsoft YaHei', fontSize: 62, fontWeight: 'bold', color: '#FFFFFF', lineHeight: 1.22, marginTop: 24 }}&gt;&#13;&#10;            雨是数据，&#13;&#10;            &lt;br /&gt;&#13;&#10;            判定是代码，&#13;&#10;            &lt;br /&gt;&#13;&#10;            打款是自动的。&#13;&#10;        &lt;/Text&gt;&#13;&#10;&#13;&#10;        &lt;Box style={{ width: 640, height: 1, background: 'rgba(255,255,255,0.18)', marginTop: 26 }} /&gt;&#13;&#10;&#13;&#10;        &lt;Text style={{ fontFamily: 'Microsoft YaHei', fontSize: 24, color: 'rgba(255,255,255,0.80)', letterSpacing: 1, marginTop: 22 }}&gt;&#13;&#10;            规则和证据都在链上 —— &lt;span style={{ color: '#F5A524', fontWeight: 'bold' }}&gt;你自己验&lt;/span&gt;。&#13;&#10;        &lt;/Text&gt;&#13;&#10;    &lt;/Box&gt;&#13;&#10;&#13;&#10;    &lt;Box style={{ position: 'absolute', left: 96, bottom: 64, width: 760, flexDirection: 'column' }}&gt;&#13;&#10;        &lt;Text style={{ fontFamily: 'Microsoft YaHei', fontSize: 17, color: 'rgba(255,255,255,0.56)', letterSpacing: 1 }}&gt;&#13;&#10;            雨证 · RainProof　·　TEAM 神麻&#13;&#10;        &lt;/Text&gt;&#13;&#10;        &lt;Text style={{ fontFamily: 'Consolas', fontSize: 15, color: 'rgba(255,255,255,0.42)', marginTop: 8 }}&gt;&#13;&#10;            github.com/juice-butterfly/rainproof&#13;&#10;        &lt;/Text&gt;&#13;&#10;    &lt;/Box&gt;&#13;&#10;&#13;&#10;    &lt;Box style={{ position: 'absolute', right: 96, bottom: 62, width: 150, flexDirection: 'column', alignItems: 'center' }}&gt;&#13;&#10;        &lt;Box style={{ width: 132, height: 132, background: '#FFFFFF', borderRadius: 6, padding: 6 }}&gt;&#13;&#10;            &lt;QRCode text='https://juice-butterfly.github.io/rainproof/' width={120} height={120} darkColor='#0A1422' lightColor='#FFFFFF' errorCorrectionLevel='M' margin={0} /&gt;&#13;&#10;        &lt;/Box&gt;&#13;&#10;        &lt;Text style={{ fontFamily: 'Microsoft YaHei', fontSize: 14, color: 'rgba(255,255,255,0.72)', marginTop: 10 }}&gt;&#13;&#10;            扫码进演示站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6000"/>
                </a:srgbClr>
              </a:gs>
              <a:gs pos="46000">
                <a:srgbClr val="0A1422">
                  <a:alpha val="86000"/>
                </a:srgbClr>
              </a:gs>
              <a:gs pos="100000">
                <a:srgbClr val="0A1422">
                  <a:alpha val="3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1" name="矩形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55000"/>
                </a:srgbClr>
              </a:gs>
              <a:gs pos="34000">
                <a:srgbClr val="0A1422">
                  <a:alpha val="0"/>
                </a:srgbClr>
              </a:gs>
              <a:gs pos="100000">
                <a:srgbClr val="0A1422">
                  <a:alpha val="7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2" name="矩形 31"/>
          <p:cNvSpPr/>
          <p:nvPr/>
        </p:nvSpPr>
        <p:spPr>
          <a:xfrm>
            <a:off x="914400" y="1428750"/>
            <a:ext cx="5715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0" scaled="1"/>
          </a:gra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914400" y="1771650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7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27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14400" y="2276475"/>
            <a:ext cx="7239000" cy="2600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雨是数据，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判定是代码，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付款不需要我们点头。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400" y="5175504"/>
            <a:ext cx="6096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14400" y="5343525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规则和证据都在链上</a:t>
            </a:r>
            <a:r>
              <a:rPr lang="en-US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80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800" spc="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14400" y="5779008"/>
            <a:ext cx="723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TEAM 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神麻</a:t>
            </a:r>
            <a:endParaRPr lang="zh-CN" sz="1275" spc="75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914400" y="6053328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2000"/>
                  </a:srgbClr>
                </a:solidFill>
                <a:latin typeface="Consolas" panose="020B0609020204030204"/>
                <a:ea typeface="Consolas" panose="020B0609020204030204"/>
              </a:rPr>
              <a:t>github.com/juice-butterfly/rainproof　·　演示站默认读 BOT Chain 968 · V6</a:t>
            </a:r>
            <a:endParaRPr lang="en-US" sz="1125">
              <a:solidFill>
                <a:srgbClr val="FFFFFF">
                  <a:alpha val="42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9934575" y="4752975"/>
            <a:ext cx="1257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40" name="图片 39" descr="QR Code: https://juice-butterfly.github.io/rainproof/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4810125"/>
            <a:ext cx="1143000" cy="1143000"/>
          </a:xfrm>
          <a:prstGeom prst="rect">
            <a:avLst/>
          </a:prstGeom>
        </p:spPr>
      </p:pic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10163175" y="6105525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扫码进演示站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4400" y="4882896"/>
            <a:ext cx="7242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FFFFFF">
                    <a:alpha val="36000"/>
                  </a:srgbClr>
                </a:solidFill>
              </a:rPr>
              <a:t>Rain is data. Judgement is code. Payment does not need our nod.</a:t>
            </a:r>
            <a:endParaRPr sz="1200"/>
          </a:p>
        </p:txBody>
      </p:sp>
      <p:sp>
        <p:nvSpPr>
          <p:cNvPr id="58" name="TextBox 57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27 / 29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附录 A · 这些不是「可提供」，是现在就能跑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Appendix A — runnable evidence, not promises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07 / APPENDIX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TECHNICAL EVIDENCE · 技术评委可以逐条深挖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44752"/>
            <a:ext cx="10561320" cy="6583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72768"/>
            <a:ext cx="25603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1545336"/>
            <a:ext cx="175564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自动化门禁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1554480"/>
            <a:ext cx="45262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6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28 组入口 · 596 项断言全绿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563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60" b="0" i="0" lang="zh-CN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cd 07-测试工具 &amp;&amp; npm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1545336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19" b="0" i="0" lang="zh-CN">
                <a:solidFill>
                  <a:srgbClr val="F5A524"/>
                </a:solidFill>
                <a:latin typeface="微软雅黑"/>
                <a:ea typeface="微软雅黑"/>
              </a:rPr>
              <a:t>可复跑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176272"/>
            <a:ext cx="10561320" cy="6583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304288"/>
            <a:ext cx="25603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2276856"/>
            <a:ext cx="175564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精算引擎自检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286000"/>
            <a:ext cx="45262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6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509 项逐项断言（11 年数据口径）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29514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60" b="0" i="0" lang="zh-CN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随 npm test 一并执行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2276856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19" b="0" i="0" lang="zh-CN">
                <a:solidFill>
                  <a:srgbClr val="F5A524"/>
                </a:solidFill>
                <a:latin typeface="微软雅黑"/>
                <a:ea typeface="微软雅黑"/>
              </a:rPr>
              <a:t>可复跑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2907791"/>
            <a:ext cx="10561320" cy="6583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035808"/>
            <a:ext cx="25603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3008375"/>
            <a:ext cx="175564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V6 部署核验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3017520"/>
            <a:ext cx="45262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6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12 项：源码 / ABI / 部署字节码 / 运行时逐字节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026663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60" b="0" i="0" lang="zh-CN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check-v6-deployment.js --onchain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3008375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19" b="0" i="0" lang="zh-CN">
                <a:solidFill>
                  <a:srgbClr val="F5A524"/>
                </a:solidFill>
                <a:latin typeface="微软雅黑"/>
                <a:ea typeface="微软雅黑"/>
              </a:rPr>
              <a:t>链上比对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639311"/>
            <a:ext cx="10561320" cy="6583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767327"/>
            <a:ext cx="25603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" y="3739896"/>
            <a:ext cx="175564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V6 隔离链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9232" y="3749039"/>
            <a:ext cx="45262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6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23 项：批量配置 · 价格守卫 · 容量 · 7 天宽限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758183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60" b="0" i="0" lang="zh-CN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e2e:v6-review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3739896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19" b="0" i="0" lang="zh-CN">
                <a:solidFill>
                  <a:srgbClr val="F5A524"/>
                </a:solidFill>
                <a:latin typeface="微软雅黑"/>
                <a:ea typeface="微软雅黑"/>
              </a:rPr>
              <a:t>本地链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370831"/>
            <a:ext cx="10561320" cy="6583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" y="4498847"/>
            <a:ext cx="25603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4471416"/>
            <a:ext cx="175564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历史回放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9232" y="4480559"/>
            <a:ext cx="45262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6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2024-06 武汉（三天 230mm）· 2026-08 上海全闭环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4489703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60" b="0" i="0" lang="zh-CN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07-测试工具/check-replay.js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4471416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19" b="0" i="0" lang="zh-CN">
                <a:solidFill>
                  <a:srgbClr val="F5A524"/>
                </a:solidFill>
                <a:latin typeface="微软雅黑"/>
                <a:ea typeface="微软雅黑"/>
              </a:rPr>
              <a:t>可复算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102351"/>
            <a:ext cx="10561320" cy="6583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" y="5230367"/>
            <a:ext cx="25603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33856" y="5202936"/>
            <a:ext cx="175564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判不赔记录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9232" y="5212079"/>
            <a:ext cx="45262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6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上海 12h 增量 0mm（档线 30mm）→ 拒赔留痕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5221223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60" b="0" i="0" lang="zh-CN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verify-v6 第 7 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5202936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19" b="0" i="0" lang="zh-CN">
                <a:solidFill>
                  <a:srgbClr val="F5A524"/>
                </a:solidFill>
                <a:latin typeface="微软雅黑"/>
                <a:ea typeface="微软雅黑"/>
              </a:rPr>
              <a:t>可复算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870448"/>
            <a:ext cx="10561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Consolas"/>
                <a:ea typeface="Consolas"/>
              </a:rPr>
              <a:t>链上可查：合约 0xcDe1Bb9b8d61E55e194f18B6836fF1DBd49bC61F · 部署区块 28,460,066 · 运行时 22,012 字节 · 运行时哈希 0xeb7f…4100 · 2/3 多签 0x21C8…0d98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附录 B · 每一个外部数字都有出处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Appendix B — every external figure is sourced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07 / APPENDIX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REFERENCES · 访问日期与原始链接登记在《引用与待核清单》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44752"/>
            <a:ext cx="5143500" cy="20299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591056"/>
            <a:ext cx="47045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骑手规模与收入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883664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892807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美团研究院 2024 年数据（工人日报 2025-05-28 报道）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267712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276856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蜂鸟活跃骑手 ≈400 万（亿欧 2025-08）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2651760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660903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高频骑手月收入 7,230–10,100 元（2025 Q1）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03580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044951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一线熟练骑手 11,547 元/月（2024 全年）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2220" y="1444752"/>
            <a:ext cx="5143500" cy="20299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1676" y="1591056"/>
            <a:ext cx="47045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国家标准与气象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6" y="1883664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4556" y="1892807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GB/T 28592—2012《降水量等级》表 1（12h / 24h 档线）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6" y="2267712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4556" y="2276856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ERA5 再分析逐小时降水（2015-10 → 2026-09）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2651760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4556" y="2660903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Open-Meteo 聚合接口（ECMWF / GFS / ICON）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1676" y="303580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4556" y="3044951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气象灾害预警信号（暴雨蓝黄橙红）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657600"/>
            <a:ext cx="5143500" cy="20299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" y="3803904"/>
            <a:ext cx="47045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监管与政策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" y="4096512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105656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《保险法》第六条（保险业务由保险公司经营）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" y="4480560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6736" y="4489704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国发〔2014〕29 号（探索天气指数保险）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" y="486460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4873752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《气象信息服务管理办法》（气象局令第 27 号）第七条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" y="5248656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6736" y="5257800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人社部发〔2021〕56 号、人社部发〔2025〕24 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32220" y="3657600"/>
            <a:ext cx="5143500" cy="20299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1676" y="3803904"/>
            <a:ext cx="47045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竞品与赛道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1676" y="4096512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4556" y="4105656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广东巨灾指数保险（2016 首创，10 市试点）公开报道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1676" y="4480560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34556" y="4489704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Arbol / Raincoat / FloodFlash 官方站点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51676" y="486460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4556" y="4873752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美团 2025「夏季清凉行动」防暑险（平台付费习惯）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51676" y="5248656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4556" y="5257800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平台骑手规模 300 万为美团 2025-06-26 官方口径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907024"/>
            <a:ext cx="10561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40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核实纪律：全部外部引用已联网核实并逐条登记于《引用与待核清单》，标注访问日期与原始链接；无法核实的数字一律不用，缺口写「待补」而不是估算。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29 / 29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9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0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9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0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1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2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3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4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5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6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7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3662</Words>
  <Application>WPS 演示</Application>
  <PresentationFormat/>
  <Paragraphs>357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Consolas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李卓昊</cp:lastModifiedBy>
  <cp:revision>7</cp:revision>
  <dcterms:created xsi:type="dcterms:W3CDTF">2026-10-07T10:26:00Z</dcterms:created>
  <dcterms:modified xsi:type="dcterms:W3CDTF">2026-10-08T08:20:22Z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{"AIGC":{"Label":"1","ContentProducer":"00119111010856365494821B355","ProduceID":"01a1152f4a507fc48604b92d4294d604","ReservedCode1":"","ContentPropagator":"00119111010856365494821B355","PropagateID":"01a1152f4a507fc48604b92d4294d604","ReservedCode2":""}}</vt:lpwstr>
  </property>
  <property fmtid="{D5CDD505-2E9C-101B-9397-08002B2CF9AE}" pid="3" name="KSOProductBuildVer">
    <vt:lpwstr>2052-12.1.0.23542</vt:lpwstr>
  </property>
  <property fmtid="{D5CDD505-2E9C-101B-9397-08002B2CF9AE}" pid="4" name="ICV">
    <vt:lpwstr>4E624E8D09FC4C92884AAED42FE7BE56_13</vt:lpwstr>
  </property>
</Properties>
</file>