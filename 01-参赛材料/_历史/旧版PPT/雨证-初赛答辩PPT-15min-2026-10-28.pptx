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24h 档条件触发率</c:v>
                </c:pt>
              </c:strCache>
            </c:strRef>
          </c:tx>
          <c:spPr>
            <a:solidFill>
              <a:srgbClr val="2D7FF9"/>
            </a:solidFill>
            <a:ln>
              <a:noFill/>
            </a:ln>
          </c:spPr>
          <c:dPt>
            <c:idx val="0"/>
            <c:spPr>
              <a:solidFill>
                <a:srgbClr val="F5A524"/>
              </a:solidFill>
            </c:spPr>
          </c:dPt>
          <c:dPt>
            <c:idx val="3"/>
            <c:spPr>
              <a:solidFill>
                <a:srgbClr val="22D3EE"/>
              </a:solidFill>
            </c:spPr>
          </c:dPt>
          <c:cat>
            <c:strRef>
              <c:f>Sheet1!$A$2:$A$6</c:f>
              <c:strCache>
                <c:ptCount val="5"/>
                <c:pt idx="0">
                  <c:v>武汉</c:v>
                </c:pt>
                <c:pt idx="1">
                  <c:v>成都</c:v>
                </c:pt>
                <c:pt idx="2">
                  <c:v>广州</c:v>
                </c:pt>
                <c:pt idx="3">
                  <c:v>上海</c:v>
                </c:pt>
                <c:pt idx="4">
                  <c:v>北京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4.18</c:v>
                </c:pt>
                <c:pt idx="1">
                  <c:v>3.99</c:v>
                </c:pt>
                <c:pt idx="2">
                  <c:v>3.81</c:v>
                </c:pt>
                <c:pt idx="3">
                  <c:v>2.64</c:v>
                </c:pt>
                <c:pt idx="4">
                  <c:v>2.49</c:v>
                </c:pt>
              </c:numCache>
            </c:numRef>
          </c:val>
        </c:ser>
        <c:dLbls>
          <c:numFmt formatCode="0.00&quot;%&quot;" sourceLinked="0"/>
          <c:txPr>
            <a:bodyPr/>
            <a:lstStyle/>
            <a:p>
              <a:pPr>
                <a:defRPr sz="1100" b="1">
                  <a:solidFill>
                    <a:srgbClr val="22D3EE"/>
                  </a:solidFill>
                  <a:latin typeface="Consola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8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1E2C40"/>
            </a:solidFill>
          </a:ln>
        </c:spPr>
        <c:txPr>
          <a:bodyPr/>
          <a:lstStyle/>
          <a:p>
            <a:pPr>
              <a:defRPr sz="1050">
                <a:solidFill>
                  <a:srgbClr val="A8B8C8"/>
                </a:solidFill>
                <a:latin typeface="微软雅黑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5.0"/>
          <c:min val="0.0"/>
        </c:scaling>
        <c:delete val="0"/>
        <c:axPos val="l"/>
        <c:majorGridlines>
          <c:spPr>
            <a:ln w="9525">
              <a:solidFill>
                <a:srgbClr val="1E2C40"/>
              </a:solidFill>
            </a:ln>
          </c:spPr>
        </c:majorGridlines>
        <c:majorTickMark val="out"/>
        <c:minorTickMark val="none"/>
        <c:tickLblPos val="nextTo"/>
        <c:spPr>
          <a:ln>
            <a:solidFill>
              <a:srgbClr val="1E2C40"/>
            </a:solidFill>
          </a:ln>
        </c:spPr>
        <c:txPr>
          <a:bodyPr/>
          <a:lstStyle/>
          <a:p>
            <a:pPr>
              <a:defRPr sz="950">
                <a:solidFill>
                  <a:srgbClr val="6E8296"/>
                </a:solidFill>
                <a:latin typeface="Consolas"/>
              </a:defRPr>
            </a:pPr>
          </a:p>
        </c:txPr>
        <c:crossAx val="-2068027336"/>
        <c:crosses val="autoZero"/>
        <c:majorUnit val="1.0"/>
      </c:valAx>
      <c:spPr>
        <a:noFill/>
        <a:ln>
          <a:noFill/>
        </a:ln>
      </c:spPr>
    </c:plotArea>
    <c:dispBlanksAs val="gap"/>
  </c:chart>
  <c:spPr>
    <a:noFill/>
    <a:ln>
      <a:noFill/>
    </a:ln>
  </c:spPr>
  <c:txPr>
    <a:bodyPr/>
    <a:lstStyle/>
    <a:p>
      <a:pPr>
        <a:defRPr sz="1000">
          <a:solidFill>
            <a:srgbClr val="A8B8C8"/>
          </a:solidFill>
          <a:latin typeface="微软雅黑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【0:00–0:25】</a:t>
            </a:r>
          </a:p>
          <a:p>
            <a:r>
              <a:t>口播：各位评委好，我们是神麻队。今天 15 分钟讲一件事——暴雨天外卖骑手的收入会直接归零，而这个人群到今天没有一个能自动赔付的产品。我们做的，是把「定损」这个环节整个删掉。</a:t>
            </a:r>
          </a:p>
          <a:p>
            <a:r>
              <a:t>动作：说到「删掉」时才翻页。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【0:25–0:45】20 秒。让评委第一时间确认「这人控得住时间」。</a:t>
            </a:r>
          </a:p>
          <a:p>
            <a:r>
              <a:t>口播：我按四段讲——项目、技术、创新，然后留两分五十秒请您自己点一遍系统，最后是路线图。</a:t>
            </a:r>
          </a:p>
          <a:p>
            <a:r>
              <a:t>每段我都标了页码和秒数，超时我会自己砍，不会占您的提问时间。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【0:45–1:35】50 秒。先把人立起来，再讲成本。</a:t>
            </a:r>
          </a:p>
          <a:p>
            <a:r>
              <a:t>口播：这不是「保险太贵」的故事。他一天流水 385，暴雨天掉到 210，掉的那 175 块没有任何凭证。保险公司要派人证明「他真的少挣了 175」，这一步的成本和赔款是同一个量级。</a:t>
            </a:r>
          </a:p>
          <a:p>
            <a:r>
              <a:t>口径：336 万是美团月均有单，400 万是蜂鸟活跃，不要加总。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【1:35–2:30】55 秒。承重「可行性与商业价值」25%。</a:t>
            </a:r>
          </a:p>
          <a:p>
            <a:r>
              <a:t>口播：不是需求不存在，是成本结构不允许。查一次的钱和赔一次的钱是同一个量级，所以理性选择是不做这个人群，用补贴代替保险。</a:t>
            </a:r>
          </a:p>
          <a:p>
            <a:r>
              <a:t>预判追问：「19 亿怎么算」→ 公式就在页上，乘一遍即可。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【2:30–3:20】50 秒。产品一页讲完，不留悬念。</a:t>
            </a:r>
          </a:p>
          <a:p>
            <a:r>
              <a:t>口播：窗口只有两档，不是偷懒，是国标只定义了 12 小时和 24 小时；档线也抄国标。额度基数 100 元约四分之一个工作日收入——刻意压低，赔太多会诱导逆选择。</a:t>
            </a:r>
          </a:p>
          <a:p>
            <a:r>
              <a:t>被问 48/72 小时：实测保费涨 4 倍、触发率掉一半，这种产品不该存在。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【3:20–4:20】60 秒。回答「怎么赚钱」。</a:t>
            </a:r>
          </a:p>
          <a:p>
            <a:r>
              <a:t>口播：谁付钱？不是骑手，是平台——它们有合规和舆情压力，一次决策覆盖上万人，边际获客成本趋近于零。美团今年给 300 万骑手免费投了防暑险，付费习惯已经存在。</a:t>
            </a:r>
          </a:p>
          <a:p>
            <a:r>
              <a:t>钱去哪了看这条横条：34% 期望赔付、14% 固定成本，注意这里——定损成本是 0。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【4:20–5:10】50 秒。架构页不要逐层念，只讲「哪一层最容易被问倒」。</a:t>
            </a:r>
          </a:p>
          <a:p>
            <a:r>
              <a:t>口播：四层，每一层都留痕。验真层是最容易被忽略、也最容易被攻击的一层。</a:t>
            </a:r>
          </a:p>
          <a:p>
            <a:r>
              <a:t>右下这句一定要主动说：链不是必需的，纯中心化也能跑。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【5:10–6:00】50 秒。技术方案的第一颗钉子。</a:t>
            </a:r>
          </a:p>
          <a:p>
            <a:r>
              <a:t>口播：参数化保险最大的风险不是赔多了，是数据本身不可信。三个模型各自算累计值，只有两个以上落在中位数容差内才认；不认就不上系统。</a:t>
            </a:r>
          </a:p>
          <a:p>
            <a:r>
              <a:t>最后三条边界一定要自己说，尤其第二条。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【6:00–6:45】45 秒。专业深度与合规的交汇点。</a:t>
            </a:r>
          </a:p>
          <a:p>
            <a:r>
              <a:t>口播：我们的 AI 不决定赔不赔。赔不赔由这五条规则决定，规则开源，同一份输入永远同一个输出。AI 只做一件事：把结论翻译成人话。</a:t>
            </a:r>
          </a:p>
          <a:p>
            <a:r>
              <a:t>被问「到底用了 AI 吗」→ 用了两处：多源验真、解释文案；绝不用于判定。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【6:45–7:40】55 秒。专业深度 20% 的主战场。</a:t>
            </a:r>
          </a:p>
          <a:p>
            <a:r>
              <a:t>口播：五个城市十一年逐小时降雨，每城 96,432 小时。24 小时档触发率武汉 4.18%、北京 2.49%，差 1.68 倍——统一价必然有一半城市收错钱。</a:t>
            </a:r>
          </a:p>
          <a:p>
            <a:r>
              <a:t>定价式在右上：用 97.5% 上界而不是点估计，除以 60% 赔付率上限，再向上取整。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【7:40–8:20】40 秒。创新性 30%，这一页是评委的记分卡。</a:t>
            </a:r>
          </a:p>
          <a:p>
            <a:r>
              <a:t>口播：我们不主张每条都是原创。但三条之间有因果关系：想做到可复算，就必须先做到判定确定性；想判定确定，就必须把 AI 从决策位撤下来。</a:t>
            </a:r>
          </a:p>
          <a:p>
            <a:r>
              <a:t>禁语：不要说「国内首创」「全球领先」。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【8:20–9:05】45 秒。全项目最硬的一页，也是演示环节的入口。</a:t>
            </a:r>
          </a:p>
          <a:p>
            <a:r>
              <a:t>口播：参数化最容易被问的是「数据是你们自己的，凭什么信」。我们把原始报文、输入哈希、输出哈希全部留痕，任何人能重算。我们自己每天也重跑一遍，25 项断言，差一个字节就红。</a:t>
            </a:r>
          </a:p>
          <a:p>
            <a:r>
              <a:t>右边这张图是现网实拍，不是设计稿——8 条断言全绿。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【9:05–9:45】40 秒。如果超时，这一页是第一顺位被砍的。</a:t>
            </a:r>
          </a:p>
          <a:p>
            <a:r>
              <a:t>口播：传统险不保收入中断，平台补贴不是保险，国内参数化先例都是政企客户，国际玩家做 B 端。中间这个空位：个人、小额、高频、可自动理赔，目前没人站。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【9:45–10:10】25 秒。演示前先给地图，评委才知道该看哪里。</a:t>
            </a:r>
          </a:p>
          <a:p>
            <a:r>
              <a:t>口播：接下来两分五十秒我不讲 PPT，请您跟我点四个地方。第一个核验台——八条断言它自己读、自己算；第二个骑手端，看那张真保单和它的不赔记录；第三个平台端，看喂价和台账；最后我现场买一张。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【10:10–10:25】15 秒，一句话带过。</a:t>
            </a:r>
          </a:p>
          <a:p>
            <a:r>
              <a:t>口播：这是演示前的检查单，六项，缺一项我宁可改讲录屏。</a:t>
            </a:r>
          </a:p>
          <a:p>
            <a:r>
              <a:t>最容易翻车的是喂价保鲜：MAX_FEED_AGE 是 24 小时，超时投保会直接 revert。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【13:15–13:35】20 秒。建议真的投出来。</a:t>
            </a:r>
          </a:p>
          <a:p>
            <a:r>
              <a:t>口播：如果现场网络出问题，我有三级退路：录屏、静态存证，以及直接告诉您「这条正在过期」。演示失败不扣分，掩饰失败才扣分。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【13:35–14:30】55 秒。展望不要吹，要给「可验证的下一步」。</a:t>
            </a:r>
          </a:p>
          <a:p>
            <a:r>
              <a:t>口播：第一年一个城市两万骑手，把一整个雨季跑完；第二年复制五城；第三年十五城。</a:t>
            </a:r>
          </a:p>
          <a:p>
            <a:r>
              <a:t>收口三个数：十一年数据、四十格费率、零次人工定损。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【14:30–15:00】收尾 30 秒，语速放慢，不要赶。</a:t>
            </a:r>
          </a:p>
          <a:p>
            <a:r>
              <a:t>口播：最后一句——下雨这件事，不该需要谁来批准才赔。谢谢各位评委。</a:t>
            </a:r>
          </a:p>
          <a:p>
            <a:r>
              <a:t>动作：说完停住，不要再补话。团队必须在答辩前换成真人真名。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1.png"/>
          <p:cNvPicPr>
            <a:picLocks noChangeAspect="1"/>
          </p:cNvPicPr>
          <p:nvPr/>
        </p:nvPicPr>
        <p:blipFill>
          <a:blip r:embed="rId2"/>
          <a:srcRect t="4236" b="4236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C16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30812">
                  <a:alpha val="96000"/>
                </a:srgbClr>
              </a:gs>
              <a:gs pos="100000">
                <a:srgbClr val="030812">
                  <a:alpha val="18000"/>
                </a:srgbClr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4846320"/>
            <a:ext cx="12191695" cy="2011680"/>
          </a:xfrm>
          <a:prstGeom prst="rect">
            <a:avLst/>
          </a:prstGeom>
          <a:gradFill rotWithShape="1">
            <a:gsLst>
              <a:gs pos="0">
                <a:srgbClr val="030812">
                  <a:alpha val="0"/>
                </a:srgbClr>
              </a:gs>
              <a:gs pos="100000">
                <a:srgbClr val="030812">
                  <a:alpha val="78000"/>
                </a:srgbClr>
              </a:gs>
            </a:gsLst>
            <a:lin ang="5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932688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0" lang="zh-CN" spc="10">
                <a:solidFill>
                  <a:srgbClr val="22D3EE"/>
                </a:solidFill>
                <a:latin typeface="Consolas"/>
                <a:ea typeface="Consolas"/>
              </a:rPr>
              <a:t>2026 大学生保险模拟创业大赛 · 保险科技应用赛道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1316736"/>
            <a:ext cx="7863840" cy="10058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5800" b="1" lang="zh-CN">
                <a:solidFill>
                  <a:srgbClr val="F2F6FA"/>
                </a:solidFill>
                <a:latin typeface="微软雅黑"/>
                <a:ea typeface="微软雅黑"/>
              </a:rPr>
              <a:t>雨证 · RainProof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2414016"/>
            <a:ext cx="694944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100" b="0" lang="zh-CN">
                <a:solidFill>
                  <a:srgbClr val="F2F6FA"/>
                </a:solidFill>
                <a:latin typeface="微软雅黑"/>
                <a:ea typeface="微软雅黑"/>
              </a:rPr>
              <a:t>可复算的参数化降雨保障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2834640"/>
            <a:ext cx="694944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50" b="0" lang="zh-CN" spc="12">
                <a:solidFill>
                  <a:srgbClr val="6E8296"/>
                </a:solidFill>
                <a:latin typeface="Consolas"/>
                <a:ea typeface="Consolas"/>
              </a:rPr>
              <a:t>PARAMETRIC RAIN INSURANCE · VERIFIABLE BY ANYONE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3232" y="3255264"/>
            <a:ext cx="1920240" cy="41148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3232" y="3474720"/>
            <a:ext cx="6766560" cy="3474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700" b="0" lang="zh-CN">
                <a:solidFill>
                  <a:srgbClr val="F2F6FA"/>
                </a:solidFill>
                <a:latin typeface="微软雅黑"/>
                <a:ea typeface="微软雅黑"/>
              </a:rPr>
              <a:t>把「你信不信我」换成</a:t>
            </a:r>
            <a:r>
              <a:rPr sz="1700" b="1" lang="zh-CN">
                <a:solidFill>
                  <a:srgbClr val="F5A524"/>
                </a:solidFill>
                <a:latin typeface="微软雅黑"/>
                <a:ea typeface="微软雅黑"/>
              </a:rPr>
              <a:t>「你自己验」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" y="3986784"/>
            <a:ext cx="6217920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150" b="0" lang="zh-CN">
                <a:solidFill>
                  <a:srgbClr val="A8B8C8"/>
                </a:solidFill>
                <a:latin typeface="微软雅黑"/>
                <a:ea typeface="微软雅黑"/>
              </a:rPr>
              <a:t>降雨越过国标档线即触发判定；输入、输出与原始报文全部留痕，
任何第三方可用同一份数据复算出同一个结论。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" y="5815584"/>
            <a:ext cx="585216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 lang="zh-CN">
                <a:solidFill>
                  <a:srgbClr val="A8B8C8"/>
                </a:solidFill>
                <a:latin typeface="Consolas"/>
                <a:ea typeface="Consolas"/>
              </a:rPr>
              <a:t>初赛线上答辩 · 15:00　|　现场演示 2:50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6108192"/>
            <a:ext cx="585216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 lang="zh-CN">
                <a:solidFill>
                  <a:srgbClr val="A8B8C8"/>
                </a:solidFill>
                <a:latin typeface="Consolas"/>
                <a:ea typeface="Consolas"/>
              </a:rPr>
              <a:t>TEAM 神麻【院系待填】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96528" y="932688"/>
            <a:ext cx="804672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700" b="1" lang="zh-CN">
                <a:solidFill>
                  <a:srgbClr val="22D3EE"/>
                </a:solidFill>
                <a:latin typeface="Consolas"/>
                <a:ea typeface="Consolas"/>
              </a:rPr>
              <a:t>15:00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96528" y="1261872"/>
            <a:ext cx="804672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850" b="0" lang="zh-CN" spc="6">
                <a:solidFill>
                  <a:srgbClr val="6E8296"/>
                </a:solidFill>
                <a:latin typeface="Consolas"/>
                <a:ea typeface="Consolas"/>
              </a:rPr>
              <a:t>TOTAL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74351" y="932688"/>
            <a:ext cx="804672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700" b="1" lang="zh-CN">
                <a:solidFill>
                  <a:srgbClr val="22D3EE"/>
                </a:solidFill>
                <a:latin typeface="Consolas"/>
                <a:ea typeface="Consolas"/>
              </a:rPr>
              <a:t>2:50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74351" y="1261872"/>
            <a:ext cx="804672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850" b="0" lang="zh-CN" spc="6">
                <a:solidFill>
                  <a:srgbClr val="6E8296"/>
                </a:solidFill>
                <a:latin typeface="Consolas"/>
                <a:ea typeface="Consolas"/>
              </a:rPr>
              <a:t>LIVE DEMO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52176" y="932688"/>
            <a:ext cx="804672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700" b="1" lang="zh-CN">
                <a:solidFill>
                  <a:srgbClr val="22D3EE"/>
                </a:solidFill>
                <a:latin typeface="Consolas"/>
                <a:ea typeface="Consolas"/>
              </a:rPr>
              <a:t>18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52176" y="1261872"/>
            <a:ext cx="804672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850" b="0" lang="zh-CN" spc="6">
                <a:solidFill>
                  <a:srgbClr val="6E8296"/>
                </a:solidFill>
                <a:latin typeface="Consolas"/>
                <a:ea typeface="Consolas"/>
              </a:rPr>
              <a:t>PAGES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475488"/>
            <a:ext cx="43891" cy="36576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457200"/>
            <a:ext cx="8595360" cy="4023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4000"/>
              </a:lnSpc>
            </a:pPr>
            <a:r>
              <a:rPr sz="2600" b="1" lang="zh-CN">
                <a:solidFill>
                  <a:srgbClr val="F2F6FA"/>
                </a:solidFill>
                <a:latin typeface="微软雅黑"/>
                <a:ea typeface="微软雅黑"/>
              </a:rPr>
              <a:t>这 15 分钟怎么走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" y="896112"/>
            <a:ext cx="859536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50" b="0" lang="zh-CN" spc="8">
                <a:solidFill>
                  <a:srgbClr val="6E8296"/>
                </a:solidFill>
                <a:latin typeface="Consolas"/>
                <a:ea typeface="Consolas"/>
              </a:rPr>
              <a:t>RUN OF SHOW · 900 SECONDS, FIXED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38160" y="530352"/>
            <a:ext cx="3346704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950" b="0" lang="zh-CN" spc="6">
                <a:solidFill>
                  <a:srgbClr val="6E8296"/>
                </a:solidFill>
                <a:latin typeface="Consolas"/>
                <a:ea typeface="Consolas"/>
              </a:rPr>
              <a:t>00 / AGENDA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444752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1" lang="zh-CN">
                <a:solidFill>
                  <a:srgbClr val="6E8296"/>
                </a:solidFill>
                <a:latin typeface="Consolas"/>
                <a:ea typeface="Consolas"/>
              </a:rPr>
              <a:t>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1371600"/>
            <a:ext cx="2286000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650" b="1" lang="zh-CN">
                <a:solidFill>
                  <a:srgbClr val="F2F6FA"/>
                </a:solidFill>
                <a:latin typeface="微软雅黑"/>
                <a:ea typeface="微软雅黑"/>
              </a:rPr>
              <a:t>开场与路线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1719072"/>
            <a:ext cx="118872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 lang="zh-CN">
                <a:solidFill>
                  <a:srgbClr val="6E8296"/>
                </a:solidFill>
                <a:latin typeface="Consolas"/>
                <a:ea typeface="Consolas"/>
              </a:rPr>
              <a:t>0:00–0:45</a:t>
            </a:r>
          </a:p>
        </p:txBody>
      </p:sp>
      <p:sp>
        <p:nvSpPr>
          <p:cNvPr id="10" name="Rectangle 9"/>
          <p:cNvSpPr/>
          <p:nvPr/>
        </p:nvSpPr>
        <p:spPr>
          <a:xfrm>
            <a:off x="4041648" y="1481328"/>
            <a:ext cx="545658" cy="155448"/>
          </a:xfrm>
          <a:prstGeom prst="rect">
            <a:avLst/>
          </a:prstGeom>
          <a:solidFill>
            <a:srgbClr val="6E8296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78746" y="1426464"/>
            <a:ext cx="804672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1" lang="zh-CN">
                <a:solidFill>
                  <a:srgbClr val="6E8296"/>
                </a:solidFill>
                <a:latin typeface="Consolas"/>
                <a:ea typeface="Consolas"/>
              </a:rPr>
              <a:t>0′45″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45552" y="1426464"/>
            <a:ext cx="3621024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0" lang="zh-CN">
                <a:solidFill>
                  <a:srgbClr val="A8B8C8"/>
                </a:solidFill>
                <a:latin typeface="微软雅黑"/>
                <a:ea typeface="微软雅黑"/>
              </a:rPr>
              <a:t>一句话说清我们做什么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13232" y="2048256"/>
            <a:ext cx="10765231" cy="7315"/>
          </a:xfrm>
          <a:prstGeom prst="rect">
            <a:avLst/>
          </a:prstGeom>
          <a:solidFill>
            <a:srgbClr val="1E2C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2249424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1" lang="zh-CN">
                <a:solidFill>
                  <a:srgbClr val="22D3EE"/>
                </a:solidFill>
                <a:latin typeface="Consolas"/>
                <a:ea typeface="Consolas"/>
              </a:rPr>
              <a:t>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2176272"/>
            <a:ext cx="2286000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650" b="1" lang="zh-CN">
                <a:solidFill>
                  <a:srgbClr val="F2F6FA"/>
                </a:solidFill>
                <a:latin typeface="微软雅黑"/>
                <a:ea typeface="微软雅黑"/>
              </a:rPr>
              <a:t>项目介绍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523744"/>
            <a:ext cx="118872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 lang="zh-CN">
                <a:solidFill>
                  <a:srgbClr val="6E8296"/>
                </a:solidFill>
                <a:latin typeface="Consolas"/>
                <a:ea typeface="Consolas"/>
              </a:rPr>
              <a:t>0:45–4:20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041648" y="2286000"/>
            <a:ext cx="2607033" cy="155448"/>
          </a:xfrm>
          <a:prstGeom prst="rect">
            <a:avLst/>
          </a:prstGeom>
          <a:solidFill>
            <a:srgbClr val="22D3EE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40121" y="2231136"/>
            <a:ext cx="804672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1" lang="zh-CN">
                <a:solidFill>
                  <a:srgbClr val="22D3EE"/>
                </a:solidFill>
                <a:latin typeface="Consolas"/>
                <a:ea typeface="Consolas"/>
              </a:rPr>
              <a:t>3′35″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45552" y="2231136"/>
            <a:ext cx="3621024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0" lang="zh-CN">
                <a:solidFill>
                  <a:srgbClr val="A8B8C8"/>
                </a:solidFill>
                <a:latin typeface="微软雅黑"/>
                <a:ea typeface="微软雅黑"/>
              </a:rPr>
              <a:t>痛点、产品、谁付钱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13232" y="2852928"/>
            <a:ext cx="10765231" cy="7315"/>
          </a:xfrm>
          <a:prstGeom prst="rect">
            <a:avLst/>
          </a:prstGeom>
          <a:solidFill>
            <a:srgbClr val="1E2C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3232" y="3054096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1" lang="zh-CN">
                <a:solidFill>
                  <a:srgbClr val="2D7FF9"/>
                </a:solidFill>
                <a:latin typeface="Consolas"/>
                <a:ea typeface="Consolas"/>
              </a:rPr>
              <a:t>02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2980944"/>
            <a:ext cx="2286000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650" b="1" lang="zh-CN">
                <a:solidFill>
                  <a:srgbClr val="F2F6FA"/>
                </a:solidFill>
                <a:latin typeface="微软雅黑"/>
                <a:ea typeface="微软雅黑"/>
              </a:rPr>
              <a:t>技术方案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80160" y="3328416"/>
            <a:ext cx="118872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 lang="zh-CN">
                <a:solidFill>
                  <a:srgbClr val="6E8296"/>
                </a:solidFill>
                <a:latin typeface="Consolas"/>
                <a:ea typeface="Consolas"/>
              </a:rPr>
              <a:t>4:20–7:40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041648" y="3090672"/>
            <a:ext cx="2425147" cy="155448"/>
          </a:xfrm>
          <a:prstGeom prst="rect">
            <a:avLst/>
          </a:prstGeom>
          <a:solidFill>
            <a:srgbClr val="2D7FF9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58235" y="3035808"/>
            <a:ext cx="804672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1" lang="zh-CN">
                <a:solidFill>
                  <a:srgbClr val="2D7FF9"/>
                </a:solidFill>
                <a:latin typeface="Consolas"/>
                <a:ea typeface="Consolas"/>
              </a:rPr>
              <a:t>3′20″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45552" y="3035808"/>
            <a:ext cx="3621024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0" lang="zh-CN">
                <a:solidFill>
                  <a:srgbClr val="A8B8C8"/>
                </a:solidFill>
                <a:latin typeface="微软雅黑"/>
                <a:ea typeface="微软雅黑"/>
              </a:rPr>
              <a:t>数据 · 验真 · 判定 · 存证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13232" y="3657600"/>
            <a:ext cx="10765231" cy="7315"/>
          </a:xfrm>
          <a:prstGeom prst="rect">
            <a:avLst/>
          </a:prstGeom>
          <a:solidFill>
            <a:srgbClr val="1E2C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13232" y="3858768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1" lang="zh-CN">
                <a:solidFill>
                  <a:srgbClr val="F5A524"/>
                </a:solidFill>
                <a:latin typeface="Consolas"/>
                <a:ea typeface="Consolas"/>
              </a:rPr>
              <a:t>03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80160" y="3785616"/>
            <a:ext cx="2286000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650" b="1" lang="zh-CN">
                <a:solidFill>
                  <a:srgbClr val="F2F6FA"/>
                </a:solidFill>
                <a:latin typeface="微软雅黑"/>
                <a:ea typeface="微软雅黑"/>
              </a:rPr>
              <a:t>创新点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80160" y="4133088"/>
            <a:ext cx="118872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 lang="zh-CN">
                <a:solidFill>
                  <a:srgbClr val="6E8296"/>
                </a:solidFill>
                <a:latin typeface="Consolas"/>
                <a:ea typeface="Consolas"/>
              </a:rPr>
              <a:t>7:40–9:45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041648" y="3895344"/>
            <a:ext cx="1515717" cy="155448"/>
          </a:xfrm>
          <a:prstGeom prst="rect">
            <a:avLst/>
          </a:prstGeom>
          <a:solidFill>
            <a:srgbClr val="F5A524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648805" y="3840480"/>
            <a:ext cx="804672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1" lang="zh-CN">
                <a:solidFill>
                  <a:srgbClr val="F5A524"/>
                </a:solidFill>
                <a:latin typeface="Consolas"/>
                <a:ea typeface="Consolas"/>
              </a:rPr>
              <a:t>2′05″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845552" y="3840480"/>
            <a:ext cx="3621024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0" lang="zh-CN">
                <a:solidFill>
                  <a:srgbClr val="A8B8C8"/>
                </a:solidFill>
                <a:latin typeface="微软雅黑"/>
                <a:ea typeface="微软雅黑"/>
              </a:rPr>
              <a:t>三条叠加才是壁垒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13232" y="4462272"/>
            <a:ext cx="10765231" cy="7315"/>
          </a:xfrm>
          <a:prstGeom prst="rect">
            <a:avLst/>
          </a:prstGeom>
          <a:solidFill>
            <a:srgbClr val="1E2C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13232" y="4663440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1" lang="zh-CN">
                <a:solidFill>
                  <a:srgbClr val="35D09A"/>
                </a:solidFill>
                <a:latin typeface="Consolas"/>
                <a:ea typeface="Consolas"/>
              </a:rPr>
              <a:t>04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280160" y="4590288"/>
            <a:ext cx="2286000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650" b="1" lang="zh-CN">
                <a:solidFill>
                  <a:srgbClr val="F2F6FA"/>
                </a:solidFill>
                <a:latin typeface="微软雅黑"/>
                <a:ea typeface="微软雅黑"/>
              </a:rPr>
              <a:t>现场演示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280160" y="4937760"/>
            <a:ext cx="118872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 lang="zh-CN">
                <a:solidFill>
                  <a:srgbClr val="6E8296"/>
                </a:solidFill>
                <a:latin typeface="Consolas"/>
                <a:ea typeface="Consolas"/>
              </a:rPr>
              <a:t>9:45–13:35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041648" y="4700016"/>
            <a:ext cx="2788920" cy="155448"/>
          </a:xfrm>
          <a:prstGeom prst="rect">
            <a:avLst/>
          </a:prstGeom>
          <a:solidFill>
            <a:srgbClr val="35D09A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922007" y="4645152"/>
            <a:ext cx="804672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1" lang="zh-CN">
                <a:solidFill>
                  <a:srgbClr val="35D09A"/>
                </a:solidFill>
                <a:latin typeface="Consolas"/>
                <a:ea typeface="Consolas"/>
              </a:rPr>
              <a:t>3′50″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845552" y="4645152"/>
            <a:ext cx="3621024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0" lang="zh-CN">
                <a:solidFill>
                  <a:srgbClr val="A8B8C8"/>
                </a:solidFill>
                <a:latin typeface="微软雅黑"/>
                <a:ea typeface="微软雅黑"/>
              </a:rPr>
              <a:t>评委自己点：8 条断言 · 真保单 · 台账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13232" y="5266944"/>
            <a:ext cx="10765231" cy="7315"/>
          </a:xfrm>
          <a:prstGeom prst="rect">
            <a:avLst/>
          </a:prstGeom>
          <a:solidFill>
            <a:srgbClr val="1E2C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13232" y="5468112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1" lang="zh-CN">
                <a:solidFill>
                  <a:srgbClr val="A8B8C8"/>
                </a:solidFill>
                <a:latin typeface="Consolas"/>
                <a:ea typeface="Consolas"/>
              </a:rPr>
              <a:t>05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280160" y="5394960"/>
            <a:ext cx="2286000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650" b="1" lang="zh-CN">
                <a:solidFill>
                  <a:srgbClr val="F2F6FA"/>
                </a:solidFill>
                <a:latin typeface="微软雅黑"/>
                <a:ea typeface="微软雅黑"/>
              </a:rPr>
              <a:t>总结与展望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280160" y="5742432"/>
            <a:ext cx="118872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 lang="zh-CN">
                <a:solidFill>
                  <a:srgbClr val="6E8296"/>
                </a:solidFill>
                <a:latin typeface="Consolas"/>
                <a:ea typeface="Consolas"/>
              </a:rPr>
              <a:t>13:35–15:00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041648" y="5504688"/>
            <a:ext cx="1030687" cy="155448"/>
          </a:xfrm>
          <a:prstGeom prst="rect">
            <a:avLst/>
          </a:prstGeom>
          <a:solidFill>
            <a:srgbClr val="A8B8C8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163775" y="5449824"/>
            <a:ext cx="804672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1" lang="zh-CN">
                <a:solidFill>
                  <a:srgbClr val="A8B8C8"/>
                </a:solidFill>
                <a:latin typeface="Consolas"/>
                <a:ea typeface="Consolas"/>
              </a:rPr>
              <a:t>1′25″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845552" y="5449824"/>
            <a:ext cx="3621024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0" lang="zh-CN">
                <a:solidFill>
                  <a:srgbClr val="A8B8C8"/>
                </a:solidFill>
                <a:latin typeface="微软雅黑"/>
                <a:ea typeface="微软雅黑"/>
              </a:rPr>
              <a:t>路线图与一句收尾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13232" y="6071616"/>
            <a:ext cx="10765231" cy="7315"/>
          </a:xfrm>
          <a:prstGeom prst="rect">
            <a:avLst/>
          </a:prstGeom>
          <a:solidFill>
            <a:srgbClr val="1E2C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13232" y="6309360"/>
            <a:ext cx="585216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 lang="zh-CN">
                <a:solidFill>
                  <a:srgbClr val="6E8296"/>
                </a:solidFill>
                <a:latin typeface="Consolas"/>
                <a:ea typeface="Consolas"/>
              </a:rPr>
              <a:t>合计 900 秒 · 不含评委提问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766560" y="6309360"/>
            <a:ext cx="470916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000" b="0" lang="zh-CN">
                <a:solidFill>
                  <a:srgbClr val="F5A524"/>
                </a:solidFill>
                <a:latin typeface="Consolas"/>
                <a:ea typeface="Consolas"/>
              </a:rPr>
              <a:t>超时：先砍 P13 → 再砍 P04 → 演示不压缩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475488"/>
            <a:ext cx="43891" cy="36576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457200"/>
            <a:ext cx="8595360" cy="4023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4000"/>
              </a:lnSpc>
            </a:pPr>
            <a:r>
              <a:rPr sz="2600" b="1" lang="zh-CN">
                <a:solidFill>
                  <a:srgbClr val="F2F6FA"/>
                </a:solidFill>
                <a:latin typeface="微软雅黑"/>
                <a:ea typeface="微软雅黑"/>
              </a:rPr>
              <a:t>暴雨天，他的收入是按单算的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" y="896112"/>
            <a:ext cx="859536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50" b="0" lang="zh-CN" spc="8">
                <a:solidFill>
                  <a:srgbClr val="6E8296"/>
                </a:solidFill>
                <a:latin typeface="Consolas"/>
                <a:ea typeface="Consolas"/>
              </a:rPr>
              <a:t>PAID BY THE ORDER — A RAIN DAY IS A ZERO DAY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38160" y="530352"/>
            <a:ext cx="3346704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950" b="0" lang="zh-CN" spc="6">
                <a:solidFill>
                  <a:srgbClr val="6E8296"/>
                </a:solidFill>
                <a:latin typeface="Consolas"/>
                <a:ea typeface="Consolas"/>
              </a:rPr>
              <a:t>01 / 项目介绍 · 可行性 25%</a:t>
            </a:r>
          </a:p>
        </p:txBody>
      </p:sp>
      <p:pic>
        <p:nvPicPr>
          <p:cNvPr id="7" name="Picture 6" descr="image3.png"/>
          <p:cNvPicPr>
            <a:picLocks noChangeAspect="1"/>
          </p:cNvPicPr>
          <p:nvPr/>
        </p:nvPicPr>
        <p:blipFill>
          <a:blip r:embed="rId2"/>
          <a:srcRect l="20601" r="20601"/>
          <a:stretch>
            <a:fillRect/>
          </a:stretch>
        </p:blipFill>
        <p:spPr>
          <a:xfrm>
            <a:off x="713232" y="1389888"/>
            <a:ext cx="4041648" cy="422452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74920" y="1389888"/>
            <a:ext cx="6419088" cy="6035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350" b="0" lang="zh-CN">
                <a:solidFill>
                  <a:srgbClr val="F2F6FA"/>
                </a:solidFill>
                <a:latin typeface="微软雅黑"/>
                <a:ea typeface="微软雅黑"/>
              </a:rPr>
              <a:t>暴雨橙色预警。他穿上雨衣，骑上车，跑了 12 个小时 —— 因为当天不出勤，就没有收入。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5074920" y="2157984"/>
            <a:ext cx="6419088" cy="822960"/>
          </a:xfrm>
          <a:prstGeom prst="rect">
            <a:avLst/>
          </a:prstGeom>
          <a:solidFill>
            <a:srgbClr val="101B2C"/>
          </a:solidFill>
          <a:ln w="12700">
            <a:solidFill>
              <a:srgbClr val="1E2C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85232" y="2322576"/>
            <a:ext cx="1645920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3000" b="1" lang="zh-CN">
                <a:solidFill>
                  <a:srgbClr val="22D3EE"/>
                </a:solidFill>
                <a:latin typeface="微软雅黑"/>
                <a:ea typeface="微软雅黑"/>
              </a:rPr>
              <a:t>336</a:t>
            </a:r>
            <a:r>
              <a:rPr sz="1100" b="0" lang="zh-CN">
                <a:solidFill>
                  <a:srgbClr val="A8B8C8"/>
                </a:solidFill>
                <a:latin typeface="微软雅黑"/>
                <a:ea typeface="微软雅黑"/>
              </a:rPr>
              <a:t> 万人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59168" y="2340864"/>
            <a:ext cx="237744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50" b="1" lang="zh-CN">
                <a:solidFill>
                  <a:srgbClr val="F2F6FA"/>
                </a:solidFill>
                <a:latin typeface="微软雅黑"/>
                <a:ea typeface="微软雅黑"/>
              </a:rPr>
              <a:t>月均有单骑手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59168" y="2615184"/>
            <a:ext cx="420624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 lang="zh-CN">
                <a:solidFill>
                  <a:srgbClr val="6E8296"/>
                </a:solidFill>
                <a:latin typeface="微软雅黑"/>
                <a:ea typeface="微软雅黑"/>
              </a:rPr>
              <a:t>美团 2024；蜂鸟约 400 万活跃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74920" y="3090672"/>
            <a:ext cx="6419088" cy="822960"/>
          </a:xfrm>
          <a:prstGeom prst="rect">
            <a:avLst/>
          </a:prstGeom>
          <a:solidFill>
            <a:srgbClr val="101B2C"/>
          </a:solidFill>
          <a:ln w="12700">
            <a:solidFill>
              <a:srgbClr val="1E2C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85232" y="3255264"/>
            <a:ext cx="1645920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3000" b="1" lang="zh-CN">
                <a:solidFill>
                  <a:srgbClr val="F5A524"/>
                </a:solidFill>
                <a:latin typeface="微软雅黑"/>
                <a:ea typeface="微软雅黑"/>
              </a:rPr>
              <a:t>-45</a:t>
            </a:r>
            <a:r>
              <a:rPr sz="1100" b="0" lang="zh-CN">
                <a:solidFill>
                  <a:srgbClr val="A8B8C8"/>
                </a:solidFill>
                <a:latin typeface="微软雅黑"/>
                <a:ea typeface="微软雅黑"/>
              </a:rPr>
              <a:t> 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59168" y="3273552"/>
            <a:ext cx="237744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50" b="1" lang="zh-CN">
                <a:solidFill>
                  <a:srgbClr val="F2F6FA"/>
                </a:solidFill>
                <a:latin typeface="微软雅黑"/>
                <a:ea typeface="微软雅黑"/>
              </a:rPr>
              <a:t>暴雨日流水落差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59168" y="3547872"/>
            <a:ext cx="420624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 lang="zh-CN">
                <a:solidFill>
                  <a:srgbClr val="6E8296"/>
                </a:solidFill>
                <a:latin typeface="微软雅黑"/>
                <a:ea typeface="微软雅黑"/>
              </a:rPr>
              <a:t>210 元 vs 同城均值 385 元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74920" y="4023360"/>
            <a:ext cx="6419088" cy="822960"/>
          </a:xfrm>
          <a:prstGeom prst="rect">
            <a:avLst/>
          </a:prstGeom>
          <a:solidFill>
            <a:srgbClr val="101B2C"/>
          </a:solidFill>
          <a:ln w="17780">
            <a:solidFill>
              <a:srgbClr val="F5A5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85232" y="4187952"/>
            <a:ext cx="1645920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3000" b="1" lang="zh-CN">
                <a:solidFill>
                  <a:srgbClr val="F5A524"/>
                </a:solidFill>
                <a:latin typeface="微软雅黑"/>
                <a:ea typeface="微软雅黑"/>
              </a:rPr>
              <a:t>0</a:t>
            </a:r>
            <a:r>
              <a:rPr sz="1100" b="0" lang="zh-CN">
                <a:solidFill>
                  <a:srgbClr val="A8B8C8"/>
                </a:solidFill>
                <a:latin typeface="微软雅黑"/>
                <a:ea typeface="微软雅黑"/>
              </a:rPr>
              <a:t> 款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59168" y="4206240"/>
            <a:ext cx="237744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50" b="1" lang="zh-CN">
                <a:solidFill>
                  <a:srgbClr val="F2F6FA"/>
                </a:solidFill>
                <a:latin typeface="微软雅黑"/>
                <a:ea typeface="微软雅黑"/>
              </a:rPr>
              <a:t>他能买到的天气险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59168" y="4480560"/>
            <a:ext cx="420624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 lang="zh-CN">
                <a:solidFill>
                  <a:srgbClr val="6E8296"/>
                </a:solidFill>
                <a:latin typeface="微软雅黑"/>
                <a:ea typeface="微软雅黑"/>
              </a:rPr>
              <a:t>没有产品，也不知道找谁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74920" y="5138928"/>
            <a:ext cx="6419088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700" b="1" lang="zh-CN">
                <a:solidFill>
                  <a:srgbClr val="F2F6FA"/>
                </a:solidFill>
                <a:latin typeface="微软雅黑"/>
                <a:ea typeface="微软雅黑"/>
              </a:rPr>
              <a:t>不是没人亏，是没人能证明自己亏了。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74920" y="5522976"/>
            <a:ext cx="6419088" cy="42062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050" b="0" lang="zh-CN">
                <a:solidFill>
                  <a:srgbClr val="A8B8C8"/>
                </a:solidFill>
                <a:latin typeface="微软雅黑"/>
                <a:ea typeface="微软雅黑"/>
              </a:rPr>
              <a:t>收入在平台侧、损失没票据、单笔赔款几十元 —— 传统理赔链条在这类人群身上不具备经济性。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" y="6455664"/>
            <a:ext cx="365760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50" b="0" lang="zh-CN" spc="6">
                <a:solidFill>
                  <a:srgbClr val="6E8296"/>
                </a:solidFill>
                <a:latin typeface="Consolas"/>
                <a:ea typeface="Consolas"/>
              </a:rPr>
              <a:t>雨证 RainProof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21240" y="6419088"/>
            <a:ext cx="749808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150" b="1" lang="zh-CN">
                <a:solidFill>
                  <a:srgbClr val="A8B8C8"/>
                </a:solidFill>
                <a:latin typeface="Consolas"/>
                <a:ea typeface="Consolas"/>
              </a:rPr>
              <a:t>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716768" y="6455664"/>
            <a:ext cx="54864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50" b="0" lang="zh-CN">
                <a:solidFill>
                  <a:srgbClr val="6E8296"/>
                </a:solidFill>
                <a:latin typeface="Consolas"/>
                <a:ea typeface="Consolas"/>
              </a:rPr>
              <a:t>/ 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475488"/>
            <a:ext cx="43891" cy="36576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457200"/>
            <a:ext cx="8595360" cy="4023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4000"/>
              </a:lnSpc>
            </a:pPr>
            <a:r>
              <a:rPr sz="2600" b="1" lang="zh-CN">
                <a:solidFill>
                  <a:srgbClr val="F2F6FA"/>
                </a:solidFill>
                <a:latin typeface="微软雅黑"/>
                <a:ea typeface="微软雅黑"/>
              </a:rPr>
              <a:t>不是没人想保，是这笔账算不过来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" y="896112"/>
            <a:ext cx="859536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50" b="0" lang="zh-CN" spc="8">
                <a:solidFill>
                  <a:srgbClr val="6E8296"/>
                </a:solidFill>
                <a:latin typeface="Consolas"/>
                <a:ea typeface="Consolas"/>
              </a:rPr>
              <a:t>THE MATH DOES NOT CLOSE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38160" y="530352"/>
            <a:ext cx="3346704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950" b="0" lang="zh-CN" spc="6">
                <a:solidFill>
                  <a:srgbClr val="6E8296"/>
                </a:solidFill>
                <a:latin typeface="Consolas"/>
                <a:ea typeface="Consolas"/>
              </a:rPr>
              <a:t>01 / 项目介绍 · 可行性 25%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481328"/>
            <a:ext cx="2834640" cy="4023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900" b="1" lang="zh-CN">
                <a:solidFill>
                  <a:srgbClr val="F2F6FA"/>
                </a:solidFill>
                <a:latin typeface="微软雅黑"/>
                <a:ea typeface="微软雅黑"/>
              </a:rPr>
              <a:t>查一次的成本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01568" y="1417320"/>
            <a:ext cx="50292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400" b="1" lang="zh-CN">
                <a:solidFill>
                  <a:srgbClr val="F5A524"/>
                </a:solidFill>
                <a:latin typeface="微软雅黑"/>
                <a:ea typeface="微软雅黑"/>
              </a:rPr>
              <a:t>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50208" y="1481328"/>
            <a:ext cx="2560320" cy="4023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900" b="1" lang="zh-CN">
                <a:solidFill>
                  <a:srgbClr val="F5A524"/>
                </a:solidFill>
                <a:latin typeface="微软雅黑"/>
                <a:ea typeface="微软雅黑"/>
              </a:rPr>
              <a:t>赔一次的钱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313432"/>
            <a:ext cx="91440" cy="9144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87552" y="2194560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1" lang="zh-CN">
                <a:solidFill>
                  <a:srgbClr val="F2F6FA"/>
                </a:solidFill>
                <a:latin typeface="微软雅黑"/>
                <a:ea typeface="微软雅黑"/>
              </a:rPr>
              <a:t>两档模拟给付 50 / 75 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2487168"/>
            <a:ext cx="566928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0" lang="zh-CN">
                <a:solidFill>
                  <a:srgbClr val="A8B8C8"/>
                </a:solidFill>
                <a:latin typeface="微软雅黑"/>
                <a:ea typeface="微软雅黑"/>
              </a:rPr>
              <a:t>客单价极低，容不下人工环节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13232" y="3026663"/>
            <a:ext cx="91440" cy="9144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7552" y="2907791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1" lang="zh-CN">
                <a:solidFill>
                  <a:srgbClr val="F2F6FA"/>
                </a:solidFill>
                <a:latin typeface="微软雅黑"/>
                <a:ea typeface="微软雅黑"/>
              </a:rPr>
              <a:t>报案、查勘、核损、核赔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7552" y="3200400"/>
            <a:ext cx="566928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0" lang="zh-CN">
                <a:solidFill>
                  <a:srgbClr val="A8B8C8"/>
                </a:solidFill>
                <a:latin typeface="微软雅黑"/>
                <a:ea typeface="微软雅黑"/>
              </a:rPr>
              <a:t>每一步都与赔款同量级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13232" y="3739896"/>
            <a:ext cx="91440" cy="9144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87552" y="3621024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1" lang="zh-CN">
                <a:solidFill>
                  <a:srgbClr val="F2F6FA"/>
                </a:solidFill>
                <a:latin typeface="微软雅黑"/>
                <a:ea typeface="微软雅黑"/>
              </a:rPr>
              <a:t>理性选择：不卖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7552" y="3913632"/>
            <a:ext cx="566928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0" lang="zh-CN">
                <a:solidFill>
                  <a:srgbClr val="A8B8C8"/>
                </a:solidFill>
                <a:latin typeface="微软雅黑"/>
                <a:ea typeface="微软雅黑"/>
              </a:rPr>
              <a:t>用平台补贴代替保险，成本中心化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13232" y="4443984"/>
            <a:ext cx="6492240" cy="1005840"/>
          </a:xfrm>
          <a:prstGeom prst="rect">
            <a:avLst/>
          </a:prstGeom>
          <a:solidFill>
            <a:srgbClr val="101B2C"/>
          </a:solidFill>
          <a:ln w="12700">
            <a:solidFill>
              <a:srgbClr val="1E2C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4590288"/>
            <a:ext cx="603504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 lang="zh-CN">
                <a:solidFill>
                  <a:srgbClr val="22D3EE"/>
                </a:solidFill>
                <a:latin typeface="Consolas"/>
                <a:ea typeface="Consolas"/>
              </a:rPr>
              <a:t>下游三个结果 —— 同一个原因，不是三个问题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" y="4882896"/>
            <a:ext cx="6053328" cy="4023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1" lang="zh-CN">
                <a:solidFill>
                  <a:srgbClr val="F2F6FA"/>
                </a:solidFill>
                <a:latin typeface="微软雅黑"/>
                <a:ea typeface="微软雅黑"/>
              </a:rPr>
              <a:t>损失核不了　·　逆选择与骗赔无解　·　众包身份无凭据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" y="5632704"/>
            <a:ext cx="6492240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1" lang="zh-CN">
                <a:solidFill>
                  <a:srgbClr val="F5A524"/>
                </a:solidFill>
                <a:latin typeface="微软雅黑"/>
                <a:ea typeface="微软雅黑"/>
              </a:rPr>
              <a:t>所以我们删掉的不是价格，是最贵的那个环节。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06640" y="1481328"/>
            <a:ext cx="402336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 lang="zh-CN" spc="4">
                <a:solidFill>
                  <a:srgbClr val="6E8296"/>
                </a:solidFill>
                <a:latin typeface="Consolas"/>
                <a:ea typeface="Consolas"/>
              </a:rPr>
              <a:t>市场（假设全部公开，可复核）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06640" y="1792224"/>
            <a:ext cx="118872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 lang="zh-CN" spc="4">
                <a:solidFill>
                  <a:srgbClr val="6E8296"/>
                </a:solidFill>
                <a:latin typeface="Consolas"/>
                <a:ea typeface="Consolas"/>
              </a:rPr>
              <a:t>TAM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15984" y="1700784"/>
            <a:ext cx="2450592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2400" b="1" lang="zh-CN">
                <a:solidFill>
                  <a:srgbClr val="22D3EE"/>
                </a:solidFill>
                <a:latin typeface="微软雅黑"/>
                <a:ea typeface="微软雅黑"/>
              </a:rPr>
              <a:t>19–26</a:t>
            </a:r>
            <a:r>
              <a:rPr sz="1000" b="0" lang="zh-CN">
                <a:solidFill>
                  <a:srgbClr val="6E8296"/>
                </a:solidFill>
                <a:latin typeface="微软雅黑"/>
                <a:ea typeface="微软雅黑"/>
              </a:rPr>
              <a:t>  亿元 / 年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406640" y="2121408"/>
            <a:ext cx="2743200" cy="109728"/>
          </a:xfrm>
          <a:prstGeom prst="rect">
            <a:avLst/>
          </a:prstGeom>
          <a:solidFill>
            <a:srgbClr val="22D3EE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06640" y="2322576"/>
            <a:ext cx="4041648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 lang="zh-CN">
                <a:solidFill>
                  <a:srgbClr val="A8B8C8"/>
                </a:solidFill>
                <a:latin typeface="微软雅黑"/>
                <a:ea typeface="微软雅黑"/>
              </a:rPr>
              <a:t>500–700 万骑手 × 250 天 × 1.5 元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06640" y="3163824"/>
            <a:ext cx="118872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 lang="zh-CN" spc="4">
                <a:solidFill>
                  <a:srgbClr val="6E8296"/>
                </a:solidFill>
                <a:latin typeface="Consolas"/>
                <a:ea typeface="Consolas"/>
              </a:rPr>
              <a:t>SAM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15984" y="3072384"/>
            <a:ext cx="2450592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2400" b="1" lang="zh-CN">
                <a:solidFill>
                  <a:srgbClr val="2D7FF9"/>
                </a:solidFill>
                <a:latin typeface="微软雅黑"/>
                <a:ea typeface="微软雅黑"/>
              </a:rPr>
              <a:t>3.6</a:t>
            </a:r>
            <a:r>
              <a:rPr sz="1000" b="0" lang="zh-CN">
                <a:solidFill>
                  <a:srgbClr val="6E8296"/>
                </a:solidFill>
                <a:latin typeface="微软雅黑"/>
                <a:ea typeface="微软雅黑"/>
              </a:rPr>
              <a:t>  亿元 / 年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406640" y="3493008"/>
            <a:ext cx="1920240" cy="109728"/>
          </a:xfrm>
          <a:prstGeom prst="rect">
            <a:avLst/>
          </a:prstGeom>
          <a:solidFill>
            <a:srgbClr val="2D7FF9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06640" y="3694176"/>
            <a:ext cx="4041648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 lang="zh-CN">
                <a:solidFill>
                  <a:srgbClr val="A8B8C8"/>
                </a:solidFill>
                <a:latin typeface="微软雅黑"/>
                <a:ea typeface="微软雅黑"/>
              </a:rPr>
              <a:t>200 万高频 × 120 天 × 1.5 元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06640" y="4535424"/>
            <a:ext cx="118872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 lang="zh-CN" spc="4">
                <a:solidFill>
                  <a:srgbClr val="6E8296"/>
                </a:solidFill>
                <a:latin typeface="Consolas"/>
                <a:ea typeface="Consolas"/>
              </a:rPr>
              <a:t>SOM 第 3 年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15984" y="4443984"/>
            <a:ext cx="2450592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2400" b="1" lang="zh-CN">
                <a:solidFill>
                  <a:srgbClr val="A8B8C8"/>
                </a:solidFill>
                <a:latin typeface="微软雅黑"/>
                <a:ea typeface="微软雅黑"/>
              </a:rPr>
              <a:t>1.1</a:t>
            </a:r>
            <a:r>
              <a:rPr sz="1000" b="0" lang="zh-CN">
                <a:solidFill>
                  <a:srgbClr val="6E8296"/>
                </a:solidFill>
                <a:latin typeface="微软雅黑"/>
                <a:ea typeface="微软雅黑"/>
              </a:rPr>
              <a:t>  亿元 / 年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406640" y="4864608"/>
            <a:ext cx="1234440" cy="109728"/>
          </a:xfrm>
          <a:prstGeom prst="rect">
            <a:avLst/>
          </a:prstGeom>
          <a:solidFill>
            <a:srgbClr val="A8B8C8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406640" y="5065776"/>
            <a:ext cx="4041648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 lang="zh-CN">
                <a:solidFill>
                  <a:srgbClr val="A8B8C8"/>
                </a:solidFill>
                <a:latin typeface="微软雅黑"/>
                <a:ea typeface="微软雅黑"/>
              </a:rPr>
              <a:t>80 万骑手 × 100 天 × 1.4 元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06640" y="5870448"/>
            <a:ext cx="4041648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950" b="0" lang="zh-CN">
                <a:solidFill>
                  <a:srgbClr val="6E8296"/>
                </a:solidFill>
                <a:latin typeface="微软雅黑"/>
                <a:ea typeface="微软雅黑"/>
              </a:rPr>
              <a:t>只算会被暴雨打断收入、且能被参数化定价的那一小群人。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13232" y="6455664"/>
            <a:ext cx="365760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50" b="0" lang="zh-CN" spc="6">
                <a:solidFill>
                  <a:srgbClr val="6E8296"/>
                </a:solidFill>
                <a:latin typeface="Consolas"/>
                <a:ea typeface="Consolas"/>
              </a:rPr>
              <a:t>雨证 RainProof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921240" y="6419088"/>
            <a:ext cx="749808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150" b="1" lang="zh-CN">
                <a:solidFill>
                  <a:srgbClr val="A8B8C8"/>
                </a:solidFill>
                <a:latin typeface="Consolas"/>
                <a:ea typeface="Consolas"/>
              </a:rPr>
              <a:t>04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716768" y="6455664"/>
            <a:ext cx="54864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50" b="0" lang="zh-CN">
                <a:solidFill>
                  <a:srgbClr val="6E8296"/>
                </a:solidFill>
                <a:latin typeface="Consolas"/>
                <a:ea typeface="Consolas"/>
              </a:rPr>
              <a:t>/ 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475488"/>
            <a:ext cx="43891" cy="36576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457200"/>
            <a:ext cx="8595360" cy="4023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4000"/>
              </a:lnSpc>
            </a:pPr>
            <a:r>
              <a:rPr sz="2600" b="1" lang="zh-CN">
                <a:solidFill>
                  <a:srgbClr val="F2F6FA"/>
                </a:solidFill>
                <a:latin typeface="微软雅黑"/>
                <a:ea typeface="微软雅黑"/>
              </a:rPr>
              <a:t>一张保单长什么样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" y="896112"/>
            <a:ext cx="859536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50" b="0" lang="zh-CN" spc="8">
                <a:solidFill>
                  <a:srgbClr val="6E8296"/>
                </a:solidFill>
                <a:latin typeface="Consolas"/>
                <a:ea typeface="Consolas"/>
              </a:rPr>
              <a:t>WHAT A POLICY LOOKS LIKE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38160" y="530352"/>
            <a:ext cx="3346704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950" b="0" lang="zh-CN" spc="6">
                <a:solidFill>
                  <a:srgbClr val="6E8296"/>
                </a:solidFill>
                <a:latin typeface="Consolas"/>
                <a:ea typeface="Consolas"/>
              </a:rPr>
              <a:t>01 / 项目介绍 · 专业深度 20%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463040"/>
            <a:ext cx="1152144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50" b="0" lang="zh-CN" spc="4">
                <a:solidFill>
                  <a:srgbClr val="22D3EE"/>
                </a:solidFill>
                <a:latin typeface="Consolas"/>
                <a:ea typeface="Consolas"/>
              </a:rPr>
              <a:t>保障对象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38528" y="1389888"/>
            <a:ext cx="4846320" cy="4023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lang="zh-CN">
                <a:solidFill>
                  <a:srgbClr val="F2F6FA"/>
                </a:solidFill>
                <a:latin typeface="微软雅黑"/>
                <a:ea typeface="微软雅黑"/>
              </a:rPr>
              <a:t>外卖 / 即时配送骑手，可由平台整批代投</a:t>
            </a:r>
          </a:p>
        </p:txBody>
      </p:sp>
      <p:sp>
        <p:nvSpPr>
          <p:cNvPr id="9" name="Rectangle 8"/>
          <p:cNvSpPr/>
          <p:nvPr/>
        </p:nvSpPr>
        <p:spPr>
          <a:xfrm>
            <a:off x="713232" y="2011680"/>
            <a:ext cx="6126480" cy="7315"/>
          </a:xfrm>
          <a:prstGeom prst="rect">
            <a:avLst/>
          </a:prstGeom>
          <a:solidFill>
            <a:srgbClr val="1E2C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2249424"/>
            <a:ext cx="1152144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50" b="0" lang="zh-CN" spc="4">
                <a:solidFill>
                  <a:srgbClr val="22D3EE"/>
                </a:solidFill>
                <a:latin typeface="Consolas"/>
                <a:ea typeface="Consolas"/>
              </a:rPr>
              <a:t>保障窗口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38528" y="2176272"/>
            <a:ext cx="4846320" cy="4023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lang="zh-CN">
                <a:solidFill>
                  <a:srgbClr val="F2F6FA"/>
                </a:solidFill>
                <a:latin typeface="微软雅黑"/>
                <a:ea typeface="微软雅黑"/>
              </a:rPr>
              <a:t>12 小时 / 24 小时（GB/T 28592—2012 两个时段）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3232" y="2798064"/>
            <a:ext cx="6126480" cy="7315"/>
          </a:xfrm>
          <a:prstGeom prst="rect">
            <a:avLst/>
          </a:prstGeom>
          <a:solidFill>
            <a:srgbClr val="1E2C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3232" y="3035808"/>
            <a:ext cx="1152144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50" b="0" lang="zh-CN" spc="4">
                <a:solidFill>
                  <a:srgbClr val="22D3EE"/>
                </a:solidFill>
                <a:latin typeface="Consolas"/>
                <a:ea typeface="Consolas"/>
              </a:rPr>
              <a:t>触发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38528" y="2962656"/>
            <a:ext cx="4846320" cy="4023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lang="zh-CN">
                <a:solidFill>
                  <a:srgbClr val="F2F6FA"/>
                </a:solidFill>
                <a:latin typeface="微软雅黑"/>
                <a:ea typeface="微软雅黑"/>
              </a:rPr>
              <a:t>窗口内「新增累计降雨量」越过档线，不看总雨量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13232" y="3584448"/>
            <a:ext cx="6126480" cy="7315"/>
          </a:xfrm>
          <a:prstGeom prst="rect">
            <a:avLst/>
          </a:prstGeom>
          <a:solidFill>
            <a:srgbClr val="1E2C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2" y="3822191"/>
            <a:ext cx="1152144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50" b="0" lang="zh-CN" spc="4">
                <a:solidFill>
                  <a:srgbClr val="22D3EE"/>
                </a:solidFill>
                <a:latin typeface="Consolas"/>
                <a:ea typeface="Consolas"/>
              </a:rPr>
              <a:t>给付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38528" y="3749040"/>
            <a:ext cx="4846320" cy="4023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lang="zh-CN">
                <a:solidFill>
                  <a:srgbClr val="F2F6FA"/>
                </a:solidFill>
                <a:latin typeface="微软雅黑"/>
                <a:ea typeface="微软雅黑"/>
              </a:rPr>
              <a:t>额度基数 100 元，实际给付 50 / 75 元 / 份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13232" y="4370832"/>
            <a:ext cx="6126480" cy="7315"/>
          </a:xfrm>
          <a:prstGeom prst="rect">
            <a:avLst/>
          </a:prstGeom>
          <a:solidFill>
            <a:srgbClr val="1E2C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3232" y="4608576"/>
            <a:ext cx="1152144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50" b="0" lang="zh-CN" spc="4">
                <a:solidFill>
                  <a:srgbClr val="22D3EE"/>
                </a:solidFill>
                <a:latin typeface="Consolas"/>
                <a:ea typeface="Consolas"/>
              </a:rPr>
              <a:t>价格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38528" y="4535424"/>
            <a:ext cx="4846320" cy="4023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lang="zh-CN">
                <a:solidFill>
                  <a:srgbClr val="F2F6FA"/>
                </a:solidFill>
                <a:latin typeface="微软雅黑"/>
                <a:ea typeface="微软雅黑"/>
              </a:rPr>
              <a:t>骑手自付 3.6–8.8 元；平台批发 1.1–2.2 元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13232" y="5157216"/>
            <a:ext cx="6126480" cy="7315"/>
          </a:xfrm>
          <a:prstGeom prst="rect">
            <a:avLst/>
          </a:prstGeom>
          <a:solidFill>
            <a:srgbClr val="1E2C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13232" y="5431536"/>
            <a:ext cx="6126480" cy="676656"/>
          </a:xfrm>
          <a:prstGeom prst="rect">
            <a:avLst/>
          </a:prstGeom>
          <a:solidFill>
            <a:srgbClr val="101B2C"/>
          </a:solidFill>
          <a:ln w="12700">
            <a:solidFill>
              <a:srgbClr val="1E2C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577840"/>
            <a:ext cx="5760720" cy="4023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1" lang="zh-CN">
                <a:solidFill>
                  <a:srgbClr val="F5A524"/>
                </a:solidFill>
                <a:latin typeface="微软雅黑"/>
                <a:ea typeface="微软雅黑"/>
              </a:rPr>
              <a:t>赔付额是定值 —— 这是参数化的代价，也是免人工定损的原因。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87184" y="1298448"/>
            <a:ext cx="420624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 lang="zh-CN" spc="4">
                <a:solidFill>
                  <a:srgbClr val="6E8296"/>
                </a:solidFill>
                <a:latin typeface="Consolas"/>
                <a:ea typeface="Consolas"/>
              </a:rPr>
              <a:t>骑手端 · 投保卡实拍（现网读数）</a:t>
            </a:r>
          </a:p>
        </p:txBody>
      </p:sp>
      <p:pic>
        <p:nvPicPr>
          <p:cNvPr id="25" name="Picture 24" descr="rider.png"/>
          <p:cNvPicPr>
            <a:picLocks noChangeAspect="1"/>
          </p:cNvPicPr>
          <p:nvPr/>
        </p:nvPicPr>
        <p:blipFill>
          <a:blip r:embed="rId2"/>
          <a:srcRect l="22343" t="4789" r="22343" b="24789"/>
          <a:stretch>
            <a:fillRect/>
          </a:stretch>
        </p:blipFill>
        <p:spPr>
          <a:xfrm>
            <a:off x="7187184" y="1554480"/>
            <a:ext cx="4224528" cy="3529584"/>
          </a:xfrm>
          <a:prstGeom prst="rect">
            <a:avLst/>
          </a:prstGeom>
          <a:ln w="12700">
            <a:solidFill>
              <a:srgbClr val="1E2C40"/>
            </a:solidFill>
          </a:ln>
        </p:spPr>
      </p:pic>
      <p:sp>
        <p:nvSpPr>
          <p:cNvPr id="26" name="TextBox 25"/>
          <p:cNvSpPr txBox="1"/>
          <p:nvPr/>
        </p:nvSpPr>
        <p:spPr>
          <a:xfrm>
            <a:off x="7187184" y="5193792"/>
            <a:ext cx="4224528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 lang="zh-CN" spc="4">
                <a:solidFill>
                  <a:srgbClr val="22D3EE"/>
                </a:solidFill>
                <a:latin typeface="Consolas"/>
                <a:ea typeface="Consolas"/>
              </a:rPr>
              <a:t>现网读数，非设计稿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87184" y="5468112"/>
            <a:ext cx="4224528" cy="6766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050" b="0" lang="zh-CN">
                <a:solidFill>
                  <a:srgbClr val="A8B8C8"/>
                </a:solidFill>
                <a:latin typeface="微软雅黑"/>
                <a:ea typeface="微软雅黑"/>
              </a:rPr>
              <a:t>上海 12h：保费 4.20 元／份，档线 30/70mm，当前城市累计 172mm —— 全部现读链上，改不了。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3232" y="6455664"/>
            <a:ext cx="365760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50" b="0" lang="zh-CN" spc="6">
                <a:solidFill>
                  <a:srgbClr val="6E8296"/>
                </a:solidFill>
                <a:latin typeface="Consolas"/>
                <a:ea typeface="Consolas"/>
              </a:rPr>
              <a:t>雨证 RainProof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21240" y="6419088"/>
            <a:ext cx="749808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150" b="1" lang="zh-CN">
                <a:solidFill>
                  <a:srgbClr val="A8B8C8"/>
                </a:solidFill>
                <a:latin typeface="Consolas"/>
                <a:ea typeface="Consolas"/>
              </a:rPr>
              <a:t>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716768" y="6455664"/>
            <a:ext cx="54864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50" b="0" lang="zh-CN">
                <a:solidFill>
                  <a:srgbClr val="6E8296"/>
                </a:solidFill>
                <a:latin typeface="Consolas"/>
                <a:ea typeface="Consolas"/>
              </a:rPr>
              <a:t>/ 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475488"/>
            <a:ext cx="43891" cy="36576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457200"/>
            <a:ext cx="8595360" cy="4023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4000"/>
              </a:lnSpc>
            </a:pPr>
            <a:r>
              <a:rPr sz="2600" b="1" lang="zh-CN">
                <a:solidFill>
                  <a:srgbClr val="F2F6FA"/>
                </a:solidFill>
                <a:latin typeface="微软雅黑"/>
                <a:ea typeface="微软雅黑"/>
              </a:rPr>
              <a:t>谁付钱，钱又去哪了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" y="896112"/>
            <a:ext cx="859536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50" b="0" lang="zh-CN" spc="8">
                <a:solidFill>
                  <a:srgbClr val="6E8296"/>
                </a:solidFill>
                <a:latin typeface="Consolas"/>
                <a:ea typeface="Consolas"/>
              </a:rPr>
              <a:t>WHO PAYS, AND WHERE EVERY YUAN GOES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38160" y="530352"/>
            <a:ext cx="3346704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950" b="0" lang="zh-CN" spc="6">
                <a:solidFill>
                  <a:srgbClr val="6E8296"/>
                </a:solidFill>
                <a:latin typeface="Consolas"/>
                <a:ea typeface="Consolas"/>
              </a:rPr>
              <a:t>01 / 项目介绍 · 可行性 25%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481328"/>
            <a:ext cx="566928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50" b="1" lang="zh-CN" spc="6">
                <a:solidFill>
                  <a:srgbClr val="22D3EE"/>
                </a:solidFill>
                <a:latin typeface="Consolas"/>
                <a:ea typeface="Consolas"/>
              </a:rPr>
              <a:t>主攻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53312" y="1389888"/>
            <a:ext cx="4480560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600" b="1" lang="zh-CN">
                <a:solidFill>
                  <a:srgbClr val="F2F6FA"/>
                </a:solidFill>
                <a:latin typeface="微软雅黑"/>
                <a:ea typeface="微软雅黑"/>
              </a:rPr>
              <a:t>平台 / 众包服务商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53312" y="1792224"/>
            <a:ext cx="448056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 lang="zh-CN">
                <a:solidFill>
                  <a:srgbClr val="A8B8C8"/>
                </a:solidFill>
                <a:latin typeface="微软雅黑"/>
                <a:ea typeface="微软雅黑"/>
              </a:rPr>
              <a:t>有合规与舆情压力，一次决策覆盖上万骑手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304288"/>
            <a:ext cx="5074920" cy="7315"/>
          </a:xfrm>
          <a:prstGeom prst="rect">
            <a:avLst/>
          </a:prstGeom>
          <a:solidFill>
            <a:srgbClr val="1E2C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2779776"/>
            <a:ext cx="566928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50" b="1" lang="zh-CN" spc="6">
                <a:solidFill>
                  <a:srgbClr val="A8B8C8"/>
                </a:solidFill>
                <a:latin typeface="Consolas"/>
                <a:ea typeface="Consolas"/>
              </a:rPr>
              <a:t>补充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3312" y="2688336"/>
            <a:ext cx="4480560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600" b="1" lang="zh-CN">
                <a:solidFill>
                  <a:srgbClr val="F2F6FA"/>
                </a:solidFill>
                <a:latin typeface="微软雅黑"/>
                <a:ea typeface="微软雅黑"/>
              </a:rPr>
              <a:t>骑手自付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53312" y="3090672"/>
            <a:ext cx="448056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 lang="zh-CN">
                <a:solidFill>
                  <a:srgbClr val="A8B8C8"/>
                </a:solidFill>
                <a:latin typeface="微软雅黑"/>
                <a:ea typeface="微软雅黑"/>
              </a:rPr>
              <a:t>价格敏感、获客贵，只作自助渠道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3232" y="3602736"/>
            <a:ext cx="5074920" cy="7315"/>
          </a:xfrm>
          <a:prstGeom prst="rect">
            <a:avLst/>
          </a:prstGeom>
          <a:solidFill>
            <a:srgbClr val="1E2C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3232" y="4078223"/>
            <a:ext cx="566928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50" b="1" lang="zh-CN" spc="6">
                <a:solidFill>
                  <a:srgbClr val="2D7FF9"/>
                </a:solidFill>
                <a:latin typeface="Consolas"/>
                <a:ea typeface="Consolas"/>
              </a:rPr>
              <a:t>分成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53312" y="3986783"/>
            <a:ext cx="4480560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600" b="1" lang="zh-CN">
                <a:solidFill>
                  <a:srgbClr val="F2F6FA"/>
                </a:solidFill>
                <a:latin typeface="微软雅黑"/>
                <a:ea typeface="微软雅黑"/>
              </a:rPr>
              <a:t>持牌保险公司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53312" y="4389120"/>
            <a:ext cx="448056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 lang="zh-CN">
                <a:solidFill>
                  <a:srgbClr val="A8B8C8"/>
                </a:solidFill>
                <a:latin typeface="微软雅黑"/>
                <a:ea typeface="微软雅黑"/>
              </a:rPr>
              <a:t>承保主体；我们输出定价与自动理赔系统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13232" y="4901183"/>
            <a:ext cx="5074920" cy="7315"/>
          </a:xfrm>
          <a:prstGeom prst="rect">
            <a:avLst/>
          </a:prstGeom>
          <a:solidFill>
            <a:srgbClr val="1E2C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13232" y="5321808"/>
            <a:ext cx="5074920" cy="822960"/>
          </a:xfrm>
          <a:prstGeom prst="rect">
            <a:avLst/>
          </a:prstGeom>
          <a:solidFill>
            <a:srgbClr val="101B2C"/>
          </a:solidFill>
          <a:ln w="12700">
            <a:solidFill>
              <a:srgbClr val="1E2C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5449824"/>
            <a:ext cx="4663440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000" b="0" lang="zh-CN">
                <a:solidFill>
                  <a:srgbClr val="A8B8C8"/>
                </a:solidFill>
                <a:latin typeface="微软雅黑"/>
                <a:ea typeface="微软雅黑"/>
              </a:rPr>
              <a:t>旁证：美团 2025 年为 300 万骑手全额出资投防暑险 —— 平台付费已被验证。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35040" y="1335024"/>
            <a:ext cx="512064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 lang="zh-CN" spc="4">
                <a:solidFill>
                  <a:srgbClr val="6E8296"/>
                </a:solidFill>
                <a:latin typeface="Consolas"/>
                <a:ea typeface="Consolas"/>
              </a:rPr>
              <a:t>一张 2.2 元的平台保单 · 广州 24h · 额度基数 100 元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35040" y="1591056"/>
            <a:ext cx="1840504" cy="420624"/>
          </a:xfrm>
          <a:prstGeom prst="rect">
            <a:avLst/>
          </a:prstGeom>
          <a:solidFill>
            <a:srgbClr val="35D09A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875544" y="1591056"/>
            <a:ext cx="757854" cy="420624"/>
          </a:xfrm>
          <a:prstGeom prst="rect">
            <a:avLst/>
          </a:prstGeom>
          <a:solidFill>
            <a:srgbClr val="6E8296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633399" y="1591056"/>
            <a:ext cx="811987" cy="420624"/>
          </a:xfrm>
          <a:prstGeom prst="rect">
            <a:avLst/>
          </a:prstGeom>
          <a:solidFill>
            <a:srgbClr val="2D7FF9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445386" y="1591056"/>
            <a:ext cx="1353312" cy="420624"/>
          </a:xfrm>
          <a:prstGeom prst="rect">
            <a:avLst/>
          </a:prstGeom>
          <a:solidFill>
            <a:srgbClr val="22D3EE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0798698" y="1591056"/>
            <a:ext cx="649589" cy="420624"/>
          </a:xfrm>
          <a:prstGeom prst="rect">
            <a:avLst/>
          </a:prstGeom>
          <a:solidFill>
            <a:srgbClr val="F5A524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035040" y="2103120"/>
            <a:ext cx="1005840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600" b="1" lang="zh-CN">
                <a:solidFill>
                  <a:srgbClr val="35D09A"/>
                </a:solidFill>
                <a:latin typeface="Consolas"/>
                <a:ea typeface="Consolas"/>
              </a:rPr>
              <a:t>34%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35040" y="2414016"/>
            <a:ext cx="1042415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 lang="zh-CN">
                <a:solidFill>
                  <a:srgbClr val="A8B8C8"/>
                </a:solidFill>
                <a:latin typeface="微软雅黑"/>
                <a:ea typeface="微软雅黑"/>
              </a:rPr>
              <a:t>期望赔付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23175" y="2103120"/>
            <a:ext cx="1005840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600" b="1" lang="zh-CN">
                <a:solidFill>
                  <a:srgbClr val="6E8296"/>
                </a:solidFill>
                <a:latin typeface="Consolas"/>
                <a:ea typeface="Consolas"/>
              </a:rPr>
              <a:t>14%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23175" y="2414016"/>
            <a:ext cx="1042415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 lang="zh-CN">
                <a:solidFill>
                  <a:srgbClr val="A8B8C8"/>
                </a:solidFill>
                <a:latin typeface="微软雅黑"/>
                <a:ea typeface="微软雅黑"/>
              </a:rPr>
              <a:t>固定成本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11312" y="2103120"/>
            <a:ext cx="1005840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600" b="1" lang="zh-CN">
                <a:solidFill>
                  <a:srgbClr val="2D7FF9"/>
                </a:solidFill>
                <a:latin typeface="Consolas"/>
                <a:ea typeface="Consolas"/>
              </a:rPr>
              <a:t>15%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11312" y="2414016"/>
            <a:ext cx="1042415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 lang="zh-CN">
                <a:solidFill>
                  <a:srgbClr val="A8B8C8"/>
                </a:solidFill>
                <a:latin typeface="微软雅黑"/>
                <a:ea typeface="微软雅黑"/>
              </a:rPr>
              <a:t>再保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99448" y="2103120"/>
            <a:ext cx="1005840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600" b="1" lang="zh-CN">
                <a:solidFill>
                  <a:srgbClr val="22D3EE"/>
                </a:solidFill>
                <a:latin typeface="Consolas"/>
                <a:ea typeface="Consolas"/>
              </a:rPr>
              <a:t>25%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99448" y="2414016"/>
            <a:ext cx="1042415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 lang="zh-CN">
                <a:solidFill>
                  <a:srgbClr val="A8B8C8"/>
                </a:solidFill>
                <a:latin typeface="微软雅黑"/>
                <a:ea typeface="微软雅黑"/>
              </a:rPr>
              <a:t>渠道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387584" y="2103120"/>
            <a:ext cx="1005840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600" b="1" lang="zh-CN">
                <a:solidFill>
                  <a:srgbClr val="F5A524"/>
                </a:solidFill>
                <a:latin typeface="Consolas"/>
                <a:ea typeface="Consolas"/>
              </a:rPr>
              <a:t>12%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387584" y="2414016"/>
            <a:ext cx="1042415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 lang="zh-CN">
                <a:solidFill>
                  <a:srgbClr val="A8B8C8"/>
                </a:solidFill>
                <a:latin typeface="微软雅黑"/>
                <a:ea typeface="微软雅黑"/>
              </a:rPr>
              <a:t>毛利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035040" y="2779776"/>
            <a:ext cx="5413248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350" b="1" lang="zh-CN">
                <a:solidFill>
                  <a:srgbClr val="F5A524"/>
                </a:solidFill>
                <a:latin typeface="微软雅黑"/>
                <a:ea typeface="微软雅黑"/>
              </a:rPr>
              <a:t>免人工定损；仍有数据、复核与服务成本。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035040" y="3255264"/>
            <a:ext cx="5413248" cy="9144"/>
          </a:xfrm>
          <a:prstGeom prst="rect">
            <a:avLst/>
          </a:prstGeom>
          <a:solidFill>
            <a:srgbClr val="1E2C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035040" y="3364992"/>
            <a:ext cx="365760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 lang="zh-CN" spc="4">
                <a:solidFill>
                  <a:srgbClr val="6E8296"/>
                </a:solidFill>
                <a:latin typeface="Consolas"/>
                <a:ea typeface="Consolas"/>
              </a:rPr>
              <a:t>三年三情形（保费 / 净利）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035040" y="3675887"/>
            <a:ext cx="173736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 lang="zh-CN">
                <a:solidFill>
                  <a:srgbClr val="6E8296"/>
                </a:solidFill>
                <a:latin typeface="Consolas"/>
                <a:ea typeface="Consolas"/>
              </a:rPr>
              <a:t>第 1 年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035040" y="3913632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100" b="1" lang="zh-CN">
                <a:solidFill>
                  <a:srgbClr val="A8B8C8"/>
                </a:solidFill>
                <a:latin typeface="微软雅黑"/>
                <a:ea typeface="微软雅黑"/>
              </a:rPr>
              <a:t>144 万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035040" y="4334256"/>
            <a:ext cx="173736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 lang="zh-CN">
                <a:solidFill>
                  <a:srgbClr val="6E8296"/>
                </a:solidFill>
                <a:latin typeface="Consolas"/>
                <a:ea typeface="Consolas"/>
              </a:rPr>
              <a:t>-40 ~ -60 万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863840" y="3675887"/>
            <a:ext cx="173736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 lang="zh-CN">
                <a:solidFill>
                  <a:srgbClr val="6E8296"/>
                </a:solidFill>
                <a:latin typeface="Consolas"/>
                <a:ea typeface="Consolas"/>
              </a:rPr>
              <a:t>第 2 年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863840" y="3913632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100" b="1" lang="zh-CN">
                <a:solidFill>
                  <a:srgbClr val="22D3EE"/>
                </a:solidFill>
                <a:latin typeface="微软雅黑"/>
                <a:ea typeface="微软雅黑"/>
              </a:rPr>
              <a:t>2,080 万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863840" y="4334256"/>
            <a:ext cx="173736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 lang="zh-CN">
                <a:solidFill>
                  <a:srgbClr val="6E8296"/>
                </a:solidFill>
                <a:latin typeface="Consolas"/>
                <a:ea typeface="Consolas"/>
              </a:rPr>
              <a:t>-40 ~ -100 万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692640" y="3675887"/>
            <a:ext cx="173736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 lang="zh-CN">
                <a:solidFill>
                  <a:srgbClr val="6E8296"/>
                </a:solidFill>
                <a:latin typeface="Consolas"/>
                <a:ea typeface="Consolas"/>
              </a:rPr>
              <a:t>第 3 年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692640" y="3913632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100" b="1" lang="zh-CN">
                <a:solidFill>
                  <a:srgbClr val="35D09A"/>
                </a:solidFill>
                <a:latin typeface="微软雅黑"/>
                <a:ea typeface="微软雅黑"/>
              </a:rPr>
              <a:t>1.12 亿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692640" y="4334256"/>
            <a:ext cx="173736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 lang="zh-CN">
                <a:solidFill>
                  <a:srgbClr val="6E8296"/>
                </a:solidFill>
                <a:latin typeface="Consolas"/>
                <a:ea typeface="Consolas"/>
              </a:rPr>
              <a:t>+450 ~ 780 万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035040" y="4791456"/>
            <a:ext cx="5413248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000" b="0" lang="zh-CN">
                <a:solidFill>
                  <a:srgbClr val="A8B8C8"/>
                </a:solidFill>
                <a:latin typeface="微软雅黑"/>
                <a:ea typeface="微软雅黑"/>
              </a:rPr>
              <a:t>盈亏平衡：在保骑手 25–30 万，第 3 年初达成。不碰承保利润，只收科技服务费。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13232" y="6455664"/>
            <a:ext cx="365760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50" b="0" lang="zh-CN" spc="6">
                <a:solidFill>
                  <a:srgbClr val="6E8296"/>
                </a:solidFill>
                <a:latin typeface="Consolas"/>
                <a:ea typeface="Consolas"/>
              </a:rPr>
              <a:t>雨证 RainProof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921240" y="6419088"/>
            <a:ext cx="749808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150" b="1" lang="zh-CN">
                <a:solidFill>
                  <a:srgbClr val="A8B8C8"/>
                </a:solidFill>
                <a:latin typeface="Consolas"/>
                <a:ea typeface="Consolas"/>
              </a:rPr>
              <a:t>06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716768" y="6455664"/>
            <a:ext cx="54864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50" b="0" lang="zh-CN">
                <a:solidFill>
                  <a:srgbClr val="6E8296"/>
                </a:solidFill>
                <a:latin typeface="Consolas"/>
                <a:ea typeface="Consolas"/>
              </a:rPr>
              <a:t>/ 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475488"/>
            <a:ext cx="43891" cy="36576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457200"/>
            <a:ext cx="8595360" cy="4023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4000"/>
              </a:lnSpc>
            </a:pPr>
            <a:r>
              <a:rPr sz="2600" b="1" lang="zh-CN">
                <a:solidFill>
                  <a:srgbClr val="F2F6FA"/>
                </a:solidFill>
                <a:latin typeface="微软雅黑"/>
                <a:ea typeface="微软雅黑"/>
              </a:rPr>
              <a:t>四层：数据进来，结论出去，每一步都留痕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" y="896112"/>
            <a:ext cx="859536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50" b="0" lang="zh-CN" spc="8">
                <a:solidFill>
                  <a:srgbClr val="6E8296"/>
                </a:solidFill>
                <a:latin typeface="Consolas"/>
                <a:ea typeface="Consolas"/>
              </a:rPr>
              <a:t>FOUR LAYERS — EVERY STEP LEAVES A TRACE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38160" y="530352"/>
            <a:ext cx="3346704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950" b="0" lang="zh-CN" spc="6">
                <a:solidFill>
                  <a:srgbClr val="6E8296"/>
                </a:solidFill>
                <a:latin typeface="Consolas"/>
                <a:ea typeface="Consolas"/>
              </a:rPr>
              <a:t>02 / 技术方案 · 专业深度 20%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1389888"/>
            <a:ext cx="6903720" cy="914400"/>
          </a:xfrm>
          <a:prstGeom prst="rect">
            <a:avLst/>
          </a:prstGeom>
          <a:solidFill>
            <a:srgbClr val="101B2C"/>
          </a:solidFill>
          <a:ln w="12700">
            <a:solidFill>
              <a:srgbClr val="1E2C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3232" y="1389888"/>
            <a:ext cx="45720" cy="914400"/>
          </a:xfrm>
          <a:prstGeom prst="rect">
            <a:avLst/>
          </a:prstGeom>
          <a:solidFill>
            <a:srgbClr val="A8B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81328"/>
            <a:ext cx="45720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 lang="zh-CN" spc="6">
                <a:solidFill>
                  <a:srgbClr val="A8B8C8"/>
                </a:solidFill>
                <a:latin typeface="Consolas"/>
                <a:ea typeface="Consolas"/>
              </a:rPr>
              <a:t>L1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99616" y="1645920"/>
            <a:ext cx="1325880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600" b="1" lang="zh-CN">
                <a:solidFill>
                  <a:srgbClr val="F2F6FA"/>
                </a:solidFill>
                <a:latin typeface="微软雅黑"/>
                <a:ea typeface="微软雅黑"/>
              </a:rPr>
              <a:t>数据层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1517904"/>
            <a:ext cx="457200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0" lang="zh-CN">
                <a:solidFill>
                  <a:srgbClr val="A8B8C8"/>
                </a:solidFill>
                <a:latin typeface="微软雅黑"/>
                <a:ea typeface="微软雅黑"/>
              </a:rPr>
              <a:t>公开气象数据（三套数值模式）+ 11 年逐小时历史库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0" y="1883664"/>
            <a:ext cx="457200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50" b="0" lang="zh-CN">
                <a:solidFill>
                  <a:srgbClr val="6E8296"/>
                </a:solidFill>
                <a:latin typeface="微软雅黑"/>
                <a:ea typeface="微软雅黑"/>
              </a:rPr>
              <a:t>五城 × 96,432 小时 / 城 · 2015-10 → 2026-09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13232" y="2450591"/>
            <a:ext cx="6903720" cy="914400"/>
          </a:xfrm>
          <a:prstGeom prst="rect">
            <a:avLst/>
          </a:prstGeom>
          <a:solidFill>
            <a:srgbClr val="101B2C"/>
          </a:solidFill>
          <a:ln w="12700">
            <a:solidFill>
              <a:srgbClr val="1E2C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13232" y="2450591"/>
            <a:ext cx="45720" cy="9144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2542032"/>
            <a:ext cx="45720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 lang="zh-CN" spc="6">
                <a:solidFill>
                  <a:srgbClr val="22D3EE"/>
                </a:solidFill>
                <a:latin typeface="Consolas"/>
                <a:ea typeface="Consolas"/>
              </a:rPr>
              <a:t>L2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99616" y="2706624"/>
            <a:ext cx="1325880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600" b="1" lang="zh-CN">
                <a:solidFill>
                  <a:srgbClr val="F2F6FA"/>
                </a:solidFill>
                <a:latin typeface="微软雅黑"/>
                <a:ea typeface="微软雅黑"/>
              </a:rPr>
              <a:t>验真层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2578608"/>
            <a:ext cx="457200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0" lang="zh-CN">
                <a:solidFill>
                  <a:srgbClr val="A8B8C8"/>
                </a:solidFill>
                <a:latin typeface="微软雅黑"/>
                <a:ea typeface="微软雅黑"/>
              </a:rPr>
              <a:t>跨机构交叉核验，离散度超容差即拒收，拒收本身留痕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26080" y="2944368"/>
            <a:ext cx="457200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50" b="0" lang="zh-CN">
                <a:solidFill>
                  <a:srgbClr val="6E8296"/>
                </a:solidFill>
                <a:latin typeface="微软雅黑"/>
                <a:ea typeface="微软雅黑"/>
              </a:rPr>
              <a:t>±max(2.5mm, 5%) · 至少 2 / 3 同意才认这份读数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13232" y="3511296"/>
            <a:ext cx="6903720" cy="914400"/>
          </a:xfrm>
          <a:prstGeom prst="rect">
            <a:avLst/>
          </a:prstGeom>
          <a:solidFill>
            <a:srgbClr val="101B2C"/>
          </a:solidFill>
          <a:ln w="12700">
            <a:solidFill>
              <a:srgbClr val="1E2C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13232" y="3511296"/>
            <a:ext cx="45720" cy="914400"/>
          </a:xfrm>
          <a:prstGeom prst="rect">
            <a:avLst/>
          </a:prstGeom>
          <a:solidFill>
            <a:srgbClr val="F5A5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3602736"/>
            <a:ext cx="45720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 lang="zh-CN" spc="6">
                <a:solidFill>
                  <a:srgbClr val="F5A524"/>
                </a:solidFill>
                <a:latin typeface="Consolas"/>
                <a:ea typeface="Consolas"/>
              </a:rPr>
              <a:t>L3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99616" y="3767328"/>
            <a:ext cx="1325880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600" b="1" lang="zh-CN">
                <a:solidFill>
                  <a:srgbClr val="F2F6FA"/>
                </a:solidFill>
                <a:latin typeface="微软雅黑"/>
                <a:ea typeface="微软雅黑"/>
              </a:rPr>
              <a:t>判定层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26080" y="3639312"/>
            <a:ext cx="457200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0" lang="zh-CN">
                <a:solidFill>
                  <a:srgbClr val="A8B8C8"/>
                </a:solidFill>
                <a:latin typeface="微软雅黑"/>
                <a:ea typeface="微软雅黑"/>
              </a:rPr>
              <a:t>五条确定性规则给出赔或不赔；大模型只翻译，不决策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26080" y="4005072"/>
            <a:ext cx="457200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50" b="0" lang="zh-CN">
                <a:solidFill>
                  <a:srgbClr val="6E8296"/>
                </a:solidFill>
                <a:latin typeface="微软雅黑"/>
                <a:ea typeface="微软雅黑"/>
              </a:rPr>
              <a:t>R1–R5 · AI 只写解释，不进哈希、不改结论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13232" y="4572000"/>
            <a:ext cx="6903720" cy="914400"/>
          </a:xfrm>
          <a:prstGeom prst="rect">
            <a:avLst/>
          </a:prstGeom>
          <a:solidFill>
            <a:srgbClr val="101B2C"/>
          </a:solidFill>
          <a:ln w="12700">
            <a:solidFill>
              <a:srgbClr val="1E2C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13232" y="4572000"/>
            <a:ext cx="45720" cy="914400"/>
          </a:xfrm>
          <a:prstGeom prst="rect">
            <a:avLst/>
          </a:prstGeom>
          <a:solidFill>
            <a:srgbClr val="35D0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4663440"/>
            <a:ext cx="45720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 lang="zh-CN" spc="6">
                <a:solidFill>
                  <a:srgbClr val="35D09A"/>
                </a:solidFill>
                <a:latin typeface="Consolas"/>
                <a:ea typeface="Consolas"/>
              </a:rPr>
              <a:t>L4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99616" y="4828032"/>
            <a:ext cx="1325880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600" b="1" lang="zh-CN">
                <a:solidFill>
                  <a:srgbClr val="F2F6FA"/>
                </a:solidFill>
                <a:latin typeface="微软雅黑"/>
                <a:ea typeface="微软雅黑"/>
              </a:rPr>
              <a:t>存证层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926080" y="4700016"/>
            <a:ext cx="457200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0" lang="zh-CN">
                <a:solidFill>
                  <a:srgbClr val="A8B8C8"/>
                </a:solidFill>
                <a:latin typeface="微软雅黑"/>
                <a:ea typeface="微软雅黑"/>
              </a:rPr>
              <a:t>规则部署即不可改；输入 / 输出哈希留痕，第三方可复算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926080" y="5065776"/>
            <a:ext cx="457200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50" b="0" lang="zh-CN">
                <a:solidFill>
                  <a:srgbClr val="6E8296"/>
                </a:solidFill>
                <a:latin typeface="微软雅黑"/>
                <a:ea typeface="微软雅黑"/>
              </a:rPr>
              <a:t>2/3 多签治理 · 任何人可拿原始报文重算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73568" y="1316736"/>
            <a:ext cx="329184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 lang="zh-CN" spc="6">
                <a:solidFill>
                  <a:srgbClr val="6E8296"/>
                </a:solidFill>
                <a:latin typeface="Consolas"/>
                <a:ea typeface="Consolas"/>
              </a:rPr>
              <a:t>三条设计决策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973568" y="1609344"/>
            <a:ext cx="36576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50" b="1" lang="zh-CN">
                <a:solidFill>
                  <a:srgbClr val="22D3EE"/>
                </a:solidFill>
                <a:latin typeface="Consolas"/>
                <a:ea typeface="Consolas"/>
              </a:rPr>
              <a:t>01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57616" y="1554480"/>
            <a:ext cx="3200400" cy="49377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250" b="1" lang="zh-CN">
                <a:solidFill>
                  <a:srgbClr val="F2F6FA"/>
                </a:solidFill>
                <a:latin typeface="微软雅黑"/>
                <a:ea typeface="微软雅黑"/>
              </a:rPr>
              <a:t>赔不赔由规则决定，不由模型决定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57616" y="2084832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50" b="0" lang="zh-CN">
                <a:solidFill>
                  <a:srgbClr val="6E8296"/>
                </a:solidFill>
                <a:latin typeface="微软雅黑"/>
                <a:ea typeface="微软雅黑"/>
              </a:rPr>
              <a:t>责任边界可审计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973568" y="2706624"/>
            <a:ext cx="36576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50" b="1" lang="zh-CN">
                <a:solidFill>
                  <a:srgbClr val="22D3EE"/>
                </a:solidFill>
                <a:latin typeface="Consolas"/>
                <a:ea typeface="Consolas"/>
              </a:rPr>
              <a:t>02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57616" y="2651760"/>
            <a:ext cx="3200400" cy="49377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250" b="1" lang="zh-CN">
                <a:solidFill>
                  <a:srgbClr val="F2F6FA"/>
                </a:solidFill>
                <a:latin typeface="微软雅黑"/>
                <a:ea typeface="微软雅黑"/>
              </a:rPr>
              <a:t>判定快照钉死在同一区块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57616" y="3182112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50" b="0" lang="zh-CN">
                <a:solidFill>
                  <a:srgbClr val="6E8296"/>
                </a:solidFill>
                <a:latin typeface="微软雅黑"/>
                <a:ea typeface="微软雅黑"/>
              </a:rPr>
              <a:t>窗口滚动不磨掉应赔保单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973568" y="3803904"/>
            <a:ext cx="36576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50" b="1" lang="zh-CN">
                <a:solidFill>
                  <a:srgbClr val="22D3EE"/>
                </a:solidFill>
                <a:latin typeface="Consolas"/>
                <a:ea typeface="Consolas"/>
              </a:rPr>
              <a:t>03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57616" y="3749040"/>
            <a:ext cx="3200400" cy="49377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250" b="1" lang="zh-CN">
                <a:solidFill>
                  <a:srgbClr val="F2F6FA"/>
                </a:solidFill>
                <a:latin typeface="微软雅黑"/>
                <a:ea typeface="微软雅黑"/>
              </a:rPr>
              <a:t>治理是 2/3 多签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57616" y="4279392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50" b="0" lang="zh-CN">
                <a:solidFill>
                  <a:srgbClr val="6E8296"/>
                </a:solidFill>
                <a:latin typeface="微软雅黑"/>
                <a:ea typeface="微软雅黑"/>
              </a:rPr>
              <a:t>喂价、判定、调价都要两把钥匙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973568" y="4974336"/>
            <a:ext cx="3310128" cy="1042415"/>
          </a:xfrm>
          <a:prstGeom prst="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174736" y="5102352"/>
            <a:ext cx="292608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 lang="zh-CN" spc="4">
                <a:solidFill>
                  <a:srgbClr val="F5A524"/>
                </a:solidFill>
                <a:latin typeface="Consolas"/>
                <a:ea typeface="Consolas"/>
              </a:rPr>
              <a:t>为什么不是纯中心化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174736" y="5358384"/>
            <a:ext cx="3054096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050" b="0" lang="zh-CN">
                <a:solidFill>
                  <a:srgbClr val="F2F6FA"/>
                </a:solidFill>
                <a:latin typeface="微软雅黑"/>
                <a:ea typeface="微软雅黑"/>
              </a:rPr>
              <a:t>链只承重两件事：规则改了查得到、结论重算得出。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13232" y="6455664"/>
            <a:ext cx="365760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50" b="0" lang="zh-CN" spc="6">
                <a:solidFill>
                  <a:srgbClr val="6E8296"/>
                </a:solidFill>
                <a:latin typeface="Consolas"/>
                <a:ea typeface="Consolas"/>
              </a:rPr>
              <a:t>雨证 RainProof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921240" y="6419088"/>
            <a:ext cx="749808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150" b="1" lang="zh-CN">
                <a:solidFill>
                  <a:srgbClr val="A8B8C8"/>
                </a:solidFill>
                <a:latin typeface="Consolas"/>
                <a:ea typeface="Consolas"/>
              </a:rPr>
              <a:t>07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716768" y="6455664"/>
            <a:ext cx="54864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50" b="0" lang="zh-CN">
                <a:solidFill>
                  <a:srgbClr val="6E8296"/>
                </a:solidFill>
                <a:latin typeface="Consolas"/>
                <a:ea typeface="Consolas"/>
              </a:rPr>
              <a:t>/ 18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475488"/>
            <a:ext cx="43891" cy="36576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457200"/>
            <a:ext cx="8595360" cy="4023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4000"/>
              </a:lnSpc>
            </a:pPr>
            <a:r>
              <a:rPr sz="2600" b="1" lang="zh-CN">
                <a:solidFill>
                  <a:srgbClr val="F2F6FA"/>
                </a:solidFill>
                <a:latin typeface="微软雅黑"/>
                <a:ea typeface="微软雅黑"/>
              </a:rPr>
              <a:t>三个模型互相作证，离群的不上系统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" y="896112"/>
            <a:ext cx="859536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50" b="0" lang="zh-CN" spc="8">
                <a:solidFill>
                  <a:srgbClr val="6E8296"/>
                </a:solidFill>
                <a:latin typeface="Consolas"/>
                <a:ea typeface="Consolas"/>
              </a:rPr>
              <a:t>THREE MODELS CROSS-CHECK — OUTLIERS NEVER GET 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38160" y="530352"/>
            <a:ext cx="3346704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950" b="0" lang="zh-CN" spc="6">
                <a:solidFill>
                  <a:srgbClr val="6E8296"/>
                </a:solidFill>
                <a:latin typeface="Consolas"/>
                <a:ea typeface="Consolas"/>
              </a:rPr>
              <a:t>02 / 技术方案 · 专业深度 20%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1426464"/>
            <a:ext cx="2505456" cy="1371600"/>
          </a:xfrm>
          <a:prstGeom prst="rect">
            <a:avLst/>
          </a:prstGeom>
          <a:solidFill>
            <a:srgbClr val="101B2C"/>
          </a:solidFill>
          <a:ln w="12700">
            <a:solidFill>
              <a:srgbClr val="1E2C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572768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0" lang="zh-CN" spc="12">
                <a:solidFill>
                  <a:srgbClr val="A8B8C8"/>
                </a:solidFill>
                <a:latin typeface="Consolas"/>
                <a:ea typeface="Consolas"/>
              </a:rPr>
              <a:t>STEP 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810512"/>
            <a:ext cx="2103120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1" lang="zh-CN">
                <a:solidFill>
                  <a:srgbClr val="F2F6FA"/>
                </a:solidFill>
                <a:latin typeface="微软雅黑"/>
                <a:ea typeface="微软雅黑"/>
              </a:rPr>
              <a:t>拉取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176272"/>
            <a:ext cx="2139696" cy="51206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000" b="0" lang="zh-CN">
                <a:solidFill>
                  <a:srgbClr val="A8B8C8"/>
                </a:solidFill>
                <a:latin typeface="微软雅黑"/>
                <a:ea typeface="微软雅黑"/>
              </a:rPr>
              <a:t>三套数值模式逐小时降水
ECMWF / GFS / ICON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36976" y="1883664"/>
            <a:ext cx="219456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1" lang="zh-CN">
                <a:solidFill>
                  <a:srgbClr val="22D3EE"/>
                </a:solidFill>
                <a:latin typeface="Consolas"/>
                <a:ea typeface="Consolas"/>
              </a:rPr>
              <a:t>›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56432" y="1426464"/>
            <a:ext cx="2505456" cy="1371600"/>
          </a:xfrm>
          <a:prstGeom prst="rect">
            <a:avLst/>
          </a:prstGeom>
          <a:solidFill>
            <a:srgbClr val="101B2C"/>
          </a:solidFill>
          <a:ln w="12700">
            <a:solidFill>
              <a:srgbClr val="1E2C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0" y="1572768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0" lang="zh-CN" spc="12">
                <a:solidFill>
                  <a:srgbClr val="A8B8C8"/>
                </a:solidFill>
                <a:latin typeface="Consolas"/>
                <a:ea typeface="Consolas"/>
              </a:rPr>
              <a:t>STEP 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1810512"/>
            <a:ext cx="2103120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1" lang="zh-CN">
                <a:solidFill>
                  <a:srgbClr val="F2F6FA"/>
                </a:solidFill>
                <a:latin typeface="微软雅黑"/>
                <a:ea typeface="微软雅黑"/>
              </a:rPr>
              <a:t>对齐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2176272"/>
            <a:ext cx="2139696" cy="51206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000" b="0" lang="zh-CN">
                <a:solidFill>
                  <a:srgbClr val="A8B8C8"/>
                </a:solidFill>
                <a:latin typeface="微软雅黑"/>
                <a:ea typeface="微软雅黑"/>
              </a:rPr>
              <a:t>只在公共日期上比
「自起点起的累计值」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80176" y="1883664"/>
            <a:ext cx="219456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1" lang="zh-CN">
                <a:solidFill>
                  <a:srgbClr val="22D3EE"/>
                </a:solidFill>
                <a:latin typeface="Consolas"/>
                <a:ea typeface="Consolas"/>
              </a:rPr>
              <a:t>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99632" y="1426464"/>
            <a:ext cx="2505456" cy="1371600"/>
          </a:xfrm>
          <a:prstGeom prst="rect">
            <a:avLst/>
          </a:prstGeom>
          <a:solidFill>
            <a:srgbClr val="101B2C"/>
          </a:solidFill>
          <a:ln w="1778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1572768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0" lang="zh-CN" spc="12">
                <a:solidFill>
                  <a:srgbClr val="22D3EE"/>
                </a:solidFill>
                <a:latin typeface="Consolas"/>
                <a:ea typeface="Consolas"/>
              </a:rPr>
              <a:t>STEP 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1810512"/>
            <a:ext cx="2103120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1" lang="zh-CN">
                <a:solidFill>
                  <a:srgbClr val="F2F6FA"/>
                </a:solidFill>
                <a:latin typeface="微软雅黑"/>
                <a:ea typeface="微软雅黑"/>
              </a:rPr>
              <a:t>判一致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2176272"/>
            <a:ext cx="2139696" cy="51206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000" b="0" lang="zh-CN">
                <a:solidFill>
                  <a:srgbClr val="A8B8C8"/>
                </a:solidFill>
                <a:latin typeface="微软雅黑"/>
                <a:ea typeface="微软雅黑"/>
              </a:rPr>
              <a:t>中位数 ± 容差
至少 2 个同意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23376" y="1883664"/>
            <a:ext cx="219456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1" lang="zh-CN">
                <a:solidFill>
                  <a:srgbClr val="22D3EE"/>
                </a:solidFill>
                <a:latin typeface="Consolas"/>
                <a:ea typeface="Consolas"/>
              </a:rPr>
              <a:t>›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942832" y="1426464"/>
            <a:ext cx="2505456" cy="1371600"/>
          </a:xfrm>
          <a:prstGeom prst="rect">
            <a:avLst/>
          </a:prstGeom>
          <a:solidFill>
            <a:srgbClr val="101B2C"/>
          </a:solidFill>
          <a:ln w="1778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0" y="1572768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0" lang="zh-CN" spc="12">
                <a:solidFill>
                  <a:srgbClr val="22D3EE"/>
                </a:solidFill>
                <a:latin typeface="Consolas"/>
                <a:ea typeface="Consolas"/>
              </a:rPr>
              <a:t>STEP 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1810512"/>
            <a:ext cx="2103120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1" lang="zh-CN">
                <a:solidFill>
                  <a:srgbClr val="F2F6FA"/>
                </a:solidFill>
                <a:latin typeface="微软雅黑"/>
                <a:ea typeface="微软雅黑"/>
              </a:rPr>
              <a:t>分流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0" y="2176272"/>
            <a:ext cx="2139696" cy="51206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000" b="0" lang="zh-CN">
                <a:solidFill>
                  <a:srgbClr val="A8B8C8"/>
                </a:solidFill>
                <a:latin typeface="微软雅黑"/>
                <a:ea typeface="微软雅黑"/>
              </a:rPr>
              <a:t>一致才写入系统
不一致只留拒收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13232" y="2980944"/>
            <a:ext cx="5230368" cy="1298448"/>
          </a:xfrm>
          <a:prstGeom prst="rect">
            <a:avLst/>
          </a:prstGeom>
          <a:solidFill>
            <a:srgbClr val="101B2C"/>
          </a:solidFill>
          <a:ln w="12700">
            <a:solidFill>
              <a:srgbClr val="1E2C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32688" y="3127248"/>
            <a:ext cx="475488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50" b="0" lang="zh-CN" spc="8">
                <a:solidFill>
                  <a:srgbClr val="6E8296"/>
                </a:solidFill>
                <a:latin typeface="Consolas"/>
                <a:ea typeface="Consolas"/>
              </a:rPr>
              <a:t>容差口径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2688" y="3383280"/>
            <a:ext cx="4791456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1" lang="zh-CN">
                <a:solidFill>
                  <a:srgbClr val="22D3EE"/>
                </a:solidFill>
                <a:latin typeface="Consolas"/>
                <a:ea typeface="Consolas"/>
              </a:rPr>
              <a:t>± max( 2.5 mm , 5% × 中位数 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2688" y="3803904"/>
            <a:ext cx="4791456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50" b="0" lang="zh-CN">
                <a:solidFill>
                  <a:srgbClr val="A8B8C8"/>
                </a:solidFill>
                <a:latin typeface="微软雅黑"/>
                <a:ea typeface="微软雅黑"/>
              </a:rPr>
              <a:t>小量级用绝对容差，大量级用相对容差。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99632" y="2980944"/>
            <a:ext cx="5248656" cy="1298448"/>
          </a:xfrm>
          <a:prstGeom prst="rect">
            <a:avLst/>
          </a:prstGeom>
          <a:solidFill>
            <a:srgbClr val="101B2C"/>
          </a:solidFill>
          <a:ln w="17780">
            <a:solidFill>
              <a:srgbClr val="F5A5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19088" y="3127248"/>
            <a:ext cx="475488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50" b="1" lang="zh-CN" spc="4">
                <a:solidFill>
                  <a:srgbClr val="F5A524"/>
                </a:solidFill>
                <a:latin typeface="Consolas"/>
                <a:ea typeface="Consolas"/>
              </a:rPr>
              <a:t>真实发生过：成都那份读数被拒收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19088" y="3401568"/>
            <a:ext cx="4809744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100" b="0" lang="zh-CN">
                <a:solidFill>
                  <a:srgbClr val="F2F6FA"/>
                </a:solidFill>
                <a:latin typeface="微软雅黑"/>
                <a:ea typeface="微软雅黑"/>
              </a:rPr>
              <a:t>三模型离散度超容差 → 不进入系统，只留一条拒收事件。
「没认这份数据」和「赔了」一样，都可查。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3232" y="4553712"/>
            <a:ext cx="493776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 lang="zh-CN" spc="6">
                <a:solidFill>
                  <a:srgbClr val="6E8296"/>
                </a:solidFill>
                <a:latin typeface="Consolas"/>
                <a:ea typeface="Consolas"/>
              </a:rPr>
              <a:t>三条必须自己先说的边界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13232" y="4928616"/>
            <a:ext cx="73152" cy="7315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32688" y="4846320"/>
            <a:ext cx="1024128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0" lang="zh-CN">
                <a:solidFill>
                  <a:srgbClr val="A8B8C8"/>
                </a:solidFill>
                <a:latin typeface="微软雅黑"/>
                <a:ea typeface="微软雅黑"/>
              </a:rPr>
              <a:t>拒收也是动作：不认的数据必须说得出为什么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13232" y="5385816"/>
            <a:ext cx="73152" cy="7315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32688" y="5303520"/>
            <a:ext cx="1024128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0" lang="zh-CN">
                <a:solidFill>
                  <a:srgbClr val="A8B8C8"/>
                </a:solidFill>
                <a:latin typeface="微软雅黑"/>
                <a:ea typeface="微软雅黑"/>
              </a:rPr>
              <a:t>三模型同经一个聚合接口 —— 是同一供应商下的三套数值模式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13232" y="5843016"/>
            <a:ext cx="73152" cy="7315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32688" y="5760720"/>
            <a:ext cx="1024128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0" lang="zh-CN">
                <a:solidFill>
                  <a:srgbClr val="A8B8C8"/>
                </a:solidFill>
                <a:latin typeface="微软雅黑"/>
                <a:ea typeface="微软雅黑"/>
              </a:rPr>
              <a:t>落地按《气象信息服务管理办法》换国内已备案源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13232" y="6455664"/>
            <a:ext cx="365760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50" b="0" lang="zh-CN" spc="6">
                <a:solidFill>
                  <a:srgbClr val="6E8296"/>
                </a:solidFill>
                <a:latin typeface="Consolas"/>
                <a:ea typeface="Consolas"/>
              </a:rPr>
              <a:t>雨证 RainProof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921240" y="6419088"/>
            <a:ext cx="749808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150" b="1" lang="zh-CN">
                <a:solidFill>
                  <a:srgbClr val="A8B8C8"/>
                </a:solidFill>
                <a:latin typeface="Consolas"/>
                <a:ea typeface="Consolas"/>
              </a:rPr>
              <a:t>08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716768" y="6455664"/>
            <a:ext cx="54864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50" b="0" lang="zh-CN">
                <a:solidFill>
                  <a:srgbClr val="6E8296"/>
                </a:solidFill>
                <a:latin typeface="Consolas"/>
                <a:ea typeface="Consolas"/>
              </a:rPr>
              <a:t>/ 18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475488"/>
            <a:ext cx="43891" cy="36576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457200"/>
            <a:ext cx="8595360" cy="4023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4000"/>
              </a:lnSpc>
            </a:pPr>
            <a:r>
              <a:rPr sz="2600" b="1" lang="zh-CN">
                <a:solidFill>
                  <a:srgbClr val="F2F6FA"/>
                </a:solidFill>
                <a:latin typeface="微软雅黑"/>
                <a:ea typeface="微软雅黑"/>
              </a:rPr>
              <a:t>AI 只写解释，赔不赔由规则说了算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" y="896112"/>
            <a:ext cx="859536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50" b="0" lang="zh-CN" spc="8">
                <a:solidFill>
                  <a:srgbClr val="6E8296"/>
                </a:solidFill>
                <a:latin typeface="Consolas"/>
                <a:ea typeface="Consolas"/>
              </a:rPr>
              <a:t>THE LLM EXPLAINS; FIVE RULES DECIDE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38160" y="530352"/>
            <a:ext cx="3346704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950" b="0" lang="zh-CN" spc="6">
                <a:solidFill>
                  <a:srgbClr val="6E8296"/>
                </a:solidFill>
                <a:latin typeface="Consolas"/>
                <a:ea typeface="Consolas"/>
              </a:rPr>
              <a:t>02 / 技术方案 · 专业深度 20%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316736"/>
            <a:ext cx="54864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50" b="0" lang="zh-CN" spc="4">
                <a:solidFill>
                  <a:srgbClr val="6E8296"/>
                </a:solidFill>
                <a:latin typeface="Consolas"/>
                <a:ea typeface="Consolas"/>
              </a:rPr>
              <a:t>规则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35024" y="1316736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50" b="0" lang="zh-CN" spc="4">
                <a:solidFill>
                  <a:srgbClr val="6E8296"/>
                </a:solidFill>
                <a:latin typeface="Consolas"/>
                <a:ea typeface="Consolas"/>
              </a:rPr>
              <a:t>含义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17520" y="1316736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50" b="0" lang="zh-CN" spc="4">
                <a:solidFill>
                  <a:srgbClr val="6E8296"/>
                </a:solidFill>
                <a:latin typeface="Consolas"/>
                <a:ea typeface="Consolas"/>
              </a:rPr>
              <a:t>触发条件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59552" y="1316736"/>
            <a:ext cx="192024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950" b="0" lang="zh-CN" spc="4">
                <a:solidFill>
                  <a:srgbClr val="6E8296"/>
                </a:solidFill>
                <a:latin typeface="Consolas"/>
                <a:ea typeface="Consolas"/>
              </a:rPr>
              <a:t>结论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3232" y="1554480"/>
            <a:ext cx="6766560" cy="9144"/>
          </a:xfrm>
          <a:prstGeom prst="rect">
            <a:avLst/>
          </a:prstGeom>
          <a:solidFill>
            <a:srgbClr val="1E2C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1719072"/>
            <a:ext cx="50292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 lang="zh-CN">
                <a:solidFill>
                  <a:srgbClr val="22D3EE"/>
                </a:solidFill>
                <a:latin typeface="Consolas"/>
                <a:ea typeface="Consolas"/>
              </a:rPr>
              <a:t>R1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35024" y="1682496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50" b="1" lang="zh-CN">
                <a:solidFill>
                  <a:srgbClr val="F2F6FA"/>
                </a:solidFill>
                <a:latin typeface="微软雅黑"/>
                <a:ea typeface="微软雅黑"/>
              </a:rPr>
              <a:t>未达档线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17520" y="1719072"/>
            <a:ext cx="246888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50" b="0" lang="zh-CN">
                <a:solidFill>
                  <a:srgbClr val="A8B8C8"/>
                </a:solidFill>
                <a:latin typeface="微软雅黑"/>
                <a:ea typeface="微软雅黑"/>
              </a:rPr>
              <a:t>新增雨量 &lt; 档线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59552" y="1682496"/>
            <a:ext cx="192024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150" b="1" lang="zh-CN">
                <a:solidFill>
                  <a:srgbClr val="A8B8C8"/>
                </a:solidFill>
                <a:latin typeface="微软雅黑"/>
                <a:ea typeface="微软雅黑"/>
              </a:rPr>
              <a:t>DENY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13232" y="2249424"/>
            <a:ext cx="6766560" cy="7315"/>
          </a:xfrm>
          <a:prstGeom prst="rect">
            <a:avLst/>
          </a:prstGeom>
          <a:solidFill>
            <a:srgbClr val="1E2C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3232" y="2450592"/>
            <a:ext cx="50292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 lang="zh-CN">
                <a:solidFill>
                  <a:srgbClr val="22D3EE"/>
                </a:solidFill>
                <a:latin typeface="Consolas"/>
                <a:ea typeface="Consolas"/>
              </a:rPr>
              <a:t>R2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35024" y="2414016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50" b="1" lang="zh-CN">
                <a:solidFill>
                  <a:srgbClr val="F2F6FA"/>
                </a:solidFill>
                <a:latin typeface="微软雅黑"/>
                <a:ea typeface="微软雅黑"/>
              </a:rPr>
              <a:t>数据背离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17520" y="2450592"/>
            <a:ext cx="246888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50" b="0" lang="zh-CN">
                <a:solidFill>
                  <a:srgbClr val="A8B8C8"/>
                </a:solidFill>
                <a:latin typeface="微软雅黑"/>
                <a:ea typeface="微软雅黑"/>
              </a:rPr>
              <a:t>与三模型中位数偏离 &gt; 60%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59552" y="2414016"/>
            <a:ext cx="192024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150" b="1" lang="zh-CN">
                <a:solidFill>
                  <a:srgbClr val="A8B8C8"/>
                </a:solidFill>
                <a:latin typeface="微软雅黑"/>
                <a:ea typeface="微软雅黑"/>
              </a:rPr>
              <a:t>DENY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13232" y="2980944"/>
            <a:ext cx="6766560" cy="7315"/>
          </a:xfrm>
          <a:prstGeom prst="rect">
            <a:avLst/>
          </a:prstGeom>
          <a:solidFill>
            <a:srgbClr val="1E2C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3232" y="3182112"/>
            <a:ext cx="50292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 lang="zh-CN">
                <a:solidFill>
                  <a:srgbClr val="22D3EE"/>
                </a:solidFill>
                <a:latin typeface="Consolas"/>
                <a:ea typeface="Consolas"/>
              </a:rPr>
              <a:t>R3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35024" y="3145536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50" b="1" lang="zh-CN">
                <a:solidFill>
                  <a:srgbClr val="F2F6FA"/>
                </a:solidFill>
                <a:latin typeface="微软雅黑"/>
                <a:ea typeface="微软雅黑"/>
              </a:rPr>
              <a:t>支持不足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17520" y="3182112"/>
            <a:ext cx="246888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50" b="0" lang="zh-CN">
                <a:solidFill>
                  <a:srgbClr val="A8B8C8"/>
                </a:solidFill>
                <a:latin typeface="微软雅黑"/>
                <a:ea typeface="微软雅黑"/>
              </a:rPr>
              <a:t>落在容差内的模型 &lt; 2 个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559552" y="3145536"/>
            <a:ext cx="192024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150" b="1" lang="zh-CN">
                <a:solidFill>
                  <a:srgbClr val="A8B8C8"/>
                </a:solidFill>
                <a:latin typeface="微软雅黑"/>
                <a:ea typeface="微软雅黑"/>
              </a:rPr>
              <a:t>DENY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13232" y="3712464"/>
            <a:ext cx="6766560" cy="7315"/>
          </a:xfrm>
          <a:prstGeom prst="rect">
            <a:avLst/>
          </a:prstGeom>
          <a:solidFill>
            <a:srgbClr val="1E2C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13232" y="3913632"/>
            <a:ext cx="50292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 lang="zh-CN">
                <a:solidFill>
                  <a:srgbClr val="22D3EE"/>
                </a:solidFill>
                <a:latin typeface="Consolas"/>
                <a:ea typeface="Consolas"/>
              </a:rPr>
              <a:t>R4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35024" y="3877056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50" b="1" lang="zh-CN">
                <a:solidFill>
                  <a:srgbClr val="F2F6FA"/>
                </a:solidFill>
                <a:latin typeface="微软雅黑"/>
                <a:ea typeface="微软雅黑"/>
              </a:rPr>
              <a:t>离散度超标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017520" y="3913632"/>
            <a:ext cx="246888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50" b="0" lang="zh-CN">
                <a:solidFill>
                  <a:srgbClr val="A8B8C8"/>
                </a:solidFill>
                <a:latin typeface="微软雅黑"/>
                <a:ea typeface="微软雅黑"/>
              </a:rPr>
              <a:t>模型极差超出容差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559552" y="3877056"/>
            <a:ext cx="192024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150" b="1" lang="zh-CN">
                <a:solidFill>
                  <a:srgbClr val="F5A524"/>
                </a:solidFill>
                <a:latin typeface="微软雅黑"/>
                <a:ea typeface="微软雅黑"/>
              </a:rPr>
              <a:t>压 confidence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13232" y="4443984"/>
            <a:ext cx="6766560" cy="7315"/>
          </a:xfrm>
          <a:prstGeom prst="rect">
            <a:avLst/>
          </a:prstGeom>
          <a:solidFill>
            <a:srgbClr val="1E2C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13232" y="4645152"/>
            <a:ext cx="50292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 lang="zh-CN">
                <a:solidFill>
                  <a:srgbClr val="22D3EE"/>
                </a:solidFill>
                <a:latin typeface="Consolas"/>
                <a:ea typeface="Consolas"/>
              </a:rPr>
              <a:t>R5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35024" y="4608576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50" b="1" lang="zh-CN">
                <a:solidFill>
                  <a:srgbClr val="F2F6FA"/>
                </a:solidFill>
                <a:latin typeface="微软雅黑"/>
                <a:ea typeface="微软雅黑"/>
              </a:rPr>
              <a:t>其余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017520" y="4645152"/>
            <a:ext cx="246888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50" b="0" lang="zh-CN">
                <a:solidFill>
                  <a:srgbClr val="A8B8C8"/>
                </a:solidFill>
                <a:latin typeface="微软雅黑"/>
                <a:ea typeface="微软雅黑"/>
              </a:rPr>
              <a:t>以上全部通过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559552" y="4608576"/>
            <a:ext cx="192024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150" b="1" lang="zh-CN">
                <a:solidFill>
                  <a:srgbClr val="35D09A"/>
                </a:solidFill>
                <a:latin typeface="微软雅黑"/>
                <a:ea typeface="微软雅黑"/>
              </a:rPr>
              <a:t>按档给付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13232" y="5175504"/>
            <a:ext cx="6766560" cy="7315"/>
          </a:xfrm>
          <a:prstGeom prst="rect">
            <a:avLst/>
          </a:prstGeom>
          <a:solidFill>
            <a:srgbClr val="1E2C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13232" y="5468112"/>
            <a:ext cx="676656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50" b="0" lang="zh-CN">
                <a:solidFill>
                  <a:srgbClr val="6E8296"/>
                </a:solidFill>
                <a:latin typeface="微软雅黑"/>
                <a:ea typeface="微软雅黑"/>
              </a:rPr>
              <a:t>五条规则写在开源代码里，任何一条都能被单独复现。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882127" y="1554480"/>
            <a:ext cx="3566160" cy="1389888"/>
          </a:xfrm>
          <a:prstGeom prst="rect">
            <a:avLst/>
          </a:prstGeom>
          <a:solidFill>
            <a:srgbClr val="101B2C"/>
          </a:solidFill>
          <a:ln w="1778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101583" y="1682496"/>
            <a:ext cx="310896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50" b="1" lang="zh-CN" spc="4">
                <a:solidFill>
                  <a:srgbClr val="22D3EE"/>
                </a:solidFill>
                <a:latin typeface="Consolas"/>
                <a:ea typeface="Consolas"/>
              </a:rPr>
              <a:t>AI 在这套系统里的位置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101583" y="1938528"/>
            <a:ext cx="3145536" cy="87782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2000"/>
              </a:lnSpc>
            </a:pPr>
            <a:r>
              <a:rPr sz="1150" b="0" lang="zh-CN">
                <a:solidFill>
                  <a:srgbClr val="F2F6FA"/>
                </a:solidFill>
                <a:latin typeface="微软雅黑"/>
                <a:ea typeface="微软雅黑"/>
              </a:rPr>
              <a:t>只把规则结论翻译成人话。
不改结论、不进哈希、不承担判定责任，
也拿不到保单与赔付金额。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882127" y="3108960"/>
            <a:ext cx="3566160" cy="1152144"/>
          </a:xfrm>
          <a:prstGeom prst="rect">
            <a:avLst/>
          </a:prstGeom>
          <a:solidFill>
            <a:srgbClr val="101B2C"/>
          </a:solidFill>
          <a:ln w="12700">
            <a:solidFill>
              <a:srgbClr val="1E2C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101583" y="3236976"/>
            <a:ext cx="310896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50" b="1" lang="zh-CN" spc="4">
                <a:solidFill>
                  <a:srgbClr val="F5A524"/>
                </a:solidFill>
                <a:latin typeface="Consolas"/>
                <a:ea typeface="Consolas"/>
              </a:rPr>
              <a:t>confidence 不是统计置信区间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101583" y="3493008"/>
            <a:ext cx="3145536" cy="6583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000" b="0" lang="zh-CN">
                <a:solidFill>
                  <a:srgbClr val="A8B8C8"/>
                </a:solidFill>
                <a:latin typeface="微软雅黑"/>
                <a:ea typeface="微软雅黑"/>
              </a:rPr>
              <a:t>多源一致性自评：模型落在容差内的比例 + 与链上读数的相符度，门槛 60。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882127" y="4425696"/>
            <a:ext cx="3566160" cy="932688"/>
          </a:xfrm>
          <a:prstGeom prst="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101583" y="4535424"/>
            <a:ext cx="310896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50" b="1" lang="zh-CN" spc="4">
                <a:solidFill>
                  <a:srgbClr val="F5A524"/>
                </a:solidFill>
                <a:latin typeface="Consolas"/>
                <a:ea typeface="Consolas"/>
              </a:rPr>
              <a:t>监管视角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101583" y="4791456"/>
            <a:ext cx="3145536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100" b="0" lang="zh-CN">
                <a:solidFill>
                  <a:srgbClr val="F2F6FA"/>
                </a:solidFill>
                <a:latin typeface="微软雅黑"/>
                <a:ea typeface="微软雅黑"/>
              </a:rPr>
              <a:t>AI 不做黑箱决策，责任边界清晰、可追溯。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13232" y="6455664"/>
            <a:ext cx="365760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50" b="0" lang="zh-CN" spc="6">
                <a:solidFill>
                  <a:srgbClr val="6E8296"/>
                </a:solidFill>
                <a:latin typeface="Consolas"/>
                <a:ea typeface="Consolas"/>
              </a:rPr>
              <a:t>雨证 RainProof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921240" y="6419088"/>
            <a:ext cx="749808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150" b="1" lang="zh-CN">
                <a:solidFill>
                  <a:srgbClr val="A8B8C8"/>
                </a:solidFill>
                <a:latin typeface="Consolas"/>
                <a:ea typeface="Consolas"/>
              </a:rPr>
              <a:t>09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716768" y="6455664"/>
            <a:ext cx="54864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50" b="0" lang="zh-CN">
                <a:solidFill>
                  <a:srgbClr val="6E8296"/>
                </a:solidFill>
                <a:latin typeface="Consolas"/>
                <a:ea typeface="Consolas"/>
              </a:rPr>
              <a:t>/ 18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475488"/>
            <a:ext cx="43891" cy="36576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457200"/>
            <a:ext cx="8595360" cy="4023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4000"/>
              </a:lnSpc>
            </a:pPr>
            <a:r>
              <a:rPr sz="2600" b="1" lang="zh-CN">
                <a:solidFill>
                  <a:srgbClr val="F2F6FA"/>
                </a:solidFill>
                <a:latin typeface="微软雅黑"/>
                <a:ea typeface="微软雅黑"/>
              </a:rPr>
              <a:t>统一定价是错的 —— 这是算出来的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" y="896112"/>
            <a:ext cx="859536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50" b="0" lang="zh-CN" spc="8">
                <a:solidFill>
                  <a:srgbClr val="6E8296"/>
                </a:solidFill>
                <a:latin typeface="Consolas"/>
                <a:ea typeface="Consolas"/>
              </a:rPr>
              <a:t>FLAT PRICING IS WRONG, AND WE CAN PROVE 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38160" y="530352"/>
            <a:ext cx="3346704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950" b="0" lang="zh-CN" spc="6">
                <a:solidFill>
                  <a:srgbClr val="6E8296"/>
                </a:solidFill>
                <a:latin typeface="Consolas"/>
                <a:ea typeface="Consolas"/>
              </a:rPr>
              <a:t>02 / 技术方案 · 专业深度 20%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298448"/>
            <a:ext cx="658368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50" b="0" lang="zh-CN" spc="4">
                <a:solidFill>
                  <a:srgbClr val="6E8296"/>
                </a:solidFill>
                <a:latin typeface="Consolas"/>
                <a:ea typeface="Consolas"/>
              </a:rPr>
              <a:t>11 年 · 每城 96,432 小时 · 24h 档位加权条件触发率（%）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713232" y="1554480"/>
          <a:ext cx="6675120" cy="28346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13232" y="4498848"/>
            <a:ext cx="6675120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 lang="zh-CN">
                <a:solidFill>
                  <a:srgbClr val="F2F6FA"/>
                </a:solidFill>
                <a:latin typeface="微软雅黑"/>
                <a:ea typeface="微软雅黑"/>
              </a:rPr>
              <a:t>最高与最低差 1.68 倍 —— 统一价必然有一半城市收错钱。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4956048"/>
            <a:ext cx="6675120" cy="1133856"/>
          </a:xfrm>
          <a:prstGeom prst="rect">
            <a:avLst/>
          </a:prstGeom>
          <a:solidFill>
            <a:srgbClr val="101B2C"/>
          </a:solidFill>
          <a:ln w="12700">
            <a:solidFill>
              <a:srgbClr val="1E2C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5084064"/>
            <a:ext cx="621792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50" b="1" lang="zh-CN" spc="4">
                <a:solidFill>
                  <a:srgbClr val="F5A524"/>
                </a:solidFill>
                <a:latin typeface="Consolas"/>
                <a:ea typeface="Consolas"/>
              </a:rPr>
              <a:t>反例实证（口径必须带全）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5340096"/>
            <a:ext cx="6217920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000" b="0" lang="zh-CN">
                <a:solidFill>
                  <a:srgbClr val="A8B8C8"/>
                </a:solidFill>
                <a:latin typeface="微软雅黑"/>
                <a:ea typeface="微软雅黑"/>
              </a:rPr>
              <a:t>统一价下广州 72h 档赔付率 115.7%。但那是 72h 档、且 95% 下界 9.35% 贴近保本线 —— 只用它证明统一定价会失衡，不当「已经亏了」。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99248" y="1298448"/>
            <a:ext cx="3749039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50" b="0" lang="zh-CN" spc="4">
                <a:solidFill>
                  <a:srgbClr val="6E8296"/>
                </a:solidFill>
                <a:latin typeface="Consolas"/>
                <a:ea typeface="Consolas"/>
              </a:rPr>
              <a:t>定价式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699248" y="1536192"/>
            <a:ext cx="3712463" cy="713232"/>
          </a:xfrm>
          <a:prstGeom prst="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82127" y="1645920"/>
            <a:ext cx="338328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50" b="1" lang="zh-CN">
                <a:solidFill>
                  <a:srgbClr val="22D3EE"/>
                </a:solidFill>
                <a:latin typeface="Consolas"/>
                <a:ea typeface="Consolas"/>
              </a:rPr>
              <a:t>P = ⌈(97.5% 上界赔付 + 0.30) ÷ 60%⌉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82127" y="1956816"/>
            <a:ext cx="3401568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0" lang="zh-CN">
                <a:solidFill>
                  <a:srgbClr val="6E8296"/>
                </a:solidFill>
                <a:latin typeface="微软雅黑"/>
                <a:ea typeface="微软雅黑"/>
              </a:rPr>
              <a:t>不低于 max(固定成本×1.25, 1.0 元)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99248" y="2395728"/>
            <a:ext cx="3749039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50" b="0" lang="zh-CN" spc="4">
                <a:solidFill>
                  <a:srgbClr val="6E8296"/>
                </a:solidFill>
                <a:latin typeface="Consolas"/>
                <a:ea typeface="Consolas"/>
              </a:rPr>
              <a:t>24h 档费率（元 / 份）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17536" y="2633472"/>
            <a:ext cx="676656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0" lang="zh-CN">
                <a:solidFill>
                  <a:srgbClr val="6E8296"/>
                </a:solidFill>
                <a:latin typeface="Consolas"/>
                <a:ea typeface="Consolas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30767" y="2633472"/>
            <a:ext cx="804672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900" b="0" lang="zh-CN">
                <a:solidFill>
                  <a:srgbClr val="6E8296"/>
                </a:solidFill>
                <a:latin typeface="Consolas"/>
                <a:ea typeface="Consolas"/>
              </a:rPr>
              <a:t>平台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72016" y="2633472"/>
            <a:ext cx="969264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900" b="0" lang="zh-CN">
                <a:solidFill>
                  <a:srgbClr val="6E8296"/>
                </a:solidFill>
                <a:latin typeface="Consolas"/>
                <a:ea typeface="Consolas"/>
              </a:rPr>
              <a:t>认证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77856" y="2633472"/>
            <a:ext cx="969264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900" b="0" lang="zh-CN">
                <a:solidFill>
                  <a:srgbClr val="6E8296"/>
                </a:solidFill>
                <a:latin typeface="Consolas"/>
                <a:ea typeface="Consolas"/>
              </a:rPr>
              <a:t>众包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699248" y="2852928"/>
            <a:ext cx="3566160" cy="9144"/>
          </a:xfrm>
          <a:prstGeom prst="rect">
            <a:avLst/>
          </a:prstGeom>
          <a:solidFill>
            <a:srgbClr val="1E2C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17536" y="2926080"/>
            <a:ext cx="676656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 lang="zh-CN">
                <a:solidFill>
                  <a:srgbClr val="A8B8C8"/>
                </a:solidFill>
                <a:latin typeface="微软雅黑"/>
                <a:ea typeface="微软雅黑"/>
              </a:rPr>
              <a:t>武汉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30767" y="2926080"/>
            <a:ext cx="804672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100" b="1" lang="zh-CN">
                <a:solidFill>
                  <a:srgbClr val="F2F6FA"/>
                </a:solidFill>
                <a:latin typeface="Consolas"/>
                <a:ea typeface="Consolas"/>
              </a:rPr>
              <a:t>1.6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72016" y="2926080"/>
            <a:ext cx="969264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100" b="1" lang="zh-CN">
                <a:solidFill>
                  <a:srgbClr val="F2F6FA"/>
                </a:solidFill>
                <a:latin typeface="Consolas"/>
                <a:ea typeface="Consolas"/>
              </a:rPr>
              <a:t>5.8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77856" y="2926080"/>
            <a:ext cx="969264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100" b="1" lang="zh-CN">
                <a:solidFill>
                  <a:srgbClr val="F5A524"/>
                </a:solidFill>
                <a:latin typeface="Consolas"/>
                <a:ea typeface="Consolas"/>
              </a:rPr>
              <a:t>8.8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699248" y="3236976"/>
            <a:ext cx="3566160" cy="5486"/>
          </a:xfrm>
          <a:prstGeom prst="rect">
            <a:avLst/>
          </a:prstGeom>
          <a:solidFill>
            <a:srgbClr val="1E2C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17536" y="3291840"/>
            <a:ext cx="676656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 lang="zh-CN">
                <a:solidFill>
                  <a:srgbClr val="A8B8C8"/>
                </a:solidFill>
                <a:latin typeface="微软雅黑"/>
                <a:ea typeface="微软雅黑"/>
              </a:rPr>
              <a:t>上海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30767" y="3291840"/>
            <a:ext cx="804672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100" b="1" lang="zh-CN">
                <a:solidFill>
                  <a:srgbClr val="F2F6FA"/>
                </a:solidFill>
                <a:latin typeface="Consolas"/>
                <a:ea typeface="Consolas"/>
              </a:rPr>
              <a:t>1.5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72016" y="3291840"/>
            <a:ext cx="969264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100" b="1" lang="zh-CN">
                <a:solidFill>
                  <a:srgbClr val="F2F6FA"/>
                </a:solidFill>
                <a:latin typeface="Consolas"/>
                <a:ea typeface="Consolas"/>
              </a:rPr>
              <a:t>3.7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277856" y="3291840"/>
            <a:ext cx="969264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100" b="1" lang="zh-CN">
                <a:solidFill>
                  <a:srgbClr val="F5A524"/>
                </a:solidFill>
                <a:latin typeface="Consolas"/>
                <a:ea typeface="Consolas"/>
              </a:rPr>
              <a:t>5.3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699248" y="3602736"/>
            <a:ext cx="3566160" cy="5486"/>
          </a:xfrm>
          <a:prstGeom prst="rect">
            <a:avLst/>
          </a:prstGeom>
          <a:solidFill>
            <a:srgbClr val="1E2C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717536" y="3657600"/>
            <a:ext cx="676656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 lang="zh-CN">
                <a:solidFill>
                  <a:srgbClr val="A8B8C8"/>
                </a:solidFill>
                <a:latin typeface="微软雅黑"/>
                <a:ea typeface="微软雅黑"/>
              </a:rPr>
              <a:t>北京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30767" y="3657600"/>
            <a:ext cx="804672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100" b="1" lang="zh-CN">
                <a:solidFill>
                  <a:srgbClr val="F2F6FA"/>
                </a:solidFill>
                <a:latin typeface="Consolas"/>
                <a:ea typeface="Consolas"/>
              </a:rPr>
              <a:t>1.2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72016" y="3657600"/>
            <a:ext cx="969264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100" b="1" lang="zh-CN">
                <a:solidFill>
                  <a:srgbClr val="F2F6FA"/>
                </a:solidFill>
                <a:latin typeface="Consolas"/>
                <a:ea typeface="Consolas"/>
              </a:rPr>
              <a:t>3.5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277856" y="3657600"/>
            <a:ext cx="969264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100" b="1" lang="zh-CN">
                <a:solidFill>
                  <a:srgbClr val="F5A524"/>
                </a:solidFill>
                <a:latin typeface="Consolas"/>
                <a:ea typeface="Consolas"/>
              </a:rPr>
              <a:t>5.1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699248" y="3968496"/>
            <a:ext cx="3566160" cy="5486"/>
          </a:xfrm>
          <a:prstGeom prst="rect">
            <a:avLst/>
          </a:prstGeom>
          <a:solidFill>
            <a:srgbClr val="1E2C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717536" y="4023360"/>
            <a:ext cx="676656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 lang="zh-CN">
                <a:solidFill>
                  <a:srgbClr val="A8B8C8"/>
                </a:solidFill>
                <a:latin typeface="微软雅黑"/>
                <a:ea typeface="微软雅黑"/>
              </a:rPr>
              <a:t>广州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430767" y="4023360"/>
            <a:ext cx="804672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100" b="1" lang="zh-CN">
                <a:solidFill>
                  <a:srgbClr val="F2F6FA"/>
                </a:solidFill>
                <a:latin typeface="Consolas"/>
                <a:ea typeface="Consolas"/>
              </a:rPr>
              <a:t>2.2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272016" y="4023360"/>
            <a:ext cx="969264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100" b="1" lang="zh-CN">
                <a:solidFill>
                  <a:srgbClr val="F2F6FA"/>
                </a:solidFill>
                <a:latin typeface="Consolas"/>
                <a:ea typeface="Consolas"/>
              </a:rPr>
              <a:t>5.5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277856" y="4023360"/>
            <a:ext cx="969264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100" b="1" lang="zh-CN">
                <a:solidFill>
                  <a:srgbClr val="F5A524"/>
                </a:solidFill>
                <a:latin typeface="Consolas"/>
                <a:ea typeface="Consolas"/>
              </a:rPr>
              <a:t>7.9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699248" y="4334256"/>
            <a:ext cx="3566160" cy="5486"/>
          </a:xfrm>
          <a:prstGeom prst="rect">
            <a:avLst/>
          </a:prstGeom>
          <a:solidFill>
            <a:srgbClr val="1E2C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717536" y="4389120"/>
            <a:ext cx="676656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 lang="zh-CN">
                <a:solidFill>
                  <a:srgbClr val="A8B8C8"/>
                </a:solidFill>
                <a:latin typeface="微软雅黑"/>
                <a:ea typeface="微软雅黑"/>
              </a:rPr>
              <a:t>成都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430767" y="4389120"/>
            <a:ext cx="804672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100" b="1" lang="zh-CN">
                <a:solidFill>
                  <a:srgbClr val="F2F6FA"/>
                </a:solidFill>
                <a:latin typeface="Consolas"/>
                <a:ea typeface="Consolas"/>
              </a:rPr>
              <a:t>1.4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272016" y="4389120"/>
            <a:ext cx="969264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100" b="1" lang="zh-CN">
                <a:solidFill>
                  <a:srgbClr val="F2F6FA"/>
                </a:solidFill>
                <a:latin typeface="Consolas"/>
                <a:ea typeface="Consolas"/>
              </a:rPr>
              <a:t>5.3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277856" y="4389120"/>
            <a:ext cx="969264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100" b="1" lang="zh-CN">
                <a:solidFill>
                  <a:srgbClr val="F5A524"/>
                </a:solidFill>
                <a:latin typeface="Consolas"/>
                <a:ea typeface="Consolas"/>
              </a:rPr>
              <a:t>8.2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699248" y="4700016"/>
            <a:ext cx="3566160" cy="5486"/>
          </a:xfrm>
          <a:prstGeom prst="rect">
            <a:avLst/>
          </a:prstGeom>
          <a:solidFill>
            <a:srgbClr val="1E2C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699248" y="4956048"/>
            <a:ext cx="3712463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950" b="0" lang="zh-CN">
                <a:solidFill>
                  <a:srgbClr val="6E8296"/>
                </a:solidFill>
                <a:latin typeface="微软雅黑"/>
                <a:ea typeface="微软雅黑"/>
              </a:rPr>
              <a:t>40 格 = 5 城 × 2 窗口 × 4 档身份渠道，同城价差 1.9–3.2 倍。义乌暂无样本，兜底 10 元。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13232" y="6455664"/>
            <a:ext cx="365760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50" b="0" lang="zh-CN" spc="6">
                <a:solidFill>
                  <a:srgbClr val="6E8296"/>
                </a:solidFill>
                <a:latin typeface="Consolas"/>
                <a:ea typeface="Consolas"/>
              </a:rPr>
              <a:t>雨证 RainProof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921240" y="6419088"/>
            <a:ext cx="749808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150" b="1" lang="zh-CN">
                <a:solidFill>
                  <a:srgbClr val="A8B8C8"/>
                </a:solidFill>
                <a:latin typeface="Consolas"/>
                <a:ea typeface="Consolas"/>
              </a:rPr>
              <a:t>10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716768" y="6455664"/>
            <a:ext cx="54864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50" b="0" lang="zh-CN">
                <a:solidFill>
                  <a:srgbClr val="6E8296"/>
                </a:solidFill>
                <a:latin typeface="Consolas"/>
                <a:ea typeface="Consolas"/>
              </a:rPr>
              <a:t>/ 18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1.png"/>
          <p:cNvPicPr>
            <a:picLocks noChangeAspect="1"/>
          </p:cNvPicPr>
          <p:nvPr/>
        </p:nvPicPr>
        <p:blipFill>
          <a:blip r:embed="rId2"/>
          <a:srcRect t="4236" b="4236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C16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gradFill rotWithShape="1">
            <a:gsLst>
              <a:gs pos="0">
                <a:srgbClr val="040A14">
                  <a:alpha val="88000"/>
                </a:srgbClr>
              </a:gs>
              <a:gs pos="100000">
                <a:srgbClr val="040A14">
                  <a:alpha val="0"/>
                </a:srgbClr>
              </a:gs>
            </a:gsLst>
            <a:lin ang="5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4663440"/>
            <a:ext cx="12191695" cy="2194560"/>
          </a:xfrm>
          <a:prstGeom prst="rect">
            <a:avLst/>
          </a:prstGeom>
          <a:gradFill rotWithShape="1">
            <a:gsLst>
              <a:gs pos="0">
                <a:srgbClr val="040A14">
                  <a:alpha val="0"/>
                </a:srgbClr>
              </a:gs>
              <a:gs pos="100000">
                <a:srgbClr val="040A14">
                  <a:alpha val="82000"/>
                </a:srgbClr>
              </a:gs>
            </a:gsLst>
            <a:lin ang="5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13232" y="475488"/>
            <a:ext cx="43891" cy="36576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457200"/>
            <a:ext cx="8595360" cy="4023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4000"/>
              </a:lnSpc>
            </a:pPr>
            <a:r>
              <a:rPr sz="2600" b="1" lang="zh-CN">
                <a:solidFill>
                  <a:srgbClr val="F2F6FA"/>
                </a:solidFill>
                <a:latin typeface="微软雅黑"/>
                <a:ea typeface="微软雅黑"/>
              </a:rPr>
              <a:t>三个创新，一层叠一层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896112"/>
            <a:ext cx="859536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50" b="0" lang="zh-CN" spc="8">
                <a:solidFill>
                  <a:srgbClr val="6E8296"/>
                </a:solidFill>
                <a:latin typeface="Consolas"/>
                <a:ea typeface="Consolas"/>
              </a:rPr>
              <a:t>THREE LAYERS OF NOVELTY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8160" y="530352"/>
            <a:ext cx="3346704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950" b="0" lang="zh-CN" spc="6">
                <a:solidFill>
                  <a:srgbClr val="6E8296"/>
                </a:solidFill>
                <a:latin typeface="Consolas"/>
                <a:ea typeface="Consolas"/>
              </a:rPr>
              <a:t>03 / 创新点 · 创新性 30%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3232" y="1371600"/>
            <a:ext cx="3346704" cy="3566160"/>
          </a:xfrm>
          <a:prstGeom prst="rect">
            <a:avLst/>
          </a:prstGeom>
          <a:solidFill>
            <a:srgbClr val="101B2C"/>
          </a:solidFill>
          <a:ln w="12700">
            <a:solidFill>
              <a:srgbClr val="1E2C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50976" y="1517904"/>
            <a:ext cx="566928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 lang="zh-CN" spc="8">
                <a:solidFill>
                  <a:srgbClr val="22D3EE"/>
                </a:solidFill>
                <a:latin typeface="Consolas"/>
                <a:ea typeface="Consolas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99616" y="1554480"/>
            <a:ext cx="219456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 lang="zh-CN" spc="8">
                <a:solidFill>
                  <a:srgbClr val="6E8296"/>
                </a:solidFill>
                <a:latin typeface="Consolas"/>
                <a:ea typeface="Consolas"/>
              </a:rPr>
              <a:t>产品层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976" y="1883664"/>
            <a:ext cx="2871216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lang="zh-CN">
                <a:solidFill>
                  <a:srgbClr val="F2F6FA"/>
                </a:solidFill>
                <a:latin typeface="微软雅黑"/>
                <a:ea typeface="微软雅黑"/>
              </a:rPr>
              <a:t>把「定损」删掉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50976" y="2542032"/>
            <a:ext cx="2834640" cy="7315"/>
          </a:xfrm>
          <a:prstGeom prst="rect">
            <a:avLst/>
          </a:prstGeom>
          <a:solidFill>
            <a:srgbClr val="1E2C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50976" y="2688336"/>
            <a:ext cx="2871216" cy="10058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050" b="0" lang="zh-CN">
                <a:solidFill>
                  <a:srgbClr val="A8B8C8"/>
                </a:solidFill>
                <a:latin typeface="微软雅黑"/>
                <a:ea typeface="微软雅黑"/>
              </a:rPr>
              <a:t>参数化早有先例。新的是场景：个人、小额、高频、无凭证的收入中断。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0976" y="3822191"/>
            <a:ext cx="219456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 lang="zh-CN">
                <a:solidFill>
                  <a:srgbClr val="22D3EE"/>
                </a:solidFill>
                <a:latin typeface="Consolas"/>
                <a:ea typeface="Consolas"/>
              </a:rPr>
              <a:t>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70432" y="3803904"/>
            <a:ext cx="2670048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050" b="1" lang="zh-CN">
                <a:solidFill>
                  <a:srgbClr val="22D3EE"/>
                </a:solidFill>
                <a:latin typeface="微软雅黑"/>
                <a:ea typeface="微软雅黑"/>
              </a:rPr>
              <a:t>此前的即配骑手收入中断场景，无产品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50976" y="4572000"/>
            <a:ext cx="2834640" cy="7315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334256" y="1371600"/>
            <a:ext cx="3346704" cy="3566160"/>
          </a:xfrm>
          <a:prstGeom prst="rect">
            <a:avLst/>
          </a:prstGeom>
          <a:solidFill>
            <a:srgbClr val="101B2C"/>
          </a:solidFill>
          <a:ln w="12700">
            <a:solidFill>
              <a:srgbClr val="1E2C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0" y="1517904"/>
            <a:ext cx="566928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 lang="zh-CN" spc="8">
                <a:solidFill>
                  <a:srgbClr val="2D7FF9"/>
                </a:solidFill>
                <a:latin typeface="Consolas"/>
                <a:ea typeface="Consolas"/>
              </a:rPr>
              <a:t>02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0640" y="1554480"/>
            <a:ext cx="219456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 lang="zh-CN" spc="8">
                <a:solidFill>
                  <a:srgbClr val="6E8296"/>
                </a:solidFill>
                <a:latin typeface="Consolas"/>
                <a:ea typeface="Consolas"/>
              </a:rPr>
              <a:t>技术层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1883664"/>
            <a:ext cx="2871216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lang="zh-CN">
                <a:solidFill>
                  <a:srgbClr val="F2F6FA"/>
                </a:solidFill>
                <a:latin typeface="微软雅黑"/>
                <a:ea typeface="微软雅黑"/>
              </a:rPr>
              <a:t>AI 只验真，不判赔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0" y="2542032"/>
            <a:ext cx="2834640" cy="7315"/>
          </a:xfrm>
          <a:prstGeom prst="rect">
            <a:avLst/>
          </a:prstGeom>
          <a:solidFill>
            <a:srgbClr val="1E2C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0" y="2688336"/>
            <a:ext cx="2871216" cy="10058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050" b="0" lang="zh-CN">
                <a:solidFill>
                  <a:srgbClr val="A8B8C8"/>
                </a:solidFill>
                <a:latin typeface="微软雅黑"/>
                <a:ea typeface="微软雅黑"/>
              </a:rPr>
              <a:t>行业里 AI 做核保评分，结论是概率、责任模糊。我们把它关进笼子。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3822191"/>
            <a:ext cx="219456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 lang="zh-CN">
                <a:solidFill>
                  <a:srgbClr val="2D7FF9"/>
                </a:solidFill>
                <a:latin typeface="Consolas"/>
                <a:ea typeface="Consolas"/>
              </a:rPr>
              <a:t>›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91456" y="3803904"/>
            <a:ext cx="2670048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050" b="1" lang="zh-CN">
                <a:solidFill>
                  <a:srgbClr val="2D7FF9"/>
                </a:solidFill>
                <a:latin typeface="微软雅黑"/>
                <a:ea typeface="微软雅黑"/>
              </a:rPr>
              <a:t>判定 100% 确定性，责任可审计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0" y="4572000"/>
            <a:ext cx="2834640" cy="7315"/>
          </a:xfrm>
          <a:prstGeom prst="rect">
            <a:avLst/>
          </a:prstGeom>
          <a:solidFill>
            <a:srgbClr val="2D7F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955279" y="1371600"/>
            <a:ext cx="3346704" cy="3566160"/>
          </a:xfrm>
          <a:prstGeom prst="rect">
            <a:avLst/>
          </a:prstGeom>
          <a:solidFill>
            <a:srgbClr val="101B2C"/>
          </a:solidFill>
          <a:ln w="12700">
            <a:solidFill>
              <a:srgbClr val="1E2C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193023" y="1517904"/>
            <a:ext cx="566928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 lang="zh-CN" spc="8">
                <a:solidFill>
                  <a:srgbClr val="35D09A"/>
                </a:solidFill>
                <a:latin typeface="Consolas"/>
                <a:ea typeface="Consolas"/>
              </a:rPr>
              <a:t>03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41663" y="1554480"/>
            <a:ext cx="219456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 lang="zh-CN" spc="8">
                <a:solidFill>
                  <a:srgbClr val="6E8296"/>
                </a:solidFill>
                <a:latin typeface="Consolas"/>
                <a:ea typeface="Consolas"/>
              </a:rPr>
              <a:t>信任层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93023" y="1883664"/>
            <a:ext cx="2871216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lang="zh-CN">
                <a:solidFill>
                  <a:srgbClr val="F2F6FA"/>
                </a:solidFill>
                <a:latin typeface="微软雅黑"/>
                <a:ea typeface="微软雅黑"/>
              </a:rPr>
              <a:t>结论可被第三方复算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193023" y="2542032"/>
            <a:ext cx="2834640" cy="7315"/>
          </a:xfrm>
          <a:prstGeom prst="rect">
            <a:avLst/>
          </a:prstGeom>
          <a:solidFill>
            <a:srgbClr val="1E2C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193023" y="2688336"/>
            <a:ext cx="2871216" cy="10058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050" b="0" lang="zh-CN">
                <a:solidFill>
                  <a:srgbClr val="A8B8C8"/>
                </a:solidFill>
                <a:latin typeface="微软雅黑"/>
                <a:ea typeface="微软雅黑"/>
              </a:rPr>
              <a:t>软肋是「数据你说了算」。我们把原始报文 / 输入 / 输出哈希一起留痕。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93023" y="3822191"/>
            <a:ext cx="219456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 lang="zh-CN">
                <a:solidFill>
                  <a:srgbClr val="35D09A"/>
                </a:solidFill>
                <a:latin typeface="Consolas"/>
                <a:ea typeface="Consolas"/>
              </a:rPr>
              <a:t>›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12480" y="3803904"/>
            <a:ext cx="2670048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050" b="1" lang="zh-CN">
                <a:solidFill>
                  <a:srgbClr val="35D09A"/>
                </a:solidFill>
                <a:latin typeface="微软雅黑"/>
                <a:ea typeface="微软雅黑"/>
              </a:rPr>
              <a:t>把「你信不信我」换成「你自己验」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193023" y="4572000"/>
            <a:ext cx="2834640" cy="7315"/>
          </a:xfrm>
          <a:prstGeom prst="rect">
            <a:avLst/>
          </a:prstGeom>
          <a:solidFill>
            <a:srgbClr val="35D0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13232" y="5175504"/>
            <a:ext cx="10771632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500" b="1" lang="zh-CN">
                <a:solidFill>
                  <a:srgbClr val="F2F6FA"/>
                </a:solidFill>
                <a:latin typeface="微软雅黑"/>
                <a:ea typeface="微软雅黑"/>
              </a:rPr>
              <a:t>单看每一条都有先例；三条叠在一起才构成壁垒 —— </a:t>
            </a:r>
            <a:r>
              <a:rPr sz="1500" b="1" lang="zh-CN">
                <a:solidFill>
                  <a:srgbClr val="F5A524"/>
                </a:solidFill>
                <a:latin typeface="微软雅黑"/>
                <a:ea typeface="微软雅黑"/>
              </a:rPr>
              <a:t>因为第三条要求前两条本来就是确定性、可复现的。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13232" y="6455664"/>
            <a:ext cx="365760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50" b="0" lang="zh-CN" spc="6">
                <a:solidFill>
                  <a:srgbClr val="6E8296"/>
                </a:solidFill>
                <a:latin typeface="Consolas"/>
                <a:ea typeface="Consolas"/>
              </a:rPr>
              <a:t>雨证 RainProof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921240" y="6419088"/>
            <a:ext cx="749808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150" b="1" lang="zh-CN">
                <a:solidFill>
                  <a:srgbClr val="A8B8C8"/>
                </a:solidFill>
                <a:latin typeface="Consolas"/>
                <a:ea typeface="Consolas"/>
              </a:rPr>
              <a:t>11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716768" y="6455664"/>
            <a:ext cx="54864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50" b="0" lang="zh-CN">
                <a:solidFill>
                  <a:srgbClr val="6E8296"/>
                </a:solidFill>
                <a:latin typeface="Consolas"/>
                <a:ea typeface="Consolas"/>
              </a:rPr>
              <a:t>/ 18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475488"/>
            <a:ext cx="43891" cy="36576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457200"/>
            <a:ext cx="8595360" cy="4023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4000"/>
              </a:lnSpc>
            </a:pPr>
            <a:r>
              <a:rPr sz="2600" b="1" lang="zh-CN">
                <a:solidFill>
                  <a:srgbClr val="F2F6FA"/>
                </a:solidFill>
                <a:latin typeface="微软雅黑"/>
                <a:ea typeface="微软雅黑"/>
              </a:rPr>
              <a:t>同一份报文，任何人算出来都是同一个结论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" y="896112"/>
            <a:ext cx="859536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50" b="0" lang="zh-CN" spc="8">
                <a:solidFill>
                  <a:srgbClr val="6E8296"/>
                </a:solidFill>
                <a:latin typeface="Consolas"/>
                <a:ea typeface="Consolas"/>
              </a:rPr>
              <a:t>SAME INPUT, SAME HASH — ANYONE, ANYTIME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38160" y="530352"/>
            <a:ext cx="3346704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950" b="0" lang="zh-CN" spc="6">
                <a:solidFill>
                  <a:srgbClr val="6E8296"/>
                </a:solidFill>
                <a:latin typeface="Consolas"/>
                <a:ea typeface="Consolas"/>
              </a:rPr>
              <a:t>03 / 创新点 · 创新性 30%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371600"/>
            <a:ext cx="402336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50" b="1" lang="zh-CN" spc="6">
                <a:solidFill>
                  <a:srgbClr val="22D3EE"/>
                </a:solidFill>
                <a:latin typeface="Consolas"/>
                <a:ea typeface="Consola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0432" y="1335024"/>
            <a:ext cx="1847088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1" lang="zh-CN">
                <a:solidFill>
                  <a:srgbClr val="F2F6FA"/>
                </a:solidFill>
                <a:latin typeface="微软雅黑"/>
                <a:ea typeface="微软雅黑"/>
              </a:rPr>
              <a:t>原始报文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08960" y="1362456"/>
            <a:ext cx="2615184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 lang="zh-CN">
                <a:solidFill>
                  <a:srgbClr val="6E8296"/>
                </a:solidFill>
                <a:latin typeface="微软雅黑"/>
                <a:ea typeface="微软雅黑"/>
              </a:rPr>
              <a:t>接口返回的 JSON，原样归档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70432" y="1828800"/>
            <a:ext cx="4572000" cy="7315"/>
          </a:xfrm>
          <a:prstGeom prst="rect">
            <a:avLst/>
          </a:prstGeom>
          <a:solidFill>
            <a:srgbClr val="1E2C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1956816"/>
            <a:ext cx="402336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50" b="1" lang="zh-CN" spc="6">
                <a:solidFill>
                  <a:srgbClr val="22D3EE"/>
                </a:solidFill>
                <a:latin typeface="Consolas"/>
                <a:ea typeface="Consolas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70432" y="1920240"/>
            <a:ext cx="1847088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1" lang="zh-CN">
                <a:solidFill>
                  <a:srgbClr val="F2F6FA"/>
                </a:solidFill>
                <a:latin typeface="微软雅黑"/>
                <a:ea typeface="微软雅黑"/>
              </a:rPr>
              <a:t>SHA-256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08960" y="1947672"/>
            <a:ext cx="2615184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 lang="zh-CN">
                <a:solidFill>
                  <a:srgbClr val="6E8296"/>
                </a:solidFill>
                <a:latin typeface="微软雅黑"/>
                <a:ea typeface="微软雅黑"/>
              </a:rPr>
              <a:t>浏览器现算，不经我们的服务器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170432" y="2414016"/>
            <a:ext cx="4572000" cy="7315"/>
          </a:xfrm>
          <a:prstGeom prst="rect">
            <a:avLst/>
          </a:prstGeom>
          <a:solidFill>
            <a:srgbClr val="1E2C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3232" y="2542032"/>
            <a:ext cx="402336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50" b="1" lang="zh-CN" spc="6">
                <a:solidFill>
                  <a:srgbClr val="22D3EE"/>
                </a:solidFill>
                <a:latin typeface="Consolas"/>
                <a:ea typeface="Consolas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70432" y="2505456"/>
            <a:ext cx="1847088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1" lang="zh-CN">
                <a:solidFill>
                  <a:srgbClr val="22D3EE"/>
                </a:solidFill>
                <a:latin typeface="微软雅黑"/>
                <a:ea typeface="微软雅黑"/>
              </a:rPr>
              <a:t>inputHash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08960" y="2532888"/>
            <a:ext cx="2615184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 lang="zh-CN">
                <a:solidFill>
                  <a:srgbClr val="6E8296"/>
                </a:solidFill>
                <a:latin typeface="微软雅黑"/>
                <a:ea typeface="微软雅黑"/>
              </a:rPr>
              <a:t>写入时存证，事后改不了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170432" y="2999232"/>
            <a:ext cx="4572000" cy="7315"/>
          </a:xfrm>
          <a:prstGeom prst="rect">
            <a:avLst/>
          </a:prstGeom>
          <a:solidFill>
            <a:srgbClr val="1E2C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3232" y="3127248"/>
            <a:ext cx="402336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50" b="1" lang="zh-CN" spc="6">
                <a:solidFill>
                  <a:srgbClr val="22D3EE"/>
                </a:solidFill>
                <a:latin typeface="Consolas"/>
                <a:ea typeface="Consolas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70432" y="3090672"/>
            <a:ext cx="1847088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1" lang="zh-CN">
                <a:solidFill>
                  <a:srgbClr val="22D3EE"/>
                </a:solidFill>
                <a:latin typeface="微软雅黑"/>
                <a:ea typeface="微软雅黑"/>
              </a:rPr>
              <a:t>R1–R5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08960" y="3118103"/>
            <a:ext cx="2615184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 lang="zh-CN">
                <a:solidFill>
                  <a:srgbClr val="6E8296"/>
                </a:solidFill>
                <a:latin typeface="微软雅黑"/>
                <a:ea typeface="微软雅黑"/>
              </a:rPr>
              <a:t>确定性规则，同输入同输出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70432" y="3584448"/>
            <a:ext cx="4572000" cy="7315"/>
          </a:xfrm>
          <a:prstGeom prst="rect">
            <a:avLst/>
          </a:prstGeom>
          <a:solidFill>
            <a:srgbClr val="1E2C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13232" y="3712463"/>
            <a:ext cx="402336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50" b="1" lang="zh-CN" spc="6">
                <a:solidFill>
                  <a:srgbClr val="22D3EE"/>
                </a:solidFill>
                <a:latin typeface="Consolas"/>
                <a:ea typeface="Consolas"/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70432" y="3675887"/>
            <a:ext cx="1847088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1" lang="zh-CN">
                <a:solidFill>
                  <a:srgbClr val="22D3EE"/>
                </a:solidFill>
                <a:latin typeface="微软雅黑"/>
                <a:ea typeface="微软雅黑"/>
              </a:rPr>
              <a:t>outputHash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108960" y="3703320"/>
            <a:ext cx="2615184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 lang="zh-CN">
                <a:solidFill>
                  <a:srgbClr val="6E8296"/>
                </a:solidFill>
                <a:latin typeface="微软雅黑"/>
                <a:ea typeface="微软雅黑"/>
              </a:rPr>
              <a:t>与判定理由分离，各自留痕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4443984"/>
            <a:ext cx="5175504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0" lang="zh-CN" spc="2">
                <a:solidFill>
                  <a:srgbClr val="6E8296"/>
                </a:solidFill>
                <a:latin typeface="Consolas"/>
                <a:ea typeface="Consolas"/>
              </a:rPr>
              <a:t>武汉 84mm 哈希 0xd9c9…4799 = 链上 inputHash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13232" y="4718304"/>
            <a:ext cx="5175504" cy="7315"/>
          </a:xfrm>
          <a:prstGeom prst="rect">
            <a:avLst/>
          </a:prstGeom>
          <a:solidFill>
            <a:srgbClr val="1E2C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13232" y="4828032"/>
            <a:ext cx="384048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50" b="1" lang="zh-CN" spc="4">
                <a:solidFill>
                  <a:srgbClr val="F5A524"/>
                </a:solidFill>
                <a:latin typeface="Consolas"/>
                <a:ea typeface="Consolas"/>
              </a:rPr>
              <a:t>名场面：真实数据判「不赔」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3232" y="5065776"/>
            <a:ext cx="5175504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 lang="zh-CN">
                <a:solidFill>
                  <a:srgbClr val="F2F6FA"/>
                </a:solidFill>
                <a:latin typeface="微软雅黑"/>
                <a:ea typeface="微软雅黑"/>
              </a:rPr>
              <a:t>上海 12h：窗口内新增 0 mm，档线 30 mm → 判不赔。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3232" y="5431536"/>
            <a:ext cx="5175504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 lang="zh-CN">
                <a:solidFill>
                  <a:srgbClr val="F5A524"/>
                </a:solidFill>
                <a:latin typeface="微软雅黑"/>
                <a:ea typeface="微软雅黑"/>
              </a:rPr>
              <a:t>连「不赔」都能被复算，这才叫可验证。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89904" y="1298448"/>
            <a:ext cx="539496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50" b="0" lang="zh-CN" spc="4">
                <a:solidFill>
                  <a:srgbClr val="6E8296"/>
                </a:solidFill>
                <a:latin typeface="Consolas"/>
                <a:ea typeface="Consolas"/>
              </a:rPr>
              <a:t>v5 核验台 · 8 条断言逐条自证（现网实拍）</a:t>
            </a:r>
          </a:p>
        </p:txBody>
      </p:sp>
      <p:pic>
        <p:nvPicPr>
          <p:cNvPr id="32" name="Picture 31" descr="verify.png"/>
          <p:cNvPicPr>
            <a:picLocks noChangeAspect="1"/>
          </p:cNvPicPr>
          <p:nvPr/>
        </p:nvPicPr>
        <p:blipFill>
          <a:blip r:embed="rId2"/>
          <a:srcRect t="3654" b="13654"/>
          <a:stretch>
            <a:fillRect/>
          </a:stretch>
        </p:blipFill>
        <p:spPr>
          <a:xfrm>
            <a:off x="6089904" y="1536192"/>
            <a:ext cx="5358384" cy="2907792"/>
          </a:xfrm>
          <a:prstGeom prst="rect">
            <a:avLst/>
          </a:prstGeom>
          <a:ln w="12700">
            <a:solidFill>
              <a:srgbClr val="1E2C40"/>
            </a:solidFill>
          </a:ln>
        </p:spPr>
      </p:pic>
      <p:sp>
        <p:nvSpPr>
          <p:cNvPr id="33" name="TextBox 32"/>
          <p:cNvSpPr txBox="1"/>
          <p:nvPr/>
        </p:nvSpPr>
        <p:spPr>
          <a:xfrm>
            <a:off x="6089904" y="4590288"/>
            <a:ext cx="2596896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50" b="0" lang="zh-CN">
                <a:solidFill>
                  <a:srgbClr val="A8B8C8"/>
                </a:solidFill>
                <a:latin typeface="微软雅黑"/>
                <a:ea typeface="微软雅黑"/>
              </a:rPr>
              <a:t>① 链号 968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778240" y="4590288"/>
            <a:ext cx="2596896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50" b="0" lang="zh-CN">
                <a:solidFill>
                  <a:srgbClr val="A8B8C8"/>
                </a:solidFill>
                <a:latin typeface="微软雅黑"/>
                <a:ea typeface="微软雅黑"/>
              </a:rPr>
              <a:t>② 字节码 19,864 B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089904" y="4901183"/>
            <a:ext cx="2596896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50" b="0" lang="zh-CN">
                <a:solidFill>
                  <a:srgbClr val="A8B8C8"/>
                </a:solidFill>
                <a:latin typeface="微软雅黑"/>
                <a:ea typeface="微软雅黑"/>
              </a:rPr>
              <a:t>③ 2/3 多签未暂停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778240" y="4901183"/>
            <a:ext cx="2596896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50" b="0" lang="zh-CN">
                <a:solidFill>
                  <a:srgbClr val="A8B8C8"/>
                </a:solidFill>
                <a:latin typeface="微软雅黑"/>
                <a:ea typeface="微软雅黑"/>
              </a:rPr>
              <a:t>④ 冷却期 0 秒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089904" y="5212079"/>
            <a:ext cx="2596896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50" b="0" lang="zh-CN">
                <a:solidFill>
                  <a:srgbClr val="A8B8C8"/>
                </a:solidFill>
                <a:latin typeface="微软雅黑"/>
                <a:ea typeface="微软雅黑"/>
              </a:rPr>
              <a:t>⑤ 六个区划码可用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778240" y="5212079"/>
            <a:ext cx="2596896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50" b="0" lang="zh-CN">
                <a:solidFill>
                  <a:srgbClr val="A8B8C8"/>
                </a:solidFill>
                <a:latin typeface="微软雅黑"/>
                <a:ea typeface="微软雅黑"/>
              </a:rPr>
              <a:t>⑥ 84mm 哈希现算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089904" y="5522975"/>
            <a:ext cx="2596896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50" b="0" lang="zh-CN">
                <a:solidFill>
                  <a:srgbClr val="A8B8C8"/>
                </a:solidFill>
                <a:latin typeface="微软雅黑"/>
                <a:ea typeface="微软雅黑"/>
              </a:rPr>
              <a:t>⑦ 保单 #0 上海 12h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778240" y="5522975"/>
            <a:ext cx="2596896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50" b="0" lang="zh-CN">
                <a:solidFill>
                  <a:srgbClr val="A8B8C8"/>
                </a:solidFill>
                <a:latin typeface="微软雅黑"/>
                <a:ea typeface="微软雅黑"/>
              </a:rPr>
              <a:t>⑧ 台账 = 池子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089904" y="5925312"/>
            <a:ext cx="5358384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000" b="0" lang="zh-CN">
                <a:solidFill>
                  <a:srgbClr val="A8B8C8"/>
                </a:solidFill>
                <a:latin typeface="微软雅黑"/>
                <a:ea typeface="微软雅黑"/>
              </a:rPr>
              <a:t>第 6 条把原始报文现算成哈希，与链上一致；第 7 条就是那张真保单 —— 全绿，可现场复跑。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13232" y="6455664"/>
            <a:ext cx="365760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50" b="0" lang="zh-CN" spc="6">
                <a:solidFill>
                  <a:srgbClr val="6E8296"/>
                </a:solidFill>
                <a:latin typeface="Consolas"/>
                <a:ea typeface="Consolas"/>
              </a:rPr>
              <a:t>雨证 RainProof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921240" y="6419088"/>
            <a:ext cx="749808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150" b="1" lang="zh-CN">
                <a:solidFill>
                  <a:srgbClr val="A8B8C8"/>
                </a:solidFill>
                <a:latin typeface="Consolas"/>
                <a:ea typeface="Consolas"/>
              </a:rPr>
              <a:t>12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716768" y="6455664"/>
            <a:ext cx="54864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50" b="0" lang="zh-CN">
                <a:solidFill>
                  <a:srgbClr val="6E8296"/>
                </a:solidFill>
                <a:latin typeface="Consolas"/>
                <a:ea typeface="Consolas"/>
              </a:rPr>
              <a:t>/ 18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475488"/>
            <a:ext cx="43891" cy="36576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457200"/>
            <a:ext cx="8595360" cy="4023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4000"/>
              </a:lnSpc>
            </a:pPr>
            <a:r>
              <a:rPr sz="2600" b="1" lang="zh-CN">
                <a:solidFill>
                  <a:srgbClr val="F2F6FA"/>
                </a:solidFill>
                <a:latin typeface="微软雅黑"/>
                <a:ea typeface="微软雅黑"/>
              </a:rPr>
              <a:t>四类玩家，我们站在中间那个空位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" y="896112"/>
            <a:ext cx="859536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50" b="0" lang="zh-CN" spc="8">
                <a:solidFill>
                  <a:srgbClr val="6E8296"/>
                </a:solidFill>
                <a:latin typeface="Consolas"/>
                <a:ea typeface="Consolas"/>
              </a:rPr>
              <a:t>FOUR KINDS OF PLAYERS — WE SIT IN THE GAP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38160" y="530352"/>
            <a:ext cx="3346704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950" b="0" lang="zh-CN" spc="6">
                <a:solidFill>
                  <a:srgbClr val="6E8296"/>
                </a:solidFill>
                <a:latin typeface="Consolas"/>
                <a:ea typeface="Consolas"/>
              </a:rPr>
              <a:t>03 / 创新点 · 创新性 30%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1389888"/>
            <a:ext cx="10765231" cy="731520"/>
          </a:xfrm>
          <a:prstGeom prst="rect">
            <a:avLst/>
          </a:prstGeom>
          <a:solidFill>
            <a:srgbClr val="101B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517904"/>
            <a:ext cx="178308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50" b="1" lang="zh-CN">
                <a:solidFill>
                  <a:srgbClr val="F2F6FA"/>
                </a:solidFill>
                <a:latin typeface="微软雅黑"/>
                <a:ea typeface="微软雅黑"/>
              </a:rPr>
              <a:t>传统骑手险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79776" y="1536192"/>
            <a:ext cx="269748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50" b="0" lang="zh-CN">
                <a:solidFill>
                  <a:srgbClr val="A8B8C8"/>
                </a:solidFill>
                <a:latin typeface="微软雅黑"/>
                <a:ea typeface="微软雅黑"/>
              </a:rPr>
              <a:t>平台合作意外险 / 三者险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96128" y="1536192"/>
            <a:ext cx="178308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50" b="0" lang="zh-CN">
                <a:solidFill>
                  <a:srgbClr val="A8B8C8"/>
                </a:solidFill>
                <a:latin typeface="微软雅黑"/>
                <a:ea typeface="微软雅黑"/>
              </a:rPr>
              <a:t>意外伤害、医疗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79" y="1481328"/>
            <a:ext cx="3968496" cy="53035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100" b="0" lang="zh-CN">
                <a:solidFill>
                  <a:srgbClr val="F2F6FA"/>
                </a:solidFill>
                <a:latin typeface="微软雅黑"/>
                <a:ea typeface="微软雅黑"/>
              </a:rPr>
              <a:t>不保收入中断，仍要报案定损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3232" y="2212848"/>
            <a:ext cx="10765231" cy="7315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340864"/>
            <a:ext cx="178308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50" b="1" lang="zh-CN">
                <a:solidFill>
                  <a:srgbClr val="F2F6FA"/>
                </a:solidFill>
                <a:latin typeface="微软雅黑"/>
                <a:ea typeface="微软雅黑"/>
              </a:rPr>
              <a:t>平台自保障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79776" y="2359152"/>
            <a:ext cx="269748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50" b="0" lang="zh-CN">
                <a:solidFill>
                  <a:srgbClr val="A8B8C8"/>
                </a:solidFill>
                <a:latin typeface="微软雅黑"/>
                <a:ea typeface="微软雅黑"/>
              </a:rPr>
              <a:t>恶劣天气补贴、关怀金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96128" y="2359152"/>
            <a:ext cx="178308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50" b="0" lang="zh-CN">
                <a:solidFill>
                  <a:srgbClr val="A8B8C8"/>
                </a:solidFill>
                <a:latin typeface="微软雅黑"/>
                <a:ea typeface="微软雅黑"/>
              </a:rPr>
              <a:t>补贴，不是保险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79" y="2304288"/>
            <a:ext cx="3968496" cy="53035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100" b="0" lang="zh-CN">
                <a:solidFill>
                  <a:srgbClr val="F2F6FA"/>
                </a:solidFill>
                <a:latin typeface="微软雅黑"/>
                <a:ea typeface="微软雅黑"/>
              </a:rPr>
              <a:t>无精算、无定价、不可审计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13232" y="3035808"/>
            <a:ext cx="10765231" cy="731520"/>
          </a:xfrm>
          <a:prstGeom prst="rect">
            <a:avLst/>
          </a:prstGeom>
          <a:solidFill>
            <a:srgbClr val="101B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3163824"/>
            <a:ext cx="178308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50" b="1" lang="zh-CN">
                <a:solidFill>
                  <a:srgbClr val="F2F6FA"/>
                </a:solidFill>
                <a:latin typeface="微软雅黑"/>
                <a:ea typeface="微软雅黑"/>
              </a:rPr>
              <a:t>国内参数化先例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79776" y="3182112"/>
            <a:ext cx="269748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50" b="0" lang="zh-CN">
                <a:solidFill>
                  <a:srgbClr val="A8B8C8"/>
                </a:solidFill>
                <a:latin typeface="微软雅黑"/>
                <a:ea typeface="微软雅黑"/>
              </a:rPr>
              <a:t>广东巨灾险、农业天气指数险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96128" y="3182112"/>
            <a:ext cx="178308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50" b="0" lang="zh-CN">
                <a:solidFill>
                  <a:srgbClr val="A8B8C8"/>
                </a:solidFill>
                <a:latin typeface="微软雅黑"/>
                <a:ea typeface="微软雅黑"/>
              </a:rPr>
              <a:t>政企 / 财政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79" y="3127248"/>
            <a:ext cx="3968496" cy="53035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100" b="0" lang="zh-CN">
                <a:solidFill>
                  <a:srgbClr val="F5A524"/>
                </a:solidFill>
                <a:latin typeface="微软雅黑"/>
                <a:ea typeface="微软雅黑"/>
              </a:rPr>
              <a:t>证明参数触发被监管接受，无个人场景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13232" y="3858768"/>
            <a:ext cx="10765231" cy="7315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3986784"/>
            <a:ext cx="178308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50" b="1" lang="zh-CN">
                <a:solidFill>
                  <a:srgbClr val="F2F6FA"/>
                </a:solidFill>
                <a:latin typeface="微软雅黑"/>
                <a:ea typeface="微软雅黑"/>
              </a:rPr>
              <a:t>国际参数化玩家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79776" y="4005072"/>
            <a:ext cx="269748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50" b="0" lang="zh-CN">
                <a:solidFill>
                  <a:srgbClr val="A8B8C8"/>
                </a:solidFill>
                <a:latin typeface="微软雅黑"/>
                <a:ea typeface="微软雅黑"/>
              </a:rPr>
              <a:t>Arbol / Raincoat / FloodFlash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596128" y="4005072"/>
            <a:ext cx="178308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50" b="0" lang="zh-CN">
                <a:solidFill>
                  <a:srgbClr val="A8B8C8"/>
                </a:solidFill>
                <a:latin typeface="微软雅黑"/>
                <a:ea typeface="微软雅黑"/>
              </a:rPr>
              <a:t>B 端资产基建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79" y="3950208"/>
            <a:ext cx="3968496" cy="53035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100" b="0" lang="zh-CN">
                <a:solidFill>
                  <a:srgbClr val="F2F6FA"/>
                </a:solidFill>
                <a:latin typeface="微软雅黑"/>
                <a:ea typeface="微软雅黑"/>
              </a:rPr>
              <a:t>赛道有先例，细分需求仍需客户验证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3232" y="4992624"/>
            <a:ext cx="310896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50" b="1" lang="zh-CN" spc="4">
                <a:solidFill>
                  <a:srgbClr val="22D3EE"/>
                </a:solidFill>
                <a:latin typeface="Consolas"/>
                <a:ea typeface="Consolas"/>
              </a:rPr>
              <a:t>壁垒（按可复制难度）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3232" y="5285232"/>
            <a:ext cx="384048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 lang="zh-CN">
                <a:solidFill>
                  <a:srgbClr val="6E8296"/>
                </a:solidFill>
                <a:latin typeface="Consolas"/>
                <a:ea typeface="Consolas"/>
              </a:rPr>
              <a:t>01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5568" y="5266944"/>
            <a:ext cx="2249424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1" lang="zh-CN">
                <a:solidFill>
                  <a:srgbClr val="F2F6FA"/>
                </a:solidFill>
                <a:latin typeface="微软雅黑"/>
                <a:ea typeface="微软雅黑"/>
              </a:rPr>
              <a:t>11 年城市级精算数据资产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19856" y="5285232"/>
            <a:ext cx="384048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 lang="zh-CN">
                <a:solidFill>
                  <a:srgbClr val="6E8296"/>
                </a:solidFill>
                <a:latin typeface="Consolas"/>
                <a:ea typeface="Consolas"/>
              </a:rPr>
              <a:t>02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822192" y="5266944"/>
            <a:ext cx="2249424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1" lang="zh-CN">
                <a:solidFill>
                  <a:srgbClr val="F2F6FA"/>
                </a:solidFill>
                <a:latin typeface="微软雅黑"/>
                <a:ea typeface="微软雅黑"/>
              </a:rPr>
              <a:t>验真层的工程实现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26480" y="5285232"/>
            <a:ext cx="384048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 lang="zh-CN">
                <a:solidFill>
                  <a:srgbClr val="6E8296"/>
                </a:solidFill>
                <a:latin typeface="Consolas"/>
                <a:ea typeface="Consolas"/>
              </a:rPr>
              <a:t>03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28816" y="5266944"/>
            <a:ext cx="2249424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1" lang="zh-CN">
                <a:solidFill>
                  <a:srgbClr val="F2F6FA"/>
                </a:solidFill>
                <a:latin typeface="微软雅黑"/>
                <a:ea typeface="微软雅黑"/>
              </a:rPr>
              <a:t>可复算的存证体系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833103" y="5285232"/>
            <a:ext cx="384048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 lang="zh-CN">
                <a:solidFill>
                  <a:srgbClr val="6E8296"/>
                </a:solidFill>
                <a:latin typeface="Consolas"/>
                <a:ea typeface="Consolas"/>
              </a:rPr>
              <a:t>04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35439" y="5266944"/>
            <a:ext cx="2249424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1" lang="zh-CN">
                <a:solidFill>
                  <a:srgbClr val="F2F6FA"/>
                </a:solidFill>
                <a:latin typeface="微软雅黑"/>
                <a:ea typeface="微软雅黑"/>
              </a:rPr>
              <a:t>系统已跑通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3232" y="6455664"/>
            <a:ext cx="365760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50" b="0" lang="zh-CN" spc="6">
                <a:solidFill>
                  <a:srgbClr val="6E8296"/>
                </a:solidFill>
                <a:latin typeface="Consolas"/>
                <a:ea typeface="Consolas"/>
              </a:rPr>
              <a:t>雨证 RainProof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921240" y="6419088"/>
            <a:ext cx="749808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150" b="1" lang="zh-CN">
                <a:solidFill>
                  <a:srgbClr val="A8B8C8"/>
                </a:solidFill>
                <a:latin typeface="Consolas"/>
                <a:ea typeface="Consolas"/>
              </a:rPr>
              <a:t>13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716768" y="6455664"/>
            <a:ext cx="54864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50" b="0" lang="zh-CN">
                <a:solidFill>
                  <a:srgbClr val="6E8296"/>
                </a:solidFill>
                <a:latin typeface="Consolas"/>
                <a:ea typeface="Consolas"/>
              </a:rPr>
              <a:t>/ 18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475488"/>
            <a:ext cx="43891" cy="36576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457200"/>
            <a:ext cx="8595360" cy="4023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4000"/>
              </a:lnSpc>
            </a:pPr>
            <a:r>
              <a:rPr sz="2600" b="1" lang="zh-CN">
                <a:solidFill>
                  <a:srgbClr val="F2F6FA"/>
                </a:solidFill>
                <a:latin typeface="微软雅黑"/>
                <a:ea typeface="微软雅黑"/>
              </a:rPr>
              <a:t>接下来 2 分 50 秒，请评委跟我点四下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" y="896112"/>
            <a:ext cx="859536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50" b="0" lang="zh-CN" spc="8">
                <a:solidFill>
                  <a:srgbClr val="6E8296"/>
                </a:solidFill>
                <a:latin typeface="Consolas"/>
                <a:ea typeface="Consolas"/>
              </a:rPr>
              <a:t>2 MIN 50 SEC — FOUR CLICKS, YOU DRIVE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38160" y="530352"/>
            <a:ext cx="3346704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950" b="0" lang="zh-CN" spc="6">
                <a:solidFill>
                  <a:srgbClr val="6E8296"/>
                </a:solidFill>
                <a:latin typeface="Consolas"/>
                <a:ea typeface="Consolas"/>
              </a:rPr>
              <a:t>04 / 现场演示 · 展示与答辩 10%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408176"/>
            <a:ext cx="45720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1" lang="zh-CN" spc="6">
                <a:solidFill>
                  <a:srgbClr val="22D3EE"/>
                </a:solidFill>
                <a:latin typeface="Consolas"/>
                <a:ea typeface="Consola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07008" y="1389888"/>
            <a:ext cx="1170432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50" b="0" lang="zh-CN">
                <a:solidFill>
                  <a:srgbClr val="6E8296"/>
                </a:solidFill>
                <a:latin typeface="Consolas"/>
                <a:ea typeface="Consolas"/>
              </a:rPr>
              <a:t>0:00–0:35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87168" y="1335024"/>
            <a:ext cx="3017520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450" b="1" lang="zh-CN">
                <a:solidFill>
                  <a:srgbClr val="F2F6FA"/>
                </a:solidFill>
                <a:latin typeface="微软雅黑"/>
                <a:ea typeface="微软雅黑"/>
              </a:rPr>
              <a:t>核验台 · 8 条断言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07008" y="1700784"/>
            <a:ext cx="484632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50" b="0" lang="zh-CN">
                <a:solidFill>
                  <a:srgbClr val="A8B8C8"/>
                </a:solidFill>
                <a:latin typeface="微软雅黑"/>
                <a:ea typeface="微软雅黑"/>
              </a:rPr>
              <a:t>「这八条是它自己从链上读出来算的」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3232" y="2048256"/>
            <a:ext cx="6400800" cy="7315"/>
          </a:xfrm>
          <a:prstGeom prst="rect">
            <a:avLst/>
          </a:prstGeom>
          <a:solidFill>
            <a:srgbClr val="1E2C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2249424"/>
            <a:ext cx="45720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1" lang="zh-CN" spc="6">
                <a:solidFill>
                  <a:srgbClr val="F5A524"/>
                </a:solidFill>
                <a:latin typeface="Consolas"/>
                <a:ea typeface="Consolas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07008" y="2231136"/>
            <a:ext cx="1170432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50" b="0" lang="zh-CN">
                <a:solidFill>
                  <a:srgbClr val="6E8296"/>
                </a:solidFill>
                <a:latin typeface="Consolas"/>
                <a:ea typeface="Consolas"/>
              </a:rPr>
              <a:t>0:35–1:40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87168" y="2176272"/>
            <a:ext cx="3017520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450" b="1" lang="zh-CN">
                <a:solidFill>
                  <a:srgbClr val="F2F6FA"/>
                </a:solidFill>
                <a:latin typeface="微软雅黑"/>
                <a:ea typeface="微软雅黑"/>
              </a:rPr>
              <a:t>骑手端 · 那张真保单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07008" y="2542032"/>
            <a:ext cx="484632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50" b="0" lang="zh-CN">
                <a:solidFill>
                  <a:srgbClr val="A8B8C8"/>
                </a:solidFill>
                <a:latin typeface="微软雅黑"/>
                <a:ea typeface="微软雅黑"/>
              </a:rPr>
              <a:t>「它判了不赔，理由和哈希都在下面」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13232" y="2889504"/>
            <a:ext cx="6400800" cy="7315"/>
          </a:xfrm>
          <a:prstGeom prst="rect">
            <a:avLst/>
          </a:prstGeom>
          <a:solidFill>
            <a:srgbClr val="1E2C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3232" y="3090672"/>
            <a:ext cx="45720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1" lang="zh-CN" spc="6">
                <a:solidFill>
                  <a:srgbClr val="2D7FF9"/>
                </a:solidFill>
                <a:latin typeface="Consolas"/>
                <a:ea typeface="Consolas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07008" y="3072384"/>
            <a:ext cx="1170432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50" b="0" lang="zh-CN">
                <a:solidFill>
                  <a:srgbClr val="6E8296"/>
                </a:solidFill>
                <a:latin typeface="Consolas"/>
                <a:ea typeface="Consolas"/>
              </a:rPr>
              <a:t>1:40–2:15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87168" y="3017520"/>
            <a:ext cx="3017520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450" b="1" lang="zh-CN">
                <a:solidFill>
                  <a:srgbClr val="F2F6FA"/>
                </a:solidFill>
                <a:latin typeface="微软雅黑"/>
                <a:ea typeface="微软雅黑"/>
              </a:rPr>
              <a:t>平台端 · 喂价与台账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07008" y="3383279"/>
            <a:ext cx="484632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50" b="0" lang="zh-CN">
                <a:solidFill>
                  <a:srgbClr val="A8B8C8"/>
                </a:solidFill>
                <a:latin typeface="微软雅黑"/>
                <a:ea typeface="微软雅黑"/>
              </a:rPr>
              <a:t>「每一分钱对得上，池子够不够赔」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13232" y="3730752"/>
            <a:ext cx="6400800" cy="7315"/>
          </a:xfrm>
          <a:prstGeom prst="rect">
            <a:avLst/>
          </a:prstGeom>
          <a:solidFill>
            <a:srgbClr val="1E2C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3232" y="3931920"/>
            <a:ext cx="45720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1" lang="zh-CN" spc="6">
                <a:solidFill>
                  <a:srgbClr val="35D09A"/>
                </a:solidFill>
                <a:latin typeface="Consolas"/>
                <a:ea typeface="Consolas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07008" y="3913631"/>
            <a:ext cx="1170432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50" b="0" lang="zh-CN">
                <a:solidFill>
                  <a:srgbClr val="6E8296"/>
                </a:solidFill>
                <a:latin typeface="Consolas"/>
                <a:ea typeface="Consolas"/>
              </a:rPr>
              <a:t>2:15–2:40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487168" y="3858768"/>
            <a:ext cx="3017520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450" b="1" lang="zh-CN">
                <a:solidFill>
                  <a:srgbClr val="F2F6FA"/>
                </a:solidFill>
                <a:latin typeface="微软雅黑"/>
                <a:ea typeface="微软雅黑"/>
              </a:rPr>
              <a:t>现场投保一笔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07008" y="4224528"/>
            <a:ext cx="484632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50" b="0" lang="zh-CN">
                <a:solidFill>
                  <a:srgbClr val="A8B8C8"/>
                </a:solidFill>
                <a:latin typeface="微软雅黑"/>
                <a:ea typeface="微软雅黑"/>
              </a:rPr>
              <a:t>「价格是链上算出来的，不是我报的」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13232" y="4572000"/>
            <a:ext cx="6400800" cy="7315"/>
          </a:xfrm>
          <a:prstGeom prst="rect">
            <a:avLst/>
          </a:prstGeom>
          <a:solidFill>
            <a:srgbClr val="1E2C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13232" y="4773168"/>
            <a:ext cx="45720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1" lang="zh-CN" spc="6">
                <a:solidFill>
                  <a:srgbClr val="A8B8C8"/>
                </a:solidFill>
                <a:latin typeface="Consolas"/>
                <a:ea typeface="Consolas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07008" y="4754879"/>
            <a:ext cx="1170432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50" b="0" lang="zh-CN">
                <a:solidFill>
                  <a:srgbClr val="6E8296"/>
                </a:solidFill>
                <a:latin typeface="Consolas"/>
                <a:ea typeface="Consolas"/>
              </a:rPr>
              <a:t>2:40–2:50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487168" y="4700016"/>
            <a:ext cx="3017520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450" b="1" lang="zh-CN">
                <a:solidFill>
                  <a:srgbClr val="F2F6FA"/>
                </a:solidFill>
                <a:latin typeface="微软雅黑"/>
                <a:ea typeface="微软雅黑"/>
              </a:rPr>
              <a:t>收口 · 回到哈希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07008" y="5065776"/>
            <a:ext cx="484632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50" b="0" lang="zh-CN">
                <a:solidFill>
                  <a:srgbClr val="A8B8C8"/>
                </a:solidFill>
                <a:latin typeface="微软雅黑"/>
                <a:ea typeface="微软雅黑"/>
              </a:rPr>
              <a:t>「同一份报文，算出来都是这个结论」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13232" y="5413248"/>
            <a:ext cx="6400800" cy="7315"/>
          </a:xfrm>
          <a:prstGeom prst="rect">
            <a:avLst/>
          </a:prstGeom>
          <a:solidFill>
            <a:srgbClr val="1E2C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452360" y="1298448"/>
            <a:ext cx="402336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50" b="1" lang="zh-CN" spc="4">
                <a:solidFill>
                  <a:srgbClr val="22D3EE"/>
                </a:solidFill>
                <a:latin typeface="Consolas"/>
                <a:ea typeface="Consolas"/>
              </a:rPr>
              <a:t>四个必须展示的功能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452360" y="1591056"/>
            <a:ext cx="43891" cy="658368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680960" y="1554480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50" b="1" lang="zh-CN">
                <a:solidFill>
                  <a:srgbClr val="F2F6FA"/>
                </a:solidFill>
                <a:latin typeface="微软雅黑"/>
                <a:ea typeface="微软雅黑"/>
              </a:rPr>
              <a:t>链上事实自证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80960" y="1847088"/>
            <a:ext cx="3611880" cy="4023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050" b="0" lang="zh-CN">
                <a:solidFill>
                  <a:srgbClr val="A8B8C8"/>
                </a:solidFill>
                <a:latin typeface="微软雅黑"/>
                <a:ea typeface="微软雅黑"/>
              </a:rPr>
              <a:t>字节码 19,864 B · 2/3 多签 · 6 个区划码，全部现读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452360" y="2523744"/>
            <a:ext cx="43891" cy="658368"/>
          </a:xfrm>
          <a:prstGeom prst="rect">
            <a:avLst/>
          </a:prstGeom>
          <a:solidFill>
            <a:srgbClr val="2D7F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680960" y="2487168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50" b="1" lang="zh-CN">
                <a:solidFill>
                  <a:srgbClr val="F2F6FA"/>
                </a:solidFill>
                <a:latin typeface="微软雅黑"/>
                <a:ea typeface="微软雅黑"/>
              </a:rPr>
              <a:t>证据哈希现算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680960" y="2779776"/>
            <a:ext cx="3611880" cy="4023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050" b="0" lang="zh-CN">
                <a:solidFill>
                  <a:srgbClr val="A8B8C8"/>
                </a:solidFill>
                <a:latin typeface="微软雅黑"/>
                <a:ea typeface="微软雅黑"/>
              </a:rPr>
              <a:t>武汉 84mm 的报文，浏览器现算 = 链上 inputHash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452360" y="3456432"/>
            <a:ext cx="43891" cy="658368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680960" y="3419856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50" b="1" lang="zh-CN">
                <a:solidFill>
                  <a:srgbClr val="F2F6FA"/>
                </a:solidFill>
                <a:latin typeface="微软雅黑"/>
                <a:ea typeface="微软雅黑"/>
              </a:rPr>
              <a:t>真实保单的 DENY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680960" y="3712464"/>
            <a:ext cx="3611880" cy="4023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050" b="0" lang="zh-CN">
                <a:solidFill>
                  <a:srgbClr val="A8B8C8"/>
                </a:solidFill>
                <a:latin typeface="微软雅黑"/>
                <a:ea typeface="微软雅黑"/>
              </a:rPr>
              <a:t>上海 12h、档线 30mm、基线 172mm、保费 4.20 元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452360" y="4389120"/>
            <a:ext cx="43891" cy="658368"/>
          </a:xfrm>
          <a:prstGeom prst="rect">
            <a:avLst/>
          </a:prstGeom>
          <a:solidFill>
            <a:srgbClr val="2D7F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680960" y="4352544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50" b="1" lang="zh-CN">
                <a:solidFill>
                  <a:srgbClr val="F2F6FA"/>
                </a:solidFill>
                <a:latin typeface="微软雅黑"/>
                <a:ea typeface="微软雅黑"/>
              </a:rPr>
              <a:t>台账逐分对齐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680960" y="4645152"/>
            <a:ext cx="3611880" cy="4023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050" b="0" lang="zh-CN">
                <a:solidFill>
                  <a:srgbClr val="A8B8C8"/>
                </a:solidFill>
                <a:latin typeface="微软雅黑"/>
                <a:ea typeface="微软雅黑"/>
              </a:rPr>
              <a:t>台账合计 = 池子余额 4,958.40 元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452360" y="5413248"/>
            <a:ext cx="393192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0" lang="zh-CN" spc="4">
                <a:solidFill>
                  <a:srgbClr val="6E8296"/>
                </a:solidFill>
                <a:latin typeface="Consolas"/>
                <a:ea typeface="Consolas"/>
              </a:rPr>
              <a:t>verify-v5 · rider · console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452360" y="5669280"/>
            <a:ext cx="393192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1" lang="zh-CN">
                <a:solidFill>
                  <a:srgbClr val="F5A524"/>
                </a:solidFill>
                <a:latin typeface="微软雅黑"/>
                <a:ea typeface="微软雅黑"/>
              </a:rPr>
              <a:t>全部是「评委能自己点出来」的。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13232" y="6455664"/>
            <a:ext cx="365760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50" b="0" lang="zh-CN" spc="6">
                <a:solidFill>
                  <a:srgbClr val="6E8296"/>
                </a:solidFill>
                <a:latin typeface="Consolas"/>
                <a:ea typeface="Consolas"/>
              </a:rPr>
              <a:t>雨证 RainProof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921240" y="6419088"/>
            <a:ext cx="749808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150" b="1" lang="zh-CN">
                <a:solidFill>
                  <a:srgbClr val="A8B8C8"/>
                </a:solidFill>
                <a:latin typeface="Consolas"/>
                <a:ea typeface="Consolas"/>
              </a:rPr>
              <a:t>14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716768" y="6455664"/>
            <a:ext cx="54864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50" b="0" lang="zh-CN">
                <a:solidFill>
                  <a:srgbClr val="6E8296"/>
                </a:solidFill>
                <a:latin typeface="Consolas"/>
                <a:ea typeface="Consolas"/>
              </a:rPr>
              <a:t>/ 18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475488"/>
            <a:ext cx="43891" cy="36576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457200"/>
            <a:ext cx="8595360" cy="4023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4000"/>
              </a:lnSpc>
            </a:pPr>
            <a:r>
              <a:rPr sz="2600" b="1" lang="zh-CN">
                <a:solidFill>
                  <a:srgbClr val="F2F6FA"/>
                </a:solidFill>
                <a:latin typeface="微软雅黑"/>
                <a:ea typeface="微软雅黑"/>
              </a:rPr>
              <a:t>演示前 30 分钟：把不确定性前置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" y="896112"/>
            <a:ext cx="859536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50" b="0" lang="zh-CN" spc="8">
                <a:solidFill>
                  <a:srgbClr val="6E8296"/>
                </a:solidFill>
                <a:latin typeface="Consolas"/>
                <a:ea typeface="Consolas"/>
              </a:rPr>
              <a:t>T-MINUS 30 · REMOVE EVERY UNKNOWN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38160" y="530352"/>
            <a:ext cx="3346704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950" b="0" lang="zh-CN" spc="6">
                <a:solidFill>
                  <a:srgbClr val="6E8296"/>
                </a:solidFill>
                <a:latin typeface="Consolas"/>
                <a:ea typeface="Consolas"/>
              </a:rPr>
              <a:t>04 / 现场演示 · 展示与答辩 10%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1499616"/>
            <a:ext cx="173736" cy="173736"/>
          </a:xfrm>
          <a:prstGeom prst="rect">
            <a:avLst/>
          </a:prstGeom>
          <a:noFill/>
          <a:ln w="1905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42416" y="1426464"/>
            <a:ext cx="4937760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150" b="0" lang="zh-CN">
                <a:solidFill>
                  <a:srgbClr val="F2F6FA"/>
                </a:solidFill>
                <a:latin typeface="微软雅黑"/>
                <a:ea typeface="微软雅黑"/>
              </a:rPr>
              <a:t>起本地服务 python -m http.server 8090（终端一关就停）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713232" y="2212848"/>
            <a:ext cx="173736" cy="173736"/>
          </a:xfrm>
          <a:prstGeom prst="rect">
            <a:avLst/>
          </a:prstGeom>
          <a:noFill/>
          <a:ln w="1905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42416" y="2139696"/>
            <a:ext cx="4937760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150" b="0" lang="zh-CN">
                <a:solidFill>
                  <a:srgbClr val="F2F6FA"/>
                </a:solidFill>
                <a:latin typeface="微软雅黑"/>
                <a:ea typeface="微软雅黑"/>
              </a:rPr>
              <a:t>预开 4 页并各刷新：verify-v5 → rider → console → index-v5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3232" y="2926080"/>
            <a:ext cx="173736" cy="173736"/>
          </a:xfrm>
          <a:prstGeom prst="rect">
            <a:avLst/>
          </a:prstGeom>
          <a:noFill/>
          <a:ln w="1905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42416" y="2852928"/>
            <a:ext cx="4937760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150" b="0" lang="zh-CN">
                <a:solidFill>
                  <a:srgbClr val="F2F6FA"/>
                </a:solidFill>
                <a:latin typeface="微软雅黑"/>
                <a:ea typeface="微软雅黑"/>
              </a:rPr>
              <a:t>钱包已解锁、网络 968、RDROP 够用、通知弹窗全关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13232" y="3639312"/>
            <a:ext cx="173736" cy="173736"/>
          </a:xfrm>
          <a:prstGeom prst="rect">
            <a:avLst/>
          </a:prstGeom>
          <a:noFill/>
          <a:ln w="1905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2416" y="3566160"/>
            <a:ext cx="4937760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150" b="0" lang="zh-CN">
                <a:solidFill>
                  <a:srgbClr val="F2F6FA"/>
                </a:solidFill>
                <a:latin typeface="微软雅黑"/>
                <a:ea typeface="微软雅黑"/>
              </a:rPr>
              <a:t>喂价保鲜 &lt; 24h，否则投保 revert「stale feed」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13232" y="4352544"/>
            <a:ext cx="173736" cy="173736"/>
          </a:xfrm>
          <a:prstGeom prst="rect">
            <a:avLst/>
          </a:prstGeom>
          <a:noFill/>
          <a:ln w="1905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42416" y="4279392"/>
            <a:ext cx="4937760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150" b="0" lang="zh-CN">
                <a:solidFill>
                  <a:srgbClr val="F2F6FA"/>
                </a:solidFill>
                <a:latin typeface="微软雅黑"/>
                <a:ea typeface="微软雅黑"/>
              </a:rPr>
              <a:t>计时器 + 90 秒录屏兜底已打开在备用窗口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13232" y="5065776"/>
            <a:ext cx="173736" cy="173736"/>
          </a:xfrm>
          <a:prstGeom prst="rect">
            <a:avLst/>
          </a:prstGeom>
          <a:noFill/>
          <a:ln w="1905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42416" y="4992624"/>
            <a:ext cx="4937760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150" b="0" lang="zh-CN">
                <a:solidFill>
                  <a:srgbClr val="F2F6FA"/>
                </a:solidFill>
                <a:latin typeface="微软雅黑"/>
                <a:ea typeface="微软雅黑"/>
              </a:rPr>
              <a:t>1920×1080、浏览器 100%、退出微信与 QQ、共享前试一次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1298448"/>
            <a:ext cx="420624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50" b="0" lang="zh-CN" spc="6">
                <a:solidFill>
                  <a:srgbClr val="6E8296"/>
                </a:solidFill>
                <a:latin typeface="Consolas"/>
                <a:ea typeface="Consolas"/>
              </a:rPr>
              <a:t>逐分钟操作卡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1591056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50" b="1" lang="zh-CN">
                <a:solidFill>
                  <a:srgbClr val="22D3EE"/>
                </a:solidFill>
                <a:latin typeface="Consolas"/>
                <a:ea typeface="Consolas"/>
              </a:rPr>
              <a:t>0:00–0:35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79" y="1536192"/>
            <a:ext cx="3840480" cy="51206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1" lang="zh-CN">
                <a:solidFill>
                  <a:srgbClr val="F2F6FA"/>
                </a:solidFill>
                <a:latin typeface="微软雅黑"/>
                <a:ea typeface="微软雅黑"/>
              </a:rPr>
              <a:t>verify-v5　点「重新核验」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55080" y="2157984"/>
            <a:ext cx="4983480" cy="7315"/>
          </a:xfrm>
          <a:prstGeom prst="rect">
            <a:avLst/>
          </a:prstGeom>
          <a:solidFill>
            <a:srgbClr val="1E2C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2432304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50" b="1" lang="zh-CN">
                <a:solidFill>
                  <a:srgbClr val="22D3EE"/>
                </a:solidFill>
                <a:latin typeface="Consolas"/>
                <a:ea typeface="Consolas"/>
              </a:rPr>
              <a:t>0:35–1:40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79" y="2377440"/>
            <a:ext cx="3840480" cy="51206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1" lang="zh-CN">
                <a:solidFill>
                  <a:srgbClr val="F2F6FA"/>
                </a:solidFill>
                <a:latin typeface="微软雅黑"/>
                <a:ea typeface="微软雅黑"/>
              </a:rPr>
              <a:t>rider.html　我的保单 → 理赔记录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55080" y="2999232"/>
            <a:ext cx="4983480" cy="7315"/>
          </a:xfrm>
          <a:prstGeom prst="rect">
            <a:avLst/>
          </a:prstGeom>
          <a:solidFill>
            <a:srgbClr val="1E2C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55080" y="3273552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50" b="1" lang="zh-CN">
                <a:solidFill>
                  <a:srgbClr val="22D3EE"/>
                </a:solidFill>
                <a:latin typeface="Consolas"/>
                <a:ea typeface="Consolas"/>
              </a:rPr>
              <a:t>1:40–2:15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98079" y="3218688"/>
            <a:ext cx="3840480" cy="51206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1" lang="zh-CN">
                <a:solidFill>
                  <a:srgbClr val="F2F6FA"/>
                </a:solidFill>
                <a:latin typeface="微软雅黑"/>
                <a:ea typeface="微软雅黑"/>
              </a:rPr>
              <a:t>console.html　六城 / 台账 / 偿付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55080" y="3840480"/>
            <a:ext cx="4983480" cy="7315"/>
          </a:xfrm>
          <a:prstGeom prst="rect">
            <a:avLst/>
          </a:prstGeom>
          <a:solidFill>
            <a:srgbClr val="1E2C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55080" y="4114800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50" b="1" lang="zh-CN">
                <a:solidFill>
                  <a:srgbClr val="22D3EE"/>
                </a:solidFill>
                <a:latin typeface="Consolas"/>
                <a:ea typeface="Consolas"/>
              </a:rPr>
              <a:t>2:15–2:40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98079" y="4059936"/>
            <a:ext cx="3840480" cy="51206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1" lang="zh-CN">
                <a:solidFill>
                  <a:srgbClr val="F2F6FA"/>
                </a:solidFill>
                <a:latin typeface="微软雅黑"/>
                <a:ea typeface="微软雅黑"/>
              </a:rPr>
              <a:t>rider.html　投保 12h 一单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55080" y="4681728"/>
            <a:ext cx="4983480" cy="7315"/>
          </a:xfrm>
          <a:prstGeom prst="rect">
            <a:avLst/>
          </a:prstGeom>
          <a:solidFill>
            <a:srgbClr val="1E2C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55080" y="4956048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50" b="1" lang="zh-CN">
                <a:solidFill>
                  <a:srgbClr val="22D3EE"/>
                </a:solidFill>
                <a:latin typeface="Consolas"/>
                <a:ea typeface="Consolas"/>
              </a:rPr>
              <a:t>2:40–2:50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98079" y="4901184"/>
            <a:ext cx="3840480" cy="51206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1" lang="zh-CN">
                <a:solidFill>
                  <a:srgbClr val="F2F6FA"/>
                </a:solidFill>
                <a:latin typeface="微软雅黑"/>
                <a:ea typeface="微软雅黑"/>
              </a:rPr>
              <a:t>留在保单页，不切页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355080" y="5522976"/>
            <a:ext cx="4983480" cy="7315"/>
          </a:xfrm>
          <a:prstGeom prst="rect">
            <a:avLst/>
          </a:prstGeom>
          <a:solidFill>
            <a:srgbClr val="1E2C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55080" y="5815584"/>
            <a:ext cx="498348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 lang="zh-CN">
                <a:solidFill>
                  <a:srgbClr val="F5A524"/>
                </a:solidFill>
                <a:latin typeface="微软雅黑"/>
                <a:ea typeface="微软雅黑"/>
              </a:rPr>
              <a:t>全程不念数字，只指位置。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3232" y="6455664"/>
            <a:ext cx="365760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50" b="0" lang="zh-CN" spc="6">
                <a:solidFill>
                  <a:srgbClr val="6E8296"/>
                </a:solidFill>
                <a:latin typeface="Consolas"/>
                <a:ea typeface="Consolas"/>
              </a:rPr>
              <a:t>雨证 RainProof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921240" y="6419088"/>
            <a:ext cx="749808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150" b="1" lang="zh-CN">
                <a:solidFill>
                  <a:srgbClr val="A8B8C8"/>
                </a:solidFill>
                <a:latin typeface="Consolas"/>
                <a:ea typeface="Consolas"/>
              </a:rPr>
              <a:t>15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716768" y="6455664"/>
            <a:ext cx="54864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50" b="0" lang="zh-CN">
                <a:solidFill>
                  <a:srgbClr val="6E8296"/>
                </a:solidFill>
                <a:latin typeface="Consolas"/>
                <a:ea typeface="Consolas"/>
              </a:rPr>
              <a:t>/ 18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475488"/>
            <a:ext cx="43891" cy="36576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457200"/>
            <a:ext cx="8595360" cy="4023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4000"/>
              </a:lnSpc>
            </a:pPr>
            <a:r>
              <a:rPr sz="2600" b="1" lang="zh-CN">
                <a:solidFill>
                  <a:srgbClr val="F2F6FA"/>
                </a:solidFill>
                <a:latin typeface="微软雅黑"/>
                <a:ea typeface="微软雅黑"/>
              </a:rPr>
              <a:t>如果现场出问题，有三级退路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" y="896112"/>
            <a:ext cx="859536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50" b="0" lang="zh-CN" spc="8">
                <a:solidFill>
                  <a:srgbClr val="6E8296"/>
                </a:solidFill>
                <a:latin typeface="Consolas"/>
                <a:ea typeface="Consolas"/>
              </a:rPr>
              <a:t>THREE FALLBACKS, DECLARED UP FRONT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38160" y="530352"/>
            <a:ext cx="3346704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950" b="0" lang="zh-CN" spc="6">
                <a:solidFill>
                  <a:srgbClr val="6E8296"/>
                </a:solidFill>
                <a:latin typeface="Consolas"/>
                <a:ea typeface="Consolas"/>
              </a:rPr>
              <a:t>04 / 现场演示 · 展示与答辩 10%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1371600"/>
            <a:ext cx="3346704" cy="1664208"/>
          </a:xfrm>
          <a:prstGeom prst="rect">
            <a:avLst/>
          </a:prstGeom>
          <a:solidFill>
            <a:srgbClr val="101B2C"/>
          </a:solidFill>
          <a:ln w="17780">
            <a:solidFill>
              <a:srgbClr val="35D0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1499616"/>
            <a:ext cx="566928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 lang="zh-CN" spc="8">
                <a:solidFill>
                  <a:srgbClr val="35D09A"/>
                </a:solidFill>
                <a:latin typeface="Consolas"/>
                <a:ea typeface="Consolas"/>
              </a:rPr>
              <a:t>L1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99616" y="1517904"/>
            <a:ext cx="237744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450" b="1" lang="zh-CN">
                <a:solidFill>
                  <a:srgbClr val="F2F6FA"/>
                </a:solidFill>
                <a:latin typeface="微软雅黑"/>
                <a:ea typeface="微软雅黑"/>
              </a:rPr>
              <a:t>现场真跑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1865376"/>
            <a:ext cx="292608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50" b="0" lang="zh-CN">
                <a:solidFill>
                  <a:srgbClr val="6E8296"/>
                </a:solidFill>
                <a:latin typeface="微软雅黑"/>
                <a:ea typeface="微软雅黑"/>
              </a:rPr>
              <a:t>触发：正常情况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121408"/>
            <a:ext cx="292608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1" lang="zh-CN">
                <a:solidFill>
                  <a:srgbClr val="F2F6FA"/>
                </a:solidFill>
                <a:latin typeface="微软雅黑"/>
                <a:ea typeface="微软雅黑"/>
              </a:rPr>
              <a:t>按操作卡逐页点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2468880"/>
            <a:ext cx="292608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50" b="0" lang="zh-CN">
                <a:solidFill>
                  <a:srgbClr val="35D09A"/>
                </a:solidFill>
                <a:latin typeface="微软雅黑"/>
                <a:ea typeface="微软雅黑"/>
              </a:rPr>
              <a:t>代价：0 损失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13232" y="3017520"/>
            <a:ext cx="3346704" cy="7315"/>
          </a:xfrm>
          <a:prstGeom prst="rect">
            <a:avLst/>
          </a:prstGeom>
          <a:solidFill>
            <a:srgbClr val="35D0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34256" y="1371600"/>
            <a:ext cx="3346704" cy="1664208"/>
          </a:xfrm>
          <a:prstGeom prst="rect">
            <a:avLst/>
          </a:prstGeom>
          <a:solidFill>
            <a:srgbClr val="101B2C"/>
          </a:solidFill>
          <a:ln w="12700">
            <a:solidFill>
              <a:srgbClr val="1E2C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53712" y="1499616"/>
            <a:ext cx="566928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 lang="zh-CN" spc="8">
                <a:solidFill>
                  <a:srgbClr val="2D7FF9"/>
                </a:solidFill>
                <a:latin typeface="Consolas"/>
                <a:ea typeface="Consolas"/>
              </a:rPr>
              <a:t>L2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20640" y="1517904"/>
            <a:ext cx="237744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450" b="1" lang="zh-CN">
                <a:solidFill>
                  <a:srgbClr val="F2F6FA"/>
                </a:solidFill>
                <a:latin typeface="微软雅黑"/>
                <a:ea typeface="微软雅黑"/>
              </a:rPr>
              <a:t>90 秒录屏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53712" y="1865376"/>
            <a:ext cx="292608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50" b="0" lang="zh-CN">
                <a:solidFill>
                  <a:srgbClr val="6E8296"/>
                </a:solidFill>
                <a:latin typeface="微软雅黑"/>
                <a:ea typeface="微软雅黑"/>
              </a:rPr>
              <a:t>触发：RPC 超时 / 页面白屏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53712" y="2121408"/>
            <a:ext cx="292608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1" lang="zh-CN">
                <a:solidFill>
                  <a:srgbClr val="F2F6FA"/>
                </a:solidFill>
                <a:latin typeface="微软雅黑"/>
                <a:ea typeface="微软雅黑"/>
              </a:rPr>
              <a:t>3 秒内切备用窗口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53712" y="2468880"/>
            <a:ext cx="292608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50" b="0" lang="zh-CN">
                <a:solidFill>
                  <a:srgbClr val="2D7FF9"/>
                </a:solidFill>
                <a:latin typeface="微软雅黑"/>
                <a:ea typeface="微软雅黑"/>
              </a:rPr>
              <a:t>代价：失去「现算」说服力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34256" y="3017520"/>
            <a:ext cx="3346704" cy="7315"/>
          </a:xfrm>
          <a:prstGeom prst="rect">
            <a:avLst/>
          </a:prstGeom>
          <a:solidFill>
            <a:srgbClr val="2D7F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955279" y="1371600"/>
            <a:ext cx="3346704" cy="1664208"/>
          </a:xfrm>
          <a:prstGeom prst="rect">
            <a:avLst/>
          </a:prstGeom>
          <a:solidFill>
            <a:srgbClr val="101B2C"/>
          </a:solidFill>
          <a:ln w="12700">
            <a:solidFill>
              <a:srgbClr val="1E2C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74736" y="1499616"/>
            <a:ext cx="566928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 lang="zh-CN" spc="8">
                <a:solidFill>
                  <a:srgbClr val="F5A524"/>
                </a:solidFill>
                <a:latin typeface="Consolas"/>
                <a:ea typeface="Consolas"/>
              </a:rPr>
              <a:t>L3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41663" y="1517904"/>
            <a:ext cx="237744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450" b="1" lang="zh-CN">
                <a:solidFill>
                  <a:srgbClr val="F2F6FA"/>
                </a:solidFill>
                <a:latin typeface="微软雅黑"/>
                <a:ea typeface="微软雅黑"/>
              </a:rPr>
              <a:t>静态存证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74736" y="1865376"/>
            <a:ext cx="292608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50" b="0" lang="zh-CN">
                <a:solidFill>
                  <a:srgbClr val="6E8296"/>
                </a:solidFill>
                <a:latin typeface="微软雅黑"/>
                <a:ea typeface="微软雅黑"/>
              </a:rPr>
              <a:t>触发：断网 / 共享失败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74736" y="2121408"/>
            <a:ext cx="292608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1" lang="zh-CN">
                <a:solidFill>
                  <a:srgbClr val="F2F6FA"/>
                </a:solidFill>
                <a:latin typeface="微软雅黑"/>
                <a:ea typeface="微软雅黑"/>
              </a:rPr>
              <a:t>翻到 P12 讲已存证哈希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74736" y="2468880"/>
            <a:ext cx="292608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50" b="0" lang="zh-CN">
                <a:solidFill>
                  <a:srgbClr val="F5A524"/>
                </a:solidFill>
                <a:latin typeface="微软雅黑"/>
                <a:ea typeface="微软雅黑"/>
              </a:rPr>
              <a:t>代价：只讲不演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955279" y="3017520"/>
            <a:ext cx="3346704" cy="7315"/>
          </a:xfrm>
          <a:prstGeom prst="rect">
            <a:avLst/>
          </a:prstGeom>
          <a:solidFill>
            <a:srgbClr val="F5A5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13232" y="3310128"/>
            <a:ext cx="10765231" cy="9144"/>
          </a:xfrm>
          <a:prstGeom prst="rect">
            <a:avLst/>
          </a:prstGeom>
          <a:solidFill>
            <a:srgbClr val="1E2C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13232" y="3438144"/>
            <a:ext cx="493776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50" b="0" lang="zh-CN" spc="4">
                <a:solidFill>
                  <a:srgbClr val="6E8296"/>
                </a:solidFill>
                <a:latin typeface="Consolas"/>
                <a:ea typeface="Consolas"/>
              </a:rPr>
              <a:t>高频故障对照（都是真踩过的）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3232" y="3730752"/>
            <a:ext cx="246888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50" b="0" lang="zh-CN">
                <a:solidFill>
                  <a:srgbClr val="F2F6FA"/>
                </a:solidFill>
                <a:latin typeface="微软雅黑"/>
                <a:ea typeface="微软雅黑"/>
              </a:rPr>
              <a:t>页面全白、报 $ 未定义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328415" y="3730752"/>
            <a:ext cx="233172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50" b="0" lang="zh-CN">
                <a:solidFill>
                  <a:srgbClr val="A8B8C8"/>
                </a:solidFill>
                <a:latin typeface="微软雅黑"/>
                <a:ea typeface="微软雅黑"/>
              </a:rPr>
              <a:t>本地服务被关掉了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788152" y="3730752"/>
            <a:ext cx="292608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50" b="1" lang="zh-CN">
                <a:solidFill>
                  <a:srgbClr val="F5A524"/>
                </a:solidFill>
                <a:latin typeface="微软雅黑"/>
                <a:ea typeface="微软雅黑"/>
              </a:rPr>
              <a:t>重开 http.server 刷新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13232" y="4096512"/>
            <a:ext cx="8001000" cy="5486"/>
          </a:xfrm>
          <a:prstGeom prst="rect">
            <a:avLst/>
          </a:prstGeom>
          <a:solidFill>
            <a:srgbClr val="1E2C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13232" y="4206240"/>
            <a:ext cx="246888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50" b="0" lang="zh-CN">
                <a:solidFill>
                  <a:srgbClr val="F2F6FA"/>
                </a:solidFill>
                <a:latin typeface="微软雅黑"/>
                <a:ea typeface="微软雅黑"/>
              </a:rPr>
              <a:t>数值全是「—」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328415" y="4206240"/>
            <a:ext cx="233172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50" b="0" lang="zh-CN">
                <a:solidFill>
                  <a:srgbClr val="A8B8C8"/>
                </a:solidFill>
                <a:latin typeface="微软雅黑"/>
                <a:ea typeface="微软雅黑"/>
              </a:rPr>
              <a:t>RPC 限流或网络抖动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788152" y="4206240"/>
            <a:ext cx="292608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50" b="1" lang="zh-CN">
                <a:solidFill>
                  <a:srgbClr val="F5A524"/>
                </a:solidFill>
                <a:latin typeface="微软雅黑"/>
                <a:ea typeface="微软雅黑"/>
              </a:rPr>
              <a:t>切热点，只刷新一次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13232" y="4572000"/>
            <a:ext cx="8001000" cy="5486"/>
          </a:xfrm>
          <a:prstGeom prst="rect">
            <a:avLst/>
          </a:prstGeom>
          <a:solidFill>
            <a:srgbClr val="1E2C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13232" y="4681728"/>
            <a:ext cx="246888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50" b="0" lang="zh-CN">
                <a:solidFill>
                  <a:srgbClr val="F2F6FA"/>
                </a:solidFill>
                <a:latin typeface="微软雅黑"/>
                <a:ea typeface="微软雅黑"/>
              </a:rPr>
              <a:t>投保按钮没反应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328415" y="4681728"/>
            <a:ext cx="233172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50" b="0" lang="zh-CN">
                <a:solidFill>
                  <a:srgbClr val="A8B8C8"/>
                </a:solidFill>
                <a:latin typeface="微软雅黑"/>
                <a:ea typeface="微软雅黑"/>
              </a:rPr>
              <a:t>喂价过期超 24 小时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788152" y="4681728"/>
            <a:ext cx="292608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50" b="1" lang="zh-CN">
                <a:solidFill>
                  <a:srgbClr val="F5A524"/>
                </a:solidFill>
                <a:latin typeface="微软雅黑"/>
                <a:ea typeface="微软雅黑"/>
              </a:rPr>
              <a:t>跳过投保，改讲保单 #0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13232" y="5047488"/>
            <a:ext cx="8001000" cy="5486"/>
          </a:xfrm>
          <a:prstGeom prst="rect">
            <a:avLst/>
          </a:prstGeom>
          <a:solidFill>
            <a:srgbClr val="1E2C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13232" y="5157216"/>
            <a:ext cx="246888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50" b="0" lang="zh-CN">
                <a:solidFill>
                  <a:srgbClr val="F2F6FA"/>
                </a:solidFill>
                <a:latin typeface="微软雅黑"/>
                <a:ea typeface="微软雅黑"/>
              </a:rPr>
              <a:t>8 条里有 1 条变红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328415" y="5157216"/>
            <a:ext cx="233172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50" b="0" lang="zh-CN">
                <a:solidFill>
                  <a:srgbClr val="A8B8C8"/>
                </a:solidFill>
                <a:latin typeface="微软雅黑"/>
                <a:ea typeface="微软雅黑"/>
              </a:rPr>
              <a:t>喂价正在过期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788152" y="5157216"/>
            <a:ext cx="292608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50" b="1" lang="zh-CN">
                <a:solidFill>
                  <a:srgbClr val="F5A524"/>
                </a:solidFill>
                <a:latin typeface="微软雅黑"/>
                <a:ea typeface="微软雅黑"/>
              </a:rPr>
              <a:t>如实说「这条在过期」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13232" y="5522976"/>
            <a:ext cx="8001000" cy="5486"/>
          </a:xfrm>
          <a:prstGeom prst="rect">
            <a:avLst/>
          </a:prstGeom>
          <a:solidFill>
            <a:srgbClr val="1E2C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9015984" y="3310128"/>
            <a:ext cx="2468880" cy="2231136"/>
          </a:xfrm>
          <a:prstGeom prst="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198864" y="3456432"/>
            <a:ext cx="2139696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50" b="1" lang="zh-CN" spc="6">
                <a:solidFill>
                  <a:srgbClr val="22D3EE"/>
                </a:solidFill>
                <a:latin typeface="Consolas"/>
                <a:ea typeface="Consolas"/>
              </a:rPr>
              <a:t>唯一原则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198864" y="3730752"/>
            <a:ext cx="2121408" cy="1645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050" b="0" lang="zh-CN">
                <a:solidFill>
                  <a:srgbClr val="F2F6FA"/>
                </a:solidFill>
                <a:latin typeface="微软雅黑"/>
                <a:ea typeface="微软雅黑"/>
              </a:rPr>
              <a:t>任何降级都在第一句话里说清：
「现在网络不稳，我改用录屏，这是同一套系统」。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13232" y="6455664"/>
            <a:ext cx="365760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50" b="0" lang="zh-CN" spc="6">
                <a:solidFill>
                  <a:srgbClr val="6E8296"/>
                </a:solidFill>
                <a:latin typeface="Consolas"/>
                <a:ea typeface="Consolas"/>
              </a:rPr>
              <a:t>雨证 RainProof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921240" y="6419088"/>
            <a:ext cx="749808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150" b="1" lang="zh-CN">
                <a:solidFill>
                  <a:srgbClr val="A8B8C8"/>
                </a:solidFill>
                <a:latin typeface="Consolas"/>
                <a:ea typeface="Consolas"/>
              </a:rPr>
              <a:t>16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716768" y="6455664"/>
            <a:ext cx="54864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50" b="0" lang="zh-CN">
                <a:solidFill>
                  <a:srgbClr val="6E8296"/>
                </a:solidFill>
                <a:latin typeface="Consolas"/>
                <a:ea typeface="Consolas"/>
              </a:rPr>
              <a:t>/ 18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475488"/>
            <a:ext cx="43891" cy="36576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457200"/>
            <a:ext cx="8595360" cy="4023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4000"/>
              </a:lnSpc>
            </a:pPr>
            <a:r>
              <a:rPr sz="2600" b="1" lang="zh-CN">
                <a:solidFill>
                  <a:srgbClr val="F2F6FA"/>
                </a:solidFill>
                <a:latin typeface="微软雅黑"/>
                <a:ea typeface="微软雅黑"/>
              </a:rPr>
              <a:t>接下来 12 个月：一城跑通，再复制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" y="896112"/>
            <a:ext cx="859536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50" b="0" lang="zh-CN" spc="8">
                <a:solidFill>
                  <a:srgbClr val="6E8296"/>
                </a:solidFill>
                <a:latin typeface="Consolas"/>
                <a:ea typeface="Consolas"/>
              </a:rPr>
              <a:t>NEXT 12 MONTHS — ONE CITY, THEN COPY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38160" y="530352"/>
            <a:ext cx="3346704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950" b="0" lang="zh-CN" spc="6">
                <a:solidFill>
                  <a:srgbClr val="6E8296"/>
                </a:solidFill>
                <a:latin typeface="Consolas"/>
                <a:ea typeface="Consolas"/>
              </a:rPr>
              <a:t>05 / 总结与展望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1371600"/>
            <a:ext cx="10765231" cy="713232"/>
          </a:xfrm>
          <a:prstGeom prst="rect">
            <a:avLst/>
          </a:prstGeom>
          <a:solidFill>
            <a:srgbClr val="101B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463040"/>
            <a:ext cx="105156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 lang="zh-CN">
                <a:solidFill>
                  <a:srgbClr val="F2F6FA"/>
                </a:solidFill>
                <a:latin typeface="微软雅黑"/>
                <a:ea typeface="微软雅黑"/>
              </a:rPr>
              <a:t>试点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47672" y="1499616"/>
            <a:ext cx="118872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 lang="zh-CN">
                <a:solidFill>
                  <a:srgbClr val="6E8296"/>
                </a:solidFill>
                <a:latin typeface="Consolas"/>
                <a:ea typeface="Consolas"/>
              </a:rPr>
              <a:t>0–12 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54680" y="1463040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 lang="zh-CN">
                <a:solidFill>
                  <a:srgbClr val="F5A524"/>
                </a:solidFill>
                <a:latin typeface="微软雅黑"/>
                <a:ea typeface="微软雅黑"/>
              </a:rPr>
              <a:t>1 城 · 2 万骑手 · 144 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72200" y="1499616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50" b="0" lang="zh-CN">
                <a:solidFill>
                  <a:srgbClr val="A8B8C8"/>
                </a:solidFill>
                <a:latin typeface="微软雅黑"/>
                <a:ea typeface="微软雅黑"/>
              </a:rPr>
              <a:t>签 1 家平台 + 1 家持牌险企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3232" y="2157984"/>
            <a:ext cx="10765231" cy="7132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249424"/>
            <a:ext cx="105156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 lang="zh-CN">
                <a:solidFill>
                  <a:srgbClr val="F2F6FA"/>
                </a:solidFill>
                <a:latin typeface="微软雅黑"/>
                <a:ea typeface="微软雅黑"/>
              </a:rPr>
              <a:t>扩展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47672" y="2286000"/>
            <a:ext cx="118872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 lang="zh-CN">
                <a:solidFill>
                  <a:srgbClr val="6E8296"/>
                </a:solidFill>
                <a:latin typeface="Consolas"/>
                <a:ea typeface="Consolas"/>
              </a:rPr>
              <a:t>12–24 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54680" y="2249424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 lang="zh-CN">
                <a:solidFill>
                  <a:srgbClr val="F5A524"/>
                </a:solidFill>
                <a:latin typeface="微软雅黑"/>
                <a:ea typeface="微软雅黑"/>
              </a:rPr>
              <a:t>5 城 · 20 万骑手 · 2,080 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72200" y="22860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50" b="0" lang="zh-CN">
                <a:solidFill>
                  <a:srgbClr val="A8B8C8"/>
                </a:solidFill>
                <a:latin typeface="微软雅黑"/>
                <a:ea typeface="微软雅黑"/>
              </a:rPr>
              <a:t>复制模板；接订单数据补基差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13232" y="2944368"/>
            <a:ext cx="10765231" cy="713232"/>
          </a:xfrm>
          <a:prstGeom prst="rect">
            <a:avLst/>
          </a:prstGeom>
          <a:solidFill>
            <a:srgbClr val="101B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3035808"/>
            <a:ext cx="105156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 lang="zh-CN">
                <a:solidFill>
                  <a:srgbClr val="F2F6FA"/>
                </a:solidFill>
                <a:latin typeface="微软雅黑"/>
                <a:ea typeface="微软雅黑"/>
              </a:rPr>
              <a:t>规模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47672" y="3072384"/>
            <a:ext cx="118872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 lang="zh-CN">
                <a:solidFill>
                  <a:srgbClr val="6E8296"/>
                </a:solidFill>
                <a:latin typeface="Consolas"/>
                <a:ea typeface="Consolas"/>
              </a:rPr>
              <a:t>24–36 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54680" y="3035808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 lang="zh-CN">
                <a:solidFill>
                  <a:srgbClr val="F5A524"/>
                </a:solidFill>
                <a:latin typeface="微软雅黑"/>
                <a:ea typeface="微软雅黑"/>
              </a:rPr>
              <a:t>15 城 · 80 万骑手 · 1.12 亿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72200" y="3072384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50" b="0" lang="zh-CN">
                <a:solidFill>
                  <a:srgbClr val="A8B8C8"/>
                </a:solidFill>
                <a:latin typeface="微软雅黑"/>
                <a:ea typeface="微软雅黑"/>
              </a:rPr>
              <a:t>高温 / 台风品类；输出定价系统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" y="3822191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50" b="0" lang="zh-CN" spc="4">
                <a:solidFill>
                  <a:srgbClr val="6E8296"/>
                </a:solidFill>
                <a:latin typeface="Consolas"/>
                <a:ea typeface="Consolas"/>
              </a:rPr>
              <a:t>同一套引擎，换参数就是新品类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13232" y="4078224"/>
            <a:ext cx="1371600" cy="329184"/>
          </a:xfrm>
          <a:prstGeom prst="rect">
            <a:avLst/>
          </a:prstGeom>
          <a:solidFill>
            <a:srgbClr val="101B2C"/>
          </a:solidFill>
          <a:ln w="12700">
            <a:solidFill>
              <a:srgbClr val="1E2C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3232" y="4142232"/>
            <a:ext cx="137160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950" b="0" lang="zh-CN">
                <a:solidFill>
                  <a:srgbClr val="F2F6FA"/>
                </a:solidFill>
                <a:latin typeface="微软雅黑"/>
                <a:ea typeface="微软雅黑"/>
              </a:rPr>
              <a:t>高温津贴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194560" y="4078224"/>
            <a:ext cx="1371600" cy="329184"/>
          </a:xfrm>
          <a:prstGeom prst="rect">
            <a:avLst/>
          </a:prstGeom>
          <a:solidFill>
            <a:srgbClr val="101B2C"/>
          </a:solidFill>
          <a:ln w="12700">
            <a:solidFill>
              <a:srgbClr val="1E2C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194560" y="4142232"/>
            <a:ext cx="137160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950" b="0" lang="zh-CN">
                <a:solidFill>
                  <a:srgbClr val="F2F6FA"/>
                </a:solidFill>
                <a:latin typeface="微软雅黑"/>
                <a:ea typeface="微软雅黑"/>
              </a:rPr>
              <a:t>台风停工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75888" y="4078224"/>
            <a:ext cx="1371600" cy="329184"/>
          </a:xfrm>
          <a:prstGeom prst="rect">
            <a:avLst/>
          </a:prstGeom>
          <a:solidFill>
            <a:srgbClr val="101B2C"/>
          </a:solidFill>
          <a:ln w="12700">
            <a:solidFill>
              <a:srgbClr val="1E2C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5888" y="4142232"/>
            <a:ext cx="137160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950" b="0" lang="zh-CN">
                <a:solidFill>
                  <a:srgbClr val="F2F6FA"/>
                </a:solidFill>
                <a:latin typeface="微软雅黑"/>
                <a:ea typeface="微软雅黑"/>
              </a:rPr>
              <a:t>空气质量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157216" y="4078224"/>
            <a:ext cx="1371600" cy="329184"/>
          </a:xfrm>
          <a:prstGeom prst="rect">
            <a:avLst/>
          </a:prstGeom>
          <a:solidFill>
            <a:srgbClr val="101B2C"/>
          </a:solidFill>
          <a:ln w="12700">
            <a:solidFill>
              <a:srgbClr val="1E2C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157216" y="4142232"/>
            <a:ext cx="137160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950" b="0" lang="zh-CN">
                <a:solidFill>
                  <a:srgbClr val="F2F6FA"/>
                </a:solidFill>
                <a:latin typeface="微软雅黑"/>
                <a:ea typeface="微软雅黑"/>
              </a:rPr>
              <a:t>物流 / 建筑 / 环卫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3232" y="4590288"/>
            <a:ext cx="5760720" cy="51206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000" b="0" lang="zh-CN">
                <a:solidFill>
                  <a:srgbClr val="A8B8C8"/>
                </a:solidFill>
                <a:latin typeface="微软雅黑"/>
                <a:ea typeface="微软雅黑"/>
              </a:rPr>
              <a:t>政策顺风：即时配送已纳入职业伤害保障扩围、2026 年推广全国，与收入保障互补。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92240" y="3785615"/>
            <a:ext cx="12801" cy="1426464"/>
          </a:xfrm>
          <a:prstGeom prst="rect">
            <a:avLst/>
          </a:prstGeom>
          <a:solidFill>
            <a:srgbClr val="1E2C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729984" y="3785615"/>
            <a:ext cx="274320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50" b="1" lang="zh-CN" spc="4">
                <a:solidFill>
                  <a:srgbClr val="22D3EE"/>
                </a:solidFill>
                <a:latin typeface="Consolas"/>
                <a:ea typeface="Consolas"/>
              </a:rPr>
              <a:t>三个数收口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29984" y="4059936"/>
            <a:ext cx="1371600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600" b="1" lang="zh-CN">
                <a:solidFill>
                  <a:srgbClr val="22D3EE"/>
                </a:solidFill>
                <a:latin typeface="Consolas"/>
                <a:ea typeface="Consolas"/>
              </a:rPr>
              <a:t>11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29984" y="4572000"/>
            <a:ext cx="1408176" cy="4023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950" b="0" lang="zh-CN">
                <a:solidFill>
                  <a:srgbClr val="A8B8C8"/>
                </a:solidFill>
                <a:latin typeface="微软雅黑"/>
                <a:ea typeface="微软雅黑"/>
              </a:rPr>
              <a:t>年逐小时回测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47888" y="4059936"/>
            <a:ext cx="1371600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600" b="1" lang="zh-CN">
                <a:solidFill>
                  <a:srgbClr val="2D7FF9"/>
                </a:solidFill>
                <a:latin typeface="Consolas"/>
                <a:ea typeface="Consolas"/>
              </a:rPr>
              <a:t>40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47888" y="4572000"/>
            <a:ext cx="1408176" cy="4023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950" b="0" lang="zh-CN">
                <a:solidFill>
                  <a:srgbClr val="A8B8C8"/>
                </a:solidFill>
                <a:latin typeface="微软雅黑"/>
                <a:ea typeface="微软雅黑"/>
              </a:rPr>
              <a:t>格人民币费率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765792" y="4059936"/>
            <a:ext cx="1371600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600" b="1" lang="zh-CN">
                <a:solidFill>
                  <a:srgbClr val="F5A524"/>
                </a:solidFill>
                <a:latin typeface="Consolas"/>
                <a:ea typeface="Consolas"/>
              </a:rPr>
              <a:t>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765792" y="4572000"/>
            <a:ext cx="1408176" cy="4023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950" b="0" lang="zh-CN">
                <a:solidFill>
                  <a:srgbClr val="A8B8C8"/>
                </a:solidFill>
                <a:latin typeface="微软雅黑"/>
                <a:ea typeface="微软雅黑"/>
              </a:rPr>
              <a:t>次人工定损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729984" y="5138928"/>
            <a:ext cx="4663440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000" b="0" lang="zh-CN">
                <a:solidFill>
                  <a:srgbClr val="6E8296"/>
                </a:solidFill>
                <a:latin typeface="微软雅黑"/>
                <a:ea typeface="微软雅黑"/>
              </a:rPr>
              <a:t>前两个是护城河；第三个才是这门生意成立的原因 —— 传统险每单要花一次「查」的钱。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13232" y="6455664"/>
            <a:ext cx="365760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50" b="0" lang="zh-CN" spc="6">
                <a:solidFill>
                  <a:srgbClr val="6E8296"/>
                </a:solidFill>
                <a:latin typeface="Consolas"/>
                <a:ea typeface="Consolas"/>
              </a:rPr>
              <a:t>雨证 RainProof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921240" y="6419088"/>
            <a:ext cx="749808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150" b="1" lang="zh-CN">
                <a:solidFill>
                  <a:srgbClr val="A8B8C8"/>
                </a:solidFill>
                <a:latin typeface="Consolas"/>
                <a:ea typeface="Consolas"/>
              </a:rPr>
              <a:t>17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716768" y="6455664"/>
            <a:ext cx="54864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50" b="0" lang="zh-CN">
                <a:solidFill>
                  <a:srgbClr val="6E8296"/>
                </a:solidFill>
                <a:latin typeface="Consolas"/>
                <a:ea typeface="Consolas"/>
              </a:rPr>
              <a:t>/ 18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9.png"/>
          <p:cNvPicPr>
            <a:picLocks noChangeAspect="1"/>
          </p:cNvPicPr>
          <p:nvPr/>
        </p:nvPicPr>
        <p:blipFill>
          <a:blip r:embed="rId2"/>
          <a:srcRect t="4236" b="4236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C16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30812">
                  <a:alpha val="92000"/>
                </a:srgbClr>
              </a:gs>
              <a:gs pos="100000">
                <a:srgbClr val="030812">
                  <a:alpha val="12000"/>
                </a:srgbClr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4206240"/>
            <a:ext cx="12191695" cy="2651760"/>
          </a:xfrm>
          <a:prstGeom prst="rect">
            <a:avLst/>
          </a:prstGeom>
          <a:gradFill rotWithShape="1">
            <a:gsLst>
              <a:gs pos="0">
                <a:srgbClr val="030812">
                  <a:alpha val="0"/>
                </a:srgbClr>
              </a:gs>
              <a:gs pos="100000">
                <a:srgbClr val="030812">
                  <a:alpha val="86000"/>
                </a:srgbClr>
              </a:gs>
            </a:gsLst>
            <a:lin ang="5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005840"/>
            <a:ext cx="585216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50" b="0" lang="zh-CN" spc="8">
                <a:solidFill>
                  <a:srgbClr val="22D3EE"/>
                </a:solidFill>
                <a:latin typeface="Consolas"/>
                <a:ea typeface="Consolas"/>
              </a:rPr>
              <a:t>06 / 团队 · 团队构成与协作 15%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371600"/>
            <a:ext cx="7680960" cy="21031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2000"/>
              </a:lnSpc>
            </a:pPr>
            <a:r>
              <a:rPr sz="3800" b="1" lang="zh-CN">
                <a:solidFill>
                  <a:srgbClr val="F2F6FA"/>
                </a:solidFill>
                <a:latin typeface="微软雅黑"/>
                <a:ea typeface="微软雅黑"/>
              </a:rPr>
              <a:t>下雨这件事，
不该需要谁来批准才赔。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713232" y="3602736"/>
            <a:ext cx="1645920" cy="4572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3803904"/>
            <a:ext cx="6766560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 lang="zh-CN">
                <a:solidFill>
                  <a:srgbClr val="22D3EE"/>
                </a:solidFill>
                <a:latin typeface="微软雅黑"/>
                <a:ea typeface="微软雅黑"/>
              </a:rPr>
              <a:t>把判定、证据和结算，放到任何人可复算的地方。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4242816"/>
            <a:ext cx="6766560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100" b="0" lang="zh-CN">
                <a:solidFill>
                  <a:srgbClr val="A8B8C8"/>
                </a:solidFill>
                <a:latin typeface="微软雅黑"/>
                <a:ea typeface="微软雅黑"/>
              </a:rPr>
              <a:t>我们卖的不是保险，是可验证的自动理赔。
谢谢各位评委；接下来的提问，我可以现场打开系统配合验证。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5961888"/>
            <a:ext cx="603504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0" lang="zh-CN">
                <a:solidFill>
                  <a:srgbClr val="6E8296"/>
                </a:solidFill>
                <a:latin typeface="Consolas"/>
                <a:ea typeface="Consolas"/>
              </a:rPr>
              <a:t>雨证 RainProof · 2026 大学生保险模拟创业大赛 · 保险科技应用赛道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6217920"/>
            <a:ext cx="603504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0" lang="zh-CN">
                <a:solidFill>
                  <a:srgbClr val="6E8296"/>
                </a:solidFill>
                <a:latin typeface="Consolas"/>
                <a:ea typeface="Consolas"/>
              </a:rPr>
              <a:t>联系人【待填】· 手机【待填】· 邮箱【待填】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863840" y="1408176"/>
            <a:ext cx="3694176" cy="4517136"/>
          </a:xfrm>
          <a:prstGeom prst="rect">
            <a:avLst/>
          </a:prstGeom>
          <a:solidFill>
            <a:srgbClr val="050B14">
              <a:alpha val="88000"/>
            </a:srgbClr>
          </a:solidFill>
          <a:ln w="12700">
            <a:solidFill>
              <a:srgbClr val="1E2C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83296" y="1591056"/>
            <a:ext cx="329184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50" b="1" lang="zh-CN" spc="10">
                <a:solidFill>
                  <a:srgbClr val="22D3EE"/>
                </a:solidFill>
                <a:latin typeface="Consolas"/>
                <a:ea typeface="Consolas"/>
              </a:rPr>
              <a:t>TEAM 神麻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83296" y="1920240"/>
            <a:ext cx="786384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0" lang="zh-CN">
                <a:solidFill>
                  <a:srgbClr val="6E8296"/>
                </a:solidFill>
                <a:latin typeface="Consolas"/>
                <a:ea typeface="Consolas"/>
              </a:rPr>
              <a:t>成员 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83296" y="2157984"/>
            <a:ext cx="324612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50" b="1" lang="zh-CN">
                <a:solidFill>
                  <a:srgbClr val="F2F6FA"/>
                </a:solidFill>
                <a:latin typeface="微软雅黑"/>
                <a:ea typeface="微软雅黑"/>
              </a:rPr>
              <a:t>【待填姓名 · 院系】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83296" y="2487168"/>
            <a:ext cx="324612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 lang="zh-CN">
                <a:solidFill>
                  <a:srgbClr val="A8B8C8"/>
                </a:solidFill>
                <a:latin typeface="微软雅黑"/>
                <a:ea typeface="微软雅黑"/>
              </a:rPr>
              <a:t>产品定义与系统实现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83296" y="2779776"/>
            <a:ext cx="3255264" cy="7315"/>
          </a:xfrm>
          <a:prstGeom prst="rect">
            <a:avLst/>
          </a:prstGeom>
          <a:solidFill>
            <a:srgbClr val="1E2C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83296" y="2907792"/>
            <a:ext cx="786384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0" lang="zh-CN">
                <a:solidFill>
                  <a:srgbClr val="6E8296"/>
                </a:solidFill>
                <a:latin typeface="Consolas"/>
                <a:ea typeface="Consolas"/>
              </a:rPr>
              <a:t>成员 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83296" y="3145536"/>
            <a:ext cx="324612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50" b="1" lang="zh-CN">
                <a:solidFill>
                  <a:srgbClr val="F2F6FA"/>
                </a:solidFill>
                <a:latin typeface="微软雅黑"/>
                <a:ea typeface="微软雅黑"/>
              </a:rPr>
              <a:t>【待填姓名 · 院系】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83296" y="3474720"/>
            <a:ext cx="324612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 lang="zh-CN">
                <a:solidFill>
                  <a:srgbClr val="A8B8C8"/>
                </a:solidFill>
                <a:latin typeface="微软雅黑"/>
                <a:ea typeface="微软雅黑"/>
              </a:rPr>
              <a:t>精算定价与商业测算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83296" y="3767328"/>
            <a:ext cx="3255264" cy="7315"/>
          </a:xfrm>
          <a:prstGeom prst="rect">
            <a:avLst/>
          </a:prstGeom>
          <a:solidFill>
            <a:srgbClr val="1E2C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83296" y="3895344"/>
            <a:ext cx="786384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0" lang="zh-CN">
                <a:solidFill>
                  <a:srgbClr val="6E8296"/>
                </a:solidFill>
                <a:latin typeface="Consolas"/>
                <a:ea typeface="Consolas"/>
              </a:rPr>
              <a:t>成员 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83296" y="4133087"/>
            <a:ext cx="324612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50" b="1" lang="zh-CN">
                <a:solidFill>
                  <a:srgbClr val="F2F6FA"/>
                </a:solidFill>
                <a:latin typeface="微软雅黑"/>
                <a:ea typeface="微软雅黑"/>
              </a:rPr>
              <a:t>【待填姓名 · 院系】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83296" y="4462272"/>
            <a:ext cx="324612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 lang="zh-CN">
                <a:solidFill>
                  <a:srgbClr val="A8B8C8"/>
                </a:solidFill>
                <a:latin typeface="微软雅黑"/>
                <a:ea typeface="微软雅黑"/>
              </a:rPr>
              <a:t>保险条款与合规路径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083296" y="4754879"/>
            <a:ext cx="3255264" cy="7315"/>
          </a:xfrm>
          <a:prstGeom prst="rect">
            <a:avLst/>
          </a:prstGeom>
          <a:solidFill>
            <a:srgbClr val="1E2C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83296" y="4901184"/>
            <a:ext cx="786384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0" lang="zh-CN">
                <a:solidFill>
                  <a:srgbClr val="6E8296"/>
                </a:solidFill>
                <a:latin typeface="Consolas"/>
                <a:ea typeface="Consolas"/>
              </a:rPr>
              <a:t>指导教师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83296" y="5138928"/>
            <a:ext cx="324612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50" b="1" lang="zh-CN">
                <a:solidFill>
                  <a:srgbClr val="F2F6FA"/>
                </a:solidFill>
                <a:latin typeface="微软雅黑"/>
                <a:ea typeface="微软雅黑"/>
              </a:rPr>
              <a:t>【待填姓名 · 职称】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83296" y="5468112"/>
            <a:ext cx="3255264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50" b="0" lang="zh-CN">
                <a:solidFill>
                  <a:srgbClr val="A8B8C8"/>
                </a:solidFill>
                <a:latin typeface="微软雅黑"/>
                <a:ea typeface="微软雅黑"/>
              </a:rPr>
              <a:t>跨学科：金融数学 · 计算机 · 保险 / 社保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