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秒只讲人，不讲技术。一句话定义：骑手雨天没收入，我们让降雨量本身成为理赔依据。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目录页用一句话交代读法：这叠 PPT 的每一页都带着可现场验证的入口。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先讲人：不讲产品、不讲技术。让评委在情绪上先站到骑手这一边，后面所有成本讨论才有意义。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核心论证：不是需求不存在，是成本结构不允许。这样后面「去掉定损环节」就不是取巧，而是唯一解。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这一页是全场的转折：把「查损失」换掉。四步都可在现场演示里走完。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产品形态一页讲完。强调「不做特大暴雨档」是主动的诚实动作，不是能力不足。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评委最该点的一页。现场打开核验台，8 条全绿；断网时至少展示已存证的截图。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专业深度的一页。被追问概率时，先问对方要哪个口径：单点还是档位加权。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被问「为什么不便宜」就指公式；被问「批发价怎么来」要直说还没进合约。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单位经济是最容易被追问的一页。34% 而不是 60% 是卖点：说明定价留了安全垫。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合规与商业模式压在一页。被问牌照：我们不卖保险，给持牌方提供技术与核验。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主动把 TAM 说小是加分项。评委见过太多「万亿市场」的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对比页放在最后三分之一，用来收束「删掉定损」这条主线，同时把代价说清楚。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诚信页。放在路线图前面，先说没做到的，再说打算怎么做。这是答辩的加分页，不是减分页。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团队页留占位，必须由本人填。姓名不编、院校不编 —— 这是报名表的红线。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结尾不要总结，留一句能被记住的话，然后把话筒交回给评委。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4" y="38404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768096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5255" y="1152144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1" y="1536192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35607" y="192024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0784" y="230428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0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31136" y="384048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6312" y="768096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61488" y="1152144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26664" y="1536192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39" y="1920240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57015" y="2304288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22191" y="0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87368" y="384048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2544" y="768096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1152144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82896" y="1536192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8072" y="1920240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13248" y="2304288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78424" y="0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84048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8776" y="768096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3951" y="1152144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39127" y="1536192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04303" y="1920240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79" y="2304288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34655" y="0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99831" y="384048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7" y="768096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30183" y="1152144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59" y="1536192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0535" y="1920240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25711" y="2304288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90887" y="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56063" y="38404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21239" y="768096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86415" y="1152144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1591" y="1536192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16767" y="192024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81943" y="230428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47119" y="0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512295" y="384048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777472" y="768096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42647" y="1152144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1417320"/>
            <a:ext cx="50292" cy="384048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D7FF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spc="3">
                <a:solidFill>
                  <a:srgbClr val="74869B"/>
                </a:solidFill>
                <a:latin typeface="Consolas"/>
              </a:rPr>
              <a:t>2026 大学生保险模拟创业大赛 · 保险科技应用赛道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1600200"/>
            <a:ext cx="85953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雨证 · RainProof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69748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D3EE"/>
                </a:solidFill>
                <a:latin typeface="微软雅黑"/>
              </a:rPr>
              <a:t>可复算的参数化降雨保障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3364992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4869B"/>
                </a:solidFill>
                <a:latin typeface="Consolas"/>
              </a:rPr>
              <a:t>Parametric rain cover for delivery riders — verifiable by anyone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3840480"/>
            <a:ext cx="5669280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4023360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微软雅黑"/>
              </a:rPr>
              <a:t>把「你信不信我」换成「你自己验」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828032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4C2D2"/>
                </a:solidFill>
                <a:latin typeface="微软雅黑"/>
              </a:rPr>
              <a:t>不核灾 · 不定损 · 骑手不举证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2578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4869B"/>
                </a:solidFill>
                <a:latin typeface="微软雅黑"/>
              </a:rPr>
              <a:t>降雨越过合约档线即触发，判定与证据全部留痕，任何第三方可用同一份原始数据复算出同一个结论。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6053328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TEAM  【待填队名】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这 16 页讲什么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00 /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99616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1463040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一个骑手的雨天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178308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为什么这个需求真实存在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2542032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为什么没人做这笔生意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286207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成本结构决定的下游三件事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3621024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把定损换成一个公开数字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3941063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产品形态与两档赔付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36592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" y="4700016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你已经可以自己验一遍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5020056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链上证据与 8 条断言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499616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1463040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11 年逐小时精算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78308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六城触发率与 40 格费率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78608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542032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谁为这笔钱付账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286207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B2B2C 双轨与单位经济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57600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2">
                <a:solidFill>
                  <a:srgbClr val="22D3EE"/>
                </a:solidFill>
                <a:latin typeface="Consolas"/>
              </a:rPr>
              <a:t>P12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621024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微软雅黑"/>
              </a:rPr>
              <a:t>市场、边界与路线图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3941063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主动交代我们还没做到的事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18304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74869B"/>
                </a:solidFill>
                <a:latin typeface="微软雅黑"/>
              </a:rPr>
              <a:t>读法：每一页都有一句可以当场验证的话。
不要求您相信任何数字，只要求您相信您自己点出来的结果。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THAT DAY, HE STILL WENT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那天，他还是出门了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01 / THE RIDER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75" b="0">
                <a:solidFill>
                  <a:srgbClr val="FFFFFF"/>
                </a:solidFill>
                <a:latin typeface="微软雅黑"/>
              </a:rPr>
              <a:t>暴雨橙色预警。他穿上雨衣，骑上车，跑了 12 个小时 —— 因为当天不出勤，就没有收入。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95728"/>
            <a:ext cx="2423160" cy="1170432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603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被覆盖的骑手规模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D7FF9"/>
                </a:solidFill>
                <a:latin typeface="Consolas"/>
              </a:rPr>
              <a:t>300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万人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10128"/>
            <a:ext cx="202082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美团 2025-06-26 官方口径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2395728"/>
            <a:ext cx="2423160" cy="1170432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暴雨日收入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1635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5A524"/>
                </a:solidFill>
                <a:latin typeface="Consolas"/>
              </a:rPr>
              <a:t>-30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10128"/>
            <a:ext cx="202082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公开口径有分歧，仅作量级参考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61304" y="2395728"/>
            <a:ext cx="2423160" cy="1170432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5603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他能拿到的赔偿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2816352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5A524"/>
                </a:solidFill>
                <a:latin typeface="Consolas"/>
              </a:rPr>
              <a:t>0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3310128"/>
            <a:ext cx="202082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没有产品可买，也不知道找谁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40480"/>
            <a:ext cx="75895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微软雅黑"/>
              </a:rPr>
              <a:t>而他不知道该找谁赔。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43984"/>
            <a:ext cx="7589520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6864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b="0">
                <a:solidFill>
                  <a:srgbClr val="B4C2D2"/>
                </a:solidFill>
                <a:latin typeface="微软雅黑"/>
              </a:rPr>
              <a:t>这不是「保险太贵」的问题，也不是「骑手不想买」的问题。
是一笔账在当前的成本结构下算不过来 —— 下一页只讲这一件事。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481328"/>
            <a:ext cx="278892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2D3EE"/>
                </a:solidFill>
                <a:latin typeface="Consolas"/>
              </a:rPr>
              <a:t>12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74869B"/>
                </a:solidFill>
                <a:latin typeface="微软雅黑"/>
              </a:rPr>
              <a:t>小时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74869B"/>
                </a:solidFill>
                <a:latin typeface="微软雅黑"/>
              </a:rPr>
              <a:t>暴雨日连续骑行时长（个例，非均值）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NOT THAT NOBODY WANTS TO — THE MATH DOESN'T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不是没人想保，是这笔账算不过来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02 / THE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查一次的成本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74869B"/>
                </a:solidFill>
                <a:latin typeface="Consolas"/>
              </a:rPr>
              <a:t>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4475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A524"/>
                </a:solidFill>
                <a:latin typeface="微软雅黑"/>
              </a:rPr>
              <a:t>赔一次的钱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372868"/>
            <a:ext cx="68580" cy="685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304288"/>
            <a:ext cx="6775703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4C2D2"/>
                </a:solidFill>
                <a:latin typeface="微软雅黑"/>
              </a:rPr>
              <a:t>单次赔款量级：几十到几百元 —— 客单价极低，容不下任何人工环节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848356"/>
            <a:ext cx="68580" cy="685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779776"/>
            <a:ext cx="6775703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4C2D2"/>
                </a:solidFill>
                <a:latin typeface="微软雅黑"/>
              </a:rPr>
              <a:t>人工报案 + 查勘 + 核赔的固定成本，与赔款本身同量级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323844"/>
            <a:ext cx="68580" cy="685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255264"/>
            <a:ext cx="6775703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4C2D2"/>
                </a:solidFill>
                <a:latin typeface="微软雅黑"/>
              </a:rPr>
              <a:t>于是保险公司的理性选择是：不卖这个人群的天气险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37760"/>
            <a:ext cx="6949440" cy="120700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10235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spc="3">
                <a:solidFill>
                  <a:srgbClr val="22D3EE"/>
                </a:solidFill>
                <a:latin typeface="Consolas"/>
              </a:rPr>
              <a:t>下游的三个结果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431536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损失核不了 · 逆选择与骗赔 · 身份无正式凭据 —— 都是这个成本结构的下游，不是三个独立的问题。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304288"/>
            <a:ext cx="3456432" cy="1298448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2468880"/>
            <a:ext cx="30540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雨天配送事故率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724912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7FF9"/>
                </a:solidFill>
                <a:latin typeface="Consolas"/>
              </a:rPr>
              <a:t>6.8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3218688"/>
            <a:ext cx="3054096" cy="2926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泰国骑手交通事故研究，OR = 6.79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794760"/>
            <a:ext cx="3456432" cy="1389888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3959352"/>
            <a:ext cx="30540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一笔保单的定价区间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4215384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D3EE"/>
                </a:solidFill>
                <a:latin typeface="Consolas"/>
              </a:rPr>
              <a:t>1.1–8.8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元 / 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4709160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40 格全表区间：平台批发 1.1–2.2、骑手自付 3.6–8.8（见第 9 页）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5285232"/>
            <a:ext cx="345643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低客单 + 高定损成本
= 这个人群长期没有可买的天气险。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SO WE NEVER ASK HOW MUCH YOU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所以我们根本不问「你损失了多少」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03 / THE 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817352" cy="932688"/>
          </a:xfrm>
          <a:prstGeom prst="roundRect">
            <a:avLst>
              <a:gd name="adj" fmla="val 5000"/>
            </a:avLst>
          </a:prstGeom>
          <a:solidFill>
            <a:srgbClr val="18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1673352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只看一个公开数字：保单期内，这个区域下了多少雨。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2542032" cy="2084831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87121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8">
                <a:solidFill>
                  <a:srgbClr val="22D3EE"/>
                </a:solidFill>
                <a:latin typeface="Consolas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6382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锁定基线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529584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投保那一刻，把该区域链上累计降雨记录成基线。已经下过的雨，增量永远是 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670048"/>
            <a:ext cx="2542032" cy="2084831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87121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8">
                <a:solidFill>
                  <a:srgbClr val="22D3EE"/>
                </a:solidFill>
                <a:latin typeface="Consolas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16382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三源交叉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529584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ECMWF / GFS / ICON 三家模型各自累计，离散度超过容差就拒收，拒收也留链上事件。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670048"/>
            <a:ext cx="2542032" cy="2084831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87121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8">
                <a:solidFill>
                  <a:srgbClr val="22D3EE"/>
                </a:solidFill>
                <a:latin typeface="Consolas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16382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确定性判定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529584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增量对比国标档线，规则 R1–R5 逐条判定；大模型只写解释文字，不进哈希、不改结论。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670048"/>
            <a:ext cx="2542032" cy="2084831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287121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8">
                <a:solidFill>
                  <a:srgbClr val="22D3EE"/>
                </a:solidFill>
                <a:latin typeface="Consolas"/>
              </a:rP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16382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任意人可结算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529584"/>
            <a:ext cx="2121408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判定上链后，任何人用任意地址都能触发打款，钱只会进保单登记的骑手地址。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47488"/>
            <a:ext cx="10817352" cy="1170432"/>
          </a:xfrm>
          <a:prstGeom prst="roundRect">
            <a:avLst>
              <a:gd name="adj" fmla="val 5000"/>
            </a:avLst>
          </a:prstGeom>
          <a:noFill/>
          <a:ln w="15240">
            <a:solidFill>
              <a:srgbClr val="2D7F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" y="5230368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3">
                <a:solidFill>
                  <a:srgbClr val="22D3EE"/>
                </a:solidFill>
                <a:latin typeface="Consolas"/>
              </a:rPr>
              <a:t>换来的三件事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5541264"/>
            <a:ext cx="101498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免人工定损 · 骑手不用举证 · 结论可被任何第三方用同一份原始数据复算出来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WHAT A POLICY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一张保单长什么样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04 / THE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903720" cy="512064"/>
          </a:xfrm>
          <a:prstGeom prst="roundRect">
            <a:avLst>
              <a:gd name="adj" fmla="val 4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0934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spc="2">
                <a:solidFill>
                  <a:srgbClr val="22D3EE"/>
                </a:solidFill>
                <a:latin typeface="Consolas"/>
              </a:rPr>
              <a:t>保障对象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81912"/>
            <a:ext cx="5138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外卖／即时配送骑手（可由平台代付）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84832"/>
            <a:ext cx="6903720" cy="512064"/>
          </a:xfrm>
          <a:prstGeom prst="roundRect">
            <a:avLst>
              <a:gd name="adj" fmla="val 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1284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spc="2">
                <a:solidFill>
                  <a:srgbClr val="22D3EE"/>
                </a:solidFill>
                <a:latin typeface="Consolas"/>
              </a:rPr>
              <a:t>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85416"/>
            <a:ext cx="5138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12 小时 / 24 小时（对齐国标两个时段）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88336"/>
            <a:ext cx="6903720" cy="512064"/>
          </a:xfrm>
          <a:prstGeom prst="roundRect">
            <a:avLst>
              <a:gd name="adj" fmla="val 4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8163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spc="2">
                <a:solidFill>
                  <a:srgbClr val="22D3EE"/>
                </a:solidFill>
                <a:latin typeface="Consolas"/>
              </a:rPr>
              <a:t>档线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88920"/>
            <a:ext cx="5138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12h：≥30mm 赔 50%、≥70mm 赔 75%　·　24h：≥50mm 赔 50%、≥100mm 赔 75%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40"/>
            <a:ext cx="6903720" cy="512064"/>
          </a:xfrm>
          <a:prstGeom prst="roundRect">
            <a:avLst>
              <a:gd name="adj" fmla="val 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41985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spc="2">
                <a:solidFill>
                  <a:srgbClr val="22D3EE"/>
                </a:solidFill>
                <a:latin typeface="Consolas"/>
              </a:rPr>
              <a:t>满额赔付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392424"/>
            <a:ext cx="5138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最高实赔 75 元（基数 100 元）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95344"/>
            <a:ext cx="6903720" cy="512064"/>
          </a:xfrm>
          <a:prstGeom prst="roundRect">
            <a:avLst>
              <a:gd name="adj" fmla="val 4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23359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spc="2">
                <a:solidFill>
                  <a:srgbClr val="22D3EE"/>
                </a:solidFill>
                <a:latin typeface="Consolas"/>
              </a:rPr>
              <a:t>价格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995928"/>
            <a:ext cx="5138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骑手自付 3.6–8.8 元／份；平台团体批发 1.1–2.2 元／份（义乌无历史样本，按兜底价 10 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98848"/>
            <a:ext cx="6903720" cy="512064"/>
          </a:xfrm>
          <a:prstGeom prst="roundRect">
            <a:avLst>
              <a:gd name="adj" fmla="val 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62686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 spc="2">
                <a:solidFill>
                  <a:srgbClr val="22D3EE"/>
                </a:solidFill>
                <a:latin typeface="Consolas"/>
              </a:rPr>
              <a:t>不做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599432"/>
            <a:ext cx="5138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特大暴雨档 —— 样本不足，定不出可信的价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75504"/>
            <a:ext cx="690372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赔付额是定值，不是实际损失 —— 这是参数化保险的固有代价，也是它能把免去人工定损的原因。
所以我们把它定位成「收入中断补偿」，而不是「损失补偿」。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1481328"/>
            <a:ext cx="3419856" cy="11887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16459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12h 档线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901952"/>
            <a:ext cx="305409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2D3EE"/>
                </a:solidFill>
                <a:latin typeface="Consolas"/>
              </a:rPr>
              <a:t>30 / 70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39572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国标暴雨 → 大暴雨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2788920"/>
            <a:ext cx="3419856" cy="11887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29535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24h 档线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209544"/>
            <a:ext cx="305409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2D3EE"/>
                </a:solidFill>
                <a:latin typeface="Consolas"/>
              </a:rPr>
              <a:t>50 / 100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70332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国标暴雨 → 大暴雨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096512"/>
            <a:ext cx="3419856" cy="11887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426110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赔付比例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517136"/>
            <a:ext cx="305409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A524"/>
                </a:solidFill>
                <a:latin typeface="Consolas"/>
              </a:rPr>
              <a:t>50 / 75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01091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按命中档线比例给付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5431536"/>
            <a:ext cx="341985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74869B"/>
                </a:solidFill>
                <a:latin typeface="微软雅黑"/>
              </a:rPr>
              <a:t>依据 GB/T 28592—2012：暴雨 = 12h 30.0–69.9mm 或 24h 50.0–99.9mm。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DO NOT TRUST THIS DECK — CLICK THROUGH IT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不用信这份 PPT，自己点一遍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05 /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3">
                <a:solidFill>
                  <a:srgbClr val="22D3EE"/>
                </a:solidFill>
                <a:latin typeface="Consolas"/>
              </a:rPr>
              <a:t>核验台 · 8 条断言逐条自证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105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37943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1792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链号 = 968（不是随便哪条链都算数）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2677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951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22494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合约地址上确实有字节码（19,841 字节运行时）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7249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523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27066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治理在 2/3 多签手里，合约未暂停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1821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095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31638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冷却期 = 0 秒（演示窗口内可跑完）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6393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667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36210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6 个民政部区划码全部处于可用状态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0965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239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" y="4078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武汉 84mm 的链上哈希 = 原始报文现算 SHA-256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5537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811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" y="45354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保单 #0：被保险人 ≠ 付款人，阈值 30mm、基线 172mm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5010912"/>
            <a:ext cx="182880" cy="18288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38344"/>
            <a:ext cx="12801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A1422"/>
                </a:solidFill>
                <a:latin typeface="微软雅黑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" y="49926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台账逐分等于链上资金池（4958.40 元）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2127" y="1417320"/>
            <a:ext cx="3639312" cy="21031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2" y="160934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spc="2">
                <a:solidFill>
                  <a:srgbClr val="74869B"/>
                </a:solidFill>
                <a:latin typeface="Consolas"/>
              </a:rPr>
              <a:t>两票制 · 21 小时真实运行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1920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D7FF9"/>
                </a:solidFill>
                <a:latin typeface="Consolas"/>
              </a:rPr>
              <a:t>2 /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2505456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喂价、判定、调参全部要两把钥匙；单一私钥写不进任何一条值。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2127" y="3675887"/>
            <a:ext cx="3639312" cy="21031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38679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spc="2">
                <a:solidFill>
                  <a:srgbClr val="74869B"/>
                </a:solidFill>
                <a:latin typeface="Consolas"/>
              </a:rPr>
              <a:t>源码 ↔ 产物 ↔ 链上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2" y="417880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35D09A"/>
                </a:solidFill>
                <a:latin typeface="Consolas"/>
              </a:rPr>
              <a:t>0 字节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2" y="4764024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现场编译的字节码与部署文件逐字节相同；链上运行时代码只差构造函数写入的地址常量。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FLAT PRICING IS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统一定价是错的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06 / ACTUARY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11 年 · 每城 96,432 小时 · 24h 档条件触发率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46571"/>
            <a:ext cx="786384" cy="1849940"/>
          </a:xfrm>
          <a:prstGeom prst="roundRect">
            <a:avLst>
              <a:gd name="adj" fmla="val 3000"/>
            </a:avLst>
          </a:prstGeom>
          <a:solidFill>
            <a:srgbClr val="EF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935675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F6E5B"/>
                </a:solidFill>
                <a:latin typeface="Consolas"/>
              </a:rPr>
              <a:t>4.18%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4187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武汉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856" y="2330659"/>
            <a:ext cx="786384" cy="1765852"/>
          </a:xfrm>
          <a:prstGeom prst="roundRect">
            <a:avLst>
              <a:gd name="adj" fmla="val 3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552" y="201976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3.99%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4187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成都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1" y="2410321"/>
            <a:ext cx="786384" cy="1686190"/>
          </a:xfrm>
          <a:prstGeom prst="roundRect">
            <a:avLst>
              <a:gd name="adj" fmla="val 3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7" y="2099425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3.81%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7" y="4187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广州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0328" y="2928128"/>
            <a:ext cx="786384" cy="1168383"/>
          </a:xfrm>
          <a:prstGeom prst="roundRect">
            <a:avLst>
              <a:gd name="adj" fmla="val 3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261723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7FF9"/>
                </a:solidFill>
                <a:latin typeface="Consolas"/>
              </a:rPr>
              <a:t>2.64%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4187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上海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2994513"/>
            <a:ext cx="786384" cy="1101998"/>
          </a:xfrm>
          <a:prstGeom prst="roundRect">
            <a:avLst>
              <a:gd name="adj" fmla="val 3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2683617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7FF9"/>
                </a:solidFill>
                <a:latin typeface="Consolas"/>
              </a:rPr>
              <a:t>2.49%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418795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北京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96512"/>
            <a:ext cx="6720840" cy="12801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98848"/>
            <a:ext cx="6766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最高与最低相差 1.68 倍。统一价意味着必然有一半城市收错钱：
收多了骑手不买，收少了池子亏穿。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41732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1581912"/>
            <a:ext cx="31181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回测口径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183794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2D3EE"/>
                </a:solidFill>
                <a:latin typeface="Consolas"/>
              </a:rPr>
              <a:t>96,432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小时/城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2331720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2014–2025，逐小时，六城同源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999232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163824"/>
            <a:ext cx="31181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档位加权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341985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7FF9"/>
                </a:solidFill>
                <a:latin typeface="Consolas"/>
              </a:rPr>
              <a:t>2 档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×2 窗口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3913632"/>
            <a:ext cx="3118104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50% / 75% 按命中档线加权，不是单点概率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590288"/>
            <a:ext cx="3520440" cy="160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74869B"/>
                </a:solidFill>
                <a:latin typeface="微软雅黑"/>
              </a:rPr>
              <a:t>注意口径：这里说的是「按档位加权的条件触发率」。
若只看单点 ≥50mm 的无条件概率，武汉 0.41%、广州 0.74% —— 两者差 5–12 倍，不能混用。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PRICES ARE DERIVED, NOT GUESSED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价格是算出来的，不是拍的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07 / PRICING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817352" cy="841248"/>
          </a:xfrm>
          <a:prstGeom prst="roundRect">
            <a:avLst>
              <a:gd name="adj" fmla="val 5000"/>
            </a:avLst>
          </a:prstGeom>
          <a:solidFill>
            <a:srgbClr val="18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27632"/>
            <a:ext cx="101498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保费 = 上整</a:t>
            </a:r>
          </a:p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Consolas"/>
              </a:rPr>
              <a:t>(  触发概率上界 × 赔付额 + 固定成本  )  ÷  赔付率上限 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2">
                <a:solidFill>
                  <a:srgbClr val="74869B"/>
                </a:solidFill>
                <a:latin typeface="Consolas"/>
              </a:rPr>
              <a:t>城市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87168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2">
                <a:solidFill>
                  <a:srgbClr val="74869B"/>
                </a:solidFill>
                <a:latin typeface="Consolas"/>
              </a:rPr>
              <a:t>12h 自付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79" y="2487168"/>
            <a:ext cx="17830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2">
                <a:solidFill>
                  <a:srgbClr val="74869B"/>
                </a:solidFill>
                <a:latin typeface="Consolas"/>
              </a:rPr>
              <a:t>24h 自付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9" y="248716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2">
                <a:solidFill>
                  <a:srgbClr val="74869B"/>
                </a:solidFill>
                <a:latin typeface="Consolas"/>
              </a:rPr>
              <a:t>24h 平台批发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61488"/>
            <a:ext cx="7315200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779776"/>
            <a:ext cx="7315200" cy="347472"/>
          </a:xfrm>
          <a:prstGeom prst="roundRect">
            <a:avLst>
              <a:gd name="adj" fmla="val 3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武汉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834640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5.9 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2834640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8.8 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599" y="283464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2.2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1868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上海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218688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4.2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79" y="3218688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5.3 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599" y="3218688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1.9 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47872"/>
            <a:ext cx="7315200" cy="347472"/>
          </a:xfrm>
          <a:prstGeom prst="roundRect">
            <a:avLst>
              <a:gd name="adj" fmla="val 3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0273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北京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602736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3.6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79" y="3602736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5.1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9" y="3602736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1.8 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8678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广州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986784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5.9 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79" y="3986784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7.9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599" y="398678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2.2 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315968"/>
            <a:ext cx="7315200" cy="347472"/>
          </a:xfrm>
          <a:prstGeom prst="roundRect">
            <a:avLst>
              <a:gd name="adj" fmla="val 3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3708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成都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370832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5.8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79" y="4370832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8.2 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599" y="437083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2.1 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7548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义乌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754880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10.0 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79" y="4754880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10.0 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599" y="475488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10.0 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065776"/>
            <a:ext cx="7315200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206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义乌的 10.0 元不是定价，是兜底价：该区还没有精算网格（`premiumGrid` 返回 0），合约回落到默认值。
把它挂出来是为了证明民政部区划码能下沉到县级市 —— 定价要等 11 年数据补齐。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2487168"/>
            <a:ext cx="3410712" cy="1207008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267004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2">
                <a:solidFill>
                  <a:srgbClr val="22D3EE"/>
                </a:solidFill>
                <a:latin typeface="Consolas"/>
              </a:rPr>
              <a:t>60% 是上限，不是目标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29443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约束「上行赔付率 ≤ 0.6」；实际期望赔付只占 34%（下一页）。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3858768"/>
            <a:ext cx="3410712" cy="1207008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404164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2">
                <a:solidFill>
                  <a:srgbClr val="22D3EE"/>
                </a:solidFill>
                <a:latin typeface="Consolas"/>
              </a:rPr>
              <a:t>逐格可复算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431596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广州 24h：(101 + 30) ÷ 0.6 = 218.3 → 220 分 = 2.2 元，与链上逐格相等。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5230368"/>
            <a:ext cx="34107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EF6E5B"/>
                </a:solidFill>
                <a:latin typeface="微软雅黑"/>
              </a:rPr>
              <a:t>链上只固化自付价；平台批发价目前是商务条款，未写进合约（v6 才做）。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WHERE EVERY YUAN OF A 2.2 YUAN POLICY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一张 2.2 元的平台保单，钱去哪了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08 / UNIT ECONOMICS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437790" cy="786384"/>
          </a:xfrm>
          <a:prstGeom prst="roundRect">
            <a:avLst>
              <a:gd name="adj" fmla="val 4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39"/>
            <a:ext cx="243779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A1422"/>
                </a:solidFill>
                <a:latin typeface="Consolas"/>
              </a:rPr>
              <a:t>34%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1878" y="1874519"/>
            <a:ext cx="993038" cy="786384"/>
          </a:xfrm>
          <a:prstGeom prst="roundRect">
            <a:avLst>
              <a:gd name="adj" fmla="val 4000"/>
            </a:avLst>
          </a:prstGeom>
          <a:solidFill>
            <a:srgbClr val="74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1878" y="2148839"/>
            <a:ext cx="99303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A1422"/>
                </a:solidFill>
                <a:latin typeface="Consolas"/>
              </a:rPr>
              <a:t>14%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53204" y="1874519"/>
            <a:ext cx="1065276" cy="786384"/>
          </a:xfrm>
          <a:prstGeom prst="roundRect">
            <a:avLst>
              <a:gd name="adj" fmla="val 4000"/>
            </a:avLst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3204" y="2148839"/>
            <a:ext cx="10652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A1422"/>
                </a:solidFill>
                <a:latin typeface="Consolas"/>
              </a:rPr>
              <a:t>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6768" y="1874519"/>
            <a:ext cx="1787652" cy="786384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6768" y="2148839"/>
            <a:ext cx="17876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A1422"/>
                </a:solidFill>
                <a:latin typeface="Consolas"/>
              </a:rPr>
              <a:t>25%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2708" y="1874519"/>
            <a:ext cx="848563" cy="786384"/>
          </a:xfrm>
          <a:prstGeom prst="roundRect">
            <a:avLst>
              <a:gd name="adj" fmla="val 4000"/>
            </a:avLst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2708" y="2148839"/>
            <a:ext cx="84856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A1422"/>
                </a:solidFill>
                <a:latin typeface="Consolas"/>
              </a:rPr>
              <a:t>12%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834640"/>
            <a:ext cx="91440" cy="91440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76148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期望赔付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27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0.74 元</a:t>
            </a:r>
          </a:p>
        </p:txBody>
      </p:sp>
      <p:sp>
        <p:nvSpPr>
          <p:cNvPr id="21" name="Oval 20"/>
          <p:cNvSpPr/>
          <p:nvPr/>
        </p:nvSpPr>
        <p:spPr>
          <a:xfrm>
            <a:off x="2148840" y="2834640"/>
            <a:ext cx="91440" cy="91440"/>
          </a:xfrm>
          <a:prstGeom prst="ellipse">
            <a:avLst/>
          </a:prstGeom>
          <a:solidFill>
            <a:srgbClr val="74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276148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固定成本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127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4869B"/>
                </a:solidFill>
                <a:latin typeface="Consolas"/>
              </a:rPr>
              <a:t>0.30 元</a:t>
            </a:r>
          </a:p>
        </p:txBody>
      </p:sp>
      <p:sp>
        <p:nvSpPr>
          <p:cNvPr id="24" name="Oval 23"/>
          <p:cNvSpPr/>
          <p:nvPr/>
        </p:nvSpPr>
        <p:spPr>
          <a:xfrm>
            <a:off x="3611880" y="2834640"/>
            <a:ext cx="91440" cy="91440"/>
          </a:xfrm>
          <a:prstGeom prst="ellipse">
            <a:avLst/>
          </a:prstGeom>
          <a:solidFill>
            <a:srgbClr val="2D7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276148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再保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127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7FF9"/>
                </a:solidFill>
                <a:latin typeface="Consolas"/>
              </a:rPr>
              <a:t>0.33 元</a:t>
            </a:r>
          </a:p>
        </p:txBody>
      </p:sp>
      <p:sp>
        <p:nvSpPr>
          <p:cNvPr id="27" name="Oval 26"/>
          <p:cNvSpPr/>
          <p:nvPr/>
        </p:nvSpPr>
        <p:spPr>
          <a:xfrm>
            <a:off x="5074920" y="283464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276148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渠道与运营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127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0.55 元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2834640"/>
            <a:ext cx="91440" cy="91440"/>
          </a:xfrm>
          <a:prstGeom prst="ellipse">
            <a:avLst/>
          </a:prstGeom>
          <a:solidFill>
            <a:srgbClr val="35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761488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毛利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127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9A"/>
                </a:solidFill>
                <a:latin typeface="Consolas"/>
              </a:rPr>
              <a:t>0.28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81328"/>
            <a:ext cx="72237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Consolas"/>
              </a:rPr>
              <a:t>保费 2.20 元 = 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675887"/>
            <a:ext cx="7223760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" y="3858768"/>
            <a:ext cx="2304288" cy="1243584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4023359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期望赔付率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427939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5D09A"/>
                </a:solidFill>
                <a:latin typeface="Consolas"/>
              </a:rPr>
              <a:t>34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4773168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收 100 赔 34，不是 60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54680" y="3858768"/>
            <a:ext cx="2304288" cy="1243584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4023359"/>
            <a:ext cx="19019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定损成本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4279392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5D09A"/>
                </a:solidFill>
                <a:latin typeface="Consolas"/>
              </a:rPr>
              <a:t>0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4773168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不查勘、不定损、不举证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23560" y="3858768"/>
            <a:ext cx="2286000" cy="1243584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24728" y="4023359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触发倍数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24728" y="4279392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2D3EE"/>
                </a:solidFill>
                <a:latin typeface="Consolas"/>
              </a:rPr>
              <a:t>2.6–6.7</a:t>
            </a:r>
            <a:r>
              <a:rPr sz="1200" b="0">
                <a:solidFill>
                  <a:srgbClr val="74869B"/>
                </a:solidFill>
                <a:latin typeface="微软雅黑"/>
              </a:rPr>
              <a:t> 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4728" y="477316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条件触发率 vs 单点概率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1481328"/>
            <a:ext cx="3410712" cy="224028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1682496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spc="3">
                <a:solidFill>
                  <a:srgbClr val="22D3EE"/>
                </a:solidFill>
                <a:latin typeface="Consolas"/>
              </a:rPr>
              <a:t>和传统保险相反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1993392"/>
            <a:ext cx="3035808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传统保险的钱花在「查」：查勘、核赔、诉讼反欺诈。
我们把这一整块换成一条链上判定，成本结构从人力密集变成算力加校验。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3895344"/>
            <a:ext cx="3410712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74869B"/>
                </a:solidFill>
                <a:latin typeface="微软雅黑"/>
              </a:rPr>
              <a:t>口径说明：以广州 24h 平台批发价 2.2 元为例。
赔付率为期望值，按 11 年回测的上界概率计算，不含极端年份尾部。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SO WHO PAYS FOR THIS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谁为这笔风险付账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09 / 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</a:rPr>
              <a:t>主路径：平台／众包服务商批量代付。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B4C2D2"/>
                </a:solidFill>
                <a:latin typeface="微软雅黑"/>
              </a:rPr>
              <a:t>骑手自费是补充，不是主线。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66928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B4C2D2"/>
                </a:solidFill>
                <a:latin typeface="微软雅黑"/>
              </a:rPr>
              <a:t>单均 1–9 元，靠骑手逐单付费撑不起渠道成本；但平台一次决策就能覆盖成千上万骑手，边际获客成本趋近于零。
更关键：暴雨天的运力缺口与事故舆情，本身就是平台必须花的钱。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77056"/>
            <a:ext cx="5669280" cy="676656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96849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4C2D2"/>
                </a:solidFill>
                <a:latin typeface="微软雅黑"/>
              </a:rPr>
              <a:t>骑手自付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3986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价格极敏感、获客成本高、单均太小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63440"/>
            <a:ext cx="5669280" cy="676656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35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75488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平台 / 众包服务商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477316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一次决策覆盖上万人，边际成本≈0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75488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5D09A"/>
                </a:solidFill>
                <a:latin typeface="Consolas"/>
              </a:rPr>
              <a:t>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49824"/>
            <a:ext cx="5669280" cy="676656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554126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4C2D2"/>
                </a:solidFill>
                <a:latin typeface="微软雅黑"/>
              </a:rPr>
              <a:t>保险公司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55595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我们输出定价与证据能力，做技术方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444752"/>
            <a:ext cx="4782312" cy="1481328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7" y="1609344"/>
            <a:ext cx="4379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第二阶段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1865376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7FF9"/>
                </a:solidFill>
                <a:latin typeface="Consolas"/>
              </a:rPr>
              <a:t>技术输出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2359152"/>
            <a:ext cx="437997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把参数化定价、喂价验收、链上证据层卖给持牌保险公司 —— 我们不做承保主体。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3108960"/>
            <a:ext cx="4782312" cy="1481328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7" y="3273552"/>
            <a:ext cx="437997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spc="4">
                <a:solidFill>
                  <a:srgbClr val="74869B"/>
                </a:solidFill>
                <a:latin typeface="Consolas"/>
              </a:rPr>
              <a:t>收费形态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3529584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2D3EE"/>
                </a:solidFill>
                <a:latin typeface="Consolas"/>
              </a:rPr>
              <a:t>双轨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7" y="4023360"/>
            <a:ext cx="4379976" cy="475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平台按人头批量结算＋按保额分成；骑手端保留自费入口作为补充。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773168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为什么这条路径必须成立：我们不是持牌承保主体，也不打算是。
没有平台这一层，产品在法理上更接近对赌而不是保险。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SMALL MARKET, BUT ENOUGH FOR A TECH VENDOR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市场不大，但足够养活一个技术服务商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10 /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6629400" cy="93268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5240">
            <a:solidFill>
              <a:srgbClr val="2D7F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0078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spc="6">
                <a:solidFill>
                  <a:srgbClr val="2D7FF9"/>
                </a:solidFill>
                <a:latin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64208"/>
            <a:ext cx="1417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onsolas"/>
              </a:rPr>
              <a:t>19–26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17556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4869B"/>
                </a:solidFill>
                <a:latin typeface="微软雅黑"/>
              </a:rPr>
              <a:t>亿元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7556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全国灵活用工天气风险可保规模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61488"/>
            <a:ext cx="5806440" cy="93268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88950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spc="6">
                <a:solidFill>
                  <a:srgbClr val="22D3EE"/>
                </a:solidFill>
                <a:latin typeface="Consolas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52928"/>
            <a:ext cx="1417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onsolas"/>
              </a:rPr>
              <a:t>3.6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94436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4869B"/>
                </a:solidFill>
                <a:latin typeface="微软雅黑"/>
              </a:rPr>
              <a:t>亿元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94436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即时配送骑手 × 现有六城可触达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50208"/>
            <a:ext cx="4389120" cy="93268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5240">
            <a:solidFill>
              <a:srgbClr val="35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07822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spc="6">
                <a:solidFill>
                  <a:srgbClr val="35D09A"/>
                </a:solidFill>
                <a:latin typeface="Consolas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41648"/>
            <a:ext cx="14173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onsolas"/>
              </a:rPr>
              <a:t>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413308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4869B"/>
                </a:solidFill>
                <a:latin typeface="微软雅黑"/>
              </a:rPr>
              <a:t>亿元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1330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三年内单区域渗透 30% 的可及规模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30368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我们把 TAM 写小一点：4.25 亿蓝领里，真正会被暴雨打断收入且能被参数化定价的，是即时配送这一小群人。
把市场说大，是这个行业最容易犯的错。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572768"/>
            <a:ext cx="3410712" cy="23317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773936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3">
                <a:solidFill>
                  <a:srgbClr val="22D3EE"/>
                </a:solidFill>
                <a:latin typeface="Consolas"/>
              </a:rPr>
              <a:t>政策口径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084831"/>
            <a:ext cx="3035808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人社部发〔2025〕24 号：明确新就业形态劳动者职业伤害保障扩围。
我们在这条政策链上，扮演的是「可核验的补偿工具」。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078224"/>
            <a:ext cx="3410712" cy="141732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26110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3">
                <a:solidFill>
                  <a:srgbClr val="22D3EE"/>
                </a:solidFill>
                <a:latin typeface="Consolas"/>
              </a:rPr>
              <a:t>单骑手可服务规模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572000"/>
            <a:ext cx="305409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两种口径都给：只在暴雨日买 ≈ 53 元／人／年（12 天 × 2 单 × 2.2 元）；雨季常规投保 ≈ 140 元／人／年（100 天 × 1.4 元）。SOM 按后者算。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BACK TO THAT RIDER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回到那个骑手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11 /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17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spc="3">
                <a:solidFill>
                  <a:srgbClr val="74869B"/>
                </a:solidFill>
                <a:latin typeface="Consolas"/>
              </a:rPr>
              <a:t>对比维度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151790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spc="3">
                <a:solidFill>
                  <a:srgbClr val="74869B"/>
                </a:solidFill>
                <a:latin typeface="Consolas"/>
              </a:rPr>
              <a:t>传统骑手意外险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1790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spc="3">
                <a:solidFill>
                  <a:srgbClr val="22D3EE"/>
                </a:solidFill>
                <a:latin typeface="Consolas"/>
              </a:rPr>
              <a:t>雨证 · 参数化降雨保障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47088"/>
            <a:ext cx="10817352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10817352" cy="640080"/>
          </a:xfrm>
          <a:prstGeom prst="roundRect">
            <a:avLst>
              <a:gd name="adj" fmla="val 4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2">
                <a:solidFill>
                  <a:srgbClr val="22D3EE"/>
                </a:solidFill>
                <a:latin typeface="Consolas"/>
              </a:rPr>
              <a:t>触发依据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066544"/>
            <a:ext cx="3886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实际受伤与实际损失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6654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微软雅黑"/>
              </a:rPr>
              <a:t>该区域链上累计降雨是否越过档线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70048"/>
            <a:ext cx="10817352" cy="640080"/>
          </a:xfrm>
          <a:prstGeom prst="roundRect">
            <a:avLst>
              <a:gd name="adj" fmla="val 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163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2">
                <a:solidFill>
                  <a:srgbClr val="22D3EE"/>
                </a:solidFill>
                <a:latin typeface="Consolas"/>
              </a:rPr>
              <a:t>举证责任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798064"/>
            <a:ext cx="3886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骑手报案 + 人工查勘定损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9806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微软雅黑"/>
              </a:rPr>
              <a:t>无人报案，判定链上自证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01568"/>
            <a:ext cx="10817352" cy="640080"/>
          </a:xfrm>
          <a:prstGeom prst="roundRect">
            <a:avLst>
              <a:gd name="adj" fmla="val 4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4787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2">
                <a:solidFill>
                  <a:srgbClr val="22D3EE"/>
                </a:solidFill>
                <a:latin typeface="Consolas"/>
              </a:rPr>
              <a:t>到账时间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3529584"/>
            <a:ext cx="3886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数天到数周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2958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微软雅黑"/>
              </a:rPr>
              <a:t>判定上链后，任何人可立即触发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33088"/>
            <a:ext cx="10817352" cy="640080"/>
          </a:xfrm>
          <a:prstGeom prst="roundRect">
            <a:avLst>
              <a:gd name="adj" fmla="val 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7939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2">
                <a:solidFill>
                  <a:srgbClr val="22D3EE"/>
                </a:solidFill>
                <a:latin typeface="Consolas"/>
              </a:rPr>
              <a:t>单笔成本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1528" y="4261104"/>
            <a:ext cx="3886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查勘成本与赔款同量级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6110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微软雅黑"/>
              </a:rPr>
              <a:t>免人工定损；仍有数据与服务成本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64608"/>
            <a:ext cx="10817352" cy="640080"/>
          </a:xfrm>
          <a:prstGeom prst="roundRect">
            <a:avLst>
              <a:gd name="adj" fmla="val 4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01091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2">
                <a:solidFill>
                  <a:srgbClr val="22D3EE"/>
                </a:solidFill>
                <a:latin typeface="Consolas"/>
              </a:rPr>
              <a:t>可否复核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81528" y="4992624"/>
            <a:ext cx="3886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看保险公司的结论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99262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微软雅黑"/>
              </a:rPr>
              <a:t>第三方用同一份原始数据重算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05856"/>
            <a:ext cx="1081735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贵的不是赔付，是「查」。我们删掉的正是这一环 —— 代价是赔付额固定，不一定等于真实损失。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FOUR THINGS WE HAVE NOT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我们还没做到的四件事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12 / HONEST GAPS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10817352" cy="1078992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17904"/>
            <a:ext cx="50292" cy="1078992"/>
          </a:xfrm>
          <a:prstGeom prst="roundRect">
            <a:avLst>
              <a:gd name="adj" fmla="val 2000"/>
            </a:avLst>
          </a:prstGeom>
          <a:solidFill>
            <a:srgbClr val="EF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1664207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F6E5B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45919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身份与保险利益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19"/>
            <a:ext cx="6812280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现在任何人付钱都能买（`eligibleRequired = false`）。缺这一层，产品在法理上更接近对赌。白名单机制已备好，赛期默认关闭。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200"/>
            <a:ext cx="10817352" cy="1078992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50292" cy="1078992"/>
          </a:xfrm>
          <a:prstGeom prst="roundRect">
            <a:avLst>
              <a:gd name="adj" fmla="val 2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88950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712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基差风险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71216"/>
            <a:ext cx="6812280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用城市中心代表全市，郊区下雨、市区没下时判定与体感不一致。路线图是多站点加权，赛期不做。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68496"/>
            <a:ext cx="10817352" cy="1078992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968496"/>
            <a:ext cx="50292" cy="1078992"/>
          </a:xfrm>
          <a:prstGeom prst="roundRect">
            <a:avLst>
              <a:gd name="adj" fmla="val 2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41148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524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9651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赔付路径缺链上证据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96511"/>
            <a:ext cx="6812280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唯一一张保单的判定是 DENY（增量 0mm &lt; 30mm）。投保→喂价→判定→上链四步都通了，但「判赔并到账」那一步还没有真链证据。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93792"/>
            <a:ext cx="10817352" cy="1078992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5193792"/>
            <a:ext cx="50292" cy="1078992"/>
          </a:xfrm>
          <a:prstGeom prst="roundRect">
            <a:avLst>
              <a:gd name="adj" fmla="val 2000"/>
            </a:avLst>
          </a:prstGeom>
          <a:solidFill>
            <a:srgbClr val="748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534009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4869B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218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第三方安全审计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321808"/>
            <a:ext cx="6812280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4C2D2"/>
                </a:solidFill>
                <a:latin typeface="微软雅黑"/>
              </a:rPr>
              <a:t>没有审计。有的是 22 道自动化门禁、源码/产物/链上三重比对、operator 2/3 多签。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4869B"/>
                </a:solidFill>
                <a:latin typeface="微软雅黑"/>
              </a:rPr>
              <a:t>这四条我们自己挂在墙上。答辩时被问到任何一条，都按这页答 —— 承认边界不是失分项，藏缺陷才是。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"/>
            <a:ext cx="76992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THE NEXT TWELVE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微软雅黑"/>
              </a:rPr>
              <a:t>接下来 12 个月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84048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0" spc="5">
                <a:solidFill>
                  <a:srgbClr val="74869B"/>
                </a:solidFill>
                <a:latin typeface="Consolas"/>
              </a:rPr>
              <a:t>13 /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17904"/>
            <a:ext cx="2578608" cy="1700784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7007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6">
                <a:solidFill>
                  <a:srgbClr val="22D3EE"/>
                </a:solidFill>
                <a:latin typeface="Consolas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993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合约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3408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判定加窗口校验、定价参数真正生效、赔付链上留痕；完成第一笔「判赔→到账」。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517904"/>
            <a:ext cx="2578608" cy="1700784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17007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6">
                <a:solidFill>
                  <a:srgbClr val="2D7FF9"/>
                </a:solidFill>
                <a:latin typeface="Consolas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1993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合规收口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3408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接入平台身份 attestation，把「谁有资格买」从链上白名单落到平台侧。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17904"/>
            <a:ext cx="2578608" cy="1700784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7007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6">
                <a:solidFill>
                  <a:srgbClr val="2D7FF9"/>
                </a:solidFill>
                <a:latin typeface="Consolas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993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扩城与多站点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3408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从 6 城扩到 15–20 城，同城多站点加权，压基差风险。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517904"/>
            <a:ext cx="2578608" cy="1700784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6">
                <a:solidFill>
                  <a:srgbClr val="35D09A"/>
                </a:solidFill>
                <a:latin typeface="Consolas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993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技术输出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3408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把定价与证据层打包给持牌保险公司，跑第一份商业合同。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401568"/>
            <a:ext cx="10817352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84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4">
                <a:solidFill>
                  <a:srgbClr val="22D3EE"/>
                </a:solidFill>
                <a:latin typeface="Consolas"/>
              </a:rPr>
              <a:t>团队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13632"/>
            <a:ext cx="2121408" cy="93268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59936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【待填】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3425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D3EE"/>
                </a:solidFill>
                <a:latin typeface="微软雅黑"/>
              </a:rPr>
              <a:t>队长 · 产品与合约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5371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9B"/>
                </a:solidFill>
                <a:latin typeface="微软雅黑"/>
              </a:rPr>
              <a:t>【院系 / 年级】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3913632"/>
            <a:ext cx="2121408" cy="93268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4059936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【待填】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3425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D3EE"/>
                </a:solidFill>
                <a:latin typeface="微软雅黑"/>
              </a:rPr>
              <a:t>精算与定价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55371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9B"/>
                </a:solidFill>
                <a:latin typeface="微软雅黑"/>
              </a:rPr>
              <a:t>【院系 / 年级】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3913632"/>
            <a:ext cx="2121408" cy="932688"/>
          </a:xfrm>
          <a:prstGeom prst="roundRect">
            <a:avLst>
              <a:gd name="adj" fmla="val 5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4059936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【待填】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33425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D3EE"/>
                </a:solidFill>
                <a:latin typeface="微软雅黑"/>
              </a:rPr>
              <a:t>前端与演示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55371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9B"/>
                </a:solidFill>
                <a:latin typeface="微软雅黑"/>
              </a:rPr>
              <a:t>【院系 / 年级】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4748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4869B"/>
                </a:solidFill>
                <a:latin typeface="微软雅黑"/>
              </a:rPr>
              <a:t>指导教师  【待填 · 姓名 / 职称】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3913632"/>
            <a:ext cx="3410712" cy="1554480"/>
          </a:xfrm>
          <a:prstGeom prst="roundRect">
            <a:avLst>
              <a:gd name="adj" fmla="val 6000"/>
            </a:avLst>
          </a:prstGeom>
          <a:solidFill>
            <a:srgbClr val="121E2F"/>
          </a:solidFill>
          <a:ln w="12700">
            <a:solidFill>
              <a:srgbClr val="243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4078224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spc="3">
                <a:solidFill>
                  <a:srgbClr val="22D3EE"/>
                </a:solidFill>
                <a:latin typeface="Consolas"/>
              </a:rPr>
              <a:t>已有进展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4370832"/>
            <a:ext cx="303580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B4C2D2"/>
                </a:solidFill>
                <a:latin typeface="微软雅黑"/>
              </a:rPr>
              <a:t>合约已部署并真实运行 21 小时 · 22 道门禁全绿 · 核验台 8/8 · 六城区划码 · 两票治理在跑。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3951"/>
            <a:ext cx="38404" cy="285292"/>
          </a:xfrm>
          <a:prstGeom prst="rect">
            <a:avLst/>
          </a:prstGeom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916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125" b="0">
                <a:solidFill>
                  <a:srgbClr val="74869B"/>
                </a:solidFill>
                <a:latin typeface="Consolas"/>
              </a:rP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4" y="38404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768096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5255" y="1152144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1" y="1536192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35607" y="192024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0784" y="230428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0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31136" y="384048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6312" y="768096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61488" y="1152144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26664" y="1536192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39" y="1920240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57015" y="2304288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22191" y="0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87368" y="384048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2544" y="768096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1152144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82896" y="1536192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8072" y="1920240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13248" y="2304288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78424" y="0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84048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8776" y="768096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73951" y="1152144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39127" y="1536192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04303" y="1920240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79" y="2304288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34655" y="0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99831" y="384048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7" y="768096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30183" y="1152144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59" y="1536192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0535" y="1920240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25711" y="2304288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90887" y="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56063" y="38404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21239" y="768096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86415" y="1152144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1591" y="1536192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16767" y="1920240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81943" y="2304288"/>
            <a:ext cx="5486" cy="155448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47119" y="0"/>
            <a:ext cx="5486" cy="205740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512295" y="384048"/>
            <a:ext cx="5486" cy="256032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777472" y="768096"/>
            <a:ext cx="5486" cy="306324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42647" y="1152144"/>
            <a:ext cx="5486" cy="1051560"/>
          </a:xfrm>
          <a:prstGeom prst="rect">
            <a:avLst/>
          </a:prstGeom>
          <a:solidFill>
            <a:srgbClr val="16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1874519"/>
            <a:ext cx="50292" cy="384048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D7FF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2084831"/>
            <a:ext cx="96926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下雨这件事，不该需要谁来批准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3218688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4869B"/>
                </a:solidFill>
                <a:latin typeface="Consolas"/>
              </a:rPr>
              <a:t>Rain should not require anyone's approval to be paid for.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3803904"/>
            <a:ext cx="6766560" cy="10972"/>
          </a:xfrm>
          <a:prstGeom prst="rect">
            <a:avLst/>
          </a:prstGeom>
          <a:solidFill>
            <a:srgbClr val="24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4023360"/>
            <a:ext cx="84124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B4C2D2"/>
                </a:solidFill>
                <a:latin typeface="微软雅黑"/>
              </a:rPr>
              <a:t>把判定、证据和结算放到任何人可复算的地方 —— 这是我们对「可信」的理解。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956048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4869B"/>
                </a:solidFill>
                <a:latin typeface="Consolas"/>
              </a:rPr>
              <a:t>【待填队名】 · 2026 大学生保险模拟创业大赛 · 保险科技应用赛道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431536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D3EE"/>
                </a:solidFill>
                <a:latin typeface="微软雅黑"/>
              </a:rPr>
              <a:t>现场演示：核验台 8 条断言，您自己点。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