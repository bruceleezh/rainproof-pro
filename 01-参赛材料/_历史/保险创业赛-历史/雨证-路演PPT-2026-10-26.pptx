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不讲技术。先讲一个人的一天：早上六点出门，中午开始下雨，晚上八点回家，流水是平时的三分之一。他不缺勤劳，缺的是一份『今天下这么大雨，我少赚的钱谁补』的答案。雨证就是这个答案，而且它不需要他做任何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385 元是一线城市高频熟练骑手的日均值（美团研究院 2024 全年 11,547 元/月 ÷ 30）。重点：这一天的损失没有任何『事故』可以报案。传统保险的理赔流程从第一步就走不通。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这一页是全场最重要的逻辑：参数化不是技术炫技，是唯一能让这个人群的单位经济成立的办法。定损成本→0 之后，几块钱的保单才可能赚钱。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档线直接取国标，这是为了让评委和监管都不用重新论证『多少毫米算暴雨』。『不做第三档』是个主动的诚实动作，评委很吃这一套。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这一页回答『你们和别家 AI 保险的区别』：我们不把 AI 放在决策位上。AI 在这里的位置是『发现运营方写数写错了』，而不是『决定赔不赔』。这是可以写进监管沟通材料的设计。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如果评委只问一个数字，就是这个 2.2 元的推导。分母 60% 是我们的目标赔付率上限，分子里 0.30 元是每份的固定成本（支付通道、运维、再保管理）。注意左边是定价时用的 97.5% 上界（1.01 元），右边是按历史点估计（0.74 元）算的实际赔付率——两者差 27 个百分点，就是我们留的安全边际。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定价差异化是这页的重点：同样的雨，广州比北京贵 64%，因为历史上广州更爱下暴雨。这也回答了『你们凭什么说自己是精算驱动』——每一格背后都有 96,432 小时的样本。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被问牌照就答这句：不卖保险，做技术输出。这是合规路径，也是商业模式成立的前提。平台付费的真正理由不是『骑手没钱』，而是『平台一次决策能覆盖一万人』。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TAM 的 1.5 元是五城 24h 平台团体价的中位数，这是保守口径（不是零售价）。SOM 只算 8 个城市，是刻意的克制——评委更信一个能算清的小数字。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这一页的作用是让『我们真的做了』变成『你可以自己查』。如果现场网络好，直接打开核验台点一次；如果网络不好，就用这张截图 + 让他们自己复跑 npm test。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这一页是加分页，不是减分页。评委见过太多只讲优点的项目；主动说出『基差风险只解决一半』，反而证明我们真的想过产品。注意语气：是「我们知道边界在哪」，不是「我们做不好」。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年仍然是亏的，这一点不要藏——藏了评委一算就穿。我们讲的是『第 3 年靠规模过盈亏平衡』，而这个规模只占 SAM 的 1/3，不激进。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路线图不吹时间表，只讲验收标准。评委最烦『三年上市』这种话。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封底一句话要慢讲。讲完停两秒，等评委翻页。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384048"/>
            <a:ext cx="9525" cy="764209"/>
          </a:xfrm>
          <a:prstGeom prst="rect">
            <a:avLst/>
          </a:prstGeom>
          <a:solidFill>
            <a:srgbClr val="111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7960" y="384048"/>
            <a:ext cx="9525" cy="1212861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2961" y="384048"/>
            <a:ext cx="9525" cy="1055055"/>
          </a:xfrm>
          <a:prstGeom prst="rect">
            <a:avLst/>
          </a:prstGeom>
          <a:solidFill>
            <a:srgbClr val="15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27962" y="384048"/>
            <a:ext cx="9525" cy="399591"/>
          </a:xfrm>
          <a:prstGeom prst="rect">
            <a:avLst/>
          </a:prstGeom>
          <a:solidFill>
            <a:srgbClr val="182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62963" y="384048"/>
            <a:ext cx="9525" cy="371469"/>
          </a:xfrm>
          <a:prstGeom prst="rect">
            <a:avLst/>
          </a:prstGeom>
          <a:solidFill>
            <a:srgbClr val="16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97964" y="384048"/>
            <a:ext cx="9525" cy="415853"/>
          </a:xfrm>
          <a:prstGeom prst="rect">
            <a:avLst/>
          </a:prstGeom>
          <a:solidFill>
            <a:srgbClr val="10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32964" y="384048"/>
            <a:ext cx="9525" cy="902310"/>
          </a:xfrm>
          <a:prstGeom prst="rect">
            <a:avLst/>
          </a:prstGeom>
          <a:solidFill>
            <a:srgbClr val="1E3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67965" y="384048"/>
            <a:ext cx="9525" cy="489846"/>
          </a:xfrm>
          <a:prstGeom prst="rect">
            <a:avLst/>
          </a:prstGeom>
          <a:solidFill>
            <a:srgbClr val="13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02966" y="384048"/>
            <a:ext cx="9525" cy="1180627"/>
          </a:xfrm>
          <a:prstGeom prst="rect">
            <a:avLst/>
          </a:prstGeom>
          <a:solidFill>
            <a:srgbClr val="213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37967" y="384048"/>
            <a:ext cx="9525" cy="1111594"/>
          </a:xfrm>
          <a:prstGeom prst="rect">
            <a:avLst/>
          </a:prstGeom>
          <a:solidFill>
            <a:srgbClr val="16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72968" y="384048"/>
            <a:ext cx="9525" cy="1659071"/>
          </a:xfrm>
          <a:prstGeom prst="rect">
            <a:avLst/>
          </a:prstGeom>
          <a:solidFill>
            <a:srgbClr val="0F1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7968" y="384048"/>
            <a:ext cx="9525" cy="1497515"/>
          </a:xfrm>
          <a:prstGeom prst="rect">
            <a:avLst/>
          </a:prstGeom>
          <a:solidFill>
            <a:srgbClr val="14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42969" y="384048"/>
            <a:ext cx="9525" cy="517900"/>
          </a:xfrm>
          <a:prstGeom prst="rect">
            <a:avLst/>
          </a:prstGeom>
          <a:solidFill>
            <a:srgbClr val="10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77970" y="384048"/>
            <a:ext cx="9525" cy="743153"/>
          </a:xfrm>
          <a:prstGeom prst="rect">
            <a:avLst/>
          </a:prstGeom>
          <a:solidFill>
            <a:srgbClr val="1E3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2971" y="384048"/>
            <a:ext cx="9525" cy="567924"/>
          </a:xfrm>
          <a:prstGeom prst="rect">
            <a:avLst/>
          </a:prstGeom>
          <a:solidFill>
            <a:srgbClr val="19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7972" y="384048"/>
            <a:ext cx="9525" cy="1196373"/>
          </a:xfrm>
          <a:prstGeom prst="rect">
            <a:avLst/>
          </a:prstGeom>
          <a:solidFill>
            <a:srgbClr val="15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82972" y="384048"/>
            <a:ext cx="9525" cy="1071326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17973" y="384048"/>
            <a:ext cx="9525" cy="401788"/>
          </a:xfrm>
          <a:prstGeom prst="rect">
            <a:avLst/>
          </a:prstGeom>
          <a:solidFill>
            <a:srgbClr val="12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52974" y="384048"/>
            <a:ext cx="9525" cy="1253276"/>
          </a:xfrm>
          <a:prstGeom prst="rect">
            <a:avLst/>
          </a:prstGeom>
          <a:solidFill>
            <a:srgbClr val="16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87975" y="384048"/>
            <a:ext cx="9525" cy="750924"/>
          </a:xfrm>
          <a:prstGeom prst="rect">
            <a:avLst/>
          </a:prstGeom>
          <a:solidFill>
            <a:srgbClr val="1A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384048"/>
            <a:ext cx="9525" cy="941627"/>
          </a:xfrm>
          <a:prstGeom prst="rect">
            <a:avLst/>
          </a:prstGeom>
          <a:solidFill>
            <a:srgbClr val="14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57976" y="384048"/>
            <a:ext cx="9525" cy="1409610"/>
          </a:xfrm>
          <a:prstGeom prst="rect">
            <a:avLst/>
          </a:prstGeom>
          <a:solidFill>
            <a:srgbClr val="1C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92977" y="384048"/>
            <a:ext cx="9525" cy="654842"/>
          </a:xfrm>
          <a:prstGeom prst="rect">
            <a:avLst/>
          </a:prstGeom>
          <a:solidFill>
            <a:srgbClr val="19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27978" y="384048"/>
            <a:ext cx="9525" cy="1040399"/>
          </a:xfrm>
          <a:prstGeom prst="rect">
            <a:avLst/>
          </a:prstGeom>
          <a:solidFill>
            <a:srgbClr val="1F3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62979" y="384048"/>
            <a:ext cx="9525" cy="1320547"/>
          </a:xfrm>
          <a:prstGeom prst="rect">
            <a:avLst/>
          </a:prstGeom>
          <a:solidFill>
            <a:srgbClr val="14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97980" y="384048"/>
            <a:ext cx="9525" cy="1664447"/>
          </a:xfrm>
          <a:prstGeom prst="rect">
            <a:avLst/>
          </a:prstGeom>
          <a:solidFill>
            <a:srgbClr val="10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32980" y="384048"/>
            <a:ext cx="9525" cy="893537"/>
          </a:xfrm>
          <a:prstGeom prst="rect">
            <a:avLst/>
          </a:prstGeom>
          <a:solidFill>
            <a:srgbClr val="1D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67981" y="384048"/>
            <a:ext cx="9525" cy="528501"/>
          </a:xfrm>
          <a:prstGeom prst="rect">
            <a:avLst/>
          </a:prstGeom>
          <a:solidFill>
            <a:srgbClr val="17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02982" y="384048"/>
            <a:ext cx="9525" cy="373816"/>
          </a:xfrm>
          <a:prstGeom prst="rect">
            <a:avLst/>
          </a:prstGeom>
          <a:solidFill>
            <a:srgbClr val="1B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37983" y="384048"/>
            <a:ext cx="9525" cy="1368725"/>
          </a:xfrm>
          <a:prstGeom prst="rect">
            <a:avLst/>
          </a:prstGeom>
          <a:solidFill>
            <a:srgbClr val="19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72983" y="384048"/>
            <a:ext cx="9525" cy="1520845"/>
          </a:xfrm>
          <a:prstGeom prst="rect">
            <a:avLst/>
          </a:prstGeom>
          <a:solidFill>
            <a:srgbClr val="14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07984" y="384048"/>
            <a:ext cx="9525" cy="1273707"/>
          </a:xfrm>
          <a:prstGeom prst="rect">
            <a:avLst/>
          </a:prstGeom>
          <a:solidFill>
            <a:srgbClr val="1A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42985" y="384048"/>
            <a:ext cx="9525" cy="1115424"/>
          </a:xfrm>
          <a:prstGeom prst="rect">
            <a:avLst/>
          </a:prstGeom>
          <a:solidFill>
            <a:srgbClr val="172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77986" y="384048"/>
            <a:ext cx="9525" cy="1472139"/>
          </a:xfrm>
          <a:prstGeom prst="rect">
            <a:avLst/>
          </a:prstGeom>
          <a:solidFill>
            <a:srgbClr val="2035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12987" y="384048"/>
            <a:ext cx="9525" cy="970313"/>
          </a:xfrm>
          <a:prstGeom prst="rect">
            <a:avLst/>
          </a:prstGeom>
          <a:solidFill>
            <a:srgbClr val="1B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47988" y="384048"/>
            <a:ext cx="9525" cy="403254"/>
          </a:xfrm>
          <a:prstGeom prst="rect">
            <a:avLst/>
          </a:prstGeom>
          <a:solidFill>
            <a:srgbClr val="1C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82988" y="384048"/>
            <a:ext cx="9525" cy="1207641"/>
          </a:xfrm>
          <a:prstGeom prst="rect">
            <a:avLst/>
          </a:prstGeom>
          <a:solidFill>
            <a:srgbClr val="213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17989" y="384048"/>
            <a:ext cx="9525" cy="1447392"/>
          </a:xfrm>
          <a:prstGeom prst="rect">
            <a:avLst/>
          </a:prstGeom>
          <a:solidFill>
            <a:srgbClr val="14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52990" y="384048"/>
            <a:ext cx="9525" cy="849191"/>
          </a:xfrm>
          <a:prstGeom prst="rect">
            <a:avLst/>
          </a:prstGeom>
          <a:solidFill>
            <a:srgbClr val="1B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987991" y="384048"/>
            <a:ext cx="9525" cy="350987"/>
          </a:xfrm>
          <a:prstGeom prst="rect">
            <a:avLst/>
          </a:prstGeom>
          <a:solidFill>
            <a:srgbClr val="172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22992" y="384048"/>
            <a:ext cx="9525" cy="550535"/>
          </a:xfrm>
          <a:prstGeom prst="rect">
            <a:avLst/>
          </a:prstGeom>
          <a:solidFill>
            <a:srgbClr val="10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57992" y="384048"/>
            <a:ext cx="9525" cy="400901"/>
          </a:xfrm>
          <a:prstGeom prst="rect">
            <a:avLst/>
          </a:prstGeom>
          <a:solidFill>
            <a:srgbClr val="1D30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692993" y="384048"/>
            <a:ext cx="9525" cy="497443"/>
          </a:xfrm>
          <a:prstGeom prst="rect">
            <a:avLst/>
          </a:prstGeom>
          <a:solidFill>
            <a:srgbClr val="13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927994" y="384048"/>
            <a:ext cx="9525" cy="856266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162995" y="384048"/>
            <a:ext cx="9525" cy="430565"/>
          </a:xfrm>
          <a:prstGeom prst="rect">
            <a:avLst/>
          </a:prstGeom>
          <a:solidFill>
            <a:srgbClr val="17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397996" y="384048"/>
            <a:ext cx="9525" cy="1073651"/>
          </a:xfrm>
          <a:prstGeom prst="rect">
            <a:avLst/>
          </a:prstGeom>
          <a:solidFill>
            <a:srgbClr val="1F3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221284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34D3E4"/>
                </a:solidFill>
                <a:latin typeface="Microsoft YaHei"/>
              </a:rPr>
              <a:t>分子实验室 2026 大学生保险模拟创业大赛 · 保险科技应用赛道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2670048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6200" b="1">
                <a:solidFill>
                  <a:srgbClr val="EDF3FA"/>
                </a:solidFill>
                <a:latin typeface="Microsoft YaHei"/>
              </a:rPr>
              <a:t>雨证 </a:t>
            </a:r>
            <a:r>
              <a:rPr sz="4400" b="0">
                <a:solidFill>
                  <a:srgbClr val="A6B8CB"/>
                </a:solidFill>
                <a:latin typeface="Consolas"/>
              </a:rPr>
              <a:t>RainProof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112" y="3913632"/>
            <a:ext cx="1371600" cy="28575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" y="4224528"/>
            <a:ext cx="9692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600" b="1">
                <a:solidFill>
                  <a:srgbClr val="EDF3FA"/>
                </a:solidFill>
                <a:latin typeface="Microsoft YaHei"/>
              </a:rPr>
              <a:t>可复算的参数化降雨保障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" y="5138928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00" b="0">
                <a:solidFill>
                  <a:srgbClr val="A6B8CB"/>
                </a:solidFill>
                <a:latin typeface="Microsoft YaHei"/>
              </a:rPr>
              <a:t>骑手暴雨天跑不了单，收入当天归零。</a:t>
            </a:r>
            <a:r>
              <a:rPr sz="1500" b="0">
                <a:solidFill>
                  <a:srgbClr val="A6B8CB"/>
                </a:solidFill>
                <a:latin typeface="Microsoft YaHei"/>
              </a:rPr>
              <a:t>雨量过线，系统自动赔 —— 不报案、不定损、不求人。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" y="62727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E8299"/>
                </a:solidFill>
                <a:latin typeface="Microsoft YaHei"/>
              </a:rPr>
              <a:t>2026.11 · 队名待定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475488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34D3E4"/>
                </a:solidFill>
                <a:latin typeface="Microsoft YaHei"/>
              </a:rPr>
              <a:t>01 / 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EDF3FA"/>
                </a:solidFill>
                <a:latin typeface="Microsoft YaHei"/>
              </a:rPr>
              <a:t>一个骑手的雨天，损失是即时的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517904"/>
            <a:ext cx="10451592" cy="9525"/>
          </a:xfrm>
          <a:prstGeom prst="rect">
            <a:avLst/>
          </a:prstGeom>
          <a:solidFill>
            <a:srgbClr val="2A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32764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E8299"/>
                </a:solidFill>
                <a:latin typeface="Consola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27648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E8299"/>
                </a:solidFill>
                <a:latin typeface="Microsoft YaHei"/>
              </a:rPr>
              <a:t>雨证 RainProof · 可复算的参数化降雨保障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E8299"/>
                </a:solidFill>
                <a:latin typeface="Consolas"/>
              </a:rPr>
              <a:t>06:40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929383"/>
            <a:ext cx="9525" cy="457200"/>
          </a:xfrm>
          <a:prstGeom prst="rect">
            <a:avLst/>
          </a:prstGeom>
          <a:solidFill>
            <a:srgbClr val="2A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29968" y="1856231"/>
            <a:ext cx="9052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A6B8CB"/>
                </a:solidFill>
                <a:latin typeface="Microsoft YaHei"/>
              </a:rPr>
              <a:t>出车。今天预报有雨，平台单量预估下降 30%。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60903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E8299"/>
                </a:solidFill>
                <a:latin typeface="Consolas"/>
              </a:rPr>
              <a:t>11:20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2715767"/>
            <a:ext cx="9525" cy="457200"/>
          </a:xfrm>
          <a:prstGeom prst="rect">
            <a:avLst/>
          </a:prstGeom>
          <a:solidFill>
            <a:srgbClr val="2A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29968" y="2642615"/>
            <a:ext cx="9052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A6B8CB"/>
                </a:solidFill>
                <a:latin typeface="Microsoft YaHei"/>
              </a:rPr>
              <a:t>雨开始下。地面湿滑，摔一单就是几百块，他放慢速度。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47287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E8299"/>
                </a:solidFill>
                <a:latin typeface="Consolas"/>
              </a:rPr>
              <a:t>14:00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3502151"/>
            <a:ext cx="9525" cy="457200"/>
          </a:xfrm>
          <a:prstGeom prst="rect">
            <a:avLst/>
          </a:prstGeom>
          <a:solidFill>
            <a:srgbClr val="2A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29968" y="3428999"/>
            <a:ext cx="9052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FFC857"/>
                </a:solidFill>
                <a:latin typeface="Microsoft YaHei"/>
              </a:rPr>
              <a:t>小时降雨 12mm。系统提示「恶劣天气」，配送时限放宽，单量继续掉。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33671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E8299"/>
                </a:solidFill>
                <a:latin typeface="Consolas"/>
              </a:rPr>
              <a:t>18:30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288535"/>
            <a:ext cx="9525" cy="457200"/>
          </a:xfrm>
          <a:prstGeom prst="rect">
            <a:avLst/>
          </a:prstGeom>
          <a:solidFill>
            <a:srgbClr val="2A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29968" y="4215383"/>
            <a:ext cx="9052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F0836F"/>
                </a:solidFill>
                <a:latin typeface="Microsoft YaHei"/>
              </a:rPr>
              <a:t>当日流水 210 元。同城晴天均值 385 元。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020055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E8299"/>
                </a:solidFill>
                <a:latin typeface="Consolas"/>
              </a:rPr>
              <a:t>20:00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5074919"/>
            <a:ext cx="9525" cy="457200"/>
          </a:xfrm>
          <a:prstGeom prst="rect">
            <a:avLst/>
          </a:prstGeom>
          <a:solidFill>
            <a:srgbClr val="2A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29968" y="5001767"/>
            <a:ext cx="9052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A6B8CB"/>
                </a:solidFill>
                <a:latin typeface="Microsoft YaHei"/>
              </a:rPr>
              <a:t>收工。没有保险可报——没有事故，没有伤，只是「没赚到」。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5742432"/>
            <a:ext cx="10451592" cy="566928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5742432"/>
            <a:ext cx="28575" cy="566928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585216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FFC857"/>
                </a:solidFill>
                <a:latin typeface="Microsoft YaHei"/>
              </a:rPr>
              <a:t>收入损失不是「意外」，是「天气」——而天气可以被测量。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475488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34D3E4"/>
                </a:solidFill>
                <a:latin typeface="Microsoft YaHei"/>
              </a:rPr>
              <a:t>02 / 为什么是空白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EDF3FA"/>
                </a:solidFill>
                <a:latin typeface="Microsoft YaHei"/>
              </a:rPr>
              <a:t>不是没需求，是成本结构把人筛掉了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517904"/>
            <a:ext cx="10451592" cy="9525"/>
          </a:xfrm>
          <a:prstGeom prst="rect">
            <a:avLst/>
          </a:prstGeom>
          <a:solidFill>
            <a:srgbClr val="2A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32764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E8299"/>
                </a:solidFill>
                <a:latin typeface="Consola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27648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E8299"/>
                </a:solidFill>
                <a:latin typeface="Microsoft YaHei"/>
              </a:rPr>
              <a:t>雨证 RainProof · 可复算的参数化降雨保障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920240"/>
            <a:ext cx="3291840" cy="2286000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920240"/>
            <a:ext cx="3291840" cy="28575"/>
          </a:xfrm>
          <a:prstGeom prst="rect">
            <a:avLst/>
          </a:prstGeom>
          <a:solidFill>
            <a:srgbClr val="F08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12848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F0836F"/>
                </a:solidFill>
                <a:latin typeface="Microsoft YaHei"/>
              </a:rPr>
              <a:t>定损成本 ≈ 赔款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724912"/>
            <a:ext cx="2788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单次赔 50–100 元，人工查勘核赔的成本与赔款同量级。保险经济学直接不成立。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53128" y="1920240"/>
            <a:ext cx="3291840" cy="2286000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53128" y="1920240"/>
            <a:ext cx="3291840" cy="28575"/>
          </a:xfrm>
          <a:prstGeom prst="rect">
            <a:avLst/>
          </a:prstGeom>
          <a:solidFill>
            <a:srgbClr val="F08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212848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F0836F"/>
                </a:solidFill>
                <a:latin typeface="Microsoft YaHei"/>
              </a:rPr>
              <a:t>损失无法核实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724912"/>
            <a:ext cx="2788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骑手收入在平台侧数据里，保险公司拿不到。无法核损 = 无法承保。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7576" y="1920240"/>
            <a:ext cx="3291840" cy="2286000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6" y="1920240"/>
            <a:ext cx="3291840" cy="28575"/>
          </a:xfrm>
          <a:prstGeom prst="rect">
            <a:avLst/>
          </a:prstGeom>
          <a:solidFill>
            <a:srgbClr val="F08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2212848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F0836F"/>
                </a:solidFill>
                <a:latin typeface="Microsoft YaHei"/>
              </a:rPr>
              <a:t>逆选择极强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724912"/>
            <a:ext cx="2788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看到暴雨预警才买。11 年数据实测：挑最优时点投保，期望赔付/敞口中位比可达月均 5.7–10.4 倍。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2628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EDF3FA"/>
                </a:solidFill>
                <a:latin typeface="Microsoft YaHei"/>
              </a:rPr>
              <a:t>结论：传统保险卖不了这个人群，不是不愿意，是算不过账。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5120640"/>
            <a:ext cx="10451592" cy="960120"/>
          </a:xfrm>
          <a:prstGeom prst="rect">
            <a:avLst/>
          </a:prstGeom>
          <a:solidFill>
            <a:srgbClr val="121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5285232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A6B8CB"/>
                </a:solidFill>
                <a:latin typeface="Microsoft YaHei"/>
              </a:rPr>
              <a:t>我们的做法：不查损失，只查天气。把「赔多少」交给一个所有人都能复算的物理量，于是定损成本归零，逆选择被定价参数吸收。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475488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34D3E4"/>
                </a:solidFill>
                <a:latin typeface="Microsoft YaHei"/>
              </a:rPr>
              <a:t>03 / 产品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EDF3FA"/>
                </a:solidFill>
                <a:latin typeface="Microsoft YaHei"/>
              </a:rPr>
              <a:t>雨量过线，自动到账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517904"/>
            <a:ext cx="10451592" cy="9525"/>
          </a:xfrm>
          <a:prstGeom prst="rect">
            <a:avLst/>
          </a:prstGeom>
          <a:solidFill>
            <a:srgbClr val="2A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32764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E8299"/>
                </a:solidFill>
                <a:latin typeface="Consola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27648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E8299"/>
                </a:solidFill>
                <a:latin typeface="Microsoft YaHei"/>
              </a:rPr>
              <a:t>雨证 RainProof · 可复算的参数化降雨保障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755648"/>
            <a:ext cx="10451592" cy="566928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E8299"/>
                </a:solidFill>
                <a:latin typeface="Microsoft YaHei"/>
              </a:rPr>
              <a:t>保障对象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828800"/>
            <a:ext cx="8321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EDF3FA"/>
                </a:solidFill>
                <a:latin typeface="Microsoft YaHei"/>
              </a:rPr>
              <a:t>外卖 / 即时配送骑手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E8299"/>
                </a:solidFill>
                <a:latin typeface="Microsoft YaHei"/>
              </a:rPr>
              <a:t>保障时长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395728"/>
            <a:ext cx="8321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EDF3FA"/>
                </a:solidFill>
                <a:latin typeface="Microsoft YaHei"/>
              </a:rPr>
              <a:t>12 小时 / 24 小时（国标 GB/T 28592—2012 唯二时段）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889504"/>
            <a:ext cx="10451592" cy="566928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962656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E8299"/>
                </a:solidFill>
                <a:latin typeface="Microsoft YaHei"/>
              </a:rPr>
              <a:t>触发条件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962656"/>
            <a:ext cx="8321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EDF3FA"/>
                </a:solidFill>
                <a:latin typeface="Microsoft YaHei"/>
              </a:rPr>
              <a:t>保障窗口内「新增累计降雨量」越过档线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529584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E8299"/>
                </a:solidFill>
                <a:latin typeface="Microsoft YaHei"/>
              </a:rPr>
              <a:t>赔付档位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529584"/>
            <a:ext cx="8321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EDF3FA"/>
                </a:solidFill>
                <a:latin typeface="Microsoft YaHei"/>
              </a:rPr>
              <a:t>12h：30mm 赔 50% · 70mm 赔 75%　|　24h：50mm 赔 50% · 100mm 赔 75%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023360"/>
            <a:ext cx="10451592" cy="566928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096512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E8299"/>
                </a:solidFill>
                <a:latin typeface="Microsoft YaHei"/>
              </a:rPr>
              <a:t>满额赔付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096512"/>
            <a:ext cx="8321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EDF3FA"/>
                </a:solidFill>
                <a:latin typeface="Microsoft YaHei"/>
              </a:rPr>
              <a:t>100 元 ≈ 一线骑手 0.26 个工作日收入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663440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E8299"/>
                </a:solidFill>
                <a:latin typeface="Microsoft YaHei"/>
              </a:rPr>
              <a:t>理赔方式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663440"/>
            <a:ext cx="8321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EDF3FA"/>
                </a:solidFill>
                <a:latin typeface="Microsoft YaHei"/>
              </a:rPr>
              <a:t>自动触发：不报案、不定损、不交材料，判定后分钟级到账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5157216"/>
            <a:ext cx="10451592" cy="566928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230368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E8299"/>
                </a:solidFill>
                <a:latin typeface="Microsoft YaHei"/>
              </a:rPr>
              <a:t>价格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230368"/>
            <a:ext cx="8321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EDF3FA"/>
                </a:solidFill>
                <a:latin typeface="Microsoft YaHei"/>
              </a:rPr>
              <a:t>众包自助 3.6–8.8 元 / 份；平台团体批发 1.1–2.2 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5870448"/>
            <a:ext cx="10451592" cy="457200"/>
          </a:xfrm>
          <a:prstGeom prst="rect">
            <a:avLst/>
          </a:prstGeom>
          <a:solidFill>
            <a:srgbClr val="142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96188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3FD9A5"/>
                </a:solidFill>
                <a:latin typeface="Microsoft YaHei"/>
              </a:rPr>
              <a:t>刻意不做特大暴雨档：11 年数据里五城 24h ≥ 250mm 零命中 —— 写进条款却永远赔不到的档，是虚假承诺。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475488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34D3E4"/>
                </a:solidFill>
                <a:latin typeface="Microsoft YaHei"/>
              </a:rPr>
              <a:t>04 / 凭什么不扯皮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EDF3FA"/>
                </a:solidFill>
                <a:latin typeface="Microsoft YaHei"/>
              </a:rPr>
              <a:t>三件事让赔付变成可复算的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517904"/>
            <a:ext cx="10451592" cy="9525"/>
          </a:xfrm>
          <a:prstGeom prst="rect">
            <a:avLst/>
          </a:prstGeom>
          <a:solidFill>
            <a:srgbClr val="2A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32764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E8299"/>
                </a:solidFill>
                <a:latin typeface="Consola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27648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E8299"/>
                </a:solidFill>
                <a:latin typeface="Microsoft YaHei"/>
              </a:rPr>
              <a:t>雨证 RainProof · 可复算的参数化降雨保障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828800"/>
            <a:ext cx="3291840" cy="2487168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3291840" cy="28573"/>
          </a:xfrm>
          <a:prstGeom prst="rect">
            <a:avLst/>
          </a:prstGeom>
          <a:solidFill>
            <a:srgbClr val="34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1031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34D3E4"/>
                </a:solidFill>
                <a:latin typeface="Microsoft YaHei"/>
              </a:rPr>
              <a:t>① 三源验真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15184"/>
            <a:ext cx="276148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ECMWF / GFS / ICON 三家数值模式同时取数，中位数与离散度双闸门。
三家分歧过大 → 本轮拒绝写入，宁可不赔也不错赔。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53128" y="1828800"/>
            <a:ext cx="3291840" cy="2487168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53128" y="1828800"/>
            <a:ext cx="3291840" cy="28573"/>
          </a:xfrm>
          <a:prstGeom prst="rect">
            <a:avLst/>
          </a:prstGeom>
          <a:solidFill>
            <a:srgbClr val="9E8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1031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9E8CF5"/>
                </a:solidFill>
                <a:latin typeface="Microsoft YaHei"/>
              </a:rPr>
              <a:t>② 确定性判定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615184"/>
            <a:ext cx="276148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AI 不参与「赔不赔」的决定。
R1–R5 五条规则，同一份输入永远得到同一个输出；大模型只负责写人话解释。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7576" y="1828800"/>
            <a:ext cx="3291840" cy="2487168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6" y="1828800"/>
            <a:ext cx="3291840" cy="28573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21031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FFC857"/>
                </a:solidFill>
                <a:latin typeface="Microsoft YaHei"/>
              </a:rPr>
              <a:t>③ 全流程哈希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615184"/>
            <a:ext cx="276148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每笔取数、每次判定都留下 inputHash / outputHash。
任何人拿原始气象报文重算，必须得到同一个哈希。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7200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6E8299"/>
                </a:solidFill>
                <a:latin typeface="Microsoft YaHei"/>
              </a:rPr>
              <a:t>对外可验证到这一步：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4919472"/>
            <a:ext cx="10451592" cy="1207008"/>
          </a:xfrm>
          <a:prstGeom prst="rect">
            <a:avLst/>
          </a:prstGeom>
          <a:solidFill>
            <a:srgbClr val="121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5074920"/>
            <a:ext cx="9966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A6B8CB"/>
                </a:solidFill>
                <a:latin typeface="Microsoft YaHei"/>
              </a:rPr>
              <a:t>打开核验台，8 条断言逐条自检：链上累计雨量 84mm ↔ 本地气象报文现算 SHA-256 是否一致、多签治理是否生效、保单的投保人与付款人是否分离、资金池台账能否逐分对平。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475488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34D3E4"/>
                </a:solidFill>
                <a:latin typeface="Microsoft YaHei"/>
              </a:rPr>
              <a:t>05 / 单位经济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EDF3FA"/>
                </a:solidFill>
                <a:latin typeface="Microsoft YaHei"/>
              </a:rPr>
              <a:t>一张 2.2 元的平台保单，钱去哪了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517904"/>
            <a:ext cx="10451592" cy="9525"/>
          </a:xfrm>
          <a:prstGeom prst="rect">
            <a:avLst/>
          </a:prstGeom>
          <a:solidFill>
            <a:srgbClr val="2A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32764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E8299"/>
                </a:solidFill>
                <a:latin typeface="Consola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27648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E8299"/>
                </a:solidFill>
                <a:latin typeface="Microsoft YaHei"/>
              </a:rPr>
              <a:t>雨证 RainProof · 可复算的参数化降雨保障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保费收入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892807"/>
            <a:ext cx="4023360" cy="219456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0568" y="1865375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C857"/>
                </a:solidFill>
                <a:latin typeface="Consolas"/>
              </a:rPr>
              <a:t>2.20 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41447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期望赔付 34%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2459735"/>
            <a:ext cx="1353312" cy="219456"/>
          </a:xfrm>
          <a:prstGeom prst="rect">
            <a:avLst/>
          </a:prstGeom>
          <a:solidFill>
            <a:srgbClr val="F08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2432303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0836F"/>
                </a:solidFill>
                <a:latin typeface="Consolas"/>
              </a:rPr>
              <a:t>0.74 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08375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固定成本 14%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3026663"/>
            <a:ext cx="548640" cy="219456"/>
          </a:xfrm>
          <a:prstGeom prst="rect">
            <a:avLst/>
          </a:prstGeom>
          <a:solidFill>
            <a:srgbClr val="6E82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2999231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6E8299"/>
                </a:solidFill>
                <a:latin typeface="Consolas"/>
              </a:rPr>
              <a:t>0.30 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75303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再保 15%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3593591"/>
            <a:ext cx="603504" cy="219456"/>
          </a:xfrm>
          <a:prstGeom prst="rect">
            <a:avLst/>
          </a:prstGeom>
          <a:solidFill>
            <a:srgbClr val="9E8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0712" y="3566159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9E8CF5"/>
                </a:solidFill>
                <a:latin typeface="Consolas"/>
              </a:rPr>
              <a:t>0.33 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142231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渠道与运营 25%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80" y="4160519"/>
            <a:ext cx="1005840" cy="219456"/>
          </a:xfrm>
          <a:prstGeom prst="rect">
            <a:avLst/>
          </a:prstGeom>
          <a:solidFill>
            <a:srgbClr val="34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3048" y="4133087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34D3E4"/>
                </a:solidFill>
                <a:latin typeface="Consolas"/>
              </a:rPr>
              <a:t>0.55 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709159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毛利 12%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80" y="4727447"/>
            <a:ext cx="512064" cy="219456"/>
          </a:xfrm>
          <a:prstGeom prst="rect">
            <a:avLst/>
          </a:prstGeom>
          <a:solidFill>
            <a:srgbClr val="3FD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9272" y="4700015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3FD9A5"/>
                </a:solidFill>
                <a:latin typeface="Consolas"/>
              </a:rPr>
              <a:t>0.28 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1874519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34D3E4"/>
                </a:solidFill>
                <a:latin typeface="Consolas"/>
              </a:rPr>
              <a:t>34%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2350007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A6B8CB"/>
                </a:solidFill>
                <a:latin typeface="Microsoft YaHei"/>
              </a:rPr>
              <a:t>广州 24h 平台团体价的
期望赔付率（点估计）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3172967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FFC857"/>
                </a:solidFill>
                <a:latin typeface="Consolas"/>
              </a:rPr>
              <a:t>46–50%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3648455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A6B8CB"/>
                </a:solidFill>
                <a:latin typeface="Microsoft YaHei"/>
              </a:rPr>
              <a:t>众包自助段赔付率
（逆选择最强，故最贵）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471415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3FD9A5"/>
                </a:solidFill>
                <a:latin typeface="Consolas"/>
              </a:rPr>
              <a:t>0 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4946903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A6B8CB"/>
                </a:solidFill>
                <a:latin typeface="Microsoft YaHei"/>
              </a:rPr>
              <a:t>定损与查勘成本
（参数化，无需核损）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5778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广州 24h 平台团体价 2.2 元 = （期望赔付 1.01 元 + 固定成本 0.30 元）÷ 60% 目标赔付率上限 —— 每一格都能倒推。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475488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34D3E4"/>
                </a:solidFill>
                <a:latin typeface="Microsoft YaHei"/>
              </a:rPr>
              <a:t>06 / 定价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EDF3FA"/>
                </a:solidFill>
                <a:latin typeface="Microsoft YaHei"/>
              </a:rPr>
              <a:t>40 格费率：同一场雨，不同的人付不同的钱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517904"/>
            <a:ext cx="10451592" cy="9525"/>
          </a:xfrm>
          <a:prstGeom prst="rect">
            <a:avLst/>
          </a:prstGeom>
          <a:solidFill>
            <a:srgbClr val="2A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32764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E8299"/>
                </a:solidFill>
                <a:latin typeface="Consola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27648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E8299"/>
                </a:solidFill>
                <a:latin typeface="Microsoft YaHei"/>
              </a:rPr>
              <a:t>雨证 RainProof · 可复算的参数化降雨保障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34D3E4"/>
                </a:solidFill>
                <a:latin typeface="Microsoft YaHei"/>
              </a:rPr>
              <a:t>12 小时档（档线 30 / 70 mm）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76272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E8299"/>
                </a:solidFill>
                <a:latin typeface="Microsoft YaHei"/>
              </a:rPr>
              <a:t>城市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37944" y="2176272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E8299"/>
                </a:solidFill>
                <a:latin typeface="Microsoft YaHei"/>
              </a:rPr>
              <a:t>平台团体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7208" y="2176272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E8299"/>
                </a:solidFill>
                <a:latin typeface="Microsoft YaHei"/>
              </a:rPr>
              <a:t>认证·代付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2176272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E8299"/>
                </a:solidFill>
                <a:latin typeface="Microsoft YaHei"/>
              </a:rPr>
              <a:t>认证·自助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5736" y="2176272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E8299"/>
                </a:solidFill>
                <a:latin typeface="Microsoft YaHei"/>
              </a:rPr>
              <a:t>众包·自助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" y="2414016"/>
            <a:ext cx="4901184" cy="310896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450592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武汉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37944" y="2450592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1.6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8" y="2450592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2.3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6472" y="2450592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4.1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2450592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34D3E4"/>
                </a:solidFill>
                <a:latin typeface="Consolas"/>
              </a:rPr>
              <a:t>5.9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761488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上海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37944" y="2761488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1.4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7208" y="2761488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1.9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6472" y="2761488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3.0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5736" y="2761488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34D3E4"/>
                </a:solidFill>
                <a:latin typeface="Consolas"/>
              </a:rPr>
              <a:t>4.2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" y="3035808"/>
            <a:ext cx="4901184" cy="310896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07238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北京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37944" y="307238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1.1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7208" y="307238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1.5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6472" y="307238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2.5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45736" y="307238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34D3E4"/>
                </a:solidFill>
                <a:latin typeface="Consolas"/>
              </a:rPr>
              <a:t>3.6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383280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广州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37944" y="3383280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07208" y="3383280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2.7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76472" y="3383280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4.3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45736" y="3383280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34D3E4"/>
                </a:solidFill>
                <a:latin typeface="Consolas"/>
              </a:rPr>
              <a:t>5.9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" y="3657600"/>
            <a:ext cx="4901184" cy="310896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3694176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成都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37944" y="3694176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1.4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07208" y="3694176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2.1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76472" y="3694176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3.9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45736" y="3694176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34D3E4"/>
                </a:solidFill>
                <a:latin typeface="Consolas"/>
              </a:rPr>
              <a:t>5.8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18288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FFC857"/>
                </a:solidFill>
                <a:latin typeface="Microsoft YaHei"/>
              </a:rPr>
              <a:t>24 小时档（档线 50 / 100 mm）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176272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E8299"/>
                </a:solidFill>
                <a:latin typeface="Microsoft YaHei"/>
              </a:rPr>
              <a:t>城市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70064" y="2176272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E8299"/>
                </a:solidFill>
                <a:latin typeface="Microsoft YaHei"/>
              </a:rPr>
              <a:t>平台团体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9328" y="2176272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E8299"/>
                </a:solidFill>
                <a:latin typeface="Microsoft YaHei"/>
              </a:rPr>
              <a:t>认证·代付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08592" y="2176272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E8299"/>
                </a:solidFill>
                <a:latin typeface="Microsoft YaHei"/>
              </a:rPr>
              <a:t>认证·自助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77856" y="2176272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E8299"/>
                </a:solidFill>
                <a:latin typeface="Microsoft YaHei"/>
              </a:rPr>
              <a:t>众包·自助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27648" y="2414016"/>
            <a:ext cx="4901184" cy="310896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2450592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武汉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70064" y="2450592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1.6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39328" y="2450592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2.9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08592" y="2450592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5.8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77856" y="2450592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FFC857"/>
                </a:solidFill>
                <a:latin typeface="Consolas"/>
              </a:rPr>
              <a:t>8.8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2761488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上海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70064" y="2761488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1.5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39328" y="2761488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2.1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08592" y="2761488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3.7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77856" y="2761488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FFC857"/>
                </a:solidFill>
                <a:latin typeface="Consolas"/>
              </a:rPr>
              <a:t>5.3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27648" y="3035808"/>
            <a:ext cx="4901184" cy="310896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307238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北京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70064" y="307238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1.2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39328" y="307238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1.8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08592" y="307238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3.5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77856" y="307238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FFC857"/>
                </a:solidFill>
                <a:latin typeface="Consolas"/>
              </a:rPr>
              <a:t>5.1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3383280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广州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70064" y="3383280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2.2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39328" y="3383280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3.2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08592" y="3383280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5.5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77856" y="3383280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FFC857"/>
                </a:solidFill>
                <a:latin typeface="Consolas"/>
              </a:rPr>
              <a:t>7.9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27648" y="3657600"/>
            <a:ext cx="4901184" cy="310896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0" y="3694176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成都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70064" y="3694176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1.4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39328" y="3694176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2.6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08592" y="3694176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EDF3FA"/>
                </a:solidFill>
                <a:latin typeface="Consolas"/>
              </a:rPr>
              <a:t>5.3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77856" y="3694176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FFC857"/>
                </a:solidFill>
                <a:latin typeface="Consolas"/>
              </a:rPr>
              <a:t>8.2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8680" y="525780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6E8299"/>
                </a:solidFill>
                <a:latin typeface="Microsoft YaHei"/>
              </a:rPr>
              <a:t>单位：元 / 份。按「区域 × 时长 × 骑手类型 × 渠道 × 购买量」五维生成；11 年逐小时 ERA5 数据、97.5% 置信上界 + 固定成本 0.30 元反算。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68680" y="5687568"/>
            <a:ext cx="10451592" cy="603504"/>
          </a:xfrm>
          <a:prstGeom prst="rect">
            <a:avLst/>
          </a:prstGeom>
          <a:solidFill>
            <a:srgbClr val="121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97280" y="5797296"/>
            <a:ext cx="10012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价差不是拍脑袋：北京 12h 众包 3.6 元 vs 广州 5.9 元 —— 广州 12h 触发率 2.78%，北京 1.67%，差 1.67 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475488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34D3E4"/>
                </a:solidFill>
                <a:latin typeface="Microsoft YaHei"/>
              </a:rPr>
              <a:t>07 / 谁付钱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EDF3FA"/>
                </a:solidFill>
                <a:latin typeface="Microsoft YaHei"/>
              </a:rPr>
              <a:t>B2B2C：平台付费，骑手零成本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517904"/>
            <a:ext cx="10451592" cy="9525"/>
          </a:xfrm>
          <a:prstGeom prst="rect">
            <a:avLst/>
          </a:prstGeom>
          <a:solidFill>
            <a:srgbClr val="2A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32764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E8299"/>
                </a:solidFill>
                <a:latin typeface="Consola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27648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E8299"/>
                </a:solidFill>
                <a:latin typeface="Microsoft YaHei"/>
              </a:rPr>
              <a:t>雨证 RainProof · 可复算的参数化降雨保障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874519"/>
            <a:ext cx="3063240" cy="1371600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74519"/>
            <a:ext cx="28575" cy="1371600"/>
          </a:xfrm>
          <a:prstGeom prst="rect">
            <a:avLst/>
          </a:prstGeom>
          <a:solidFill>
            <a:srgbClr val="34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210312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34D3E4"/>
                </a:solidFill>
                <a:latin typeface="Microsoft YaHei"/>
              </a:rPr>
              <a:t>平台 / 众包服务商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578608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A6B8CB"/>
                </a:solidFill>
                <a:latin typeface="Microsoft YaHei"/>
              </a:rPr>
              <a:t>批量采购，按骑手人数计价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5928" y="23774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0">
                <a:solidFill>
                  <a:srgbClr val="6E8299"/>
                </a:solidFill>
                <a:latin typeface="Microsoft YaHe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53128" y="1874519"/>
            <a:ext cx="3063240" cy="1371600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3128" y="1874519"/>
            <a:ext cx="28575" cy="1371600"/>
          </a:xfrm>
          <a:prstGeom prst="rect">
            <a:avLst/>
          </a:prstGeom>
          <a:solidFill>
            <a:srgbClr val="3FD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10312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3FD9A5"/>
                </a:solidFill>
                <a:latin typeface="Microsoft YaHei"/>
              </a:rPr>
              <a:t>骑手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578608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A6B8CB"/>
                </a:solidFill>
                <a:latin typeface="Microsoft YaHei"/>
              </a:rPr>
              <a:t>零成本参保，无需操作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0376" y="23774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0">
                <a:solidFill>
                  <a:srgbClr val="6E8299"/>
                </a:solidFill>
                <a:latin typeface="Microsoft YaHe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7576" y="1874519"/>
            <a:ext cx="3063240" cy="1371600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37576" y="1874519"/>
            <a:ext cx="28575" cy="1371600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10312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FFC857"/>
                </a:solidFill>
                <a:latin typeface="Microsoft YaHei"/>
              </a:rPr>
              <a:t>触发赔付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578608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A6B8CB"/>
                </a:solidFill>
                <a:latin typeface="Microsoft YaHei"/>
              </a:rPr>
              <a:t>钱直接进骑手账户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56616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DF3FA"/>
                </a:solidFill>
                <a:latin typeface="Microsoft YaHei"/>
              </a:rPr>
              <a:t>为什么是平台付，不是骑手付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" y="4032504"/>
            <a:ext cx="82296" cy="82296"/>
          </a:xfrm>
          <a:prstGeom prst="rect">
            <a:avLst/>
          </a:prstGeom>
          <a:solidFill>
            <a:srgbClr val="34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3950208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A6B8CB"/>
                </a:solidFill>
                <a:latin typeface="Microsoft YaHei"/>
              </a:rPr>
              <a:t>触达在平台手里：一次采购覆盖上万骑手，边际获客成本≈0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" y="4453128"/>
            <a:ext cx="82296" cy="82296"/>
          </a:xfrm>
          <a:prstGeom prst="rect">
            <a:avLst/>
          </a:prstGeom>
          <a:solidFill>
            <a:srgbClr val="34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432" y="4370832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A6B8CB"/>
                </a:solidFill>
                <a:latin typeface="Microsoft YaHei"/>
              </a:rPr>
              <a:t>平台有真实动机：恶劣天气的舆情、运力稳定性、骑手留存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" y="4873752"/>
            <a:ext cx="82296" cy="82296"/>
          </a:xfrm>
          <a:prstGeom prst="rect">
            <a:avLst/>
          </a:prstGeom>
          <a:solidFill>
            <a:srgbClr val="34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0432" y="4791456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A6B8CB"/>
                </a:solidFill>
                <a:latin typeface="Microsoft YaHei"/>
              </a:rPr>
              <a:t>合规上更干净：对公采购，不面向个人销售保险产品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" y="5294376"/>
            <a:ext cx="82296" cy="82296"/>
          </a:xfrm>
          <a:prstGeom prst="rect">
            <a:avLst/>
          </a:prstGeom>
          <a:solidFill>
            <a:srgbClr val="34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70432" y="52120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A6B8CB"/>
                </a:solidFill>
                <a:latin typeface="Microsoft YaHei"/>
              </a:rPr>
              <a:t>骑手端仍保留自费通道（3.6–10 元），服务灵活用工场景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76072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FC857"/>
                </a:solidFill>
                <a:latin typeface="Microsoft YaHei"/>
              </a:rPr>
              <a:t>我们不卖保险 —— 我们给持牌机构提供定价、验真与自动理赔的技术底座。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475488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34D3E4"/>
                </a:solidFill>
                <a:latin typeface="Microsoft YaHei"/>
              </a:rPr>
              <a:t>08 / 市场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EDF3FA"/>
                </a:solidFill>
                <a:latin typeface="Microsoft YaHei"/>
              </a:rPr>
              <a:t>从 1.1 亿的可服务市场切入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517904"/>
            <a:ext cx="10451592" cy="9525"/>
          </a:xfrm>
          <a:prstGeom prst="rect">
            <a:avLst/>
          </a:prstGeom>
          <a:solidFill>
            <a:srgbClr val="2A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32764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E8299"/>
                </a:solidFill>
                <a:latin typeface="Consola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27648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E8299"/>
                </a:solidFill>
                <a:latin typeface="Microsoft YaHei"/>
              </a:rPr>
              <a:t>雨证 RainProof · 可复算的参数化降雨保障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828800"/>
            <a:ext cx="5120640" cy="960120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28575" cy="960120"/>
          </a:xfrm>
          <a:prstGeom prst="rect">
            <a:avLst/>
          </a:prstGeom>
          <a:solidFill>
            <a:srgbClr val="34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956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34D3E4"/>
                </a:solidFill>
                <a:latin typeface="Consolas"/>
              </a:rP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12848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1">
                <a:solidFill>
                  <a:srgbClr val="EDF3FA"/>
                </a:solidFill>
                <a:latin typeface="Consolas"/>
              </a:rPr>
              <a:t>19–26 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39696"/>
            <a:ext cx="7223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全国 500–700 万骑手 × 250 个工作日 × 1.5 元/份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999232"/>
            <a:ext cx="3383280" cy="960120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999232"/>
            <a:ext cx="28575" cy="960120"/>
          </a:xfrm>
          <a:prstGeom prst="rect">
            <a:avLst/>
          </a:prstGeom>
          <a:solidFill>
            <a:srgbClr val="9E8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1272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9E8CF5"/>
                </a:solidFill>
                <a:latin typeface="Consolas"/>
              </a:rPr>
              <a:t>SAM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38328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1">
                <a:solidFill>
                  <a:srgbClr val="EDF3FA"/>
                </a:solidFill>
                <a:latin typeface="Consolas"/>
              </a:rPr>
              <a:t>3.6 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310128"/>
            <a:ext cx="7223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20 个重点城市 × 120 万活跃骑手 × 250 天 × 1.5 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169664"/>
            <a:ext cx="1737360" cy="960120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4169664"/>
            <a:ext cx="28575" cy="960120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2976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C857"/>
                </a:solidFill>
                <a:latin typeface="Consolas"/>
              </a:rPr>
              <a:t>SOM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553712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1">
                <a:solidFill>
                  <a:srgbClr val="EDF3FA"/>
                </a:solidFill>
                <a:latin typeface="Consolas"/>
              </a:rPr>
              <a:t>1.1 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480560"/>
            <a:ext cx="7223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首批 8 城 × 100 万在保 × 1.4 元（第 3 年）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5413248"/>
            <a:ext cx="10451592" cy="786384"/>
          </a:xfrm>
          <a:prstGeom prst="rect">
            <a:avLst/>
          </a:prstGeom>
          <a:solidFill>
            <a:srgbClr val="121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54126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A6B8CB"/>
                </a:solidFill>
                <a:latin typeface="Microsoft YaHei"/>
              </a:rPr>
              <a:t>政策顺风：人社部等九部门 2025 年 7 月《关于扩大新就业形态人员职业伤害保障试点工作的通知》（人社部发〔2025〕24 号）已将即时配送纳入扩大范围、2026 年推广全国 —— 天气收入保障与职业伤害保障互补。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475488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34D3E4"/>
                </a:solidFill>
                <a:latin typeface="Microsoft YaHei"/>
              </a:rPr>
              <a:t>09 / 我们不是 PPT 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EDF3FA"/>
                </a:solidFill>
                <a:latin typeface="Microsoft YaHei"/>
              </a:rPr>
              <a:t>系统在跑，而且你现在就能验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517904"/>
            <a:ext cx="10451592" cy="9525"/>
          </a:xfrm>
          <a:prstGeom prst="rect">
            <a:avLst/>
          </a:prstGeom>
          <a:solidFill>
            <a:srgbClr val="2A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32764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E8299"/>
                </a:solidFill>
                <a:latin typeface="Consola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27648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E8299"/>
                </a:solidFill>
                <a:latin typeface="Microsoft YaHei"/>
              </a:rPr>
              <a:t>雨证 RainProof · 可复算的参数化降雨保障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1874519"/>
            <a:ext cx="4023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34D3E4"/>
                </a:solidFill>
                <a:latin typeface="Consola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929383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EDF3FA"/>
                </a:solidFill>
                <a:latin typeface="Microsoft YaHei"/>
              </a:rPr>
              <a:t>道自动化测试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203703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E8299"/>
                </a:solidFill>
                <a:latin typeface="Microsoft YaHei"/>
              </a:rPr>
              <a:t>评委可现场复跑，全绿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807207"/>
            <a:ext cx="4023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34D3E4"/>
                </a:solidFill>
                <a:latin typeface="Consolas"/>
              </a:rPr>
              <a:t>8 /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862071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EDF3FA"/>
                </a:solidFill>
                <a:latin typeface="Microsoft YaHei"/>
              </a:rPr>
              <a:t>核验台断言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136391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E8299"/>
                </a:solidFill>
                <a:latin typeface="Microsoft YaHei"/>
              </a:rPr>
              <a:t>链上数据与本地报文逐条比对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739895"/>
            <a:ext cx="4023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34D3E4"/>
                </a:solidFill>
                <a:latin typeface="Consolas"/>
              </a:rPr>
              <a:t>11 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794759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EDF3FA"/>
                </a:solidFill>
                <a:latin typeface="Microsoft YaHei"/>
              </a:rPr>
              <a:t>逐小时降雨样本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069079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E8299"/>
                </a:solidFill>
                <a:latin typeface="Microsoft YaHei"/>
              </a:rPr>
              <a:t>96,432 小时 × 5 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672583"/>
            <a:ext cx="4023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34D3E4"/>
                </a:solidFill>
                <a:latin typeface="Consola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727447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EDF3FA"/>
                </a:solidFill>
                <a:latin typeface="Microsoft YaHei"/>
              </a:rPr>
              <a:t>张真实保单已闭环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5001767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E8299"/>
                </a:solidFill>
                <a:latin typeface="Microsoft YaHei"/>
              </a:rPr>
              <a:t>投保 → 取数 → 判定 → 留痕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566928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E8299"/>
                </a:solidFill>
                <a:latin typeface="Microsoft YaHei"/>
              </a:rPr>
              <a:t>截图：核验台 8/8 全绿（2026-10-26）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475488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34D3E4"/>
                </a:solidFill>
                <a:latin typeface="Microsoft YaHei"/>
              </a:rPr>
              <a:t>10 / 主动交代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EDF3FA"/>
                </a:solidFill>
                <a:latin typeface="Microsoft YaHei"/>
              </a:rPr>
              <a:t>三个我们知道、但还没解决的问题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517904"/>
            <a:ext cx="10451592" cy="9525"/>
          </a:xfrm>
          <a:prstGeom prst="rect">
            <a:avLst/>
          </a:prstGeom>
          <a:solidFill>
            <a:srgbClr val="2A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32764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E8299"/>
                </a:solidFill>
                <a:latin typeface="Consola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27648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E8299"/>
                </a:solidFill>
                <a:latin typeface="Microsoft YaHei"/>
              </a:rPr>
              <a:t>雨证 RainProof · 可复算的参数化降雨保障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828800"/>
            <a:ext cx="10451592" cy="1298448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28575" cy="1298448"/>
          </a:xfrm>
          <a:prstGeom prst="rect">
            <a:avLst/>
          </a:prstGeom>
          <a:solidFill>
            <a:srgbClr val="F08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975104"/>
            <a:ext cx="9966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EDF3FA"/>
                </a:solidFill>
                <a:latin typeface="Microsoft YaHei"/>
              </a:rPr>
              <a:t>基差风险只解决了一半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359152"/>
            <a:ext cx="9921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A6B8CB"/>
                </a:solidFill>
                <a:latin typeface="Microsoft YaHei"/>
              </a:rPr>
              <a:t>参数化赔付的是「雨量」，不是「他今天的流水」。雨下了但单没少，或单少了雨没下，都会有人觉得不公。二期接入平台订单数据后，可以按真实流水做二次校准。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236976"/>
            <a:ext cx="10451592" cy="1298448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236976"/>
            <a:ext cx="28575" cy="1298448"/>
          </a:xfrm>
          <a:prstGeom prst="rect">
            <a:avLst/>
          </a:prstGeom>
          <a:solidFill>
            <a:srgbClr val="F08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383280"/>
            <a:ext cx="9966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EDF3FA"/>
                </a:solidFill>
                <a:latin typeface="Microsoft YaHei"/>
              </a:rPr>
              <a:t>数据源目前是单一聚合商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767328"/>
            <a:ext cx="9921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A6B8CB"/>
                </a:solidFill>
                <a:latin typeface="Microsoft YaHei"/>
              </a:rPr>
              <a:t>三家数值模式（ECMWF / GFS / ICON）确实独立，但都经同一个公开气象聚合接口取数。接国内合规源（如国家气象信息中心）是路线图里的下一项。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645152"/>
            <a:ext cx="10451592" cy="1298448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4645152"/>
            <a:ext cx="28575" cy="1298448"/>
          </a:xfrm>
          <a:prstGeom prst="rect">
            <a:avLst/>
          </a:prstGeom>
          <a:solidFill>
            <a:srgbClr val="F08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791456"/>
            <a:ext cx="9966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EDF3FA"/>
                </a:solidFill>
                <a:latin typeface="Microsoft YaHei"/>
              </a:rPr>
              <a:t>治理仍由 2/3 多签的三个地址控制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175504"/>
            <a:ext cx="9921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A6B8CB"/>
                </a:solidFill>
                <a:latin typeface="Microsoft YaHei"/>
              </a:rPr>
              <a:t>对演示系统足够，但真实运营需要引入独立第三方做第二个签名方 —— 这是我们不打算自己解决、要交给持牌伙伴的部分。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475488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34D3E4"/>
                </a:solidFill>
                <a:latin typeface="Microsoft YaHei"/>
              </a:rPr>
              <a:t>11 / 财务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EDF3FA"/>
                </a:solidFill>
                <a:latin typeface="Microsoft YaHei"/>
              </a:rPr>
              <a:t>第三年 1.1 亿保费，净利 450–780 万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517904"/>
            <a:ext cx="10451592" cy="9525"/>
          </a:xfrm>
          <a:prstGeom prst="rect">
            <a:avLst/>
          </a:prstGeom>
          <a:solidFill>
            <a:srgbClr val="2A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32764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E8299"/>
                </a:solidFill>
                <a:latin typeface="Consola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27648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E8299"/>
                </a:solidFill>
                <a:latin typeface="Microsoft YaHei"/>
              </a:rPr>
              <a:t>雨证 RainProof · 可复算的参数化降雨保障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828799"/>
            <a:ext cx="9509760" cy="402336"/>
          </a:xfrm>
          <a:prstGeom prst="rect">
            <a:avLst/>
          </a:prstGeom>
          <a:solidFill>
            <a:srgbClr val="121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6E8299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74519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6E8299"/>
                </a:solidFill>
                <a:latin typeface="Microsoft YaHei"/>
              </a:rPr>
              <a:t>第 1 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1874519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6E8299"/>
                </a:solidFill>
                <a:latin typeface="Microsoft YaHei"/>
              </a:rPr>
              <a:t>第 2 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874519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6E8299"/>
                </a:solidFill>
                <a:latin typeface="Microsoft YaHei"/>
              </a:rPr>
              <a:t>第 3 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50007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E8299"/>
                </a:solidFill>
                <a:latin typeface="Microsoft YaHei"/>
              </a:rPr>
              <a:t>在保骑手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350007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6B8CB"/>
                </a:solidFill>
                <a:latin typeface="Consolas"/>
              </a:rPr>
              <a:t>2 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350007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6B8CB"/>
                </a:solidFill>
                <a:latin typeface="Consolas"/>
              </a:rPr>
              <a:t>20 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350007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6B8CB"/>
                </a:solidFill>
                <a:latin typeface="Consolas"/>
              </a:rPr>
              <a:t>80 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25495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E8299"/>
                </a:solidFill>
                <a:latin typeface="Microsoft YaHei"/>
              </a:rPr>
              <a:t>单价（元/份）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825495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6B8CB"/>
                </a:solidFill>
                <a:latin typeface="Consolas"/>
              </a:rPr>
              <a:t>1.2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825495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6B8CB"/>
                </a:solidFill>
                <a:latin typeface="Consolas"/>
              </a:rPr>
              <a:t>1.3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825495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6B8CB"/>
                </a:solidFill>
                <a:latin typeface="Consolas"/>
              </a:rPr>
              <a:t>1.4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300983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E8299"/>
                </a:solidFill>
                <a:latin typeface="Microsoft YaHei"/>
              </a:rPr>
              <a:t>年有效天数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300983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6B8CB"/>
                </a:solidFill>
                <a:latin typeface="Consolas"/>
              </a:rPr>
              <a:t>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3300983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6B8CB"/>
                </a:solidFill>
                <a:latin typeface="Consolas"/>
              </a:rPr>
              <a:t>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3300983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6B8CB"/>
                </a:solidFill>
                <a:latin typeface="Consolas"/>
              </a:rPr>
              <a:t>100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730751"/>
            <a:ext cx="9509760" cy="402336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776471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E8299"/>
                </a:solidFill>
                <a:latin typeface="Microsoft YaHei"/>
              </a:rPr>
              <a:t>保费收入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3776471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C857"/>
                </a:solidFill>
                <a:latin typeface="Consolas"/>
              </a:rPr>
              <a:t>144 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776471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C857"/>
                </a:solidFill>
                <a:latin typeface="Consolas"/>
              </a:rPr>
              <a:t>2,080 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3776471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C857"/>
                </a:solidFill>
                <a:latin typeface="Consolas"/>
              </a:rPr>
              <a:t>11,200 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251959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E8299"/>
                </a:solidFill>
                <a:latin typeface="Microsoft YaHei"/>
              </a:rPr>
              <a:t>科技服务费 12–15%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4251959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6B8CB"/>
                </a:solidFill>
                <a:latin typeface="Consolas"/>
              </a:rPr>
              <a:t>18–22 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251959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6B8CB"/>
                </a:solidFill>
                <a:latin typeface="Consolas"/>
              </a:rPr>
              <a:t>250–312 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4251959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6B8CB"/>
                </a:solidFill>
                <a:latin typeface="Consolas"/>
              </a:rPr>
              <a:t>1,344–1,680 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727447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E8299"/>
                </a:solidFill>
                <a:latin typeface="Microsoft YaHei"/>
              </a:rPr>
              <a:t>运营成本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4727447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6B8CB"/>
                </a:solidFill>
                <a:latin typeface="Consolas"/>
              </a:rPr>
              <a:t>≈80 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727447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6B8CB"/>
                </a:solidFill>
                <a:latin typeface="Consolas"/>
              </a:rPr>
              <a:t>≈350 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4727447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6B8CB"/>
                </a:solidFill>
                <a:latin typeface="Consolas"/>
              </a:rPr>
              <a:t>≈900 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5157215"/>
            <a:ext cx="9509760" cy="402336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202935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E8299"/>
                </a:solidFill>
                <a:latin typeface="Microsoft YaHei"/>
              </a:rPr>
              <a:t>净利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6120" y="5202935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C857"/>
                </a:solidFill>
                <a:latin typeface="Consolas"/>
              </a:rPr>
              <a:t>−40~−60 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60" y="5202935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C857"/>
                </a:solidFill>
                <a:latin typeface="Consolas"/>
              </a:rPr>
              <a:t>−40~−100 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5202935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FC857"/>
                </a:solidFill>
                <a:latin typeface="Consolas"/>
              </a:rPr>
              <a:t>450–780 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87044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A6B8CB"/>
                </a:solidFill>
                <a:latin typeface="Microsoft YaHei"/>
              </a:rPr>
              <a:t>盈亏平衡点在 25–30 万在保骑手，第 3 年初达成。基准情形自留赔付率 52%（点估计 47% + 5% 转分保）。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475488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34D3E4"/>
                </a:solidFill>
                <a:latin typeface="Microsoft YaHei"/>
              </a:rPr>
              <a:t>12 / 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EDF3FA"/>
                </a:solidFill>
                <a:latin typeface="Microsoft YaHei"/>
              </a:rPr>
              <a:t>三步走：试点 → 六城 → 十五城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517904"/>
            <a:ext cx="10451592" cy="9525"/>
          </a:xfrm>
          <a:prstGeom prst="rect">
            <a:avLst/>
          </a:prstGeom>
          <a:solidFill>
            <a:srgbClr val="2A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32764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E8299"/>
                </a:solidFill>
                <a:latin typeface="Consola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27648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E8299"/>
                </a:solidFill>
                <a:latin typeface="Microsoft YaHei"/>
              </a:rPr>
              <a:t>雨证 RainProof · 可复算的参数化降雨保障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828800"/>
            <a:ext cx="3291840" cy="3246120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3291840" cy="28575"/>
          </a:xfrm>
          <a:prstGeom prst="rect">
            <a:avLst/>
          </a:prstGeom>
          <a:solidFill>
            <a:srgbClr val="34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2066543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34D3E4"/>
                </a:solidFill>
                <a:latin typeface="Consolas"/>
              </a:rPr>
              <a:t>2026 Q4 — 2027 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39572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EDF3FA"/>
                </a:solidFill>
                <a:latin typeface="Microsoft YaHei"/>
              </a:rPr>
              <a:t>试点验证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926080"/>
            <a:ext cx="2788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A6B8CB"/>
                </a:solidFill>
                <a:latin typeface="Microsoft YaHei"/>
              </a:rPr>
              <a:t>· 与 1 家平台签试点协议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584448"/>
            <a:ext cx="2788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A6B8CB"/>
                </a:solidFill>
                <a:latin typeface="Microsoft YaHei"/>
              </a:rPr>
              <a:t>· 六城（含县级市义乌）上线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4242816"/>
            <a:ext cx="2788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A6B8CB"/>
                </a:solidFill>
                <a:latin typeface="Microsoft YaHei"/>
              </a:rPr>
              <a:t>· 完成首轮再保安排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53128" y="1828800"/>
            <a:ext cx="3291840" cy="3246120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53128" y="1828800"/>
            <a:ext cx="3291840" cy="28575"/>
          </a:xfrm>
          <a:prstGeom prst="rect">
            <a:avLst/>
          </a:prstGeom>
          <a:solidFill>
            <a:srgbClr val="9E8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066543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9E8CF5"/>
                </a:solidFill>
                <a:latin typeface="Consolas"/>
              </a:rPr>
              <a:t>2027 Q2 — 2028 Q1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39572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EDF3FA"/>
                </a:solidFill>
                <a:latin typeface="Microsoft YaHei"/>
              </a:rPr>
              <a:t>规模复制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926080"/>
            <a:ext cx="2788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A6B8CB"/>
                </a:solidFill>
                <a:latin typeface="Microsoft YaHei"/>
              </a:rPr>
              <a:t>· 扩至 15 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584448"/>
            <a:ext cx="2788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A6B8CB"/>
                </a:solidFill>
                <a:latin typeface="Microsoft YaHei"/>
              </a:rPr>
              <a:t>· 接入平台订单数据，做二次基差校准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242816"/>
            <a:ext cx="2788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A6B8CB"/>
                </a:solidFill>
                <a:latin typeface="Microsoft YaHei"/>
              </a:rPr>
              <a:t>· 数据源接入国内合规源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7576" y="1828800"/>
            <a:ext cx="3291840" cy="3246120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7576" y="1828800"/>
            <a:ext cx="3291840" cy="28575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2066543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FFC857"/>
                </a:solidFill>
                <a:latin typeface="Consolas"/>
              </a:rPr>
              <a:t>2028 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239572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EDF3FA"/>
                </a:solidFill>
                <a:latin typeface="Microsoft YaHei"/>
              </a:rPr>
              <a:t>品类延展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2926080"/>
            <a:ext cx="2788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A6B8CB"/>
                </a:solidFill>
                <a:latin typeface="Microsoft YaHei"/>
              </a:rPr>
              <a:t>· 高温津贴 / 台风停工 / 空气质素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8" y="3584448"/>
            <a:ext cx="2788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A6B8CB"/>
                </a:solidFill>
                <a:latin typeface="Microsoft YaHei"/>
              </a:rPr>
              <a:t>· 向物流、建筑、环卫延展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4242816"/>
            <a:ext cx="2788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A6B8CB"/>
                </a:solidFill>
                <a:latin typeface="Microsoft YaHei"/>
              </a:rPr>
              <a:t>· 城市级天气风险定价能力对外输出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5413248"/>
            <a:ext cx="10451592" cy="786384"/>
          </a:xfrm>
          <a:prstGeom prst="rect">
            <a:avLst/>
          </a:prstGeom>
          <a:solidFill>
            <a:srgbClr val="121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54126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A6B8CB"/>
                </a:solidFill>
                <a:latin typeface="Microsoft YaHei"/>
              </a:rPr>
              <a:t>每一步的验收标准都是可验的：城市数、在保人数、赔付时效中位数、以及「任意第三方能否复算我们的判定」。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475488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34D3E4"/>
                </a:solidFill>
                <a:latin typeface="Microsoft YaHei"/>
              </a:rPr>
              <a:t>13 / 团队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786384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EDF3FA"/>
                </a:solidFill>
                <a:latin typeface="Microsoft YaHei"/>
              </a:rPr>
              <a:t>两个人，一套可复跑的工程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517904"/>
            <a:ext cx="10451592" cy="9525"/>
          </a:xfrm>
          <a:prstGeom prst="rect">
            <a:avLst/>
          </a:prstGeom>
          <a:solidFill>
            <a:srgbClr val="2A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32764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E8299"/>
                </a:solidFill>
                <a:latin typeface="Consola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27648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E8299"/>
                </a:solidFill>
                <a:latin typeface="Microsoft YaHei"/>
              </a:rPr>
              <a:t>雨证 RainProof · 可复算的参数化降雨保障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5029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400" b="1">
                <a:solidFill>
                  <a:srgbClr val="EDF3FA"/>
                </a:solidFill>
                <a:latin typeface="Microsoft YaHei"/>
              </a:rPr>
              <a:t>成员 A　</a:t>
            </a:r>
            <a:r>
              <a:rPr sz="1300" b="0">
                <a:solidFill>
                  <a:srgbClr val="6E8299"/>
                </a:solidFill>
                <a:latin typeface="Microsoft YaHei"/>
              </a:rPr>
              <a:t>〔待填：姓名 · 院系 · 年级〕</a:t>
            </a:r>
            <a:r>
              <a:rPr sz="1100" b="0">
                <a:solidFill>
                  <a:srgbClr val="A6B8CB"/>
                </a:solidFill>
                <a:latin typeface="Microsoft YaHei"/>
              </a:rPr>
              <a:t>
链上工程与 AI 判定系统：合约、脚本、核验台、全部自动化测试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5029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400" b="1">
                <a:solidFill>
                  <a:srgbClr val="EDF3FA"/>
                </a:solidFill>
                <a:latin typeface="Microsoft YaHei"/>
              </a:rPr>
              <a:t>成员 B　</a:t>
            </a:r>
            <a:r>
              <a:rPr sz="1300" b="0">
                <a:solidFill>
                  <a:srgbClr val="6E8299"/>
                </a:solidFill>
                <a:latin typeface="Microsoft YaHei"/>
              </a:rPr>
              <a:t>〔待填：姓名 · 院系 · 年级〕</a:t>
            </a:r>
            <a:r>
              <a:rPr sz="1100" b="0">
                <a:solidFill>
                  <a:srgbClr val="A6B8CB"/>
                </a:solidFill>
                <a:latin typeface="Microsoft YaHei"/>
              </a:rPr>
              <a:t>
精算定价与商业材料：11 年数据处理、40 格费率、计划书与叙事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34340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400" b="1">
                <a:solidFill>
                  <a:srgbClr val="EDF3FA"/>
                </a:solidFill>
                <a:latin typeface="Microsoft YaHei"/>
              </a:rPr>
              <a:t>指导教师　</a:t>
            </a:r>
            <a:r>
              <a:rPr sz="1300" b="0">
                <a:solidFill>
                  <a:srgbClr val="6E8299"/>
                </a:solidFill>
                <a:latin typeface="Microsoft YaHei"/>
              </a:rPr>
              <a:t>〔待填：姓名 · 职称〕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783080"/>
            <a:ext cx="4828032" cy="3977639"/>
          </a:xfrm>
          <a:prstGeom prst="rect">
            <a:avLst/>
          </a:prstGeom>
          <a:solidFill>
            <a:srgbClr val="0D17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4848" y="201168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34D3E4"/>
                </a:solidFill>
                <a:latin typeface="Microsoft YaHei"/>
              </a:rPr>
              <a:t>协作方式本身就是个样本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2395728"/>
            <a:ext cx="426110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00" b="0">
                <a:solidFill>
                  <a:srgbClr val="A6B8CB"/>
                </a:solidFill>
                <a:latin typeface="Microsoft YaHei"/>
              </a:rPr>
              <a:t>两人异地、全流程 AI 辅助：
· 26 道自动化门禁，任何改动先过测试
· 双人文档互审，所有数字可溯源到脚本输出
· 每个链上动作都有 txHash 与留痕文件
这套工程纪律，就是我们敢让评委现场复跑的原因。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5806440"/>
            <a:ext cx="10451592" cy="28575"/>
          </a:xfrm>
          <a:prstGeom prst="rect">
            <a:avLst/>
          </a:prstGeom>
          <a:solidFill>
            <a:srgbClr val="FFC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98932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EDF3FA"/>
                </a:solidFill>
                <a:latin typeface="Microsoft YaHei"/>
              </a:rPr>
              <a:t>我们卖的不是保险，是可验证的自动理赔 —— 把「你信不信我」换成「你自己验」。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