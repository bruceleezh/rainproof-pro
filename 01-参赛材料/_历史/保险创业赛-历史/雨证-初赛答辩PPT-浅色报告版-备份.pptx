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【0:00–0:25】</a:t>
            </a:r>
          </a:p>
          <a:p>
            <a:r>
              <a:t>口播：各位评委好，我们是【队名】。今天 15 分钟讲一件事——暴雨天外卖骑手的收入会直接归零，而这个人群到今天没有一个能自动赔付的产品。我们做的，是把「定损」这个环节整个删掉。</a:t>
            </a:r>
          </a:p>
          <a:p>
            <a:r>
              <a:t>动作：说到「删掉」时才翻页。封面不要停留讲愿景。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【0:25–0:45】20 秒。目的是让评委在第一时间确认「这人控得住时间」。</a:t>
            </a:r>
          </a:p>
          <a:p>
            <a:r>
              <a:t>口播：我按四段讲——项目、技术、创新，然后留三分半请您自己点一遍系统，最后是路线图。</a:t>
            </a:r>
          </a:p>
          <a:p>
            <a:r>
              <a:t>每段我都标了页码和秒数，超时我会自己砍，不会占您的提问时间。</a:t>
            </a:r>
          </a:p>
          <a:p>
            <a:r>
              <a:t>动作：手沿中间那条时间刻度划一遍即可，不逐条念。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【0:45–1:35】50 秒。先把人立起来，再用「凭证」这个切口讲清为什么没人做。</a:t>
            </a:r>
          </a:p>
          <a:p>
            <a:r>
              <a:t>口播：请注意右边这张表——同一天里其实有三种损失。事故有交警单、有病历，传统险能做；天气有公开气象数据，我们能做；但收入中断没有任何票据，收入明细在平台手里，谁都做不了。</a:t>
            </a:r>
          </a:p>
          <a:p>
            <a:r>
              <a:t>第三行就是我们的全部机会，也是全部技术难点。</a:t>
            </a:r>
          </a:p>
          <a:p>
            <a:r>
              <a:t>口径提醒：336 万是美团月均有单，400 万是蜂鸟活跃，不要加总说 736 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【1:35–2:30】55 秒。承重「可行性与商业价值」的 25%。</a:t>
            </a:r>
          </a:p>
          <a:p>
            <a:r>
              <a:t>口播：这一页只讲一件事——不是需求不存在，是成本结构不允许。查一次的钱和赔一次的钱是同一个量级，所以保险公司的理性选择是不做这个人群，用补贴代替保险。</a:t>
            </a:r>
          </a:p>
          <a:p>
            <a:r>
              <a:t>右边市场我们只算能被参数化定价的那部分：19–26 亿的 TAM，3.6 亿的 SAM，第三年 1.1 亿就够养活一个技术服务商。</a:t>
            </a:r>
          </a:p>
          <a:p>
            <a:r>
              <a:t>预判追问：「19 亿怎么算的」→ 公式就在页上，乘一遍即可；单价取的是平台批发价上限。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【2:30–3:20】50 秒。产品一页讲完，不留悬念。</a:t>
            </a:r>
          </a:p>
          <a:p>
            <a:r>
              <a:t>口播：窗口只有两档，不是我们偷懒，是国标只定义了 12 小时和 24 小时；档线也是抄国标的。满额 100 元大约是四分之一个工作日收入——这个比例刻意压低，赔太多会诱导逆选择。</a:t>
            </a:r>
          </a:p>
          <a:p>
            <a:r>
              <a:t>如果被问「为什么不做 48/72 小时」：我们实测过，武汉 48h/72h 保费从 0.0002 涨到 0.0008，触发率却从 0.44% 掉到 0.21%，用户多付四倍钱、中奖率减半，这种产品不该存在。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【3:20–4:20】60 秒。回答「怎么赚钱」。</a:t>
            </a:r>
          </a:p>
          <a:p>
            <a:r>
              <a:t>口播：谁付钱？不是骑手，是平台——它们有合规和舆情压力，而且一次决策能覆盖上万人，边际获客成本几乎是零。美团今年给 300 万骑手免费投了防暑险，说明这个付费习惯已经存在。</a:t>
            </a:r>
          </a:p>
          <a:p>
            <a:r>
              <a:t>钱去哪了看这条横条：34% 期望赔付、14% 固定成本，注意这里——定损成本是 0。</a:t>
            </a:r>
          </a:p>
          <a:p>
            <a:r>
              <a:t>我们不碰承保利润，只收保费 12–15% 的科技服务费，这是合规上的主动选择。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【4:20–5:10】50 秒。架构页不要逐层念，只讲「哪一层最容易被问倒」。</a:t>
            </a:r>
          </a:p>
          <a:p>
            <a:r>
              <a:t>口播：四层，我只强调一件事——每一层都留痕。数据层是公开气象数据加十一年历史库；验真层是整个项目最容易被忽略、也最容易被攻击的一层；判定层是确定性的；存证层保证事后改不了。</a:t>
            </a:r>
          </a:p>
          <a:p>
            <a:r>
              <a:t>右下这句一定要主动说：链不是必需的，纯中心化也能跑。链只承重「可查」和「可算」两件事。说了这句，技术评委的问题会少一半，也不会觉得我们在卖概念。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【5:10–6:00】50 秒。技术方案的第一颗钉子。</a:t>
            </a:r>
          </a:p>
          <a:p>
            <a:r>
              <a:t>口播：参数化保险最大的风险不是赔多了，是数据本身不可信。所以我们不让单一数据源说了算——三个模型各自算累计值，只有两个以上落在中位数容差内才认；不认就不上系统，只留一条拒收记录。</a:t>
            </a:r>
          </a:p>
          <a:p>
            <a:r>
              <a:t>成都真的被拒过，链上可查。</a:t>
            </a:r>
          </a:p>
          <a:p>
            <a:r>
              <a:t>最后三条边界一定要自己说，尤其第二条：三家是同一个聚合接口下的三套数值模式，不是三家独立供应商。这条如果被评委先问出来，可信度会打折。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【6:00–6:45】45 秒。这一页是「专业深度」与「合规」的交汇点。</a:t>
            </a:r>
          </a:p>
          <a:p>
            <a:r>
              <a:t>口播：这里我要特别说一句——我们的 AI 不决定赔不赔。赔不赔由这五条规则决定，规则开源，同一份输入永远同一个输出。AI 只做一件事：把结论翻译成人话。</a:t>
            </a:r>
          </a:p>
          <a:p>
            <a:r>
              <a:t>如果被问「那你们到底用了 AI 吗」→ 用了两处：多源验真比对、解释文案生成；但绝不用于判定。这句要说得干脆，含糊会掉分。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【6:45–7:40】55 秒。专业深度 20% 的主战场。</a:t>
            </a:r>
          </a:p>
          <a:p>
            <a:r>
              <a:t>口播：五个城市十一年逐小时降雨，每城 96,432 小时。24 小时档触发率武汉 4.18%、北京 2.49%，差 1.68 倍——统一价必然有一半城市收错钱。</a:t>
            </a:r>
          </a:p>
          <a:p>
            <a:r>
              <a:t>定价式在右上：用 97.5% 上界而不是点估计，除以 60% 赔付率上限，再向上取整。三个安全边际叠在一起才敢说不亏。</a:t>
            </a:r>
          </a:p>
          <a:p>
            <a:r>
              <a:t>被追问 115.7%：那是 72 小时档旧口径，置信下界 9.35% 贴着保本线，我们不拿它当亏损证据。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【7:40–8:20】40 秒。创新性 30%，这一页是评委的「记分卡」。</a:t>
            </a:r>
          </a:p>
          <a:p>
            <a:r>
              <a:t>口播：我们不主张每条都是原创 —— 参数化有先例、AI 验真有先例、存证也有先例。但三条之间有因果关系：想做到可复算，就必须先做到判定确定性；想判定确定，就必须把 AI 从决策位撤下来。这个组合别人短期抄不走。</a:t>
            </a:r>
          </a:p>
          <a:p>
            <a:r>
              <a:t>禁语：不要说「国内首创」「全球领先」，会被追问文献，而且我们自己也承认有先例。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【8:20–9:05】45 秒。全项目最硬的一页，也是演示环节的入口。</a:t>
            </a:r>
          </a:p>
          <a:p>
            <a:r>
              <a:t>口播：参数化最容易被问的是「数据是你们自己的，凭什么信」。我们的回答是把原始报文、输入哈希、输出哈希全部留痕，任何人能重算。我们自己每天也重跑一遍，25 项断言，差一个字节就红。</a:t>
            </a:r>
          </a:p>
          <a:p>
            <a:r>
              <a:t>然后说名场面：上海那张保单窗口内 0 毫米，系统判不赔。我们没有为了演示改数据。这句要慢，是全场最有力的一句。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【9:05–9:45】40 秒。如果超时，这一页是第一顺位被砍的。</a:t>
            </a:r>
          </a:p>
          <a:p>
            <a:r>
              <a:t>口播：四类玩家——传统险不保收入中断，平台补贴不是保险，国内参数化先例都是政企客户，国际玩家做的是 B 端资产。中间这个空位：个人、小额、高频、可自动理赔，目前没人站。</a:t>
            </a:r>
          </a:p>
          <a:p>
            <a:r>
              <a:t>砍掉时的替代说法（10 秒）：大玩家做 B 端，小玩家做补贴，中间这个位置是空的。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【9:45–10:10】25 秒。演示前先给地图，评委才知道该看哪里。</a:t>
            </a:r>
          </a:p>
          <a:p>
            <a:r>
              <a:t>口播：接下来两分五十秒我不讲 PPT，请您跟我点四个地方。第一个核验台——八条断言它自己读、自己算；第二个骑手端，看那张真保单和它的不赔记录；第三个平台端，看喂价和台账；最后我现场买一张。</a:t>
            </a:r>
          </a:p>
          <a:p>
            <a:r>
              <a:t>动作：说完立刻切浏览器。分屏摆放：浏览器在左、PPT 在右，随时能回来。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【10:10–10:25】15 秒，一句话带过。</a:t>
            </a:r>
          </a:p>
          <a:p>
            <a:r>
              <a:t>最容易翻车的是喂价保鲜：MAX_FEED_AGE 是 24 小时，超时投保会直接 revert。上场前一定跑一次两票喂价，或者干脆跳过现场投保这一步。</a:t>
            </a:r>
          </a:p>
          <a:p>
            <a:r>
              <a:t>如果评委要求看这一步，先说「这一步要等两票确认」，把预期交出去。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【13:15–13:35】20 秒。建议真的投出来。</a:t>
            </a:r>
          </a:p>
          <a:p>
            <a:r>
              <a:t>口播：如果现场网络出问题，我有三级退路：录屏、静态存证，以及直接告诉您「这条正在过期」。演示失败不扣分，掩饰失败才扣分。</a:t>
            </a:r>
          </a:p>
          <a:p>
            <a:r>
              <a:t>作用：这段说完，后面所有数字的可信度都会上一档。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【13:35–14:30】55 秒。展望不要吹，要给「可验证的下一步」。</a:t>
            </a:r>
          </a:p>
          <a:p>
            <a:r>
              <a:t>口播：落地三步——第一年一个城市两万骑手，把一整个雨季跑完；第二年复制五城；第三年十五城、八十万骑手。我们不说三年上市，说的是先跑通一个城市。</a:t>
            </a:r>
          </a:p>
          <a:p>
            <a:r>
              <a:t>收口三个数：十一年数据、四十格费率、零次人工定损。前两个是护城河，第三个才是这门生意成立的原因。</a:t>
            </a:r>
          </a:p>
          <a:p>
            <a:r>
              <a:t>政策只提一句，不要说成「政策要求买我们的产品」，那是过度解读。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【14:30–15:00】收尾 30 秒，语速放慢，不要赶。</a:t>
            </a:r>
          </a:p>
          <a:p>
            <a:r>
              <a:t>口播：最后一句——下雨这件事，不该需要谁来批准才赔。我们把判定、证据和结算放到任何人可复算的地方，这是我们对「可信」的理解。谢谢各位评委。</a:t>
            </a:r>
          </a:p>
          <a:p>
            <a:r>
              <a:t>动作：说完停住，不要再补话。</a:t>
            </a:r>
          </a:p>
          <a:p>
            <a:r>
              <a:t>注意：团队三位与指导教师必须在答辩前换成真人真名 —— 这一项占 15%，且不能编。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2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31136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8775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4436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5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068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97296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052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6714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0375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699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9360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5022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3456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7668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33304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9920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46536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03152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59768" y="0"/>
            <a:ext cx="6400" cy="685800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7132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spc="10">
                <a:solidFill>
                  <a:srgbClr val="8FAAB3"/>
                </a:solidFill>
                <a:latin typeface="Consolas"/>
              </a:rPr>
              <a:t>2026 大学生保险模拟创业大赛 · 保险科技应用赛道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138988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F7F5EF"/>
                </a:solidFill>
                <a:latin typeface="华文中宋"/>
              </a:rPr>
              <a:t>雨证 · RainProof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2395728"/>
            <a:ext cx="2377440" cy="25603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2578608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7F5EF"/>
                </a:solidFill>
                <a:latin typeface="华文中宋"/>
              </a:rPr>
              <a:t>可复算的参数化降雨保障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05409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AAB3"/>
                </a:solidFill>
                <a:latin typeface="Consolas"/>
              </a:rPr>
              <a:t>Parametric rain cover for delivery riders — verifiable by anyone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39319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7F5EF"/>
                </a:solidFill>
                <a:latin typeface="华文中宋"/>
              </a:rPr>
              <a:t>把「你信不信我」换成「你自己验」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443984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8FAAB3"/>
                </a:solidFill>
                <a:latin typeface="等线"/>
              </a:rPr>
              <a:t>降雨越过国标档线即触发判定；输入、输出与原始报文全部留痕，
任何第三方可用同一份数据复算出同一个结论。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742432"/>
            <a:ext cx="5852160" cy="10972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0702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FAAB3"/>
                </a:solidFill>
                <a:latin typeface="Consolas"/>
              </a:rPr>
              <a:t>初赛线上答辩 · 15:00 含现场演示 3′50″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16305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FAAB3"/>
                </a:solidFill>
                <a:latin typeface="Consolas"/>
              </a:rPr>
              <a:t>TEAM【待填】· 中南财经政法大学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1389888"/>
            <a:ext cx="8229" cy="3291840"/>
          </a:xfrm>
          <a:prstGeom prst="rect">
            <a:avLst/>
          </a:prstGeom>
          <a:solidFill>
            <a:srgbClr val="1D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14813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7F5EF"/>
                </a:solidFill>
                <a:latin typeface="华文中宋"/>
              </a:rPr>
              <a:t>15:00</a:t>
            </a:r>
            <a:r>
              <a:rPr sz="850" b="0">
                <a:solidFill>
                  <a:srgbClr val="8FAAB3"/>
                </a:solidFill>
                <a:latin typeface="Consolas"/>
              </a:rPr>
              <a:t>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19385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8">
                <a:solidFill>
                  <a:srgbClr val="8FAAB3"/>
                </a:solidFill>
                <a:latin typeface="Consolas"/>
              </a:rPr>
              <a:t>总时长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257860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7F5EF"/>
                </a:solidFill>
                <a:latin typeface="华文中宋"/>
              </a:rPr>
              <a:t>3:50</a:t>
            </a:r>
            <a:r>
              <a:rPr sz="850" b="0">
                <a:solidFill>
                  <a:srgbClr val="8FAAB3"/>
                </a:solidFill>
                <a:latin typeface="Consolas"/>
              </a:rPr>
              <a:t>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03580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8">
                <a:solidFill>
                  <a:srgbClr val="8FAAB3"/>
                </a:solidFill>
                <a:latin typeface="Consolas"/>
              </a:rPr>
              <a:t>现场演示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3675887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7F5EF"/>
                </a:solidFill>
                <a:latin typeface="华文中宋"/>
              </a:rPr>
              <a:t>18</a:t>
            </a:r>
            <a:r>
              <a:rPr sz="850" b="0">
                <a:solidFill>
                  <a:srgbClr val="8FAAB3"/>
                </a:solidFill>
                <a:latin typeface="Consolas"/>
              </a:rPr>
              <a:t> 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133087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8">
                <a:solidFill>
                  <a:srgbClr val="8FAAB3"/>
                </a:solidFill>
                <a:latin typeface="Consolas"/>
              </a:rPr>
              <a:t>页数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00 /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这 15 分钟怎么走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五段，六个时间锚点。超时我自己砍内容，不占用您的提问时间。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7393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7007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开场与路线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0116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P01–P02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847088"/>
            <a:ext cx="456206" cy="91440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9526" y="179222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0:00–0:45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1773936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8B918B"/>
                </a:solidFill>
                <a:latin typeface="Consolas"/>
              </a:rPr>
              <a:t>0′45″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55648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一句话说清我们做什么、为什么值得听完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22576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68879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173F4C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239572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项目介绍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270662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P03–P06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542032"/>
            <a:ext cx="2179651" cy="91440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2971" y="248716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0:45–4:20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46887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73F4C"/>
                </a:solidFill>
                <a:latin typeface="Consolas"/>
              </a:rPr>
              <a:t>3′35″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50591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痛点不是「贵」，是没人能证明自己亏了；产品与谁付钱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17520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6382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2C6376"/>
                </a:solidFill>
                <a:latin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技术方案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340156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P07–P10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236976"/>
            <a:ext cx="2027582" cy="91440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0902" y="31821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4:20–7:40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316382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C6376"/>
                </a:solidFill>
                <a:latin typeface="Consolas"/>
              </a:rPr>
              <a:t>3′20″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145536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四层架构：数据、验真、判定、存证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12463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85876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A98A4C"/>
                </a:solidFill>
                <a:latin typeface="Consola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9576" y="37856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创新点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" y="40965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P11–P13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931920"/>
            <a:ext cx="1267239" cy="91440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0559" y="387705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7:40–9:45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38587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A98A4C"/>
                </a:solidFill>
                <a:latin typeface="Consolas"/>
              </a:rPr>
              <a:t>2′05″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840480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三条叠加才构成壁垒，单条都有先例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407408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55371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B0502C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" y="4480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现场演示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9576" y="479145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P14–P16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4626864"/>
            <a:ext cx="2331720" cy="91440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57200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9:45–13:35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45537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B0502C"/>
                </a:solidFill>
                <a:latin typeface="Consolas"/>
              </a:rPr>
              <a:t>3′50″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535424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评委自己点：链上事实、真实保单、台账、投保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102352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248655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5F7A5A"/>
                </a:solidFill>
                <a:latin typeface="Consolas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" y="51755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E1D"/>
                </a:solidFill>
                <a:latin typeface="华文中宋"/>
              </a:rPr>
              <a:t>总结与展望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9576" y="54864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P17–P18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5321807"/>
            <a:ext cx="861722" cy="91440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65042" y="5266944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13:35–15:00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8544" y="5248655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7A5A"/>
                </a:solidFill>
                <a:latin typeface="Consolas"/>
              </a:rPr>
              <a:t>1′25″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230368"/>
            <a:ext cx="4005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路线图、延展品类、一句收尾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925312"/>
            <a:ext cx="10637215" cy="12801"/>
          </a:xfrm>
          <a:prstGeom prst="rect">
            <a:avLst/>
          </a:prstGeom>
          <a:solidFill>
            <a:srgbClr val="1A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601675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4">
                <a:solidFill>
                  <a:srgbClr val="4C524E"/>
                </a:solidFill>
                <a:latin typeface="Consolas"/>
              </a:rPr>
              <a:t>合计 15:00（900 秒）· 不含评委提问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6016752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2">
                <a:solidFill>
                  <a:srgbClr val="B0502C"/>
                </a:solidFill>
                <a:latin typeface="Consolas"/>
              </a:rPr>
              <a:t>超时处置：先砍 P13 竞争格局（40″）→ 再砍 P04 市场（35″）→ 演示不压缩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01 /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暴雨天，他的收入是按单算的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众包骑手没有底薪：不出勤就是零收入。天气不是体验问题，是他当天的现金流。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66928" cy="20116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73F4C"/>
                </a:solidFill>
                <a:latin typeface="华文中宋"/>
              </a:rPr>
              <a:t>336</a:t>
            </a:r>
            <a:r>
              <a:rPr sz="1000" b="0">
                <a:solidFill>
                  <a:srgbClr val="8B918B"/>
                </a:solidFill>
                <a:latin typeface="等线"/>
              </a:rPr>
              <a:t> 万人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C524E"/>
                </a:solidFill>
                <a:latin typeface="等线"/>
              </a:rPr>
              <a:t>月均有单骑手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1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美团研究院 2024；蜂鸟约 400 万活跃（口径并列）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783080"/>
            <a:ext cx="566928" cy="20116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929384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B0502C"/>
                </a:solidFill>
                <a:latin typeface="华文中宋"/>
              </a:rPr>
              <a:t>-45%</a:t>
            </a:r>
            <a:r>
              <a:rPr sz="1000" b="0">
                <a:solidFill>
                  <a:srgbClr val="8B918B"/>
                </a:solidFill>
                <a:latin typeface="等线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45973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C524E"/>
                </a:solidFill>
                <a:latin typeface="等线"/>
              </a:rPr>
              <a:t>暴雨日流水落差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679191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210 元 vs 同城均值 385 元（量级参考）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783080"/>
            <a:ext cx="566928" cy="20116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1929384"/>
            <a:ext cx="187451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B0502C"/>
                </a:solidFill>
                <a:latin typeface="华文中宋"/>
              </a:rPr>
              <a:t>0</a:t>
            </a:r>
            <a:r>
              <a:rPr sz="1000" b="0">
                <a:solidFill>
                  <a:srgbClr val="8B918B"/>
                </a:solidFill>
                <a:latin typeface="等线"/>
              </a:rPr>
              <a:t> 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45973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C524E"/>
                </a:solidFill>
                <a:latin typeface="等线"/>
              </a:rPr>
              <a:t>他能买到的天气险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2679191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没有产品，也不知道该找谁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46120"/>
            <a:ext cx="5989320" cy="9144"/>
          </a:xfrm>
          <a:prstGeom prst="rect">
            <a:avLst/>
          </a:prstGeom>
          <a:solidFill>
            <a:srgbClr val="1A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A1E1D"/>
                </a:solidFill>
                <a:latin typeface="华文中宋"/>
              </a:rPr>
              <a:t>不是没人亏，是没人能证明自己亏了。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13632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收入是平台侧数据、损失没有任何票据、单笔赔款只有几十到一百元 —— 三件事叠在一起，传统「报案 → 查勘 → 核损 → 核赔」的链条在这个人群身上不具备经济性。
所以我们换掉的前提不是价格，而是「谁来认定事实」。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138928"/>
            <a:ext cx="59436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4865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口径：骑手规模两套口径并列不混算；收入落差为公开调研口径，仅作量级参考。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1783080"/>
            <a:ext cx="4352544" cy="4059936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193852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6">
                <a:solidFill>
                  <a:srgbClr val="8B918B"/>
                </a:solidFill>
                <a:latin typeface="Consolas"/>
              </a:rPr>
              <a:t>同一天，三种损失，三种可验证性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331720"/>
            <a:ext cx="82296" cy="82296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25856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E1D"/>
                </a:solidFill>
                <a:latin typeface="华文中宋"/>
              </a:rPr>
              <a:t>事故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F7A5A"/>
                </a:solidFill>
                <a:latin typeface="等线"/>
              </a:rPr>
              <a:t>传统意外险可做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96896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交警责任认定书 / 病历 / 发票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6912" y="3072384"/>
            <a:ext cx="3858768" cy="8229"/>
          </a:xfrm>
          <a:prstGeom prst="rect">
            <a:avLst/>
          </a:prstGeom>
          <a:solidFill>
            <a:srgbClr val="E4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3392424"/>
            <a:ext cx="82296" cy="82296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31927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E1D"/>
                </a:solidFill>
                <a:latin typeface="华文中宋"/>
              </a:rPr>
              <a:t>天气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3467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F7A5A"/>
                </a:solidFill>
                <a:latin typeface="等线"/>
              </a:rPr>
              <a:t>我们能做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657600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公开气象数据，谁都能查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96912" y="4133088"/>
            <a:ext cx="3858768" cy="8229"/>
          </a:xfrm>
          <a:prstGeom prst="rect">
            <a:avLst/>
          </a:prstGeom>
          <a:solidFill>
            <a:srgbClr val="E4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96912" y="4453128"/>
            <a:ext cx="82296" cy="82296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37997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E1D"/>
                </a:solidFill>
                <a:latin typeface="华文中宋"/>
              </a:rPr>
              <a:t>收入中断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4074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等线"/>
              </a:rPr>
              <a:t>谁都做不了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718304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无票据；收入明细在平台侧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5358384"/>
            <a:ext cx="387705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B0502C"/>
                </a:solidFill>
                <a:latin typeface="等线"/>
              </a:rPr>
              <a:t>第三行就是我们全部的机会，也是全部的技术难点。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01 /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不是没人想保，是这笔账算不过来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E1D"/>
                </a:solidFill>
                <a:latin typeface="华文中宋"/>
              </a:rPr>
              <a:t>查一次的成本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133502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8B918B"/>
                </a:solidFill>
                <a:latin typeface="华文中宋"/>
              </a:rP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4173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0502C"/>
                </a:solidFill>
                <a:latin typeface="华文中宋"/>
              </a:rPr>
              <a:t>赔一次的钱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197510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单均赔款 50–100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2128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18B"/>
                </a:solidFill>
                <a:latin typeface="等线"/>
              </a:rPr>
              <a:t>客单价极低，容不下任何人工环节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254203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报案、查勘、核损、核赔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2779776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18B"/>
                </a:solidFill>
                <a:latin typeface="等线"/>
              </a:rPr>
              <a:t>每一步都是与赔款同量级的固定成本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4553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310896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于是理性选择是不卖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334670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18B"/>
                </a:solidFill>
                <a:latin typeface="等线"/>
              </a:rPr>
              <a:t>用平台补贴代替保险，成本中心化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77639"/>
            <a:ext cx="6446520" cy="132588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11480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下游的三个结果 —— 同一个原因，不是三个独立问题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44439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损失核不了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7" y="44439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逆选择与骗赔无解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44439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众包身份无正式凭据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" y="4791456"/>
            <a:ext cx="60350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502C"/>
                </a:solidFill>
                <a:latin typeface="华文中宋"/>
              </a:rPr>
              <a:t>所以我们不是把理赔做快了，是把最贵的那个环节删掉了。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532120"/>
            <a:ext cx="64465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19" b="0">
                <a:solidFill>
                  <a:srgbClr val="8B918B"/>
                </a:solidFill>
                <a:latin typeface="等线"/>
              </a:rPr>
              <a:t>右侧的市场测算只算「会被暴雨打断收入、且能被参数化定价」的那一小群人 —— 把 TAM 说小是故意的。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11556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6">
                <a:solidFill>
                  <a:srgbClr val="8B918B"/>
                </a:solidFill>
                <a:latin typeface="Consolas"/>
              </a:rPr>
              <a:t>市场（假设全部公开，可复核）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4173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8B918B"/>
                </a:solidFill>
                <a:latin typeface="Consolas"/>
              </a:rPr>
              <a:t>TAM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1344168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73F4C"/>
                </a:solidFill>
                <a:latin typeface="华文中宋"/>
              </a:rPr>
              <a:t>19–26</a:t>
            </a:r>
            <a:r>
              <a:rPr sz="750" b="0">
                <a:solidFill>
                  <a:srgbClr val="8B918B"/>
                </a:solidFill>
                <a:latin typeface="等线"/>
              </a:rPr>
              <a:t> 亿元／年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691640"/>
            <a:ext cx="2834640" cy="109728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892808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500–700 万骑手 × 250 天 × 1.5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8986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8B918B"/>
                </a:solidFill>
                <a:latin typeface="Consolas"/>
              </a:rPr>
              <a:t>SAM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82549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2C6376"/>
                </a:solidFill>
                <a:latin typeface="华文中宋"/>
              </a:rPr>
              <a:t>3.6</a:t>
            </a:r>
            <a:r>
              <a:rPr sz="750" b="0">
                <a:solidFill>
                  <a:srgbClr val="8B918B"/>
                </a:solidFill>
                <a:latin typeface="等线"/>
              </a:rPr>
              <a:t> 亿元／年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3172968"/>
            <a:ext cx="2057400" cy="109728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374136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200 万高频骑手 × 120 天 × 1.5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3799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8B918B"/>
                </a:solidFill>
                <a:latin typeface="Consolas"/>
              </a:rPr>
              <a:t>SOM 第 3 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30682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A98A4C"/>
                </a:solidFill>
                <a:latin typeface="华文中宋"/>
              </a:rPr>
              <a:t>1.1</a:t>
            </a:r>
            <a:r>
              <a:rPr sz="750" b="0">
                <a:solidFill>
                  <a:srgbClr val="8B918B"/>
                </a:solidFill>
                <a:latin typeface="等线"/>
              </a:rPr>
              <a:t> 亿元／年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4654296"/>
            <a:ext cx="1371600" cy="109728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4855464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80 万骑手 × 100 天 × 1.4 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01 /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一张保单长什么样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窗口只有两档，因为国标只定义了这两个时段；档线直接取国标表 1，不是我们拍的。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739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保障对象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171907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外卖／即时配送骑手；可由平台或众包服务商整批代投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04288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保障窗口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095" y="2377439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12 小时 / 24 小时 —— 对齐 GB/T 28592—2012 的两个时段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62656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906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095" y="3035808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保障窗口内「新增累计降雨量」越过档线；不看总雨量，只看增量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1024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39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给付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3694176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命中第一档赔 50%、第二档赔 75%；满额 100 元／份（约 0.26 个日收入）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79392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07407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1095" y="4352544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骑手自付 3.6–8.8 元；平台团体批发 1.1–2.2 元（按城市与渠道分档）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59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6577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6">
                <a:solidFill>
                  <a:srgbClr val="8B918B"/>
                </a:solidFill>
                <a:latin typeface="Consolas"/>
              </a:rPr>
              <a:t>不做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1095" y="501091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特大暴雨档 —— 11 年五城 24h ≥250mm 零命中，写进条款也是空承诺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596127"/>
            <a:ext cx="65836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42432"/>
            <a:ext cx="65836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19" b="0">
                <a:solidFill>
                  <a:srgbClr val="8B918B"/>
                </a:solidFill>
                <a:latin typeface="等线"/>
              </a:rPr>
              <a:t>赔付额是定值，不追实际损失 —— 这是参数化的固有代价，也正是它能把定损成本压到零的原因。所以我们把它定义为「收入中断补偿」。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106070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6">
                <a:solidFill>
                  <a:srgbClr val="8B918B"/>
                </a:solidFill>
                <a:latin typeface="Consolas"/>
              </a:rPr>
              <a:t>四档给付阶梯（横轴为赔付比例）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15544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12h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15361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E1D"/>
                </a:solidFill>
                <a:latin typeface="等线"/>
              </a:rPr>
              <a:t>≥ 30 mm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25712" y="1536192"/>
            <a:ext cx="1170431" cy="201168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151790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73F4C"/>
                </a:solidFill>
                <a:latin typeface="Consolas"/>
              </a:rP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2450591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12h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2432303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E1D"/>
                </a:solidFill>
                <a:latin typeface="等线"/>
              </a:rPr>
              <a:t>≥ 70 mm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25712" y="2432303"/>
            <a:ext cx="1755648" cy="201168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2414015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2C6376"/>
                </a:solidFill>
                <a:latin typeface="Consolas"/>
              </a:rP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334670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24h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1583" y="332841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E1D"/>
                </a:solidFill>
                <a:latin typeface="等线"/>
              </a:rPr>
              <a:t>≥ 50 mm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328416"/>
            <a:ext cx="1170431" cy="201168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0" y="331012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73F4C"/>
                </a:solidFill>
                <a:latin typeface="Consolas"/>
              </a:rPr>
              <a:t>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242816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24h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1583" y="422452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E1D"/>
                </a:solidFill>
                <a:latin typeface="等线"/>
              </a:rPr>
              <a:t>≥ 100 mm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25712" y="4224528"/>
            <a:ext cx="1755648" cy="201168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0" y="4206240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2C6376"/>
                </a:solidFill>
                <a:latin typeface="Consolas"/>
              </a:rPr>
              <a:t>75%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4956048"/>
            <a:ext cx="3712463" cy="9144"/>
          </a:xfrm>
          <a:prstGeom prst="rect">
            <a:avLst/>
          </a:prstGeom>
          <a:solidFill>
            <a:srgbClr val="1A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9248" y="5084064"/>
            <a:ext cx="371246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档线：暴雨 = 12h 30.0–69.9mm 或 24h 50.0–99.9mm（GB/T 28592—2012 表 1）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9248" y="5705856"/>
            <a:ext cx="371246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为什么不做 48/72 小时：国标没有这两个时段，线性外推会做出「多付 4 倍保费、中奖率减半」的反直觉产品。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01 / 商业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谁付钱，钱又去哪了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6">
                <a:solidFill>
                  <a:srgbClr val="8B918B"/>
                </a:solidFill>
                <a:latin typeface="Consolas"/>
              </a:rPr>
              <a:t>三个可能的买家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spc="8">
                <a:solidFill>
                  <a:srgbClr val="173F4C"/>
                </a:solidFill>
                <a:latin typeface="Consolas"/>
              </a:rPr>
              <a:t>主攻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4356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平台 / 众包服务商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55648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有合规与舆情压力；一次决策覆盖上万骑手，边际获客成本趋近于零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4016"/>
            <a:ext cx="47091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spc="8">
                <a:solidFill>
                  <a:srgbClr val="8B918B"/>
                </a:solidFill>
                <a:latin typeface="Consolas"/>
              </a:rPr>
              <a:t>补充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62432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骑手自付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价格敏感、获客贵，只作自助渠道：3.6–8.8 元／份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02736"/>
            <a:ext cx="47091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7705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spc="8">
                <a:solidFill>
                  <a:srgbClr val="2C6376"/>
                </a:solidFill>
                <a:latin typeface="Consolas"/>
              </a:rPr>
              <a:t>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38130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持牌保险公司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承保主体；我们输出产品设计、定价与自动理赔系统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47091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57216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旁证：美团 2025 年「夏季清凉行动」由平台全额出资，为 300 多万骑手投保防暑险 —— 平台付费习惯已被教育，但「暴雨收入中断」仍是空白。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2252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4">
                <a:solidFill>
                  <a:srgbClr val="8B918B"/>
                </a:solidFill>
                <a:latin typeface="Consolas"/>
              </a:rPr>
              <a:t>一张 2.2 元的平台保单（广州 · 24h · 满额 100 元）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99616"/>
            <a:ext cx="1843613" cy="329184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32933" y="1499616"/>
            <a:ext cx="759134" cy="32918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2068" y="1499616"/>
            <a:ext cx="813358" cy="329184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05426" y="1499616"/>
            <a:ext cx="1355598" cy="329184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61024" y="1499616"/>
            <a:ext cx="650687" cy="329184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1883664"/>
            <a:ext cx="542239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2043684"/>
            <a:ext cx="68580" cy="68580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993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期望赔付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9933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F7A5A"/>
                </a:solidFill>
                <a:latin typeface="Consolas"/>
              </a:rPr>
              <a:t>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199339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0.74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409444"/>
            <a:ext cx="68580" cy="68580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3591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固定成本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3591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8B918B"/>
                </a:solidFill>
                <a:latin typeface="Consolas"/>
              </a:rPr>
              <a:t>14%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235915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0.30 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775204"/>
            <a:ext cx="68580" cy="68580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72491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再保与准备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7249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C6376"/>
                </a:solidFill>
                <a:latin typeface="Consolas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59" y="27249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0.33 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140964"/>
            <a:ext cx="68580" cy="68580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09067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渠道与运营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0906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173F4C"/>
                </a:solidFill>
                <a:latin typeface="Consolas"/>
              </a:rPr>
              <a:t>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59" y="30906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0.55 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506724"/>
            <a:ext cx="68580" cy="68580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4564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科技毛利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4564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A98A4C"/>
                </a:solidFill>
                <a:latin typeface="Consolas"/>
              </a:rPr>
              <a:t>12%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59" y="345643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Consolas"/>
              </a:rPr>
              <a:t>0.28 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3931920"/>
            <a:ext cx="542239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B0502C"/>
                </a:solidFill>
                <a:latin typeface="华文中宋"/>
              </a:rPr>
              <a:t>定损成本 = 0 元，这是传统险种做不到的一行。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261104"/>
            <a:ext cx="542239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3525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4">
                <a:solidFill>
                  <a:srgbClr val="8B918B"/>
                </a:solidFill>
                <a:latin typeface="Consolas"/>
              </a:rPr>
              <a:t>三年三情形（保费规模 / 净利）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60857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第 1 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482803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C524E"/>
                </a:solidFill>
                <a:latin typeface="华文中宋"/>
              </a:rPr>
              <a:t>144 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1572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−40 ~ −60 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08975" y="460857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第 2 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8975" y="482803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C6376"/>
                </a:solidFill>
                <a:latin typeface="华文中宋"/>
              </a:rPr>
              <a:t>2,080 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8975" y="51572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−40 ~ −100 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460857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第 3 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8632" y="482803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F7A5A"/>
                </a:solidFill>
                <a:latin typeface="华文中宋"/>
              </a:rPr>
              <a:t>1.12 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28632" y="515721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B918B"/>
                </a:solidFill>
                <a:latin typeface="Consolas"/>
              </a:rPr>
              <a:t>+450 ~ 780 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5541264"/>
            <a:ext cx="542239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盈亏平衡：在保骑手 25–30 万，第 3 年初达成。我们不做承保主体，只收科技服务费（保费 12–15%）。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02 /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四层：数据进来，结论出去，每一步都留痕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34747" cy="896112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8">
                <a:solidFill>
                  <a:srgbClr val="8B918B"/>
                </a:solidFill>
                <a:latin typeface="Consolas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5" y="1773936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数据层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773936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公开气象数据（三套独立数值模式）+ 11 年逐小时历史库：五城 × 96,432 小时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97480"/>
            <a:ext cx="69037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16352"/>
            <a:ext cx="34747" cy="896112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95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8">
                <a:solidFill>
                  <a:srgbClr val="173F4C"/>
                </a:solidFill>
                <a:latin typeface="Consola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285292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验真层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852928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跨机构交叉核验；离散度超容差即拒收，不认的数据不进入系统，拒收本身留痕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76472"/>
            <a:ext cx="69037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895344"/>
            <a:ext cx="34747" cy="896112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6849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8">
                <a:solidFill>
                  <a:srgbClr val="A98A4C"/>
                </a:solidFill>
                <a:latin typeface="Consolas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5" y="393192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判定层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9319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五条确定性规则给出赔或不赔；大模型只把结论翻译成人话，不参与决策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55464"/>
            <a:ext cx="69037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74336"/>
            <a:ext cx="34747" cy="896112"/>
          </a:xfrm>
          <a:prstGeom prst="rect">
            <a:avLst/>
          </a:prstGeom>
          <a:solidFill>
            <a:srgbClr val="5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8">
                <a:solidFill>
                  <a:srgbClr val="5F7A5A"/>
                </a:solidFill>
                <a:latin typeface="Consolas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5" y="501091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E1D"/>
                </a:solidFill>
                <a:latin typeface="华文中宋"/>
              </a:rPr>
              <a:t>存证层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501091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规则部署即不可改；每次喂价与判定的输入／输出哈希留痕，第三方可复算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34455"/>
            <a:ext cx="69037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10607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spc="6">
                <a:solidFill>
                  <a:srgbClr val="8B918B"/>
                </a:solidFill>
                <a:latin typeface="Consolas"/>
              </a:rPr>
              <a:t>三条设计决策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133502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1298448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赔不赔由规则决定，不由模型决定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17373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责任边界可审计 —— 监管视角的关键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1" y="2267712"/>
            <a:ext cx="3383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2414015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377439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判定快照钉死在同一区块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816351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窗口滚动不会磨掉应赔的保单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28431" y="3346703"/>
            <a:ext cx="3383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349300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3456432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治理是 2/3 多签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89534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喂价、判定、调价都要两把钥匙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1" y="4425696"/>
            <a:ext cx="3383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1" y="4828032"/>
            <a:ext cx="3383280" cy="1115568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495604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B0502C"/>
                </a:solidFill>
                <a:latin typeface="Consolas"/>
              </a:rPr>
              <a:t>为什么不是纯中心化系统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5193792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纯中心化也能跑同样的流程。链在这里只承重两件事：规则改了查得到，结论重算得出。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02 / 验真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三个模型互相作证，离群的那份不上系统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参数化保险把钱押在一个数字上；数据源被污染或单点故障，整个池子就失真 —— 验真是命门，不是加分项。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237744" cy="2377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E1D"/>
                </a:solidFill>
                <a:latin typeface="华文中宋"/>
              </a:rPr>
              <a:t>拉取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23744"/>
            <a:ext cx="2395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三套数值模式逐小时降水
ECMWF / GFS / ICON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892807"/>
            <a:ext cx="2359152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5576" y="1883664"/>
            <a:ext cx="237744" cy="2377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993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212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E1D"/>
                </a:solidFill>
                <a:latin typeface="华文中宋"/>
              </a:rPr>
              <a:t>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523744"/>
            <a:ext cx="2395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只在公共日期上比
「自起点起的累计值」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9896" y="1892807"/>
            <a:ext cx="2359152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1883664"/>
            <a:ext cx="237744" cy="23774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93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212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E1D"/>
                </a:solidFill>
                <a:latin typeface="华文中宋"/>
              </a:rPr>
              <a:t>判一致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523744"/>
            <a:ext cx="2395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中位数 ± 容差
至少 2 个落在内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8231" y="1892807"/>
            <a:ext cx="2359152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42248" y="1883664"/>
            <a:ext cx="237744" cy="23774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42248" y="1993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212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E1D"/>
                </a:solidFill>
                <a:latin typeface="华文中宋"/>
              </a:rPr>
              <a:t>分流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2523744"/>
            <a:ext cx="2395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一致才写入系统
不一致只留拒收记录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127248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310128"/>
            <a:ext cx="5102352" cy="1298448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34381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8">
                <a:solidFill>
                  <a:srgbClr val="8B918B"/>
                </a:solidFill>
                <a:latin typeface="Consolas"/>
              </a:rPr>
              <a:t>容差口径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" y="3675887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3F4C"/>
                </a:solidFill>
                <a:latin typeface="Consolas"/>
              </a:rPr>
              <a:t>± max( 2.5 mm , 5% × 中位数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" y="4059936"/>
            <a:ext cx="4626864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小量级用绝对容差、大量级用相对容差；三模型里至少两个同意，才认这份读数。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3310128"/>
            <a:ext cx="5266944" cy="1298448"/>
          </a:xfrm>
          <a:prstGeom prst="rect">
            <a:avLst/>
          </a:prstGeom>
          <a:noFill/>
          <a:ln w="11430">
            <a:solidFill>
              <a:srgbClr val="B0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343814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真实发生过：成都那份读数被拒收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3657600"/>
            <a:ext cx="4828032" cy="8778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三模型离散度超出容差 → 该城读数不进入系统，只留一条拒收事件。「我们今天没认这份数据」和「赔了」一样，都是可查的记录。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2803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三条必须自己先说的边界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157216"/>
            <a:ext cx="54864" cy="5486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084064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拒收也是动作：不认的数据必须说得出「为什么」，这条规则拦掉的不只是坏数据，还有事后解释权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577840"/>
            <a:ext cx="54864" cy="5486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5046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三模型同经一个公开聚合接口取数 —— 是同一供应商下的三套数值模式，不是三家独立供应商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998464"/>
            <a:ext cx="54864" cy="5486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92531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落地按《气象信息服务管理办法》切换到国内已备案源；现在的公开学术源只用于研究回测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02 / 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09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AI 只写解释，赔不赔由五条写死的规则说了算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规则全部开源、可单独复现；同一份输入，永远得到同一个结论。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739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7393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17739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触发条件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177393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结论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93392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5798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6">
                <a:solidFill>
                  <a:srgbClr val="2C6376"/>
                </a:solidFill>
                <a:latin typeface="Consolas"/>
              </a:rP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12140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E1D"/>
                </a:solidFill>
                <a:latin typeface="等线"/>
              </a:rPr>
              <a:t>未达档线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13969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窗口内新增累计雨量 &lt; 对应档线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139696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4C524E"/>
                </a:solidFill>
                <a:latin typeface="Consolas"/>
              </a:rPr>
              <a:t>DENY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88336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7121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6">
                <a:solidFill>
                  <a:srgbClr val="2C6376"/>
                </a:solidFill>
                <a:latin typeface="Consolas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283464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E1D"/>
                </a:solidFill>
                <a:latin typeface="等线"/>
              </a:rPr>
              <a:t>数据背离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852928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链路读数与三模型中位数偏离 &gt; 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285292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4C524E"/>
                </a:solidFill>
                <a:latin typeface="Consolas"/>
              </a:rPr>
              <a:t>DENY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01568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6">
                <a:solidFill>
                  <a:srgbClr val="2C6376"/>
                </a:solidFill>
                <a:latin typeface="Consolas"/>
              </a:rPr>
              <a:t>R3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354787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E1D"/>
                </a:solidFill>
                <a:latin typeface="等线"/>
              </a:rPr>
              <a:t>支持不足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356616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落在容差内的模型少于 2 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356616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4C524E"/>
                </a:solidFill>
                <a:latin typeface="Consolas"/>
              </a:rPr>
              <a:t>DENY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4800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97679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6">
                <a:solidFill>
                  <a:srgbClr val="2C6376"/>
                </a:solidFill>
                <a:latin typeface="Consolas"/>
              </a:rPr>
              <a:t>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0472" y="426110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E1D"/>
                </a:solidFill>
                <a:latin typeface="等线"/>
              </a:rPr>
              <a:t>离散度超标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4279392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模型极差超出容差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42793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8A4C"/>
                </a:solidFill>
                <a:latin typeface="Consolas"/>
              </a:rPr>
              <a:t>压 confidence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828031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1091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6">
                <a:solidFill>
                  <a:srgbClr val="2C6376"/>
                </a:solidFill>
                <a:latin typeface="Consolas"/>
              </a:rPr>
              <a:t>R5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497433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E1D"/>
                </a:solidFill>
                <a:latin typeface="等线"/>
              </a:rPr>
              <a:t>其余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4992624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以上全部通过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79" y="499262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5F7A5A"/>
                </a:solidFill>
                <a:latin typeface="Consolas"/>
              </a:rPr>
              <a:t>按档给付 PAY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541264"/>
            <a:ext cx="68122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70448"/>
            <a:ext cx="6812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五条规则写在开源代码里，任何一条都能被单独复现 —— 这是「可审计」的定义。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82127" y="1773936"/>
            <a:ext cx="3529584" cy="1481328"/>
          </a:xfrm>
          <a:prstGeom prst="rect">
            <a:avLst/>
          </a:prstGeom>
          <a:noFill/>
          <a:ln w="11430">
            <a:solidFill>
              <a:srgbClr val="17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190195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173F4C"/>
                </a:solidFill>
                <a:latin typeface="Consolas"/>
              </a:rPr>
              <a:t>AI 在这套系统里的位置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103120"/>
            <a:ext cx="3127248" cy="10607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大模型只把规则结论翻译成人话，写给骑手和客服看。
它不改结论、不进哈希、不承担判定责任，也拿不到保单与赔付金额。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3529584"/>
            <a:ext cx="35295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A98A4C"/>
                </a:solidFill>
                <a:latin typeface="Consolas"/>
              </a:rPr>
              <a:t>confidence 是什么（口径别混）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749039"/>
            <a:ext cx="352958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多源一致性自评：模型落在容差内的比例 + 与链上读数的相符程度。不是统计置信区间，门槛 60。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4700016"/>
            <a:ext cx="352958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2127" y="4846320"/>
            <a:ext cx="35295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监管视角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5084064"/>
            <a:ext cx="352958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AI 不做「赔不赔」的黑箱决策，责任边界清晰、可追溯。这是产品能进报备流程的前提。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02 / 精算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统一定价是错的 —— 这是算出来的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0784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4">
                <a:solidFill>
                  <a:srgbClr val="8B918B"/>
                </a:solidFill>
                <a:latin typeface="Consolas"/>
              </a:rPr>
              <a:t>11 年 · 每城 96,432 小时 · 24h 档位加权条件触发率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5" y="2498067"/>
            <a:ext cx="658368" cy="1360700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2223747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0502C"/>
                </a:solidFill>
                <a:latin typeface="Consolas"/>
              </a:rPr>
              <a:t>4.18%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" y="3931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武汉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5144" y="2559917"/>
            <a:ext cx="658368" cy="1298850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2263" y="2285597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A98A4C"/>
                </a:solidFill>
                <a:latin typeface="Consolas"/>
              </a:rPr>
              <a:t>3.99%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3" y="3931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成都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1" y="2618512"/>
            <a:ext cx="658368" cy="1240255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1" y="2344192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A98A4C"/>
                </a:solidFill>
                <a:latin typeface="Consolas"/>
              </a:rPr>
              <a:t>3.81%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931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广州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99378"/>
            <a:ext cx="658368" cy="859389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725058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C6376"/>
                </a:solidFill>
                <a:latin typeface="Consolas"/>
              </a:rPr>
              <a:t>2.64%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931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上海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048207"/>
            <a:ext cx="658368" cy="810560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2773887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C6376"/>
                </a:solidFill>
                <a:latin typeface="Consolas"/>
              </a:rPr>
              <a:t>2.49%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3931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北京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858768"/>
            <a:ext cx="6583680" cy="10972"/>
          </a:xfrm>
          <a:prstGeom prst="rect">
            <a:avLst/>
          </a:prstGeom>
          <a:solidFill>
            <a:srgbClr val="1A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7"/>
            <a:ext cx="65836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4C524E"/>
                </a:solidFill>
                <a:latin typeface="等线"/>
              </a:rPr>
              <a:t>最高与最低差 1.68 倍。统一价必然有一半城市收错钱：收多了骑手不买，收少了池子亏穿。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19472"/>
            <a:ext cx="6583680" cy="1133856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029200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反例实证（口径必须带全）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248656"/>
            <a:ext cx="621792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统一价口径下广州 72h 档赔付率 115.7%（收 1 赔 1.16）。但这是 72h 档，且 95% 区间下界 9.35% 贴近保本线、越线本身不显著 —— 我们只拿它证明「统一定价会失衡」，不拿它当「已经亏了」。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1700784"/>
            <a:ext cx="3730752" cy="20116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1828800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定价式（只许往上取整）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048256"/>
            <a:ext cx="3730752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40" b="1">
                <a:solidFill>
                  <a:srgbClr val="173F4C"/>
                </a:solidFill>
                <a:latin typeface="Consolas"/>
              </a:rPr>
              <a:t>P = ⌈(97.5% 上界期望赔付 + 0.30) ÷ 60%⌉</a:t>
            </a:r>
          </a:p>
          <a:p>
            <a:pPr algn="l">
              <a:lnSpc>
                <a:spcPct val="140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且不低于 max( 固定成本 × 1.25 , 1.0 元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9806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24h 档费率（元／份 · 满额 100 元）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017520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3017520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平台团体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3017520"/>
            <a:ext cx="96926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认证自助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0736" y="301752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众包自助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218688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3291840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武汉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32918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1.6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4896" y="329184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5.8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3291840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Consolas"/>
              </a:rPr>
              <a:t>8.8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547872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3602736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上海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3602736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4896" y="3602736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3.7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602736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Consolas"/>
              </a:rPr>
              <a:t>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3858768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3913632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北京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391363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6" y="3913632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3.5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0736" y="3913632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Consolas"/>
              </a:rPr>
              <a:t>5.1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4169664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9248" y="4224528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广州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4224528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2.2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4896" y="4224528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5.5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0736" y="4224528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Consolas"/>
              </a:rPr>
              <a:t>7.9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4480560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99248" y="4535424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成都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0768" y="4535424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1.4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4896" y="453542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C6376"/>
                </a:solidFill>
                <a:latin typeface="Consolas"/>
              </a:rPr>
              <a:t>5.3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0736" y="4535424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B0502C"/>
                </a:solidFill>
                <a:latin typeface="Consolas"/>
              </a:rPr>
              <a:t>8.2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4791456"/>
            <a:ext cx="373075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0" y="4901184"/>
            <a:ext cx="3730752" cy="1152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40 格 = 5 城 × 2 窗口 × 4 档身份渠道。身份与渠道不是风控装饰：同城同窗口内价差 1.9–3.2 倍。义乌尚无 11 年样本，按兜底价 10 元挂出，等数据补齐再定价。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03 / 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11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三个创新，一层叠一层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我们不主张每条都是原创；主张的是三条之间的因果关系，别人抄不走。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73F4C"/>
                </a:solidFill>
                <a:latin typeface="华文中宋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847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10">
                <a:solidFill>
                  <a:srgbClr val="8B918B"/>
                </a:solidFill>
                <a:latin typeface="Consolas"/>
              </a:rPr>
              <a:t>产品层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E1D"/>
                </a:solidFill>
                <a:latin typeface="华文中宋"/>
              </a:rPr>
              <a:t>把「定损」这个环节删掉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07792"/>
            <a:ext cx="3145536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3145536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参数化不是新东西 —— 农险气象指数、广东巨灾险都有。新的是把它用在一个从没被保过的人群上：个人、小额、高频、无凭证的收入中断。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62272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3F4C"/>
                </a:solidFill>
                <a:latin typeface="Consola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44398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1">
                <a:solidFill>
                  <a:srgbClr val="173F4C"/>
                </a:solidFill>
                <a:latin typeface="等线"/>
              </a:rPr>
              <a:t>国内即配骑手的收入中断场景，此前无产品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1755648"/>
            <a:ext cx="8229" cy="3310128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7556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A98A4C"/>
                </a:solidFill>
                <a:latin typeface="华文中宋"/>
              </a:rPr>
              <a:t>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1847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10">
                <a:solidFill>
                  <a:srgbClr val="8B918B"/>
                </a:solidFill>
                <a:latin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31136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E1D"/>
                </a:solidFill>
                <a:latin typeface="华文中宋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2907792"/>
            <a:ext cx="3145536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054096"/>
            <a:ext cx="3145536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行业里 AI 多用来做核保评分或反欺诈，结论是概率、责任是模糊的。我们把 AI 关进两个笼子：只做多源验真，只写解释文案。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462272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8A4C"/>
                </a:solidFill>
                <a:latin typeface="Consola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444398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1">
                <a:solidFill>
                  <a:srgbClr val="A98A4C"/>
                </a:solidFill>
                <a:latin typeface="等线"/>
              </a:rPr>
              <a:t>判定 100% 确定性，责任边界可审计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36408" y="1755648"/>
            <a:ext cx="8229" cy="3310128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864" y="17556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5F7A5A"/>
                </a:solidFill>
                <a:latin typeface="华文中宋"/>
              </a:rPr>
              <a:t>III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1847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10">
                <a:solidFill>
                  <a:srgbClr val="8B918B"/>
                </a:solidFill>
                <a:latin typeface="Consolas"/>
              </a:rPr>
              <a:t>信任层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5864" y="2231136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E1D"/>
                </a:solidFill>
                <a:latin typeface="华文中宋"/>
              </a:rPr>
              <a:t>结论可被第三方复算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4" y="2907792"/>
            <a:ext cx="3145536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3054096"/>
            <a:ext cx="3145536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参数化保险的软肋是「数据你说了算」。我们把输入哈希、输出哈希与原始报文一起留痕，任何人重跑得到同一个结论。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4462272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7A5A"/>
                </a:solidFill>
                <a:latin typeface="Consola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44398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1">
                <a:solidFill>
                  <a:srgbClr val="5F7A5A"/>
                </a:solidFill>
                <a:latin typeface="等线"/>
              </a:rPr>
              <a:t>把「你信不信我」换成「你自己验」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77840"/>
            <a:ext cx="27432" cy="566928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3" y="5632704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E1D"/>
                </a:solidFill>
                <a:latin typeface="华文中宋"/>
              </a:rPr>
              <a:t>单看每一条都有先例；三条叠在一起才构成壁垒 —— 因为第三条要求前两条本来就是确定性、可复现的。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03 / 可复算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同一份报文，任何人算出来都是同一个结论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不要求您相信我们的结论，只要求您相信您自己点出来的结果。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219456" cy="2377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原始报文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气象接口返回的 JSON
原样归档，不经加工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1" y="1856231"/>
            <a:ext cx="1847088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6936" y="1847088"/>
            <a:ext cx="219456" cy="23774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956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267712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浏览器／脚本现算
不经过我们的服务器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856231"/>
            <a:ext cx="1847088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6631" y="1847088"/>
            <a:ext cx="219456" cy="23774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956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73F4C"/>
                </a:solidFill>
                <a:latin typeface="华文中宋"/>
              </a:rPr>
              <a:t>inputHash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2267712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写入时存证
事后改不了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2664" y="1856231"/>
            <a:ext cx="1847088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96327" y="1847088"/>
            <a:ext cx="219456" cy="23774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7" y="1956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73F4C"/>
                </a:solidFill>
                <a:latin typeface="华文中宋"/>
              </a:rPr>
              <a:t>R1–R5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2267712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确定性规则
同一输入同一输出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856231"/>
            <a:ext cx="1847088" cy="5486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6024" y="1847088"/>
            <a:ext cx="219456" cy="23774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1956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73F4C"/>
                </a:solidFill>
                <a:latin typeface="华文中宋"/>
              </a:rPr>
              <a:t>outputHash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267712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与判定理由分离
各自留痕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09067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spc="2">
                <a:solidFill>
                  <a:srgbClr val="8B918B"/>
                </a:solidFill>
                <a:latin typeface="Consolas"/>
              </a:rPr>
              <a:t>0x7f3ad91c…4e2b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024" y="309067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spc="2">
                <a:solidFill>
                  <a:srgbClr val="8B918B"/>
                </a:solidFill>
                <a:latin typeface="Consolas"/>
              </a:rPr>
              <a:t>0x1c84be07…9a53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309067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 spc="2">
                <a:solidFill>
                  <a:srgbClr val="8B918B"/>
                </a:solidFill>
                <a:latin typeface="Consolas"/>
              </a:rPr>
              <a:t>0x93e1c7b4…0d17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74720"/>
            <a:ext cx="5065776" cy="1572768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" y="360273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173F4C"/>
                </a:solidFill>
                <a:latin typeface="Consolas"/>
              </a:rPr>
              <a:t>我们自己先验一遍：重放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" y="3822191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73F4C"/>
                </a:solidFill>
                <a:latin typeface="华文中宋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395020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项断言全部重放一致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" y="4352544"/>
            <a:ext cx="462686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4C524E"/>
                </a:solidFill>
                <a:latin typeface="等线"/>
              </a:rPr>
              <a:t>5 份历史判定留痕，逐份重跑规则、重算 outputHash，必须与链上那笔一字不差；任何一次不一致，门禁直接红。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3474720"/>
            <a:ext cx="23774" cy="1152144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34747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B0502C"/>
                </a:solidFill>
                <a:latin typeface="Consolas"/>
              </a:rPr>
              <a:t>名场面：真实数据判「不赔」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730752"/>
            <a:ext cx="4828032" cy="859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上海 12h 保单：窗口内新增 0 mm，档线 30 mm → 系统判不赔，理由、哈希、原始报文一起留痕。
我们没有为了演示去改数据 —— 连「不赔」都能被复算，这才叫可验证。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35838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6811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8B918B"/>
                </a:solidFill>
                <a:latin typeface="等线"/>
              </a:rPr>
              <a:t>现场可查：核验台 8 条断言逐条自证，含「武汉 84mm 的证据哈希 = 这份 JSON 现算的 SHA-256」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468112"/>
            <a:ext cx="281635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2C6376"/>
                </a:solidFill>
                <a:latin typeface="Consolas"/>
              </a:rPr>
              <a:t>05-演示站点 / verify-v5.html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03 / 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四类玩家，我们站在中间那个空位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3" y="1700784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玩家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9424" y="1700784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代表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1700784"/>
            <a:ext cx="165506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保什么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3" y="1700784"/>
            <a:ext cx="44714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与我们的差别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20240"/>
            <a:ext cx="1063447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" y="2029968"/>
            <a:ext cx="127101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传统骑手险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029968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平台合作的意外险 / 三者险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2029968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意外伤害、医疗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3" y="2029968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不保收入中断；理赔仍要报案、查勘、定损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24912"/>
            <a:ext cx="1063447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2816352"/>
            <a:ext cx="127101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平台自保障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9424" y="2816352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恶劣天气补贴、关怀金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816352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补贴（不是保险）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3" y="2816352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无精算、无定价、不可审计，本质是成本中心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11296"/>
            <a:ext cx="1063447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3602736"/>
            <a:ext cx="127101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国内参数化先例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9424" y="3602736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广东巨灾指数险（2016 首创）
农业天气指数保险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602736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政企 / 财政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3" y="3602736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B0502C"/>
                </a:solidFill>
                <a:latin typeface="等线"/>
              </a:rPr>
              <a:t>证明参数触发已被监管接受；但没有个人小额高频场景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97680"/>
            <a:ext cx="1063447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" y="4389120"/>
            <a:ext cx="127101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国际参数化玩家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9424" y="438912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Arbol · Raincoat · FloodFlash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438912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B 端资产与基建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3" y="4389120"/>
            <a:ext cx="44531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佐证赛道成熟；中国即配骑手的个人场景仍空白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84064"/>
            <a:ext cx="10634472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66944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2C6376"/>
                </a:solidFill>
                <a:latin typeface="Consolas"/>
              </a:rPr>
              <a:t>壁垒（按可复制难度排序）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229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11 年城市级精算数据资产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5576" y="55229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6472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验真层的工程实现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55229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可复算的存证体系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55229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C524E"/>
                </a:solidFill>
                <a:latin typeface="等线"/>
              </a:rPr>
              <a:t>系统已跑通，不是 PPT 项目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04 /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接下来 2 分 50 秒，请评委跟我点四下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不念数字，只指位置 —— 让您的眼睛自己落到哈希上。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23774" cy="658368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173F4C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7922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Consolas"/>
              </a:rPr>
              <a:t>0:00–0:35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73736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核验台 · 8 条断言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739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173F4C"/>
                </a:solidFill>
                <a:latin typeface="Consolas"/>
              </a:rPr>
              <a:t>verify-v5.html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12140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「这八条不是我写的结论，是它自己从链上读出来算的」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542032"/>
            <a:ext cx="63550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06624"/>
            <a:ext cx="23774" cy="658368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249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B0502C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27066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Consolas"/>
              </a:rPr>
              <a:t>0:35–1:40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65176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骑手端 · 那张真保单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883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B0502C"/>
                </a:solidFill>
                <a:latin typeface="Consolas"/>
              </a:rPr>
              <a:t>rider.html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03580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「保单是真的；它判了不赔，理由和哈希都在下面」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456432"/>
            <a:ext cx="63550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621024"/>
            <a:ext cx="23774" cy="658368"/>
          </a:xfrm>
          <a:prstGeom prst="rect">
            <a:avLst/>
          </a:prstGeom>
          <a:solidFill>
            <a:srgbClr val="2C6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393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2C6376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6210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Consolas"/>
              </a:rPr>
              <a:t>1:40–2:15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56616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平台端 · 喂价与台账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027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2C6376"/>
                </a:solidFill>
                <a:latin typeface="Consolas"/>
              </a:rPr>
              <a:t>console.html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95020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「六城喂价、每一分钱对得上、池子够不够赔」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370832"/>
            <a:ext cx="63550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535424"/>
            <a:ext cx="23774" cy="658368"/>
          </a:xfrm>
          <a:prstGeom prst="rect">
            <a:avLst/>
          </a:prstGeom>
          <a:solidFill>
            <a:srgbClr val="A9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5537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A98A4C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45354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Consolas"/>
              </a:rPr>
              <a:t>2:15–2:40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48056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现场投保一笔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5171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A98A4C"/>
                </a:solidFill>
                <a:latin typeface="Consolas"/>
              </a:rPr>
              <a:t>rider.html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486460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「价格是链上算出来的，不是我报的」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85232"/>
            <a:ext cx="63550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449824"/>
            <a:ext cx="23774" cy="658368"/>
          </a:xfrm>
          <a:prstGeom prst="rect">
            <a:avLst/>
          </a:prstGeom>
          <a:solidFill>
            <a:srgbClr val="8B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4681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spc="6">
                <a:solidFill>
                  <a:srgbClr val="8B918B"/>
                </a:solidFill>
                <a:latin typeface="Consola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54498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Consolas"/>
              </a:rPr>
              <a:t>2:40–2:50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394960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E1D"/>
                </a:solidFill>
                <a:latin typeface="华文中宋"/>
              </a:rPr>
              <a:t>收口 · 回到哈希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4315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rider.html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9032" y="577900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8B918B"/>
                </a:solidFill>
                <a:latin typeface="等线"/>
              </a:rPr>
              <a:t>「同一份报文，任何人算出来都是这个结论」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199632"/>
            <a:ext cx="635508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3488" y="107899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要展示的四个关键功能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33488" y="1399032"/>
            <a:ext cx="146304" cy="146304"/>
          </a:xfrm>
          <a:prstGeom prst="rect">
            <a:avLst/>
          </a:prstGeom>
          <a:noFill/>
          <a:ln w="11430">
            <a:solidFill>
              <a:srgbClr val="17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133502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01  链上事实自证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1591056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合约字节码、2/3 多签、6 个区划码，全部现读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3488" y="2331720"/>
            <a:ext cx="146304" cy="146304"/>
          </a:xfrm>
          <a:prstGeom prst="rect">
            <a:avLst/>
          </a:prstGeom>
          <a:noFill/>
          <a:ln w="11430">
            <a:solidFill>
              <a:srgbClr val="17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226771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02  证据哈希现算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2523744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武汉 84mm 的报文，浏览器里现算 SHA-256 = 链上值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33488" y="3264408"/>
            <a:ext cx="146304" cy="146304"/>
          </a:xfrm>
          <a:prstGeom prst="rect">
            <a:avLst/>
          </a:prstGeom>
          <a:noFill/>
          <a:ln w="11430">
            <a:solidFill>
              <a:srgbClr val="17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320040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03  真实保单与它的 DENY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3456432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上海 12h、档线 30mm、基线 172mm、保费 4.20 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33488" y="4197096"/>
            <a:ext cx="146304" cy="146304"/>
          </a:xfrm>
          <a:prstGeom prst="rect">
            <a:avLst/>
          </a:prstGeom>
          <a:noFill/>
          <a:ln w="11430">
            <a:solidFill>
              <a:srgbClr val="173F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13308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E1D"/>
                </a:solidFill>
                <a:latin typeface="等线"/>
              </a:rPr>
              <a:t>04  台账逐分对齐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389120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>
                <a:solidFill>
                  <a:srgbClr val="8B918B"/>
                </a:solidFill>
                <a:latin typeface="等线"/>
              </a:rPr>
              <a:t>台账合计等于池子余额，兑付能力不是口号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8" y="4974336"/>
            <a:ext cx="4059936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3488" y="5084064"/>
            <a:ext cx="40599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0502C"/>
                </a:solidFill>
                <a:latin typeface="等线"/>
              </a:rPr>
              <a:t>为什么是这几个：它们全部是「评委能自己点出来」的，我一句都不用解释。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04 / 演示准备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演示前 30 分钟：把所有不确定性前置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这一页给自己看；若投出来，五秒带过：八项检查，缺一项我宁可改讲录屏。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开机检查（按顺序逐项打勾）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84248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3852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起本地服务 python -m http.server 8090（终端一关就停，演示结束前别关）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59152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14600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468880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预开 4 个标签页并各刷新一次：verify-v5 → rider → console → index-v5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89504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44951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2999232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钱包：已解锁、网络为测试网 968、RDROP 余额够、通知弹窗全关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19856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75303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529584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喂价保鲜：六城 lastFeedAt &lt; 24h，否则投保 revert「stale feed」→ 提前两票喂价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50208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05656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059936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计时：手机秒表 + 稿边标 0:50 / 4:30 / 7:55 / 10:05 / 13:40 五个锚点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480560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636008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459028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兜底：90 秒演示录屏已在备用窗口打开，可 3 秒内切出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10912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66359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120640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环境：1920×1080、浏览器 100%、隐藏书签栏、退出微信与 QQ、共享前试一次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541264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696712"/>
            <a:ext cx="128016" cy="128016"/>
          </a:xfrm>
          <a:prstGeom prst="rect">
            <a:avLst/>
          </a:prstGeom>
          <a:noFill/>
          <a:ln w="9525">
            <a:solidFill>
              <a:srgbClr val="8B9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5650992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门禁：npm test 22 道全绿截图在手（现场不跑，只备查）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071616"/>
            <a:ext cx="539496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70078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逐分钟操作卡（点什么 / 说什么）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1920240"/>
            <a:ext cx="8229" cy="374903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1975104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spc="2">
                <a:solidFill>
                  <a:srgbClr val="2C6376"/>
                </a:solidFill>
                <a:latin typeface="Consolas"/>
              </a:rPr>
              <a:t>0:00–0:40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1920240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60" b="1">
                <a:solidFill>
                  <a:srgbClr val="1A1E1D"/>
                </a:solidFill>
                <a:latin typeface="等线"/>
              </a:rPr>
              <a:t>verify-v5
点「重新核验」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1920240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>
                <a:solidFill>
                  <a:srgbClr val="8B918B"/>
                </a:solidFill>
                <a:latin typeface="等线"/>
              </a:rPr>
              <a:t>「这八条是它自己从链上读的」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2596896"/>
            <a:ext cx="499262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761488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spc="2">
                <a:solidFill>
                  <a:srgbClr val="2C6376"/>
                </a:solidFill>
                <a:latin typeface="Consolas"/>
              </a:rPr>
              <a:t>0:40–1:50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2706624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60" b="1">
                <a:solidFill>
                  <a:srgbClr val="1A1E1D"/>
                </a:solidFill>
                <a:latin typeface="等线"/>
              </a:rPr>
              <a:t>rider.html
我的保单 → 理赔记录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706624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>
                <a:solidFill>
                  <a:srgbClr val="8B918B"/>
                </a:solidFill>
                <a:latin typeface="等线"/>
              </a:rPr>
              <a:t>「增量 0mm，判不赔 —— 理由在这」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3383280"/>
            <a:ext cx="499262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547872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spc="2">
                <a:solidFill>
                  <a:srgbClr val="2C6376"/>
                </a:solidFill>
                <a:latin typeface="Consolas"/>
              </a:rPr>
              <a:t>1:50–2:50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3493008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60" b="1">
                <a:solidFill>
                  <a:srgbClr val="1A1E1D"/>
                </a:solidFill>
                <a:latin typeface="等线"/>
              </a:rPr>
              <a:t>console.html
六城 / 台账 / 偿付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3493008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>
                <a:solidFill>
                  <a:srgbClr val="8B918B"/>
                </a:solidFill>
                <a:latin typeface="等线"/>
              </a:rPr>
              <a:t>「每一分钱对得上，池子够不够赔」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169664"/>
            <a:ext cx="499262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4334256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spc="2">
                <a:solidFill>
                  <a:srgbClr val="2C6376"/>
                </a:solidFill>
                <a:latin typeface="Consolas"/>
              </a:rPr>
              <a:t>2:50–3:20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1" y="427939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60" b="1">
                <a:solidFill>
                  <a:srgbClr val="1A1E1D"/>
                </a:solidFill>
                <a:latin typeface="等线"/>
              </a:rPr>
              <a:t>rider.html
投保 12h 一单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4279392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>
                <a:solidFill>
                  <a:srgbClr val="8B918B"/>
                </a:solidFill>
                <a:latin typeface="等线"/>
              </a:rPr>
              <a:t>「价格是链上算的，不是我报的」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9088" y="4956048"/>
            <a:ext cx="499262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5120640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spc="2">
                <a:solidFill>
                  <a:srgbClr val="2C6376"/>
                </a:solidFill>
                <a:latin typeface="Consolas"/>
              </a:rPr>
              <a:t>3:20–3:35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1" y="5065776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60" b="1">
                <a:solidFill>
                  <a:srgbClr val="1A1E1D"/>
                </a:solidFill>
                <a:latin typeface="等线"/>
              </a:rPr>
              <a:t>留在保单页
不切页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3728" y="5065776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40" b="0">
                <a:solidFill>
                  <a:srgbClr val="8B918B"/>
                </a:solidFill>
                <a:latin typeface="等线"/>
              </a:rPr>
              <a:t>「同一份报文，算出来都是这个结论」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19088" y="5742432"/>
            <a:ext cx="4992624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5907024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0502C"/>
                </a:solidFill>
                <a:latin typeface="等线"/>
              </a:rPr>
              <a:t>演示全程不念数字，只指位置。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04 / 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如果现场出问题，我们有三级退路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演示失败本身不是扣分项；掩饰失败才是。任何降级都在第一句话里说清。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8">
                <a:solidFill>
                  <a:srgbClr val="5F7A5A"/>
                </a:solidFill>
                <a:latin typeface="Consolas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373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E1D"/>
                </a:solidFill>
                <a:latin typeface="华文中宋"/>
              </a:rPr>
              <a:t>现场真跑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48256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触发：正常情况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按操作卡逐页点，评委自己看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98064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5F7A5A"/>
                </a:solidFill>
                <a:latin typeface="等线"/>
              </a:rPr>
              <a:t>代价：0 损失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755648"/>
            <a:ext cx="8229" cy="1700784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8">
                <a:solidFill>
                  <a:srgbClr val="A98A4C"/>
                </a:solidFill>
                <a:latin typeface="Consolas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7373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E1D"/>
                </a:solidFill>
                <a:latin typeface="华文中宋"/>
              </a:rPr>
              <a:t>90 秒录屏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048256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触发：RPC 超时 &gt; 15s / 页面白屏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286000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3 秒内切备用窗口，边放边讲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98064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A98A4C"/>
                </a:solidFill>
                <a:latin typeface="等线"/>
              </a:rPr>
              <a:t>代价：失去「现算」的说服力，需口头说明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54696" y="1755648"/>
            <a:ext cx="8229" cy="1700784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75564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8">
                <a:solidFill>
                  <a:srgbClr val="B0502C"/>
                </a:solidFill>
                <a:latin typeface="Consolas"/>
              </a:rP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7373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E1D"/>
                </a:solidFill>
                <a:latin typeface="华文中宋"/>
              </a:rPr>
              <a:t>静态存证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2048256"/>
            <a:ext cx="31455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触发：断网 / 共享失败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2286000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翻到 P12，讲已存证的哈希与拒收记录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798064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B0502C"/>
                </a:solidFill>
                <a:latin typeface="等线"/>
              </a:rPr>
              <a:t>代价：只讲不演，主动交代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56432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高频故障对照表（都是真踩过的）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" y="3803904"/>
            <a:ext cx="21305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4">
                <a:solidFill>
                  <a:srgbClr val="8B918B"/>
                </a:solidFill>
                <a:latin typeface="Consolas"/>
              </a:rPr>
              <a:t>现象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" y="3803904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4">
                <a:solidFill>
                  <a:srgbClr val="8B918B"/>
                </a:solidFill>
                <a:latin typeface="Consolas"/>
              </a:rPr>
              <a:t>真因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3" y="3803904"/>
            <a:ext cx="29992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4">
                <a:solidFill>
                  <a:srgbClr val="8B918B"/>
                </a:solidFill>
                <a:latin typeface="Consolas"/>
              </a:rPr>
              <a:t>10 秒处置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005072"/>
            <a:ext cx="73152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" y="4096512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页面全白、控制台报 $ 未定义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2384" y="4096512"/>
            <a:ext cx="1819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本地静态服务被关掉了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343" y="4096512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B0502C"/>
                </a:solidFill>
                <a:latin typeface="等线"/>
              </a:rPr>
              <a:t>重开终端跑 http.server，刷新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480560"/>
            <a:ext cx="73152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" y="4572000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连接失败 / 数值全是「—」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4572000"/>
            <a:ext cx="1819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RPC 限流或网络抖动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3" y="457200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B0502C"/>
                </a:solidFill>
                <a:latin typeface="等线"/>
              </a:rPr>
              <a:t>切手机热点，只刷新一次，不要连刷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956048"/>
            <a:ext cx="73152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3" y="5047488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投保按钮点了没反应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2384" y="5047488"/>
            <a:ext cx="1819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喂价过期超过 24 小时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8343" y="5047488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B0502C"/>
                </a:solidFill>
                <a:latin typeface="等线"/>
              </a:rPr>
              <a:t>跳过投保，改讲保单 #0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431536"/>
            <a:ext cx="73152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" y="5522976"/>
            <a:ext cx="209397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8 条里有 1 条变红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384" y="5522976"/>
            <a:ext cx="1819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4C524E"/>
                </a:solidFill>
                <a:latin typeface="等线"/>
              </a:rPr>
              <a:t>喂价正在过期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38343" y="5522976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B0502C"/>
                </a:solidFill>
                <a:latin typeface="等线"/>
              </a:rPr>
              <a:t>如实说「这条在过期」，继续讲其余 7 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907024"/>
            <a:ext cx="731520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56616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173F4C"/>
                </a:solidFill>
                <a:latin typeface="Consolas"/>
              </a:rPr>
              <a:t>唯一的原则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822191"/>
            <a:ext cx="3090672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任何一级降级，都在第一句话里说清：
「现在网络不稳，我改用录屏，这是同一套系统」。
评委记得住的不是你没跑通，是你有没有骗他。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66928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—— 这一页建议真的投出来 10 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05 / 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199613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spc="10">
                <a:solidFill>
                  <a:srgbClr val="8B918B"/>
                </a:solidFill>
                <a:latin typeface="Consolas"/>
              </a:rPr>
              <a:t>17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3504"/>
            <a:ext cx="10637215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50" b="0">
                <a:solidFill>
                  <a:srgbClr val="1A1E1D"/>
                </a:solidFill>
                <a:latin typeface="华文中宋"/>
              </a:rPr>
              <a:t>接下来 12 个月：一城跑通，再复制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C524E"/>
                </a:solidFill>
                <a:latin typeface="等线"/>
              </a:rPr>
              <a:t>不说「三年上市」，说的是一个城市跑完一整个雨季，再谈复制。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1719072"/>
            <a:ext cx="832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2224" y="1719072"/>
            <a:ext cx="11064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1719072"/>
            <a:ext cx="2660903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覆盖 / 保费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3" y="1719072"/>
            <a:ext cx="54955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4">
                <a:solidFill>
                  <a:srgbClr val="8B918B"/>
                </a:solidFill>
                <a:latin typeface="Consolas"/>
              </a:rPr>
              <a:t>关键动作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38528"/>
            <a:ext cx="1060704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" y="2048256"/>
            <a:ext cx="79552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1A1E1D"/>
                </a:solidFill>
                <a:latin typeface="等线"/>
              </a:rPr>
              <a:t>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2048256"/>
            <a:ext cx="1069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0–12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048256"/>
            <a:ext cx="262432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B0502C"/>
                </a:solidFill>
                <a:latin typeface="等线"/>
              </a:rPr>
              <a:t>1 城 · 2 万骑手 · 144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2048256"/>
            <a:ext cx="54589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签 1 家平台 + 1 家持牌险企；跑完一个完整雨季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6624"/>
            <a:ext cx="1060704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2779776"/>
            <a:ext cx="79552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1A1E1D"/>
                </a:solidFill>
                <a:latin typeface="等线"/>
              </a:rPr>
              <a:t>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2779776"/>
            <a:ext cx="1069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12–24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2779776"/>
            <a:ext cx="262432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B0502C"/>
                </a:solidFill>
                <a:latin typeface="等线"/>
              </a:rPr>
              <a:t>5 城 · 20 万骑手 · 2,080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5583" y="2779776"/>
            <a:ext cx="54589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复制城市模板；接平台订单数据补基差；再保落地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38144"/>
            <a:ext cx="1060704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3511296"/>
            <a:ext cx="79552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1A1E1D"/>
                </a:solidFill>
                <a:latin typeface="等线"/>
              </a:rPr>
              <a:t>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2224" y="3511296"/>
            <a:ext cx="1069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24–36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6664" y="3511296"/>
            <a:ext cx="262432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B0502C"/>
                </a:solidFill>
                <a:latin typeface="等线"/>
              </a:rPr>
              <a:t>15 城 · 80 万骑手 · 1.12 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3" y="3511296"/>
            <a:ext cx="54589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819" b="0">
                <a:solidFill>
                  <a:srgbClr val="4C524E"/>
                </a:solidFill>
                <a:latin typeface="等线"/>
              </a:rPr>
              <a:t>高温 / 台风品类上线；向险企输出定价系统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69664"/>
            <a:ext cx="1060704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43984"/>
            <a:ext cx="5852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8B918B"/>
                </a:solidFill>
                <a:latin typeface="Consolas"/>
              </a:rPr>
              <a:t>同一套引擎，换参数就是新品类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663440"/>
            <a:ext cx="1371600" cy="27432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183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4C524E"/>
                </a:solidFill>
                <a:latin typeface="等线"/>
              </a:rPr>
              <a:t>高温津贴触发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58568" y="4663440"/>
            <a:ext cx="1371600" cy="27432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8568" y="47183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4C524E"/>
                </a:solidFill>
                <a:latin typeface="等线"/>
              </a:rPr>
              <a:t>台风停工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39896" y="4663440"/>
            <a:ext cx="1371600" cy="27432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9896" y="47183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4C524E"/>
                </a:solidFill>
                <a:latin typeface="等线"/>
              </a:rPr>
              <a:t>空气质量户外作业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1224" y="4663440"/>
            <a:ext cx="1371600" cy="27432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1224" y="471830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>
                <a:solidFill>
                  <a:srgbClr val="4C524E"/>
                </a:solidFill>
                <a:latin typeface="等线"/>
              </a:rPr>
              <a:t>物流 / 建筑 / 环卫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02352"/>
            <a:ext cx="58978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780" b="0">
                <a:solidFill>
                  <a:srgbClr val="4C524E"/>
                </a:solidFill>
                <a:latin typeface="等线"/>
              </a:rPr>
              <a:t>政策顺风：人社部等九部门 2025 年 7 月明确即时配送纳入职业伤害保障扩围、2026 年推广全国 —— 天气收入保障与职业伤害保障互补，不重叠。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76288" y="4443984"/>
            <a:ext cx="8229" cy="1481328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44439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6">
                <a:solidFill>
                  <a:srgbClr val="173F4C"/>
                </a:solidFill>
                <a:latin typeface="Consolas"/>
              </a:rPr>
              <a:t>三个数收口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4700016"/>
            <a:ext cx="1325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73F4C"/>
                </a:solidFill>
                <a:latin typeface="华文中宋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515721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A1E1D"/>
                </a:solidFill>
                <a:latin typeface="等线"/>
              </a:rPr>
              <a:t>年逐小时历史回测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5744" y="539496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8B918B"/>
                </a:solidFill>
                <a:latin typeface="等线"/>
              </a:rPr>
              <a:t>护城河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4700016"/>
            <a:ext cx="1325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73F4C"/>
                </a:solidFill>
                <a:latin typeface="华文中宋"/>
              </a:rPr>
              <a:t>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515721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A1E1D"/>
                </a:solidFill>
                <a:latin typeface="等线"/>
              </a:rPr>
              <a:t>格人民币费率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539496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8B918B"/>
                </a:solidFill>
                <a:latin typeface="等线"/>
              </a:rPr>
              <a:t>护城河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4700016"/>
            <a:ext cx="1325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502C"/>
                </a:solidFill>
                <a:latin typeface="华文中宋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248" y="515721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A1E1D"/>
                </a:solidFill>
                <a:latin typeface="等线"/>
              </a:rPr>
              <a:t>次人工定损环节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5248" y="539496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8B918B"/>
                </a:solidFill>
                <a:latin typeface="等线"/>
              </a:rPr>
              <a:t>这门生意成立的原因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73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spc="14">
                <a:solidFill>
                  <a:srgbClr val="8B918B"/>
                </a:solidFill>
                <a:latin typeface="Consolas"/>
              </a:rPr>
              <a:t>18 / 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78992"/>
            <a:ext cx="59893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5989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1A1E1D"/>
                </a:solidFill>
                <a:latin typeface="华文中宋"/>
              </a:rPr>
              <a:t>下雨这件事，
不该需要谁来批准才赔。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16352"/>
            <a:ext cx="1463040" cy="23774"/>
          </a:xfrm>
          <a:prstGeom prst="rect">
            <a:avLst/>
          </a:prstGeom>
          <a:solidFill>
            <a:srgbClr val="B0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59893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73F4C"/>
                </a:solidFill>
                <a:latin typeface="华文中宋"/>
              </a:rPr>
              <a:t>把判定、证据和结算，放到任何人可复算的地方 —— 这是我们对「可信」的理解。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989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4C524E"/>
                </a:solidFill>
                <a:latin typeface="等线"/>
              </a:rPr>
              <a:t>我们卖的不是保险，是可验证的自动理赔。
谢谢各位评委；接下来的提问，我可以现场打开系统配合您验证任何一条。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94960"/>
            <a:ext cx="5989320" cy="8229"/>
          </a:xfrm>
          <a:prstGeom prst="rect">
            <a:avLst/>
          </a:prstGeom>
          <a:solidFill>
            <a:srgbClr val="D6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22976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雨证 RainProof · 2026 大学生保险模拟创业大赛 · 保险科技应用赛道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8B918B"/>
                </a:solidFill>
                <a:latin typeface="Consolas"/>
              </a:rPr>
              <a:t>联系人【待填】· 手机【待填】· 邮箱【待填】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078992"/>
            <a:ext cx="4005072" cy="4663440"/>
          </a:xfrm>
          <a:prstGeom prst="rect">
            <a:avLst/>
          </a:prstGeom>
          <a:solidFill>
            <a:srgbClr val="EE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24358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spc="10">
                <a:solidFill>
                  <a:srgbClr val="8B918B"/>
                </a:solidFill>
                <a:latin typeface="Consolas"/>
              </a:rPr>
              <a:t>TEAM · 分工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5727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6">
                <a:solidFill>
                  <a:srgbClr val="2C6376"/>
                </a:solidFill>
                <a:latin typeface="Consolas"/>
              </a:rPr>
              <a:t>成员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179222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E1D"/>
                </a:solidFill>
                <a:latin typeface="华文中宋"/>
              </a:rPr>
              <a:t>【待填姓名 · 院系专业】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08483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产品定义与系统实现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2359152"/>
            <a:ext cx="3474720" cy="8229"/>
          </a:xfrm>
          <a:prstGeom prst="rect">
            <a:avLst/>
          </a:prstGeom>
          <a:solidFill>
            <a:srgbClr val="E4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2542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6">
                <a:solidFill>
                  <a:srgbClr val="2C6376"/>
                </a:solidFill>
                <a:latin typeface="Consolas"/>
              </a:rPr>
              <a:t>成员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76148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E1D"/>
                </a:solidFill>
                <a:latin typeface="华文中宋"/>
              </a:rPr>
              <a:t>【待填姓名 · 院系专业】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3054096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精算定价与商业测算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2672" y="3328416"/>
            <a:ext cx="3474720" cy="8229"/>
          </a:xfrm>
          <a:prstGeom prst="rect">
            <a:avLst/>
          </a:prstGeom>
          <a:solidFill>
            <a:srgbClr val="E4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351129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6">
                <a:solidFill>
                  <a:srgbClr val="2C6376"/>
                </a:solidFill>
                <a:latin typeface="Consolas"/>
              </a:rPr>
              <a:t>成员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73075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E1D"/>
                </a:solidFill>
                <a:latin typeface="华文中宋"/>
              </a:rPr>
              <a:t>【待填姓名 · 院系专业】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02336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18B"/>
                </a:solidFill>
                <a:latin typeface="等线"/>
              </a:rPr>
              <a:t>保险条款与合规路径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2" y="4297680"/>
            <a:ext cx="3474720" cy="8229"/>
          </a:xfrm>
          <a:prstGeom prst="rect">
            <a:avLst/>
          </a:prstGeom>
          <a:solidFill>
            <a:srgbClr val="E4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455371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spc="6">
                <a:solidFill>
                  <a:srgbClr val="2C6376"/>
                </a:solidFill>
                <a:latin typeface="Consolas"/>
              </a:rPr>
              <a:t>指导教师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477316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E1D"/>
                </a:solidFill>
                <a:latin typeface="华文中宋"/>
              </a:rPr>
              <a:t>【待填姓名 · 职称】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5120640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20" b="0">
                <a:solidFill>
                  <a:srgbClr val="8B918B"/>
                </a:solidFill>
                <a:latin typeface="等线"/>
              </a:rPr>
              <a:t>跨学科配置：金融数学（定价与合规测算）· 计算机（系统实现）· 保险 / 社保（条款与场景）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