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media/image11.svg" ContentType="image/svg+xml"/>
  <Override PartName="/ppt/media/image8.svg" ContentType="image/svg+xml"/>
  <Override PartName="/ppt/media/media1.m4a" ContentType="audio/mp4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3"/>
    <p:sldId id="271" r:id="rId19"/>
    <p:sldId id="257" r:id="rId4"/>
    <p:sldId id="258" r:id="rId5"/>
    <p:sldId id="259" r:id="rId6"/>
    <p:sldId id="260" r:id="rId7"/>
    <p:sldId id="272" r:id="rId20"/>
    <p:sldId id="261" r:id="rId8"/>
    <p:sldId id="270" r:id="rId9"/>
    <p:sldId id="262" r:id="rId10"/>
    <p:sldId id="269" r:id="rId13"/>
    <p:sldId id="273" r:id="rId21"/>
    <p:sldId id="274" r:id="rId22"/>
    <p:sldId id="263" r:id="rId11"/>
    <p:sldId id="275" r:id="rId23"/>
    <p:sldId id="264" r:id="rId12"/>
    <p:sldId id="276" r:id="rId24"/>
    <p:sldId id="277" r:id="rId25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4.xml"/><Relationship Id="rId12" Type="http://schemas.openxmlformats.org/officeDocument/2006/relationships/slide" Target="slides/slide16.xml"/><Relationship Id="rId13" Type="http://schemas.openxmlformats.org/officeDocument/2006/relationships/slide" Target="slides/slide11.xml"/><Relationship Id="rId14" Type="http://schemas.openxmlformats.org/officeDocument/2006/relationships/slide" Target="slides/slide19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Relationship Id="rId19" Type="http://schemas.openxmlformats.org/officeDocument/2006/relationships/slide" Target="slides/slide2.xml"/><Relationship Id="rId20" Type="http://schemas.openxmlformats.org/officeDocument/2006/relationships/slide" Target="slides/slide7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5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350" b="1" i="0" u="none" strike="noStrike" kern="120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pPr>
            <a:r>
              <a:rPr sz="1350">
                <a:solidFill>
                  <a:srgbClr val="FFFFFF"/>
                </a:solidFill>
              </a:rPr>
              <a:t>72 小时窗口内累计降雨达到 50 mm 的概率（%）</a:t>
            </a:r>
            <a:endParaRPr sz="1350">
              <a:solidFill>
                <a:srgbClr val="FFFFFF"/>
              </a:solidFill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72h 期望赔付比例（按档位加权）(%)</c:v>
                </c:pt>
              </c:strCache>
            </c:strRef>
          </c:tx>
          <c:spPr>
            <a:solidFill>
              <a:srgbClr val="2D7FF9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1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{"武汉","上海","北京","广州","成都"}</c:f>
              <c:strCache>
                <c:ptCount val="5"/>
                <c:pt idx="0">
                  <c:v>武汉</c:v>
                </c:pt>
                <c:pt idx="1">
                  <c:v>上海</c:v>
                </c:pt>
                <c:pt idx="2">
                  <c:v>北京</c:v>
                </c:pt>
                <c:pt idx="3">
                  <c:v>广州</c:v>
                </c:pt>
                <c:pt idx="4">
                  <c:v>成都</c:v>
                </c:pt>
              </c:strCache>
            </c:strRef>
          </c:cat>
          <c:val>
            <c:numRef>
              <c:f>{4.77,4.557,2.281,11.574,3.724}</c:f>
              <c:numCache>
                <c:formatCode>General</c:formatCode>
                <c:ptCount val="5"/>
                <c:pt idx="0">
                  <c:v>4.77</c:v>
                </c:pt>
                <c:pt idx="1">
                  <c:v>4.557</c:v>
                </c:pt>
                <c:pt idx="2">
                  <c:v>2.281</c:v>
                </c:pt>
                <c:pt idx="3">
                  <c:v>11.574</c:v>
                </c:pt>
                <c:pt idx="4">
                  <c:v>3.724</c:v>
                </c:pt>
              </c:numCache>
            </c:numRef>
          </c:val>
        </c:ser>
        <c:ser>
          <c:idx val="1"/>
          <c:order val="1"/>
          <c:tx>
            <c:strRef>
              <c:f>sheet</c:f>
              <c:strCache>
                <c:ptCount val="1"/>
                <c:pt idx="0">
                  <c:v>10% 保本线</c:v>
                </c:pt>
              </c:strCache>
            </c:strRef>
          </c:tx>
          <c:spPr>
            <a:solidFill>
              <a:srgbClr val="F5A524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1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{"武汉","上海","北京","广州","成都"}</c:f>
              <c:strCache>
                <c:ptCount val="5"/>
                <c:pt idx="0">
                  <c:v>武汉</c:v>
                </c:pt>
                <c:pt idx="1">
                  <c:v>上海</c:v>
                </c:pt>
                <c:pt idx="2">
                  <c:v>北京</c:v>
                </c:pt>
                <c:pt idx="3">
                  <c:v>广州</c:v>
                </c:pt>
                <c:pt idx="4">
                  <c:v>成都</c:v>
                </c:pt>
              </c:strCache>
            </c:strRef>
          </c:cat>
          <c:val>
            <c:numRef>
              <c:f>{10,10,10,10,10}</c:f>
              <c:numCache>
                <c:formatCode>General</c:formatCode>
                <c:ptCount val="5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</c:numCache>
            </c:numRef>
          </c:val>
        </c:ser>
        <c:dLbls>
          <c:showLegendKey val="1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rgbClr val="D9D9D9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FFFFFF">
                    <a:alpha val="50000"/>
                  </a:srgbClr>
                </a:solidFill>
                <a:latin typeface="+mn-lt"/>
                <a:ea typeface="+mn-ea"/>
                <a:cs typeface="+mn-cs"/>
              </a:defRPr>
            </a:pPr>
          </a:p>
        </c:txPr>
        <c:crossAx val="89736802"/>
        <c:crosses val="autoZero"/>
        <c:auto val="1"/>
        <c:lblAlgn val="ctr"/>
        <c:lblOffset val="100"/>
        <c:noMultiLvlLbl val="0"/>
      </c:catAx>
      <c:valAx>
        <c:axId val="8973680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FFFFFF">
                    <a:alpha val="50000"/>
                  </a:srgbClr>
                </a:solidFill>
                <a:latin typeface="+mn-lt"/>
                <a:ea typeface="+mn-ea"/>
                <a:cs typeface="+mn-cs"/>
              </a:defRPr>
            </a:pPr>
          </a:p>
        </c:txPr>
        <c:crossAx val="89736801"/>
        <c:crosses val="autoZero"/>
        <c:crossBetween val="between"/>
      </c:valAx>
      <c:spPr>
        <a:solidFill>
          <a:srgbClr val="0A1422"/>
        </a:solidFill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rgbClr val="FFFFFF">
                  <a:alpha val="62000"/>
                </a:srgb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24c34dc7-2473-4d80-9158-edf07039920d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【0:00–0:20】20 秒。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口播：各位评委下午好，我们是雨证团队。15 分钟，我只讲一件事 —— 为什么这门生意过去做不成，以及我们把它做成了可以当场验证的样子。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动作：不要念标题，直接说「先看一个人」。停顿 1 秒再翻页。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【0:45–1:35】50 秒。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口播：暴雨橙色预警那天，他还是出门了 —— 因为不出勤就没有收入。全平台 300 万骑手，暴雨日收入掉三成左右，而他拿到的赔偿是 0。不是没人愿意赔，是他不知道该找谁。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动作：说「0」的时候指第三张卡片，停一秒。这一页不解释技术。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【1:35–2:20】45 秒。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口播：单次赔几十到几百，但人工报案、查勘、核赔这四步走完，固定成本跟赔款同量级。所以保险公司的理性选择是不卖 —— 这不是产品问题，是成本结构问题。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动作：从左到右划一下这条链，落到「不卖」两个字上。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【2:20–2:55】35 秒。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口播：AI 加天气，行业里几乎所有人都在做预测 —— ECMWF、GFS、ICON。但预报越准，这款产品越难成立：人人都挑下雨那天来买。所以门槛不在算得准，在谁敢按这个数付钱。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动作：说 BUT 之前停半秒，这是全场唯一的转折点。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【2:55–3:45】50 秒。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口播：所以我们根本不问「你损失了多少」，只看一个公开数字：保单期内这个区域下了多少雨。五步：投保、喂价、判定、赔付、核验。定损这一环，成本是零。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动作：五个 STEP 逐个点一下，说「定损成本接近零」时停一拍。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【4:20–5:05】45 秒。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口播：这是链上三条真实事件。保单 #0 上海，链上增量 34 毫米，低于 50 毫米阈值 —— 判 DENY，不赔；保单 #1 成都模拟 120 毫米 —— PAY；历史回放上海 8 月 9 日，105 毫米 —— PAY。我们特意留了一条「不赔」在链上：连不赔都能被复算，才叫可验证。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动作：先指 DENY 那一条。评委最容易记住的是我们没有藏起不赔的样本。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【5:05–5:40】35 秒，然后切浏览器实跑 3 分钟。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口播：接下来三分钟我不讲 PPT，请您跟我点三个地方。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演示前 30 分钟必须完成：① 起本地服务（python -m http.server 8090，在 05-演示站点/）；② 预开四个标签页：verify-v5 → rider → console → index-v5；③ 钱包已解锁、网络为测试网、关掉全部通知弹窗；④ 喂价保鲜 &lt; 24h，否则投保会 revert；⑤ 手机秒表，稿边标 5:40 / 8:40 两个锚点；⑥ 90 秒录屏已开在备用窗口，3 秒内可切。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操作顺序：核验台 8 条断言（35″）→ 骑手端那张真保单与 DENY 记录（60″）→ 控制台账与偿付池（45″）→ 现场投保一笔（30″）→ 停在同一份报文上收口（10″）。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兜底：任何一步卡住，立刻切录屏，口播「这段我提前录了一遍，看结论」。绝不当场调试。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【8:40–9:35】55 秒。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口播：统一定价是错的。11 年、每城 96,432 小时的历史回测下来，广州按统一价卖 72 小时保单，赔付率 115.7% —— 收 1 赔 1.16。链上现价从 0.00068 到 0.00105，差 1.5 倍以上。保费是脚本按公式算出来写进合约的，不是手填的。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动作：先指 11.574% 那个数，再指右边那张价目表。这一页对应专业深度 20%。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【9:35–10:25】50 秒。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口播：架构只有一件事值得说 —— 层与层之间传递的不是数据，是哈希。五层里，数据层和 AI 层都可以被替换；只要输入和输出能落成同一个哈希，整条链路照样成立。右边三条硬规则里，最重要的是第 3 条：一张保单的判定只能写一次。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动作：只讲「接缝是哈希」这一句，别逐层念。评委关心的是责任边界，不是目录层级。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【14:35–15:00】25 秒。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口播：雨是数据，判定是代码，付款不需要我们点头。规则和证据都在链上 —— 您自己验。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动作：说完这句停住，不要补充。留 2 秒空白再谢场。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【0:20–0:45】25 秒。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口播：路线很简单。前两分半讲问题，两分钟讲方案，然后三分钟现场演示，最后五分钟讲技术与商业。您手里那张评分表，五个维度我逐项对应。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动作：只说 5 个数字（2:10 / 2:10 / 3:35 / 2:40 / 3:35），不要逐行念。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【3:45–4:20】35 秒。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口播：把产品拆到最小，就是六个参数：哪个城市、多长时间、雨下到多少、赔多少、卖多少钱、怎么结算。前五个里五个写死在合约，唯一能改的是价格，而每次改价都要上链并附一条依据哈希。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动作：手指依次点 01→06，只说「六个参数」四个字，别逐个念值。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【10:25–11:20】55 秒。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口播：三个创新不是并列的功能，是一条因果链。第一，把定损删掉 —— 参数化不新，新的是用在个人、小额、高频、没有凭证的收入中断上；第二，AI 只验真不判赔 —— 因为删掉定损之后，判定必须是确定的；第三，结论可以被第三方复算 —— 因为判定确定，所以能复算。前两条决定了第三条成立，第三条才是壁垒。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动作：讲第三条时手停在最右列，这是 30% 创新分落点。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【11:20–11:55】35 秒。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口播：市场我故意说小。全量骑手 500 到 700 万，但不是每个人都会买、也不是每天都下雨。能被参数化定价、又真的会被打断收入的，第一年只有 2 万人，第三年 80 万人、1.1 亿保费。五条假设都写在右边，换一组参数，结论跟着变 —— 我们不给单点估值。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动作：先指 TAM 再指 SOM，强调「说小是故意的」，这句能加分。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【12:40–13:15】35 秒。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口播：合规我先说三件。第一，我们不做承保主体，保单法律关系在持牌方，我们收科技服务费；第二，参数化产品的触发口径必须写进条款 —— 城市、时段、档线、数据源、容差、拒收规则，一条都不能少；第三，AI 不进哈希、不改结论，所以算法责任是清晰的。下面三个问题我们还没完全解决，但都有处置方向。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动作：主动念出「还没解决」，评委就不会拿它当杀手问题。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【13:40–14:10】30 秒。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口播：三年三步。第一年只证一件事 —— 单个城市跑通「判定、赔付、复算」这条闭环，赔付率稳在 60% 以下。这一步过了，后面只是复制。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动作：指第一行的「1 城 · 2 万骑手」，别说 1.12 亿这个数。学生团队说小目标可信，说大目标扣分。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【14:10–14:35】25 秒。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口播：三个人，三个专业：金融数学做规则和定价，工程做合约和门禁，行业做条款和试点对接。下面这六行不是简历，是我们已经交出来的东西 —— 代码在跑，链上有交易，回测有数据。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动作：不要念名字，念「三个专业」和「已经交出来的东西」。名字让评委自己看。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【11:55–12:40】45 秒。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口播：骑手自己不付钱。单均保费只有千分之几 BOT，靠逐单付费撑不起渠道成本。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愿意付费的是有合规与舆情压力的一方 —— 平台：一次决策覆盖上万骑手，边际获客成本趋近于零。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动作：指「平台 / 众包服务商」那行的「推荐」标；第二阶段保险公司那句一句带过。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【13:15–13:40】25 秒。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口播：回到开头那个骑手。传统意外险看实际受伤与实际损失，要报案、要查勘；我们只看链上降雨量有没有越过档线。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贵的不是赔付，是「查」。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动作：最后一句放慢，说完立刻翻页，不要停下来解释。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audio" Target="../media/media1.m4a"/><Relationship Id="rId3" Type="http://schemas.microsoft.com/office/2007/relationships/media" Target="../media/media1.m4a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tags" Target="../tags/tag15.xml"/><Relationship Id="rId16" Type="http://schemas.openxmlformats.org/officeDocument/2006/relationships/tags" Target="../tags/tag16.xml"/><Relationship Id="rId17" Type="http://schemas.openxmlformats.org/officeDocument/2006/relationships/tags" Target="../tags/tag17.xml"/><Relationship Id="rId18" Type="http://schemas.openxmlformats.org/officeDocument/2006/relationships/tags" Target="../tags/tag18.xml"/><Relationship Id="rId19" Type="http://schemas.openxmlformats.org/officeDocument/2006/relationships/image" Target="../media/image4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tags" Target="../tags/tag19.xml"/><Relationship Id="rId4" Type="http://schemas.openxmlformats.org/officeDocument/2006/relationships/tags" Target="../tags/tag20.xml"/><Relationship Id="rId5" Type="http://schemas.openxmlformats.org/officeDocument/2006/relationships/tags" Target="../tags/tag21.xml"/><Relationship Id="rId6" Type="http://schemas.openxmlformats.org/officeDocument/2006/relationships/tags" Target="../tags/tag22.xml"/><Relationship Id="rId7" Type="http://schemas.openxmlformats.org/officeDocument/2006/relationships/tags" Target="../tags/tag23.xml"/><Relationship Id="rId8" Type="http://schemas.openxmlformats.org/officeDocument/2006/relationships/tags" Target="../tags/tag24.xml"/><Relationship Id="rId9" Type="http://schemas.openxmlformats.org/officeDocument/2006/relationships/tags" Target="../tags/tag25.xml"/><Relationship Id="rId10" Type="http://schemas.openxmlformats.org/officeDocument/2006/relationships/tags" Target="../tags/tag26.xml"/><Relationship Id="rId11" Type="http://schemas.openxmlformats.org/officeDocument/2006/relationships/tags" Target="../tags/tag27.xml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" name="" descr="&lt;Slide style={{ width: 1280, height: 720, background: '#0A1422', position: 'relative', overflow: 'hidden', padding: 0 }}&gt;&#13;&#10;&#13;&#10;    &lt;Image src=&quot;assets/hero_rain_night.png&quot; style={{ position: 'absolute', top: 0, left: 0, width: 1280, height: 720, objectFit: 'cover', opacity: 0.95 }} /&gt;&#13;&#10;&#13;&#10;    &lt;Box style={{ position: 'absolute', top: 0, left: 0, width: 1280, height: 720, background: 'linear-gradient(90deg, rgba(10,20,34,0.97) 0%, rgba(10,20,34,0.86) 42%, rgba(10,20,34,0.26) 100%)' }} /&gt;&#13;&#10;&#13;&#10;    &lt;Box style={{ position: 'absolute', top: 0, left: 0, width: 1280, height: 720, background: 'linear-gradient(180deg, rgba(10,20,34,0.60) 0%, rgba(10,20,34,0) 38%, rgba(10,20,34,0.80) 100%)' }} /&gt;&#13;&#10;&#13;&#10;    &lt;Box style={{ position: 'absolute', top: 118, left: 96, width: 56, height: 4, background: 'linear-gradient(135deg, #2D7FF9 0%, #22D3EE 100%)' }} /&gt;&#13;&#10;&#13;&#10;    &lt;Box style={{ position: 'absolute', top: 148, left: 96, width: 700, flexDirection: 'column' }}&gt;&#13;&#10;        &lt;Text style={{ fontFamily: 'Consolas', fontSize: 19, letterSpacing: 5, color: '#22D3EE', lineHeight: 1.4 }}&gt;&#13;&#10;            汉客松 S1 · ETH Wuhan 2026&#13;&#10;        &lt;/Text&gt;&#13;&#10;&#13;&#10;        &lt;Text style={{ fontFamily: 'Microsoft YaHei', fontSize: 74, fontWeight: 'bold', color: '#FFFFFF', letterSpacing: 3, lineHeight: 1.15, marginTop: 18 }}&gt;&#13;&#10;            雨证 · RainProof&#13;&#10;        &lt;/Text&gt;&#13;&#10;&#13;&#10;        &lt;Text style={{ fontFamily: 'Microsoft YaHei', fontSize: 27, color: 'rgba(255,255,255,0.88)', letterSpacing: 1.5, lineHeight: 1.45, marginTop: 20 }}&gt;&#13;&#10;            可验证的 AI 参数化配送险&#13;&#10;        &lt;/Text&gt;&#13;&#10;&#13;&#10;        &lt;Box style={{ width: 640, height: 1, background: 'rgba(255,255,255,0.14)', marginTop: 26, marginBottom: 26 }} /&gt;&#13;&#10;&#13;&#10;        &lt;Text style={{ fontFamily: 'Microsoft YaHei', fontSize: 23, color: 'rgba(255,255,255,0.66)', lineHeight: 1.6 }}&gt;&#13;&#10;            把「你信不信我」换成「&lt;span style={{ color: '#F5A524', fontWeight: 'bold' }}&gt;你自己验&lt;/span&gt;」&#13;&#10;        &lt;/Text&gt;&#13;&#10;    &lt;/Box&gt;&#13;&#10;&#13;&#10;    &lt;Box style={{ position: 'absolute', left: 96, bottom: 60, width: 1000, flexDirection: 'row', alignItems: 'center' }}&gt;&#13;&#10;        &lt;Text style={{ fontFamily: 'Microsoft YaHei', fontSize: 17, color: 'rgba(255,255,255,0.50)', letterSpacing: 1 }}&gt;&#13;&#10;            给外卖骑手的参数化降雨险　·　不核灾、不定损、骑手不举证&#13;&#10;        &lt;/Text&gt;&#13;&#10;    &lt;/Box&gt;&#13;&#10;&#13;&#10;    &lt;Box style={{ position: 'absolute', right: 96, bottom: 58, width: 320, flexDirection: 'row', alignItems: 'center', justifyContent: 'flex-end' }}&gt;&#13;&#10;        &lt;Text style={{ fontFamily: 'Consolas', fontSize: 16, color: 'rgba(255,255,255,0.40)', letterSpacing: 1 }}&gt;&#13;&#10;            TEAM 神麻&#13;&#10;        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alphaModFix amt="95000"/>
          </a:blip>
          <a:srcRect t="4237" b="423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422">
                  <a:alpha val="97000"/>
                </a:srgbClr>
              </a:gs>
              <a:gs pos="42000">
                <a:srgbClr val="0A1422">
                  <a:alpha val="86000"/>
                </a:srgbClr>
              </a:gs>
              <a:gs pos="100000">
                <a:srgbClr val="0A1422">
                  <a:alpha val="26000"/>
                </a:srgbClr>
              </a:gs>
            </a:gsLst>
            <a:lin ang="0" scaled="1"/>
          </a:gradFill>
        </p:spPr>
        <p:txBody>
          <a:bodyPr/>
          <a:p/>
        </p:txBody>
      </p:sp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422">
                  <a:alpha val="60000"/>
                </a:srgbClr>
              </a:gs>
              <a:gs pos="38000">
                <a:srgbClr val="0A1422">
                  <a:alpha val="0"/>
                </a:srgbClr>
              </a:gs>
              <a:gs pos="100000">
                <a:srgbClr val="0A1422">
                  <a:alpha val="80000"/>
                </a:srgbClr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6" name="矩形 5"/>
          <p:cNvSpPr/>
          <p:nvPr/>
        </p:nvSpPr>
        <p:spPr>
          <a:xfrm>
            <a:off x="914400" y="1123950"/>
            <a:ext cx="533400" cy="3810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914400" y="1409700"/>
            <a:ext cx="694944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sz="1225" b="0" lang="zh-CN" spc="300">
                <a:solidFill>
                  <a:srgbClr val="22D3EE"/>
                </a:solidFill>
                <a:latin typeface="微软雅黑"/>
                <a:ea typeface="微软雅黑"/>
              </a:rPr>
              <a:t>分子实验室 · 2026 大学生保险模拟创业大赛</a:t>
            </a:r>
            <a:endParaRPr lang="en-US" sz="1425" spc="37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914400" y="1885950"/>
            <a:ext cx="6667500" cy="981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zh-CN" sz="5550" b="1" spc="2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雨证</a:t>
            </a:r>
            <a:r>
              <a:rPr lang="en-US" sz="5550" b="1" spc="2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RainProof</a:t>
            </a:r>
            <a:endParaRPr lang="en-US" sz="5550" b="1" spc="22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914400" y="3057525"/>
            <a:ext cx="6667500" cy="4476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2025" spc="113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可验证的</a:t>
            </a:r>
            <a:r>
              <a:rPr lang="en-US" sz="2025" spc="113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2025" spc="113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参数化配送险</a:t>
            </a:r>
            <a:endParaRPr lang="zh-CN" sz="2025" spc="113">
              <a:solidFill>
                <a:srgbClr val="FFFFFF">
                  <a:alpha val="8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14400" y="3752850"/>
            <a:ext cx="6096000" cy="9525"/>
          </a:xfrm>
          <a:prstGeom prst="rect">
            <a:avLst/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914400" y="4010025"/>
            <a:ext cx="6667500" cy="4286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725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把「你信不信我」换成「</a:t>
            </a:r>
            <a:r>
              <a:rPr lang="zh-CN" sz="1725" b="1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你自己验</a:t>
            </a:r>
            <a:r>
              <a:rPr lang="zh-CN" sz="1725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」</a:t>
            </a:r>
            <a:endParaRPr lang="zh-CN" sz="1725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914400" y="6086475"/>
            <a:ext cx="46863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面向配送骑手的模拟降雨保障　·　不核灾、不定损、骑手不举证</a:t>
            </a:r>
            <a:endParaRPr lang="zh-CN" sz="1275" spc="75">
              <a:solidFill>
                <a:srgbClr val="FFFFFF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10391775" y="6115050"/>
            <a:ext cx="885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7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TEAM </a:t>
            </a:r>
            <a:r>
              <a:rPr lang="zh-CN" sz="1200" spc="7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神麻</a:t>
            </a:r>
            <a:endParaRPr lang="zh-CN" sz="1200" spc="7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14400" y="3593592"/>
            <a:ext cx="666597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FFFFFF">
                    <a:alpha val="46000"/>
                  </a:srgbClr>
                </a:solidFill>
              </a:rPr>
              <a:t>Verifiable AI parametric insurance for delivery riders</a:t>
            </a:r>
            <a:endParaRPr sz="1200"/>
          </a:p>
        </p:txBody>
      </p:sp>
      <p:sp>
        <p:nvSpPr>
          <p:cNvPr id="50" name="TextBox 49"/>
          <p:cNvSpPr txBox="1"/>
          <p:nvPr/>
        </p:nvSpPr>
        <p:spPr>
          <a:xfrm>
            <a:off x="914400" y="4544568"/>
            <a:ext cx="666597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FFFFFF">
                    <a:alpha val="46000"/>
                  </a:srgbClr>
                </a:solidFill>
              </a:rPr>
              <a:t>Replace "trust me" with "verify it yourself"</a:t>
            </a:r>
            <a:endParaRPr sz="1200"/>
          </a:p>
        </p:txBody>
      </p:sp>
      <p:pic>
        <p:nvPicPr>
          <p:cNvPr id="14" name="rainproof-opening-15s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4550" y="5524500"/>
            <a:ext cx="412750" cy="41275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7882127" y="5815584"/>
            <a:ext cx="237744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Consolas"/>
                <a:ea typeface="Consolas"/>
              </a:rPr>
              <a:t>初赛答辩 · 15:00 · 演示 3′00″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这 15 分钟怎么走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How the next 15 minutes are spent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00 / RUN OF SHOW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02 /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200">
                <a:solidFill>
                  <a:srgbClr val="22D3EE"/>
                </a:solidFill>
                <a:latin typeface="Consolas"/>
                <a:ea typeface="Consolas"/>
              </a:rPr>
              <a:t>RUN OF SHOW · 900 SECONDS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28216"/>
            <a:ext cx="420624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60">
                <a:solidFill>
                  <a:srgbClr val="FFFFFF"/>
                </a:solidFill>
                <a:latin typeface="Consolas"/>
                <a:ea typeface="Consolas"/>
              </a:rPr>
              <a:t>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682496"/>
            <a:ext cx="30175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开场与路线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1956816"/>
            <a:ext cx="310896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4000"/>
                  </a:srgbClr>
                </a:solidFill>
                <a:latin typeface="微软雅黑"/>
                <a:ea typeface="微软雅黑"/>
              </a:rPr>
              <a:t>先给出判断标准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1728216"/>
            <a:ext cx="93268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38000"/>
                  </a:srgbClr>
                </a:solidFill>
                <a:latin typeface="Consolas"/>
                <a:ea typeface="Consolas"/>
              </a:rPr>
              <a:t>P01–P02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58384" y="1719072"/>
            <a:ext cx="10515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/>
                </a:solidFill>
                <a:latin typeface="Consolas"/>
                <a:ea typeface="Consolas"/>
              </a:rPr>
              <a:t>0:00–0:45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55664" y="1783080"/>
            <a:ext cx="256457" cy="118872"/>
          </a:xfrm>
          <a:prstGeom prst="rect">
            <a:avLst/>
          </a:prstGeom>
          <a:solidFill>
            <a:srgbClr val="2D7FF9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0688" y="1728216"/>
            <a:ext cx="65836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45″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249424"/>
            <a:ext cx="7671816" cy="5486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331720"/>
            <a:ext cx="420624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60">
                <a:solidFill>
                  <a:srgbClr val="FFFFFF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2286000"/>
            <a:ext cx="30175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问题：不是没人想保，是算不过来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2560320"/>
            <a:ext cx="310896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4000"/>
                  </a:srgbClr>
                </a:solidFill>
                <a:latin typeface="微软雅黑"/>
                <a:ea typeface="微软雅黑"/>
              </a:rPr>
              <a:t>可行性 25%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2331720"/>
            <a:ext cx="93268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38000"/>
                  </a:srgbClr>
                </a:solidFill>
                <a:latin typeface="Consolas"/>
                <a:ea typeface="Consolas"/>
              </a:rPr>
              <a:t>P03–P05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2322576"/>
            <a:ext cx="10515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/>
                </a:solidFill>
                <a:latin typeface="Consolas"/>
                <a:ea typeface="Consolas"/>
              </a:rPr>
              <a:t>0:45–2:55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55664" y="2386584"/>
            <a:ext cx="740876" cy="118872"/>
          </a:xfrm>
          <a:prstGeom prst="rect">
            <a:avLst/>
          </a:prstGeom>
          <a:solidFill>
            <a:srgbClr val="2D7FF9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0688" y="2331720"/>
            <a:ext cx="65836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2′10″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2852928"/>
            <a:ext cx="7671816" cy="5486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2935224"/>
            <a:ext cx="420624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60">
                <a:solidFill>
                  <a:srgbClr val="FFFFFF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2889504"/>
            <a:ext cx="30175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方案：把「定损」删掉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3163824"/>
            <a:ext cx="310896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4000"/>
                  </a:srgbClr>
                </a:solidFill>
                <a:latin typeface="微软雅黑"/>
                <a:ea typeface="微软雅黑"/>
              </a:rPr>
              <a:t>创新性 30%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0832" y="2935224"/>
            <a:ext cx="93268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38000"/>
                  </a:srgbClr>
                </a:solidFill>
                <a:latin typeface="Consolas"/>
                <a:ea typeface="Consolas"/>
              </a:rPr>
              <a:t>P06–P08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58384" y="2926080"/>
            <a:ext cx="10515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/>
                </a:solidFill>
                <a:latin typeface="Consolas"/>
                <a:ea typeface="Consolas"/>
              </a:rPr>
              <a:t>2:55–5:05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55664" y="2990088"/>
            <a:ext cx="740876" cy="118872"/>
          </a:xfrm>
          <a:prstGeom prst="rect">
            <a:avLst/>
          </a:prstGeom>
          <a:solidFill>
            <a:srgbClr val="2D7FF9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90688" y="2935224"/>
            <a:ext cx="65836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2′10″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3456432"/>
            <a:ext cx="7671816" cy="5486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3538727"/>
            <a:ext cx="420624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60">
                <a:solidFill>
                  <a:srgbClr val="22D3EE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3493008"/>
            <a:ext cx="30175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现场演示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0432" y="3767328"/>
            <a:ext cx="310896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4000"/>
                  </a:srgbClr>
                </a:solidFill>
                <a:latin typeface="微软雅黑"/>
                <a:ea typeface="微软雅黑"/>
              </a:rPr>
              <a:t>展示与答辩 10%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70832" y="3538727"/>
            <a:ext cx="93268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38000"/>
                  </a:srgbClr>
                </a:solidFill>
                <a:latin typeface="Consolas"/>
                <a:ea typeface="Consolas"/>
              </a:rPr>
              <a:t>P09 + 实跑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58384" y="3529584"/>
            <a:ext cx="10515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22D3EE"/>
                </a:solidFill>
                <a:latin typeface="Consolas"/>
                <a:ea typeface="Consolas"/>
              </a:rPr>
              <a:t>5:05–8:40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55664" y="3593591"/>
            <a:ext cx="1225296" cy="118872"/>
          </a:xfrm>
          <a:prstGeom prst="rect">
            <a:avLst/>
          </a:prstGeom>
          <a:solidFill>
            <a:srgbClr val="22D3EE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90688" y="3538727"/>
            <a:ext cx="65836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3′35″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4059935"/>
            <a:ext cx="7671816" cy="5486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4142232"/>
            <a:ext cx="420624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60">
                <a:solidFill>
                  <a:srgbClr val="FFFFFF"/>
                </a:solidFill>
                <a:latin typeface="Consolas"/>
                <a:ea typeface="Consolas"/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70432" y="4096512"/>
            <a:ext cx="30175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技术与创新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70432" y="4370832"/>
            <a:ext cx="310896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4000"/>
                  </a:srgbClr>
                </a:solidFill>
                <a:latin typeface="微软雅黑"/>
                <a:ea typeface="微软雅黑"/>
              </a:rPr>
              <a:t>专业深度 20%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70832" y="4142232"/>
            <a:ext cx="93268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38000"/>
                  </a:srgbClr>
                </a:solidFill>
                <a:latin typeface="Consolas"/>
                <a:ea typeface="Consolas"/>
              </a:rPr>
              <a:t>P10–P12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58384" y="4133087"/>
            <a:ext cx="10515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/>
                </a:solidFill>
                <a:latin typeface="Consolas"/>
                <a:ea typeface="Consolas"/>
              </a:rPr>
              <a:t>8:40–11:20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55664" y="4197096"/>
            <a:ext cx="911848" cy="118872"/>
          </a:xfrm>
          <a:prstGeom prst="rect">
            <a:avLst/>
          </a:prstGeom>
          <a:solidFill>
            <a:srgbClr val="2D7FF9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90688" y="4142232"/>
            <a:ext cx="65836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2′40″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5800" y="4663440"/>
            <a:ext cx="7671816" cy="5486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4745736"/>
            <a:ext cx="420624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60">
                <a:solidFill>
                  <a:srgbClr val="FFFFFF"/>
                </a:solidFill>
                <a:latin typeface="Consolas"/>
                <a:ea typeface="Consolas"/>
              </a:rPr>
              <a:t>05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70432" y="4700016"/>
            <a:ext cx="30175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商业与合规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70432" y="4974336"/>
            <a:ext cx="310896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4000"/>
                  </a:srgbClr>
                </a:solidFill>
                <a:latin typeface="微软雅黑"/>
                <a:ea typeface="微软雅黑"/>
              </a:rPr>
              <a:t>可行性 25%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70832" y="4745736"/>
            <a:ext cx="93268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38000"/>
                  </a:srgbClr>
                </a:solidFill>
                <a:latin typeface="Consolas"/>
                <a:ea typeface="Consolas"/>
              </a:rPr>
              <a:t>P13–P15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58384" y="4736592"/>
            <a:ext cx="10515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/>
                </a:solidFill>
                <a:latin typeface="Consolas"/>
                <a:ea typeface="Consolas"/>
              </a:rPr>
              <a:t>11:20–13:15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55664" y="4800600"/>
            <a:ext cx="655390" cy="118872"/>
          </a:xfrm>
          <a:prstGeom prst="rect">
            <a:avLst/>
          </a:prstGeom>
          <a:solidFill>
            <a:srgbClr val="2D7FF9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90688" y="4745736"/>
            <a:ext cx="65836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1′55″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5800" y="5266944"/>
            <a:ext cx="7671816" cy="5486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5800" y="5349240"/>
            <a:ext cx="420624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60">
                <a:solidFill>
                  <a:srgbClr val="FFFFFF"/>
                </a:solidFill>
                <a:latin typeface="Consolas"/>
                <a:ea typeface="Consolas"/>
              </a:rP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70432" y="5303520"/>
            <a:ext cx="30175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团队与收束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70432" y="5577840"/>
            <a:ext cx="310896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4000"/>
                  </a:srgbClr>
                </a:solidFill>
                <a:latin typeface="微软雅黑"/>
                <a:ea typeface="微软雅黑"/>
              </a:rPr>
              <a:t>团队 15%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70832" y="5349240"/>
            <a:ext cx="93268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38000"/>
                  </a:srgbClr>
                </a:solidFill>
                <a:latin typeface="Consolas"/>
                <a:ea typeface="Consolas"/>
              </a:rPr>
              <a:t>P16–P19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58384" y="5340096"/>
            <a:ext cx="10515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/>
                </a:solidFill>
                <a:latin typeface="Consolas"/>
                <a:ea typeface="Consolas"/>
              </a:rPr>
              <a:t>13:15–15:00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55664" y="5404104"/>
            <a:ext cx="598400" cy="118872"/>
          </a:xfrm>
          <a:prstGeom prst="rect">
            <a:avLst/>
          </a:prstGeom>
          <a:solidFill>
            <a:srgbClr val="2D7FF9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90688" y="5349240"/>
            <a:ext cx="65836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1′45″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85800" y="5870448"/>
            <a:ext cx="7671816" cy="5486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485632" y="1700784"/>
            <a:ext cx="7315" cy="4041648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705088" y="1700784"/>
            <a:ext cx="27432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180">
                <a:solidFill>
                  <a:srgbClr val="22D3EE"/>
                </a:solidFill>
                <a:latin typeface="Consolas"/>
                <a:ea typeface="Consolas"/>
              </a:rPr>
              <a:t>SCORING MAP · 100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05088" y="2029968"/>
            <a:ext cx="15544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/>
                </a:solidFill>
                <a:latin typeface="微软雅黑"/>
                <a:ea typeface="微软雅黑"/>
              </a:rPr>
              <a:t>创新性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222992" y="2093976"/>
            <a:ext cx="786384" cy="91440"/>
          </a:xfrm>
          <a:prstGeom prst="rect">
            <a:avLst/>
          </a:prstGeom>
          <a:solidFill>
            <a:srgbClr val="22D3E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100816" y="2020824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22D3EE"/>
                </a:solidFill>
                <a:latin typeface="Consolas"/>
                <a:ea typeface="Consolas"/>
              </a:rPr>
              <a:t>30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705088" y="2596896"/>
            <a:ext cx="15544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/>
                </a:solidFill>
                <a:latin typeface="微软雅黑"/>
                <a:ea typeface="微软雅黑"/>
              </a:rPr>
              <a:t>可行性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222992" y="2660904"/>
            <a:ext cx="655320" cy="91440"/>
          </a:xfrm>
          <a:prstGeom prst="rect">
            <a:avLst/>
          </a:prstGeom>
          <a:solidFill>
            <a:srgbClr val="22D3E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100816" y="2587752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22D3EE"/>
                </a:solidFill>
                <a:latin typeface="Consolas"/>
                <a:ea typeface="Consolas"/>
              </a:rPr>
              <a:t>25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705088" y="3163824"/>
            <a:ext cx="15544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/>
                </a:solidFill>
                <a:latin typeface="微软雅黑"/>
                <a:ea typeface="微软雅黑"/>
              </a:rPr>
              <a:t>专业深度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222992" y="3227832"/>
            <a:ext cx="524255" cy="91440"/>
          </a:xfrm>
          <a:prstGeom prst="rect">
            <a:avLst/>
          </a:prstGeom>
          <a:solidFill>
            <a:srgbClr val="22D3E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100816" y="3154680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22D3EE"/>
                </a:solidFill>
                <a:latin typeface="Consolas"/>
                <a:ea typeface="Consolas"/>
              </a:rPr>
              <a:t>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705088" y="3730752"/>
            <a:ext cx="15544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/>
                </a:solidFill>
                <a:latin typeface="微软雅黑"/>
                <a:ea typeface="微软雅黑"/>
              </a:rPr>
              <a:t>团队构成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222992" y="3794760"/>
            <a:ext cx="393192" cy="91440"/>
          </a:xfrm>
          <a:prstGeom prst="rect">
            <a:avLst/>
          </a:prstGeom>
          <a:solidFill>
            <a:srgbClr val="22D3E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1100816" y="372160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22D3EE"/>
                </a:solidFill>
                <a:latin typeface="Consolas"/>
                <a:ea typeface="Consolas"/>
              </a:rPr>
              <a:t>15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705088" y="4297680"/>
            <a:ext cx="15544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/>
                </a:solidFill>
                <a:latin typeface="微软雅黑"/>
                <a:ea typeface="微软雅黑"/>
              </a:rPr>
              <a:t>展示与答辩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222992" y="4361688"/>
            <a:ext cx="262127" cy="91440"/>
          </a:xfrm>
          <a:prstGeom prst="rect">
            <a:avLst/>
          </a:prstGeom>
          <a:solidFill>
            <a:srgbClr val="22D3E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1100816" y="4288536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22D3EE"/>
                </a:solidFill>
                <a:latin typeface="Consolas"/>
                <a:ea typeface="Consolas"/>
              </a:rPr>
              <a:t>10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705088" y="5138928"/>
            <a:ext cx="2798064" cy="6035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不按分数顺序讲：先把问题说清，分数自己会到。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51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那天，他还是出门了&#10;        &lt;/Text&gt;&#10;        &lt;Box style={{ flex: 1 }} /&gt;&#10;        &lt;Text style={{ fontFamily: 'Consolas', fontSize: 16, color: 'rgba(255,255,255,0.34)', letterSpacing: 2 }}&gt;&#10;            01 / THE RIDER&#10;        &lt;/Text&gt;&#10;    &lt;/Box&gt;&#10;&#10;    &lt;Box style={{ height: 540, flexDirection: 'row', gap: 30 }}&gt;&#10;&#10;        &lt;Box style={{ width: 500, height: 540, borderRadius: 6, overflow: 'hidden', border: '1px solid rgba(255,255,255,0.12)' }}&gt;&#10;            &lt;Image src=&quot;assets/rider_rain_street.png&quot; style={{ width: '100%', height: '100%', objectFit: 'cover' }} /&gt;&#10;        &lt;/Box&gt;&#10;&#10;        &lt;Box style={{ width: 606, height: 540, flexDirection: 'column' }}&gt;&#10;&#10;            &lt;Text style={{ fontFamily: 'Microsoft YaHei', fontSize: 21, color: 'rgba(255,255,255,0.74)', lineHeight: 1.55 }}&gt;&#10;                暴雨橙色预警。他穿上雨衣，骑上车，跑了 12 个小时 —— 因为当天不出勤，就没有收入。&#10;            &lt;/Text&gt;&#10;&#10;            &lt;Box style={{ flexDirection: 'column', gap: 12, marginTop: 20 }}&gt;&#10;&#10;                &lt;Box style={{ height: 92, background: 'rgba(255,255,255,0.04)', border: '1px solid rgba(255,255,255,0.08)', borderRadius: 5, padding: '0 22px', flexDirection: 'row', alignItems: 'center', gap: 20 }}&gt;&#10;                    &lt;Text style={{ width: 180, fontFamily: 'Consolas', fontSize: 38, fontWeight: 'bold', color: '#2D7FF9' }}&gt;336 万&lt;/Text&gt;&#10;                    &lt;Text style={{ fontFamily: 'Microsoft YaHei', fontSize: 17, color: 'rgba(255,255,255,0.68)', lineHeight: 1.45 }}&gt;&#10;                        中国月均有单骑手&#10;                    &lt;/Text&gt;&#10;                &lt;/Box&gt;&#10;&#10;                &lt;Box style={{ height: 92, background: 'rgba(255,255,255,0.04)', border: '1px solid rgba(255,255,255,0.08)', borderRadius: 5, padding: '0 22px', flexDirection: 'row', alignItems: 'center', gap: 20 }}&gt;&#10;                    &lt;Text style={{ width: 180, fontFamily: 'Consolas', fontSize: 38, fontWeight: 'bold', color: '#F5A524' }}&gt;-30%&lt;/Text&gt;&#10;                    &lt;Text style={{ fontFamily: 'Microsoft YaHei', fontSize: 17, color: 'rgba(255,255,255,0.68)', lineHeight: 1.45 }}&gt;&#10;                        暴雨日，一个骑手的收入&#10;                    &lt;/Text&gt;&#10;                &lt;/Box&gt;&#10;&#10;                &lt;Box style={{ height: 92, background: 'rgba(245,165,36,0.10)', border: '1px solid rgba(245,165,36,0.34)', borderRadius: 5, padding: '0 22px', flexDirection: 'row', alignItems: 'center', gap: 20 }}&gt;&#10;                    &lt;Text style={{ width: 180, fontFamily: 'Consolas', fontSize: 42, fontWeight: 'bold', color: '#F5A524' }}&gt;0&lt;/Text&gt;&#10;                    &lt;Text style={{ fontFamily: 'Microsoft YaHei', fontSize: 17, fontWeight: 'bold', color: '#FFFFFF', lineHeight: 1.45 }}&gt;&#10;                        他能拿到的赔偿&#10;                    &lt;/Text&gt;&#10;                &lt;/Box&gt;&#10;&#10;            &lt;/Box&gt;&#10;&#10;            &lt;Box style={{ marginTop: 'auto' }}&gt;&#10;                &lt;Text style={{ fontFamily: 'Microsoft YaHei', fontSize: 30, fontWeight: 'bold', color: '#FFFFFF', lineHeight: 1.4 }}&gt;&#10;                    而他不知道该找谁赔。&#10;                &lt;/Text&gt;&#10;                &lt;Text style={{ fontFamily: 'Microsoft YaHei', fontSize: 14, color: 'rgba(255,255,255,0.42)', lineHeight: 1.5, marginTop: 10 }}&gt;&#10;                    336 万为美团研究院 2024 年调研口径；-30% 为暴雨日收入折损量级&#10;                &lt;/Text&gt;&#10;            &lt;/Box&gt;&#10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2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矩形 15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153" name="矩形 152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54" name="文本框 153" descr="{&quot;isTemplate&quot;:true,&quot;type&quot;:&quot;text&quot;}"/>
          <p:cNvSpPr txBox="1"/>
          <p:nvPr/>
        </p:nvSpPr>
        <p:spPr>
          <a:xfrm>
            <a:off x="914400" y="409575"/>
            <a:ext cx="30861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那天，他还是出门了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10058400" y="571500"/>
            <a:ext cx="1447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01 / THE RIDER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56" name="圆角矩形 155"/>
          <p:cNvSpPr/>
          <p:nvPr/>
        </p:nvSpPr>
        <p:spPr>
          <a:xfrm>
            <a:off x="685800" y="1143000"/>
            <a:ext cx="4762500" cy="5143500"/>
          </a:xfrm>
          <a:prstGeom prst="roundRect">
            <a:avLst>
              <a:gd name="adj" fmla="val 1200"/>
            </a:avLst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57" name="图片 156"/>
          <p:cNvPicPr>
            <a:picLocks noChangeAspect="1"/>
          </p:cNvPicPr>
          <p:nvPr/>
        </p:nvPicPr>
        <p:blipFill>
          <a:blip r:embed="rId1"/>
          <a:srcRect l="21547" r="21547"/>
          <a:stretch>
            <a:fillRect/>
          </a:stretch>
        </p:blipFill>
        <p:spPr>
          <a:xfrm>
            <a:off x="685800" y="1143000"/>
            <a:ext cx="4762500" cy="5143500"/>
          </a:xfrm>
          <a:custGeom>
            <a:avLst/>
            <a:gdLst/>
            <a:ahLst/>
            <a:cxnLst/>
            <a:pathLst>
              <a:path w="500" h="540">
                <a:moveTo>
                  <a:pt x="494" y="0"/>
                </a:moveTo>
                <a:cubicBezTo>
                  <a:pt x="497" y="0"/>
                  <a:pt x="500" y="3"/>
                  <a:pt x="500" y="6"/>
                </a:cubicBezTo>
                <a:lnTo>
                  <a:pt x="500" y="534"/>
                </a:lnTo>
                <a:cubicBezTo>
                  <a:pt x="500" y="537"/>
                  <a:pt x="497" y="540"/>
                  <a:pt x="494" y="540"/>
                </a:cubicBezTo>
                <a:lnTo>
                  <a:pt x="6" y="540"/>
                </a:lnTo>
                <a:cubicBezTo>
                  <a:pt x="3" y="540"/>
                  <a:pt x="0" y="537"/>
                  <a:pt x="0" y="534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494" y="0"/>
                </a:lnTo>
                <a:close/>
              </a:path>
            </a:pathLst>
          </a:custGeom>
        </p:spPr>
      </p:pic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5734050" y="1143000"/>
            <a:ext cx="5772150" cy="7524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暴雨橙色预警。他穿上雨衣，骑上车，跑了</a:t>
            </a:r>
            <a:r>
              <a:rPr lang="en-US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12 </a:t>
            </a:r>
            <a:r>
              <a:rPr lang="zh-CN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个小时</a:t>
            </a:r>
            <a:r>
              <a:rPr lang="en-US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因为当天不出勤，就没有收入。</a:t>
            </a:r>
            <a:endParaRPr lang="zh-CN" sz="1575">
              <a:solidFill>
                <a:srgbClr val="FFFFFF">
                  <a:alpha val="7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" name="圆角矩形 158"/>
          <p:cNvSpPr/>
          <p:nvPr/>
        </p:nvSpPr>
        <p:spPr>
          <a:xfrm>
            <a:off x="5734050" y="2085975"/>
            <a:ext cx="5772150" cy="876300"/>
          </a:xfrm>
          <a:prstGeom prst="roundRect">
            <a:avLst>
              <a:gd name="adj" fmla="val 5435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0" name="文本框 159" descr="{&quot;isTemplate&quot;:true,&quot;type&quot;:&quot;text&quot;}"/>
          <p:cNvSpPr txBox="1"/>
          <p:nvPr/>
        </p:nvSpPr>
        <p:spPr>
          <a:xfrm>
            <a:off x="5943600" y="2305050"/>
            <a:ext cx="1714500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300 </a:t>
            </a:r>
            <a:r>
              <a:rPr lang="zh-CN" sz="285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万</a:t>
            </a:r>
            <a:endParaRPr lang="zh-CN" sz="2850" b="1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7848600" y="2381250"/>
            <a:ext cx="12954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FFFFFF">
                    <a:alpha val="6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美团官方口径覆盖骑手</a:t>
            </a:r>
            <a:endParaRPr lang="zh-CN" sz="1275">
              <a:solidFill>
                <a:srgbClr val="FFFFFF">
                  <a:alpha val="6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" name="圆角矩形 161"/>
          <p:cNvSpPr/>
          <p:nvPr/>
        </p:nvSpPr>
        <p:spPr>
          <a:xfrm>
            <a:off x="5734050" y="3076575"/>
            <a:ext cx="5772150" cy="876300"/>
          </a:xfrm>
          <a:prstGeom prst="roundRect">
            <a:avLst>
              <a:gd name="adj" fmla="val 5435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5943600" y="3295650"/>
            <a:ext cx="1714500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-30%</a:t>
            </a:r>
            <a:endParaRPr lang="en-US" sz="285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64" name="文本框 163" descr="{&quot;isTemplate&quot;:true,&quot;type&quot;:&quot;text&quot;}"/>
          <p:cNvSpPr txBox="1"/>
          <p:nvPr/>
        </p:nvSpPr>
        <p:spPr>
          <a:xfrm>
            <a:off x="7848600" y="3371850"/>
            <a:ext cx="1781175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FFFFFF">
                    <a:alpha val="6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暴雨日，一个骑手的收入</a:t>
            </a:r>
            <a:endParaRPr lang="zh-CN" sz="1275">
              <a:solidFill>
                <a:srgbClr val="FFFFFF">
                  <a:alpha val="6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" name="圆角矩形 164"/>
          <p:cNvSpPr/>
          <p:nvPr/>
        </p:nvSpPr>
        <p:spPr>
          <a:xfrm>
            <a:off x="5734050" y="4067175"/>
            <a:ext cx="5772150" cy="876300"/>
          </a:xfrm>
          <a:prstGeom prst="roundRect">
            <a:avLst>
              <a:gd name="adj" fmla="val 5435"/>
            </a:avLst>
          </a:prstGeom>
          <a:solidFill>
            <a:srgbClr val="F5A524">
              <a:alpha val="10000"/>
            </a:srgbClr>
          </a:solidFill>
          <a:ln w="12700">
            <a:solidFill>
              <a:srgbClr val="F5A524">
                <a:alpha val="3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5943600" y="4267200"/>
            <a:ext cx="1714500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0</a:t>
            </a:r>
            <a:endParaRPr lang="en-US" sz="315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67" name="文本框 166" descr="{&quot;isTemplate&quot;:true,&quot;type&quot;:&quot;text&quot;}"/>
          <p:cNvSpPr txBox="1"/>
          <p:nvPr/>
        </p:nvSpPr>
        <p:spPr>
          <a:xfrm>
            <a:off x="7848600" y="4362450"/>
            <a:ext cx="1133475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他能拿到的赔偿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8" name="文本框 167" descr="{&quot;isTemplate&quot;:true,&quot;type&quot;:&quot;text&quot;}"/>
          <p:cNvSpPr txBox="1"/>
          <p:nvPr/>
        </p:nvSpPr>
        <p:spPr>
          <a:xfrm>
            <a:off x="5734050" y="5457825"/>
            <a:ext cx="5772150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而他不知道该找谁赔。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5734050" y="6038850"/>
            <a:ext cx="580644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FFFFFF">
                    <a:alpha val="4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300 万为美团 2025-06-26 官方口径；-30% 为暴雨日收入折损量级（公开口径有分歧，仅作量级）</a:t>
            </a:r>
            <a:endParaRPr lang="zh-CN" sz="1050">
              <a:solidFill>
                <a:srgbClr val="FFFFFF">
                  <a:alpha val="4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" name="文本框 170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03 / 19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That day, he still went out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72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不是没人想保，是这笔账算不过来&#10;        &lt;/Text&gt;&#10;        &lt;Box style={{ flex: 1 }} /&gt;&#10;        &lt;Text style={{ fontFamily: 'Consolas', fontSize: 16, color: 'rgba(255,255,255,0.34)', letterSpacing: 2 }}&gt;&#10;            02 / THE MATH&#10;        &lt;/Text&gt;&#10;    &lt;/Box&gt;&#10;&#10;    &lt;Box style={{ height: 540, flexDirection: 'column' }}&gt;&#10;&#10;        &lt;Box style={{ height: 190, flexDirection: 'row', alignItems: 'center', justifyContent: 'center', gap: 34 }}&gt;&#10;            &lt;Text style={{ fontFamily: 'Microsoft YaHei', fontSize: 44, fontWeight: 'bold', color: '#FFFFFF' }}&gt;&#10;                查一次的成本&#10;            &lt;/Text&gt;&#10;            &lt;Text style={{ fontFamily: 'Consolas', fontSize: 54, fontWeight: 'bold', color: '#F5A524' }}&gt;&#10;                ≈&#10;            &lt;/Text&gt;&#10;            &lt;Text style={{ fontFamily: 'Microsoft YaHei', fontSize: 44, fontWeight: 'bold', color: '#FFFFFF' }}&gt;&#10;                赔一次的钱&#10;            &lt;/Text&gt;&#10;        &lt;/Box&gt;&#10;&#10;        &lt;Box style={{ flexDirection: 'column', gap: 12, padding: '0 56px' }}&gt;&#10;            &lt;Box style={{ flexDirection: 'row', alignItems: 'center', gap: 14 }}&gt;&#10;                &lt;Box style={{ width: 6, height: 6, borderRadius: 3, background: '#22D3EE' }} /&gt;&#10;                &lt;Text style={{ fontFamily: 'Microsoft YaHei', fontSize: 19, color: 'rgba(255,255,255,0.80)', lineHeight: 1.45 }}&gt;&#10;                    单次赔几十到几百元&#10;                &lt;/Text&gt;&#10;            &lt;/Box&gt;&#10;            &lt;Box style={{ flexDirection: 'row', alignItems: 'center', gap: 14 }}&gt;&#10;                &lt;Box style={{ width: 6, height: 6, borderRadius: 3, background: '#22D3EE' }} /&gt;&#10;                &lt;Text style={{ fontFamily: 'Microsoft YaHei', fontSize: 19, color: 'rgba(255,255,255,0.80)', lineHeight: 1.45 }}&gt;&#10;                    人工报案 + 查勘 + 核赔的固定成本，与赔款同量级&#10;                &lt;/Text&gt;&#10;            &lt;/Box&gt;&#10;            &lt;Box style={{ flexDirection: 'row', alignItems: 'center', gap: 14 }}&gt;&#10;                &lt;Box style={{ width: 6, height: 6, borderRadius: 3, background: '#F5A524' }} /&gt;&#10;                &lt;Text style={{ fontFamily: 'Microsoft YaHei', fontSize: 19, fontWeight: 'bold', color: '#FFFFFF', lineHeight: 1.45 }}&gt;&#10;                    保险公司的理性选择：不卖&#10;                &lt;/Text&gt;&#10;            &lt;/Box&gt;&#10;        &lt;/Box&gt;&#10;&#10;        &lt;Box style={{ marginTop: 'auto', flexDirection: 'row', gap: 20 }}&gt;&#10;&#10;            &lt;Box style={{ flex: 1, background: 'rgba(255,255,255,0.04)', border: '1px solid rgba(255,255,255,0.10)', borderRadius: 5, padding: '16px 22px', flexDirection: 'column' }}&gt;&#10;                &lt;Text style={{ fontFamily: 'Consolas', fontSize: 13, color: 'rgba(255,255,255,0.44)', letterSpacing: 3 }}&gt;&#10;                    下游的三个结果&#10;                &lt;/Text&gt;&#10;                &lt;Text style={{ fontFamily: 'Microsoft YaHei', fontSize: 16, color: 'rgba(255,255,255,0.62)', lineHeight: 1.55, marginTop: 8 }}&gt;&#10;                    损失核不了 · 逆选择与骗赔 · 身份无正式凭据 —— 都是这个成本结构的下游，不是三个独立的问题。&#10;                &lt;/Text&gt;&#10;            &lt;/Box&gt;&#10;&#10;            &lt;Box style={{ width: 336, background: 'rgba(45,127,249,0.10)', border: '1px solid rgba(45,127,249,0.30)', borderRadius: 5, padding: '16px 22px', flexDirection: 'column' }}&gt;&#10;                &lt;Box style={{ flexDirection: 'row', alignItems: 'baseline', gap: 10 }}&gt;&#10;                    &lt;Text style={{ fontFamily: 'Consolas', fontSize: 34, fontWeight: 'bold', color: '#22D3EE' }}&gt;6.8×&lt;/Text&gt;&#10;                    &lt;Text style={{ fontFamily: 'Microsoft YaHei', fontSize: 15, color: 'rgba(255,255,255,0.80)' }}&gt;雨天配送事故率&lt;/Text&gt;&#10;                &lt;/Box&gt;&#10;                &lt;Text style={{ fontFamily: 'Microsoft YaHei', fontSize: 13, color: 'rgba(255,255,255,0.44)', lineHeight: 1.5, marginTop: 8 }}&gt;&#10;                    泰国骑手交通事故研究，OR = 6.79&#10;                &lt;/Text&gt;&#10;            &lt;/Box&gt;&#10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3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矩形 17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174" name="矩形 173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914400" y="409575"/>
            <a:ext cx="51435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不是没人想保，是这笔账算不过来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10163175" y="571500"/>
            <a:ext cx="1343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01 / THE MATH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3324225" y="1800225"/>
            <a:ext cx="25146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查一次的成本</a:t>
            </a:r>
            <a:endParaRPr lang="zh-CN" sz="3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6162675" y="1743075"/>
            <a:ext cx="285750" cy="619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405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≈</a:t>
            </a:r>
            <a:endParaRPr sz="405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6772275" y="1800225"/>
            <a:ext cx="20955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赔一次的钱</a:t>
            </a:r>
            <a:endParaRPr lang="zh-CN" sz="3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0" name="圆角矩形 179"/>
          <p:cNvSpPr/>
          <p:nvPr/>
        </p:nvSpPr>
        <p:spPr>
          <a:xfrm>
            <a:off x="1219200" y="30861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/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1409700" y="2952750"/>
            <a:ext cx="1628775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单次赔几十到几百元</a:t>
            </a:r>
            <a:endParaRPr lang="zh-CN" sz="142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2" name="圆角矩形 181"/>
          <p:cNvSpPr/>
          <p:nvPr/>
        </p:nvSpPr>
        <p:spPr>
          <a:xfrm>
            <a:off x="1219200" y="35242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/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1409700" y="3390900"/>
            <a:ext cx="4105275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人工报案</a:t>
            </a:r>
            <a:r>
              <a:rPr lang="en-US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查勘</a:t>
            </a:r>
            <a:r>
              <a:rPr lang="en-US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核赔的固定成本，与赔款同量级</a:t>
            </a:r>
            <a:endParaRPr lang="zh-CN" sz="142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" name="圆角矩形 183"/>
          <p:cNvSpPr/>
          <p:nvPr/>
        </p:nvSpPr>
        <p:spPr>
          <a:xfrm>
            <a:off x="1219200" y="39624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F5A524"/>
          </a:solidFill>
        </p:spPr>
        <p:txBody>
          <a:bodyPr/>
          <a:p/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1409700" y="3829050"/>
            <a:ext cx="21717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保险公司的理性选择：不卖</a:t>
            </a:r>
            <a:endParaRPr lang="zh-CN"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6" name="圆角矩形 185"/>
          <p:cNvSpPr/>
          <p:nvPr/>
        </p:nvSpPr>
        <p:spPr>
          <a:xfrm>
            <a:off x="685800" y="5286375"/>
            <a:ext cx="7429500" cy="1000125"/>
          </a:xfrm>
          <a:prstGeom prst="roundRect">
            <a:avLst>
              <a:gd name="adj" fmla="val 476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7" name="文本框 186" descr="{&quot;isTemplate&quot;:true,&quot;type&quot;:&quot;text&quot;}"/>
          <p:cNvSpPr txBox="1"/>
          <p:nvPr/>
        </p:nvSpPr>
        <p:spPr>
          <a:xfrm>
            <a:off x="895350" y="5438775"/>
            <a:ext cx="70104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FFFFFF">
                    <a:alpha val="44000"/>
                  </a:srgbClr>
                </a:solidFill>
                <a:latin typeface="Consolas" panose="020B0609020204030204"/>
                <a:ea typeface="Consolas" panose="020B0609020204030204"/>
              </a:rPr>
              <a:t>下游的三个结果</a:t>
            </a:r>
            <a:endParaRPr lang="zh-CN" sz="975" spc="225">
              <a:solidFill>
                <a:srgbClr val="FFFFFF">
                  <a:alpha val="4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88" name="文本框 187" descr="{&quot;isTemplate&quot;:true,&quot;type&quot;:&quot;text&quot;}"/>
          <p:cNvSpPr txBox="1"/>
          <p:nvPr/>
        </p:nvSpPr>
        <p:spPr>
          <a:xfrm>
            <a:off x="895350" y="5667375"/>
            <a:ext cx="70104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损失核不了</a:t>
            </a:r>
            <a:r>
              <a:rPr lang="en-US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逆选择与骗赔</a:t>
            </a:r>
            <a:r>
              <a:rPr lang="en-US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身份无正式凭据</a:t>
            </a:r>
            <a:r>
              <a:rPr lang="en-US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都是这个成本结构的下游，不是三个独立的问题。</a:t>
            </a:r>
            <a:endParaRPr lang="zh-CN" sz="1200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9" name="圆角矩形 188"/>
          <p:cNvSpPr/>
          <p:nvPr/>
        </p:nvSpPr>
        <p:spPr>
          <a:xfrm>
            <a:off x="8305800" y="5286375"/>
            <a:ext cx="3200400" cy="1000125"/>
          </a:xfrm>
          <a:prstGeom prst="roundRect">
            <a:avLst>
              <a:gd name="adj" fmla="val 4762"/>
            </a:avLst>
          </a:prstGeom>
          <a:solidFill>
            <a:srgbClr val="2D7FF9">
              <a:alpha val="10000"/>
            </a:srgbClr>
          </a:solidFill>
          <a:ln w="12700">
            <a:solidFill>
              <a:srgbClr val="2D7FF9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8515350" y="5438775"/>
            <a:ext cx="71437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6.8×</a:t>
            </a:r>
            <a:endParaRPr lang="en-US" sz="2550" b="1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91" name="文本框 190" descr="{&quot;isTemplate&quot;:true,&quot;type&quot;:&quot;text&quot;}"/>
          <p:cNvSpPr txBox="1"/>
          <p:nvPr/>
        </p:nvSpPr>
        <p:spPr>
          <a:xfrm>
            <a:off x="9324975" y="5438775"/>
            <a:ext cx="100012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雨天配送事故率</a:t>
            </a:r>
            <a:endParaRPr lang="zh-CN" sz="112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" name="文本框 191" descr="{&quot;isTemplate&quot;:true,&quot;type&quot;:&quot;text&quot;}"/>
          <p:cNvSpPr txBox="1"/>
          <p:nvPr/>
        </p:nvSpPr>
        <p:spPr>
          <a:xfrm>
            <a:off x="8515350" y="5905500"/>
            <a:ext cx="2781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FFFFFF">
                    <a:alpha val="4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泰国骑手交通事故研究，</a:t>
            </a:r>
            <a:r>
              <a:rPr lang="en-US" sz="975">
                <a:solidFill>
                  <a:srgbClr val="FFFFFF">
                    <a:alpha val="4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OR = 6.79</a:t>
            </a:r>
            <a:endParaRPr lang="en-US" sz="975">
              <a:solidFill>
                <a:srgbClr val="FFFFFF">
                  <a:alpha val="4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" name="文本框 193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04 / 19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95" name="TextBox 194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It is not that nobody wants to insure them - the math does not work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  <p:sp>
        <p:nvSpPr>
          <p:cNvPr id="196" name="Rounded Rectangle 195"/>
          <p:cNvSpPr/>
          <p:nvPr/>
        </p:nvSpPr>
        <p:spPr>
          <a:xfrm>
            <a:off x="685800" y="4370832"/>
            <a:ext cx="1517904" cy="493776"/>
          </a:xfrm>
          <a:prstGeom prst="roundRect">
            <a:avLst>
              <a:gd name="adj" fmla="val 80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685800" y="4370832"/>
            <a:ext cx="1517904" cy="49377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25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报案</a:t>
            </a:r>
            <a:r>
              <a:rPr sz="900" b="0" i="0" lang="zh-CN">
                <a:solidFill>
                  <a:srgbClr val="FFFFFF">
                    <a:alpha val="45000"/>
                  </a:srgbClr>
                </a:solidFill>
                <a:latin typeface="微软雅黑"/>
                <a:ea typeface="微软雅黑"/>
              </a:rPr>
              <a:t>  骑手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2203704" y="4498848"/>
            <a:ext cx="24688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5000"/>
              </a:lnSpc>
            </a:pPr>
            <a:r>
              <a:rPr sz="1300" b="0" i="0" lang="zh-CN">
                <a:solidFill>
                  <a:srgbClr val="2D7FF9"/>
                </a:solidFill>
                <a:latin typeface="Consolas"/>
                <a:ea typeface="Consolas"/>
              </a:rPr>
              <a:t>→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2450591" y="4370832"/>
            <a:ext cx="1517904" cy="493776"/>
          </a:xfrm>
          <a:prstGeom prst="roundRect">
            <a:avLst>
              <a:gd name="adj" fmla="val 80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2450591" y="4370832"/>
            <a:ext cx="1517904" cy="49377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25000"/>
              </a:lnSpc>
            </a:pPr>
            <a:r>
              <a:rPr sz="1250" b="1" i="0" lang="zh-CN">
                <a:solidFill>
                  <a:srgbClr val="F5A524"/>
                </a:solidFill>
                <a:latin typeface="微软雅黑"/>
                <a:ea typeface="微软雅黑"/>
              </a:rPr>
              <a:t>查勘</a:t>
            </a:r>
            <a:r>
              <a:rPr sz="900" b="0" i="0" lang="zh-CN">
                <a:solidFill>
                  <a:srgbClr val="FFFFFF">
                    <a:alpha val="45000"/>
                  </a:srgbClr>
                </a:solidFill>
                <a:latin typeface="微软雅黑"/>
                <a:ea typeface="微软雅黑"/>
              </a:rPr>
              <a:t>  人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3968496" y="4498848"/>
            <a:ext cx="24688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5000"/>
              </a:lnSpc>
            </a:pPr>
            <a:r>
              <a:rPr sz="1300" b="0" i="0" lang="zh-CN">
                <a:solidFill>
                  <a:srgbClr val="2D7FF9"/>
                </a:solidFill>
                <a:latin typeface="Consolas"/>
                <a:ea typeface="Consolas"/>
              </a:rPr>
              <a:t>→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4215383" y="4370832"/>
            <a:ext cx="1517904" cy="493776"/>
          </a:xfrm>
          <a:prstGeom prst="roundRect">
            <a:avLst>
              <a:gd name="adj" fmla="val 80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4215383" y="4370832"/>
            <a:ext cx="1517904" cy="49377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25000"/>
              </a:lnSpc>
            </a:pPr>
            <a:r>
              <a:rPr sz="1250" b="1" i="0" lang="zh-CN">
                <a:solidFill>
                  <a:srgbClr val="F5A524"/>
                </a:solidFill>
                <a:latin typeface="微软雅黑"/>
                <a:ea typeface="微软雅黑"/>
              </a:rPr>
              <a:t>核损</a:t>
            </a:r>
            <a:r>
              <a:rPr sz="900" b="0" i="0" lang="zh-CN">
                <a:solidFill>
                  <a:srgbClr val="FFFFFF">
                    <a:alpha val="45000"/>
                  </a:srgbClr>
                </a:solidFill>
                <a:latin typeface="微软雅黑"/>
                <a:ea typeface="微软雅黑"/>
              </a:rPr>
              <a:t>  人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5733288" y="4498848"/>
            <a:ext cx="24688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5000"/>
              </a:lnSpc>
            </a:pPr>
            <a:r>
              <a:rPr sz="1300" b="0" i="0" lang="zh-CN">
                <a:solidFill>
                  <a:srgbClr val="2D7FF9"/>
                </a:solidFill>
                <a:latin typeface="Consolas"/>
                <a:ea typeface="Consolas"/>
              </a:rPr>
              <a:t>→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5980176" y="4370832"/>
            <a:ext cx="1517904" cy="493776"/>
          </a:xfrm>
          <a:prstGeom prst="roundRect">
            <a:avLst>
              <a:gd name="adj" fmla="val 80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5980176" y="4370832"/>
            <a:ext cx="1517904" cy="49377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25000"/>
              </a:lnSpc>
            </a:pPr>
            <a:r>
              <a:rPr sz="1250" b="1" i="0" lang="zh-CN">
                <a:solidFill>
                  <a:srgbClr val="F5A524"/>
                </a:solidFill>
                <a:latin typeface="微软雅黑"/>
                <a:ea typeface="微软雅黑"/>
              </a:rPr>
              <a:t>核赔</a:t>
            </a:r>
            <a:r>
              <a:rPr sz="900" b="0" i="0" lang="zh-CN">
                <a:solidFill>
                  <a:srgbClr val="FFFFFF">
                    <a:alpha val="45000"/>
                  </a:srgbClr>
                </a:solidFill>
                <a:latin typeface="微软雅黑"/>
                <a:ea typeface="微软雅黑"/>
              </a:rPr>
              <a:t>  人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685800" y="4956048"/>
            <a:ext cx="740664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后三步都是人工 —— 这笔固定成本与赔款同量级，所以卖一单亏一单。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95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AI + 天气，几乎所有人都在做预测&#10;        &lt;/Text&gt;&#10;        &lt;Box style={{ flex: 1 }} /&gt;&#10;        &lt;Text style={{ fontFamily: 'Consolas', fontSize: 16, color: 'rgba(255,255,255,0.34)', letterSpacing: 2 }}&gt;&#10;            03 / THE INDUSTRY&#10;        &lt;/Text&gt;&#10;    &lt;/Box&gt;&#10;&#10;    &lt;Box style={{ height: 540, flexDirection: 'column' }}&gt;&#10;&#10;        &lt;Box style={{ height: 168, flexDirection: 'column', alignItems: 'center', justifyContent: 'center' }}&gt;&#10;            &lt;Text style={{ fontFamily: 'Consolas', fontSize: 42, fontWeight: 'bold', color: '#22D3EE', letterSpacing: 5 }}&gt;&#10;                ECMWF · GFS · ICON&#10;            &lt;/Text&gt;&#10;            &lt;Text style={{ fontFamily: 'Microsoft YaHei', fontSize: 19, color: 'rgba(255,255,255,0.62)', lineHeight: 1.5, marginTop: 18 }}&gt;&#10;                整个行业在做的事，是把明天算得更准&#10;            &lt;/Text&gt;&#10;        &lt;/Box&gt;&#10;&#10;        &lt;Box style={{ height: 1, background: 'rgba(255,255,255,0.10)', marginLeft: 140, marginRight: 140 }} /&gt;&#10;&#10;        &lt;Box style={{ flex: 1, flexDirection: 'column', alignItems: 'center', justifyContent: 'center' }}&gt;&#10;            &lt;Text style={{ fontFamily: 'Consolas', fontSize: 14, color: '#F5A524', letterSpacing: 6 }}&gt;&#10;                BUT&#10;            &lt;/Text&gt;&#10;            &lt;Text style={{ fontFamily: 'Microsoft YaHei', fontSize: 50, fontWeight: 'bold', color: '#FFFFFF', lineHeight: 1.3, marginTop: 20, textAlign: 'center' }}&gt;&#10;                预报越准，这个产品越难成立。&#10;            &lt;/Text&gt;&#10;            &lt;Text style={{ fontFamily: 'Microsoft YaHei', fontSize: 21, color: 'rgba(255,255,255,0.60)', lineHeight: 1.5, marginTop: 24 }}&gt;&#10;                人人都挑下雨那天来买。&#10;            &lt;/Text&gt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4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矩形 19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197" name="矩形 196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98" name="文本框 197" descr="{&quot;isTemplate&quot;:true,&quot;type&quot;:&quot;text&quot;}"/>
          <p:cNvSpPr txBox="1"/>
          <p:nvPr/>
        </p:nvSpPr>
        <p:spPr>
          <a:xfrm>
            <a:off x="914400" y="409575"/>
            <a:ext cx="52959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AI + </a:t>
            </a: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天气，几乎所有人都在做预测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9" name="文本框 198" descr="{&quot;isTemplate&quot;:true,&quot;type&quot;:&quot;text&quot;}"/>
          <p:cNvSpPr txBox="1"/>
          <p:nvPr/>
        </p:nvSpPr>
        <p:spPr>
          <a:xfrm>
            <a:off x="9753600" y="571500"/>
            <a:ext cx="1752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01 / THE INDUSTRY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3686175" y="1447800"/>
            <a:ext cx="4819650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 spc="37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ECMWF · GFS · ICON</a:t>
            </a:r>
            <a:endParaRPr lang="en-US" sz="3150" b="1" spc="37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01" name="文本框 200" descr="{&quot;isTemplate&quot;:true,&quot;type&quot;:&quot;text&quot;}"/>
          <p:cNvSpPr txBox="1"/>
          <p:nvPr/>
        </p:nvSpPr>
        <p:spPr>
          <a:xfrm>
            <a:off x="4562475" y="2105025"/>
            <a:ext cx="3076575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整个行业在做的事，是把明天算得更准</a:t>
            </a:r>
            <a:endParaRPr lang="zh-CN" sz="1425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2" name="矩形 201"/>
          <p:cNvSpPr/>
          <p:nvPr/>
        </p:nvSpPr>
        <p:spPr>
          <a:xfrm>
            <a:off x="2019300" y="2743200"/>
            <a:ext cx="8153400" cy="9525"/>
          </a:xfrm>
          <a:prstGeom prst="rect">
            <a:avLst/>
          </a:prstGeom>
          <a:solidFill>
            <a:srgbClr val="FFFFFF">
              <a:alpha val="10000"/>
            </a:srgbClr>
          </a:solidFill>
        </p:spPr>
        <p:txBody>
          <a:bodyPr/>
          <a:p/>
        </p:txBody>
      </p:sp>
      <p:sp>
        <p:nvSpPr>
          <p:cNvPr id="203" name="文本框 202" descr="{&quot;isTemplate&quot;:true,&quot;type&quot;:&quot;text&quot;}"/>
          <p:cNvSpPr txBox="1"/>
          <p:nvPr/>
        </p:nvSpPr>
        <p:spPr>
          <a:xfrm>
            <a:off x="5417185" y="113665"/>
            <a:ext cx="1356995" cy="6630670"/>
          </a:xfrm>
          <a:prstGeom prst="rect">
            <a:avLst/>
          </a:prstGeom>
        </p:spPr>
        <p:txBody>
          <a:bodyPr wrap="none" lIns="0" tIns="0" rIns="0" bIns="0" anchor="ctr" anchorCtr="0"/>
          <a:p>
            <a:pPr algn="ctr">
              <a:lnSpc>
                <a:spcPct val="110000"/>
              </a:lnSpc>
            </a:pPr>
            <a:r>
              <a:rPr lang="en-US" sz="3600" spc="450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BUT</a:t>
            </a:r>
            <a:endParaRPr lang="en-US" sz="3600" spc="450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04" name="文本框 203" descr="{&quot;isTemplate&quot;:true,&quot;type&quot;:&quot;text&quot;}"/>
          <p:cNvSpPr txBox="1"/>
          <p:nvPr/>
        </p:nvSpPr>
        <p:spPr>
          <a:xfrm>
            <a:off x="2762250" y="4029075"/>
            <a:ext cx="6667500" cy="7429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3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预报越准，这个产品越难成立。</a:t>
            </a:r>
            <a:endParaRPr lang="zh-CN" sz="3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5" name="文本框 204" descr="{&quot;isTemplate&quot;:true,&quot;type&quot;:&quot;text&quot;}"/>
          <p:cNvSpPr txBox="1"/>
          <p:nvPr/>
        </p:nvSpPr>
        <p:spPr>
          <a:xfrm>
            <a:off x="5000625" y="5000625"/>
            <a:ext cx="2200275" cy="3619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人人都挑下雨那天来买。</a:t>
            </a:r>
            <a:endParaRPr lang="zh-CN" sz="1575">
              <a:solidFill>
                <a:srgbClr val="FFFFFF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" name="文本框 206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05 / 19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08" name="TextBox 207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AI plus weather: almost everyone is forecasting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  <p:sp>
        <p:nvSpPr>
          <p:cNvPr id="209" name="TextBox 208"/>
          <p:cNvSpPr txBox="1"/>
          <p:nvPr/>
        </p:nvSpPr>
        <p:spPr>
          <a:xfrm>
            <a:off x="1188720" y="5577840"/>
            <a:ext cx="9811512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5000"/>
              </a:lnSpc>
            </a:pPr>
            <a:r>
              <a:rPr sz="1250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所以保单只能「先买、后下雨」—— 判定看的是买入之后的增量，不是当天累计。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208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所以我们根本不问「你损失了多少」&#10;        &lt;/Text&gt;&#10;        &lt;Box style={{ flex: 1 }} /&gt;&#10;        &lt;Text style={{ fontFamily: 'Consolas', fontSize: 16, color: 'rgba(255,255,255,0.34)', letterSpacing: 2 }}&gt;&#10;            04 / THE TURN&#10;        &lt;/Text&gt;&#10;    &lt;/Box&gt;&#10;&#10;    &lt;Box style={{ height: 540, flexDirection: 'column' }}&gt;&#10;&#10;        &lt;Box style={{ height: 118, background: 'rgba(45,127,249,0.10)', border: '1px solid rgba(45,127,249,0.30)', borderRadius: 6, padding: '0 32px', flexDirection: 'row', alignItems: 'center' }}&gt;&#10;            &lt;Text style={{ fontFamily: 'Microsoft YaHei', fontSize: 30, fontWeight: 'bold', color: '#FFFFFF', lineHeight: 1.45 }}&gt;&#10;                只看一个公开数字：保单期内，这个区域下了多少雨。&#10;            &lt;/Text&gt;&#10;        &lt;/Box&gt;&#10;&#10;        &lt;Box style={{ height: 108, flexDirection: 'row', alignItems: 'center', justifyContent: 'space-between', marginTop: 30 }}&gt;&#10;            &lt;Box style={{ width: 196, height: 84, background: 'rgba(45,127,249,0.12)', border: '1px solid #2D7FF9', borderRadius: 5, flexDirection: 'column', alignItems: 'center', justifyContent: 'center' }}&gt;&#10;                &lt;Text style={{ fontFamily: 'Consolas', fontSize: 12, color: '#22D3EE', letterSpacing: 2 }}&gt;STEP 01&lt;/Text&gt;&#10;                &lt;Text style={{ fontFamily: 'Microsoft YaHei', fontSize: 20, fontWeight: 'bold', color: '#FFFFFF', marginTop: 4 }}&gt;投保&lt;/Text&gt;&#10;            &lt;/Box&gt;&#10;            &lt;Text style={{ fontFamily: 'Consolas', fontSize: 22, color: '#2D7FF9' }}&gt;→&lt;/Text&gt;&#10;            &lt;Box style={{ width: 196, height: 84, background: 'rgba(255,255,255,0.04)', border: '1px solid rgba(255,255,255,0.14)', borderRadius: 5, flexDirection: 'column', alignItems: 'center', justifyContent: 'center' }}&gt;&#10;                &lt;Text style={{ fontFamily: 'Consolas', fontSize: 12, color: '#22D3EE', letterSpacing: 2 }}&gt;STEP 02&lt;/Text&gt;&#10;                &lt;Text style={{ fontFamily: 'Microsoft YaHei', fontSize: 20, fontWeight: 'bold', color: '#FFFFFF', marginTop: 4 }}&gt;喂价&lt;/Text&gt;&#10;            &lt;/Box&gt;&#10;            &lt;Text style={{ fontFamily: 'Consolas', fontSize: 22, color: '#2D7FF9' }}&gt;→&lt;/Text&gt;&#10;            &lt;Box style={{ width: 196, height: 84, background: 'rgba(255,255,255,0.04)', border: '1px solid rgba(255,255,255,0.14)', borderRadius: 5, flexDirection: 'column', alignItems: 'center', justifyContent: 'center' }}&gt;&#10;                &lt;Text style={{ fontFamily: 'Consolas', fontSize: 12, color: '#22D3EE', letterSpacing: 2 }}&gt;STEP 03&lt;/Text&gt;&#10;                &lt;Text style={{ fontFamily: 'Microsoft YaHei', fontSize: 20, fontWeight: 'bold', color: '#FFFFFF', marginTop: 4 }}&gt;判定&lt;/Text&gt;&#10;            &lt;/Box&gt;&#10;            &lt;Text style={{ fontFamily: 'Consolas', fontSize: 22, color: '#2D7FF9' }}&gt;→&lt;/Text&gt;&#10;            &lt;Box style={{ width: 196, height: 84, background: 'rgba(255,255,255,0.04)', border: '1px solid rgba(255,255,255,0.14)', borderRadius: 5, flexDirection: 'column', alignItems: 'center', justifyContent: 'center' }}&gt;&#10;                &lt;Text style={{ fontFamily: 'Consolas', fontSize: 12, color: '#22D3EE', letterSpacing: 2 }}&gt;STEP 04&lt;/Text&gt;&#10;                &lt;Text style={{ fontFamily: 'Microsoft YaHei', fontSize: 20, fontWeight: 'bold', color: '#FFFFFF', marginTop: 4 }}&gt;赔付&lt;/Text&gt;&#10;            &lt;/Box&gt;&#10;            &lt;Text style={{ fontFamily: 'Consolas', fontSize: 22, color: '#2D7FF9' }}&gt;→&lt;/Text&gt;&#10;            &lt;Box style={{ width: 196, height: 84, background: 'rgba(255,255,255,0.04)', border: '1px solid rgba(255,255,255,0.14)', borderRadius: 5, flexDirection: 'column', alignItems: 'center', justifyContent: 'center' }}&gt;&#10;                &lt;Text style={{ fontFamily: 'Consolas', fontSize: 12, color: '#22D3EE', letterSpacing: 2 }}&gt;STEP 05&lt;/Text&gt;&#10;                &lt;Text style={{ fontFamily: 'Microsoft YaHei', fontSize: 20, fontWeight: 'bold', color: '#FFFFFF', marginTop: 4 }}&gt;核验&lt;/Text&gt;&#10;            &lt;/Box&gt;&#10;        &lt;/Box&gt;&#10;&#10;        &lt;Box style={{ marginTop: 30 }}&gt;&#10;            &lt;Text style={{ fontFamily: 'Microsoft YaHei', fontSize: 46, fontWeight: 'bold', color: '#22D3EE', lineHeight: 1.3 }}&gt;&#10;                定损成本，接近零。&#10;            &lt;/Text&gt;&#10;        &lt;/Box&gt;&#10;&#10;        &lt;Box style={{ marginTop: 'auto', flexDirection: 'row', gap: 16 }}&gt;&#10;            &lt;Box style={{ width: 368, borderTop: '2px solid rgba(255,255,255,0.16)', paddingTop: 10 }}&gt;&#10;                &lt;Text style={{ fontFamily: 'Microsoft YaHei', fontSize: 14, color: 'rgba(255,255,255,0.62)', lineHeight: 1.55 }}&gt;&#10;                    规则写死在合约里 —— 赔付额、阈值、保障期全是 constant，部署后连我们也改不了&#10;                &lt;/Text&gt;&#10;            &lt;/Box&gt;&#10;            &lt;Box style={{ width: 368, borderTop: '2px solid rgba(255,255,255,0.16)', paddingTop: 10 }}&gt;&#10;                &lt;Text style={{ fontFamily: 'Microsoft YaHei', fontSize: 14, color: 'rgba(255,255,255,0.62)', lineHeight: 1.55 }}&gt;&#10;                    claim() 没有任何权限修饰符 —— 任何人可触发，钱只进保单登记的骑手地址&#10;                &lt;/Text&gt;&#10;            &lt;/Box&gt;&#10;            &lt;Box style={{ width: 368, borderTop: '2px solid rgba(255,255,255,0.16)', paddingTop: 10 }}&gt;&#10;                &lt;Text style={{ fontFamily: 'Microsoft YaHei', fontSize: 14, color: 'rgba(255,255,255,0.62)', lineHeight: 1.55 }}&gt;&#10;                    保费由脚本按触发概率算出来写进链，不是手填 —— 每次改价都留一条依据哈希&#10;                &lt;/Text&gt;&#10;            &lt;/Box&gt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5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矩形 20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210" name="矩形 209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11" name="文本框 210" descr="{&quot;isTemplate&quot;:true,&quot;type&quot;:&quot;text&quot;}"/>
          <p:cNvSpPr txBox="1"/>
          <p:nvPr/>
        </p:nvSpPr>
        <p:spPr>
          <a:xfrm>
            <a:off x="914400" y="409575"/>
            <a:ext cx="54864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所以我们根本不问「你损失了多少」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2" name="文本框 211" descr="{&quot;isTemplate&quot;:true,&quot;type&quot;:&quot;text&quot;}"/>
          <p:cNvSpPr txBox="1"/>
          <p:nvPr/>
        </p:nvSpPr>
        <p:spPr>
          <a:xfrm>
            <a:off x="10163175" y="571500"/>
            <a:ext cx="1343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02 / THE TURN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13" name="圆角矩形 212"/>
          <p:cNvSpPr/>
          <p:nvPr/>
        </p:nvSpPr>
        <p:spPr>
          <a:xfrm>
            <a:off x="685800" y="1143000"/>
            <a:ext cx="10820400" cy="1123950"/>
          </a:xfrm>
          <a:prstGeom prst="roundRect">
            <a:avLst>
              <a:gd name="adj" fmla="val 5085"/>
            </a:avLst>
          </a:prstGeom>
          <a:solidFill>
            <a:srgbClr val="2D7FF9">
              <a:alpha val="10000"/>
            </a:srgbClr>
          </a:solidFill>
          <a:ln w="12700">
            <a:solidFill>
              <a:srgbClr val="2D7FF9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990600" y="1457325"/>
            <a:ext cx="68580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只看一个公开数字：保单期内，这个区域下了多少雨。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" name="圆角矩形 214"/>
          <p:cNvSpPr/>
          <p:nvPr/>
        </p:nvSpPr>
        <p:spPr>
          <a:xfrm>
            <a:off x="685800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2D7FF9">
              <a:alpha val="12000"/>
            </a:srgbClr>
          </a:solidFill>
          <a:ln w="12700">
            <a:solidFill>
              <a:srgbClr val="2D7FF9"/>
            </a:solidFill>
            <a:prstDash val="solid"/>
          </a:ln>
        </p:spPr>
        <p:txBody>
          <a:bodyPr/>
          <a:p/>
        </p:txBody>
      </p:sp>
      <p:sp>
        <p:nvSpPr>
          <p:cNvPr id="216" name="文本框 215" descr="{&quot;isTemplate&quot;:true,&quot;type&quot;:&quot;text&quot;}"/>
          <p:cNvSpPr txBox="1"/>
          <p:nvPr/>
        </p:nvSpPr>
        <p:spPr>
          <a:xfrm>
            <a:off x="1333500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01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17" name="文本框 216" descr="{&quot;isTemplate&quot;:true,&quot;type&quot;:&quot;text&quot;}"/>
          <p:cNvSpPr txBox="1"/>
          <p:nvPr/>
        </p:nvSpPr>
        <p:spPr>
          <a:xfrm>
            <a:off x="1428750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投保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8" name="文本框 217" descr="{&quot;isTemplate&quot;:true,&quot;type&quot;:&quot;text&quot;}"/>
          <p:cNvSpPr txBox="1"/>
          <p:nvPr/>
        </p:nvSpPr>
        <p:spPr>
          <a:xfrm>
            <a:off x="2676525" y="2943225"/>
            <a:ext cx="1238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→</a:t>
            </a:r>
            <a:endParaRPr sz="1650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19" name="圆角矩形 218"/>
          <p:cNvSpPr/>
          <p:nvPr/>
        </p:nvSpPr>
        <p:spPr>
          <a:xfrm>
            <a:off x="2924175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3571875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02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1" name="文本框 220" descr="{&quot;isTemplate&quot;:true,&quot;type&quot;:&quot;text&quot;}"/>
          <p:cNvSpPr txBox="1"/>
          <p:nvPr/>
        </p:nvSpPr>
        <p:spPr>
          <a:xfrm>
            <a:off x="3667125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喂价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2" name="文本框 221" descr="{&quot;isTemplate&quot;:true,&quot;type&quot;:&quot;text&quot;}"/>
          <p:cNvSpPr txBox="1"/>
          <p:nvPr/>
        </p:nvSpPr>
        <p:spPr>
          <a:xfrm>
            <a:off x="4914900" y="2943225"/>
            <a:ext cx="1238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→</a:t>
            </a:r>
            <a:endParaRPr sz="1650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3" name="圆角矩形 222"/>
          <p:cNvSpPr/>
          <p:nvPr/>
        </p:nvSpPr>
        <p:spPr>
          <a:xfrm>
            <a:off x="5162550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5810250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03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5" name="文本框 224" descr="{&quot;isTemplate&quot;:true,&quot;type&quot;:&quot;text&quot;}"/>
          <p:cNvSpPr txBox="1"/>
          <p:nvPr/>
        </p:nvSpPr>
        <p:spPr>
          <a:xfrm>
            <a:off x="5905500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判定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6" name="文本框 225" descr="{&quot;isTemplate&quot;:true,&quot;type&quot;:&quot;text&quot;}"/>
          <p:cNvSpPr txBox="1"/>
          <p:nvPr/>
        </p:nvSpPr>
        <p:spPr>
          <a:xfrm>
            <a:off x="7153275" y="2943225"/>
            <a:ext cx="1238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→</a:t>
            </a:r>
            <a:endParaRPr sz="1650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7" name="圆角矩形 226"/>
          <p:cNvSpPr/>
          <p:nvPr/>
        </p:nvSpPr>
        <p:spPr>
          <a:xfrm>
            <a:off x="7400925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8" name="文本框 227" descr="{&quot;isTemplate&quot;:true,&quot;type&quot;:&quot;text&quot;}"/>
          <p:cNvSpPr txBox="1"/>
          <p:nvPr/>
        </p:nvSpPr>
        <p:spPr>
          <a:xfrm>
            <a:off x="8048625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04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9" name="文本框 228" descr="{&quot;isTemplate&quot;:true,&quot;type&quot;:&quot;text&quot;}"/>
          <p:cNvSpPr txBox="1"/>
          <p:nvPr/>
        </p:nvSpPr>
        <p:spPr>
          <a:xfrm>
            <a:off x="8143875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赔付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9391650" y="2943225"/>
            <a:ext cx="1238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→</a:t>
            </a:r>
            <a:endParaRPr sz="1650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31" name="圆角矩形 230"/>
          <p:cNvSpPr/>
          <p:nvPr/>
        </p:nvSpPr>
        <p:spPr>
          <a:xfrm>
            <a:off x="9639300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2" name="文本框 231" descr="{&quot;isTemplate&quot;:true,&quot;type&quot;:&quot;text&quot;}"/>
          <p:cNvSpPr txBox="1"/>
          <p:nvPr/>
        </p:nvSpPr>
        <p:spPr>
          <a:xfrm>
            <a:off x="10287000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05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33" name="文本框 232" descr="{&quot;isTemplate&quot;:true,&quot;type&quot;:&quot;text&quot;}"/>
          <p:cNvSpPr txBox="1"/>
          <p:nvPr/>
        </p:nvSpPr>
        <p:spPr>
          <a:xfrm>
            <a:off x="10382250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核验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4" name="文本框 233" descr="{&quot;isTemplate&quot;:true,&quot;type&quot;:&quot;text&quot;}"/>
          <p:cNvSpPr txBox="1"/>
          <p:nvPr/>
        </p:nvSpPr>
        <p:spPr>
          <a:xfrm>
            <a:off x="685800" y="3867150"/>
            <a:ext cx="10820400" cy="685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4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定损成本，接近零。</a:t>
            </a:r>
            <a:endParaRPr lang="zh-CN" sz="34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" name="任意多边形 234"/>
          <p:cNvSpPr/>
          <p:nvPr/>
        </p:nvSpPr>
        <p:spPr>
          <a:xfrm>
            <a:off x="734695" y="4953000"/>
            <a:ext cx="3505200" cy="638175"/>
          </a:xfrm>
          <a:custGeom>
            <a:avLst/>
            <a:gdLst/>
            <a:ahLst/>
            <a:cxnLst/>
            <a:pathLst>
              <a:path w="368" h="67">
                <a:moveTo>
                  <a:pt x="0" y="0"/>
                </a:moveTo>
                <a:lnTo>
                  <a:pt x="368" y="0"/>
                </a:lnTo>
                <a:lnTo>
                  <a:pt x="368" y="2"/>
                </a:lnTo>
                <a:lnTo>
                  <a:pt x="0" y="2"/>
                </a:lnTo>
                <a:close/>
              </a:path>
            </a:pathLst>
          </a:custGeom>
          <a:solidFill>
            <a:srgbClr val="FFFFFF">
              <a:alpha val="16000"/>
            </a:srgbClr>
          </a:solidFill>
        </p:spPr>
        <p:txBody>
          <a:bodyPr/>
          <a:p/>
        </p:txBody>
      </p:sp>
      <p:sp>
        <p:nvSpPr>
          <p:cNvPr id="236" name="文本框 235" descr="{&quot;isTemplate&quot;:true,&quot;type&quot;:&quot;text&quot;}"/>
          <p:cNvSpPr txBox="1"/>
          <p:nvPr/>
        </p:nvSpPr>
        <p:spPr>
          <a:xfrm>
            <a:off x="734695" y="4953000"/>
            <a:ext cx="3505200" cy="184213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5000"/>
              </a:lnSpc>
            </a:pPr>
            <a:r>
              <a:rPr lang="zh-CN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赔付档线、档位比例、单笔上限写死在合约里；价格可以调，但每调一次都要上链，并附一条依据哈希</a:t>
            </a:r>
            <a:endParaRPr lang="zh-CN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" name="任意多边形 236"/>
          <p:cNvSpPr/>
          <p:nvPr/>
        </p:nvSpPr>
        <p:spPr>
          <a:xfrm>
            <a:off x="4343400" y="4953000"/>
            <a:ext cx="3505200" cy="638175"/>
          </a:xfrm>
          <a:custGeom>
            <a:avLst/>
            <a:gdLst/>
            <a:ahLst/>
            <a:cxnLst/>
            <a:pathLst>
              <a:path w="368" h="67">
                <a:moveTo>
                  <a:pt x="0" y="0"/>
                </a:moveTo>
                <a:lnTo>
                  <a:pt x="368" y="0"/>
                </a:lnTo>
                <a:lnTo>
                  <a:pt x="368" y="2"/>
                </a:lnTo>
                <a:lnTo>
                  <a:pt x="0" y="2"/>
                </a:lnTo>
                <a:close/>
              </a:path>
            </a:pathLst>
          </a:custGeom>
          <a:solidFill>
            <a:srgbClr val="FFFFFF">
              <a:alpha val="16000"/>
            </a:srgbClr>
          </a:solidFill>
        </p:spPr>
        <p:txBody>
          <a:bodyPr/>
          <a:p/>
        </p:txBody>
      </p:sp>
      <p:sp>
        <p:nvSpPr>
          <p:cNvPr id="238" name="文本框 237" descr="{&quot;isTemplate&quot;:true,&quot;type&quot;:&quot;text&quot;}"/>
          <p:cNvSpPr txBox="1"/>
          <p:nvPr/>
        </p:nvSpPr>
        <p:spPr>
          <a:xfrm>
            <a:off x="4343400" y="4953000"/>
            <a:ext cx="3505200" cy="50482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5000"/>
              </a:lnSpc>
            </a:pPr>
            <a:r>
              <a:rPr lang="en-US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claim() </a:t>
            </a:r>
            <a:r>
              <a:rPr lang="zh-CN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没有任何权限修饰符</a:t>
            </a:r>
            <a:r>
              <a:rPr lang="en-US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任何人可触发，钱只进保单登记的骑手地址</a:t>
            </a:r>
            <a:endParaRPr lang="zh-CN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9" name="任意多边形 238"/>
          <p:cNvSpPr/>
          <p:nvPr/>
        </p:nvSpPr>
        <p:spPr>
          <a:xfrm>
            <a:off x="8048625" y="4943475"/>
            <a:ext cx="3505200" cy="638175"/>
          </a:xfrm>
          <a:custGeom>
            <a:avLst/>
            <a:gdLst/>
            <a:ahLst/>
            <a:cxnLst/>
            <a:pathLst>
              <a:path w="368" h="67">
                <a:moveTo>
                  <a:pt x="0" y="0"/>
                </a:moveTo>
                <a:lnTo>
                  <a:pt x="368" y="0"/>
                </a:lnTo>
                <a:lnTo>
                  <a:pt x="368" y="2"/>
                </a:lnTo>
                <a:lnTo>
                  <a:pt x="0" y="2"/>
                </a:lnTo>
                <a:close/>
              </a:path>
            </a:pathLst>
          </a:custGeom>
          <a:solidFill>
            <a:srgbClr val="FFFFFF">
              <a:alpha val="16000"/>
            </a:srgbClr>
          </a:solidFill>
        </p:spPr>
        <p:txBody>
          <a:bodyPr/>
          <a:p/>
        </p:txBody>
      </p:sp>
      <p:sp>
        <p:nvSpPr>
          <p:cNvPr id="240" name="文本框 239" descr="{&quot;isTemplate&quot;:true,&quot;type&quot;:&quot;text&quot;}"/>
          <p:cNvSpPr txBox="1"/>
          <p:nvPr/>
        </p:nvSpPr>
        <p:spPr>
          <a:xfrm>
            <a:off x="7990205" y="4953000"/>
            <a:ext cx="3505200" cy="50482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5000"/>
              </a:lnSpc>
            </a:pPr>
            <a:r>
              <a:rPr lang="zh-CN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保费由脚本按触发概率算出来写进链，不是手填；但判定这一环仍须有人提交，合约里没有定时器</a:t>
            </a:r>
            <a:endParaRPr lang="zh-CN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2" name="文本框 241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06 / 19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43" name="TextBox 242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So we never ask how much you lost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  <p:sp>
        <p:nvSpPr>
          <p:cNvPr id="244" name="Rectangle 243"/>
          <p:cNvSpPr/>
          <p:nvPr/>
        </p:nvSpPr>
        <p:spPr>
          <a:xfrm>
            <a:off x="4206240" y="4882896"/>
            <a:ext cx="7315" cy="1170432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7882127" y="4882896"/>
            <a:ext cx="7315" cy="1170432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一张保单，六个参数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One policy, six parameters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02 / THE POLICY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07 /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80">
                <a:solidFill>
                  <a:srgbClr val="22D3EE"/>
                </a:solidFill>
                <a:latin typeface="Consolas"/>
                <a:ea typeface="Consolas"/>
              </a:rPr>
              <a:t>POLICY SPEC · 固定规则与可配置参数分别核验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37360"/>
            <a:ext cx="3675887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901952"/>
            <a:ext cx="3200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60">
                <a:solidFill>
                  <a:srgbClr val="22D3EE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121408"/>
            <a:ext cx="32004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40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城市 · 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395728"/>
            <a:ext cx="329184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微软雅黑"/>
                <a:ea typeface="微软雅黑"/>
              </a:rPr>
              <a:t>122 个喂价区划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889504"/>
            <a:ext cx="3218688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按区划独立定价，档线按全国统一时长表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7136" y="1737360"/>
            <a:ext cx="3675887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901952"/>
            <a:ext cx="3200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60">
                <a:solidFill>
                  <a:srgbClr val="22D3EE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121408"/>
            <a:ext cx="32004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40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时长 · WINDOW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395728"/>
            <a:ext cx="329184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微软雅黑"/>
                <a:ea typeface="微软雅黑"/>
              </a:rPr>
              <a:t>12 h / 24 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889504"/>
            <a:ext cx="3218688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只用国标时段，不做更长时段的外推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48472" y="1737360"/>
            <a:ext cx="3675887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86216" y="1901952"/>
            <a:ext cx="3200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60">
                <a:solidFill>
                  <a:srgbClr val="22D3EE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86216" y="2121408"/>
            <a:ext cx="32004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40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档线 · THRESHOLD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2395728"/>
            <a:ext cx="329184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微软雅黑"/>
                <a:ea typeface="微软雅黑"/>
              </a:rPr>
              <a:t>30 / 70 mm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86216" y="2889504"/>
            <a:ext cx="3218688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12h 档；24h 为 50 / 100 mm（GB/T 28592—2012）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511296"/>
            <a:ext cx="3675887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" y="3675887"/>
            <a:ext cx="3200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60">
                <a:solidFill>
                  <a:srgbClr val="22D3EE"/>
                </a:solidFill>
                <a:latin typeface="Consolas"/>
                <a:ea typeface="Consola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" y="3895344"/>
            <a:ext cx="32004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40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给付 · PAYOUT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" y="4169663"/>
            <a:ext cx="329184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微软雅黑"/>
                <a:ea typeface="微软雅黑"/>
              </a:rPr>
              <a:t>50% / 75%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" y="4663440"/>
            <a:ext cx="3218688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越第一档赔一半，越第二档赔四分之三，单笔封顶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17136" y="3511296"/>
            <a:ext cx="3675887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3675887"/>
            <a:ext cx="3200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60">
                <a:solidFill>
                  <a:srgbClr val="22D3EE"/>
                </a:solidFill>
                <a:latin typeface="Consolas"/>
                <a:ea typeface="Consola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3895344"/>
            <a:ext cx="32004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40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单价 · PREMIUM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4169663"/>
            <a:ext cx="329184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微软雅黑"/>
                <a:ea typeface="微软雅黑"/>
              </a:rPr>
              <a:t>1.8–10.5 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4663440"/>
            <a:ext cx="3218688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236 格费率表，按区划 × 时长逐格算，不手填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48472" y="3511296"/>
            <a:ext cx="3675887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86216" y="3675887"/>
            <a:ext cx="3200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60">
                <a:solidFill>
                  <a:srgbClr val="22D3EE"/>
                </a:solidFill>
                <a:latin typeface="Consolas"/>
                <a:ea typeface="Consolas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86216" y="3895344"/>
            <a:ext cx="32004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40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结算 · SETTLE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86216" y="4169663"/>
            <a:ext cx="329184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微软雅黑"/>
                <a:ea typeface="微软雅黑"/>
              </a:rPr>
              <a:t>外部任务触发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86216" y="4663440"/>
            <a:ext cx="3218688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判定通过后由外部任务领取；无人工定损、无票据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541264"/>
            <a:ext cx="768096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22D3EE"/>
                </a:solidFill>
                <a:latin typeface="微软雅黑"/>
                <a:ea typeface="微软雅黑"/>
              </a:rPr>
              <a:t>价格、区域及运营参数可由多签调整；常量变更须重新部署。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888736"/>
            <a:ext cx="768096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46000"/>
                  </a:srgbClr>
                </a:solidFill>
                <a:latin typeface="微软雅黑"/>
                <a:ea typeface="微软雅黑"/>
              </a:rPr>
              <a:t>冷静期、暂停与准入影响投保，须核对实时配置。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5577840"/>
            <a:ext cx="2724912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参数是产品的法律边界，不是营销话术。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243" name="" descr="&lt;Slide style={{ width: 1280, height: 720, background: '#0A1422', padding: '20px 72px' }}&gt;&#13;&#10;&#13;&#10;    &lt;Box style={{ height: 100, flexDirection: 'row', alignItems: 'center', gap: 20 }}&gt;&#13;&#10;        &lt;Box style={{ width: 4, height: 30, background: 'linear-gradient(135deg, #2D7FF9 0%, #22D3EE 100%)' }} /&gt;&#13;&#10;        &lt;Text style={{ fontFamily: 'Microsoft YaHei', fontSize: 36, fontWeight: 'bold', color: '#FFFFFF', lineHeight: 1.25 }}&gt;&#13;&#10;            三条链上证据，两种相反的结论&#13;&#10;        &lt;/Text&gt;&#13;&#10;        &lt;Box style={{ flex: 1 }} /&gt;&#13;&#10;        &lt;Text style={{ fontFamily: 'Consolas', fontSize: 16, color: 'rgba(255,255,255,0.34)', letterSpacing: 2 }}&gt;&#13;&#10;            05 / EVIDENCE&#13;&#10;        &lt;/Text&gt;&#13;&#10;    &lt;/Box&gt;&#13;&#10;&#13;&#10;    &lt;Box style={{ height: 540, flexDirection: 'row', gap: 26 }}&gt;&#13;&#10;&#13;&#10;        &lt;Box style={{ width: 605, height: 540, flexDirection: 'column', overflow: 'hidden' }}&gt;&#13;&#10;            &lt;Text style={{ fontFamily: 'Consolas', fontSize: 15, color: '#22D3EE', letterSpacing: 4 }}&gt;&#13;&#10;                PAYOUT PER CLAIM&#13;&#10;            &lt;/Text&gt;&#13;&#10;&#13;&#10;            &lt;Box style={{ flexDirection: 'row', alignItems: 'flex-end', gap: 12, marginTop: 8 }}&gt;&#13;&#10;                &lt;Text style={{ fontFamily: 'Consolas', fontSize: 104, fontWeight: 'bold', color: '#F5A524', lineHeight: 1.0 }}&gt;&#13;&#10;                    0.01&#13;&#10;                &lt;/Text&gt;&#13;&#10;                &lt;Text style={{ fontFamily: 'Consolas', fontSize: 30, color: 'rgba(255,255,255,0.50)', lineHeight: 1.6 }}&gt;&#13;&#10;                    ETH&#13;&#10;                &lt;/Text&gt;&#13;&#10;            &lt;/Box&gt;&#13;&#10;&#13;&#10;            &lt;Text style={{ fontFamily: 'Microsoft YaHei', fontSize: 20, color: 'rgba(255,255,255,0.72)', lineHeight: 1.55, marginTop: 12 }}&gt;&#13;&#10;                触发到到账是分钟级。含判定与赔付的链上总成本约 0.00025 ETH，只占赔付额的 2.5% —— 传统保险的钱花在「查」，我们的钱花在「给」。&#13;&#10;            &lt;/Text&gt;&#13;&#10;&#13;&#10;            &lt;Box style={{ height: 1, background: 'rgba(255,255,255,0.14)', marginTop: 18, marginBottom: 16 }} /&gt;&#13;&#10;&#13;&#10;            &lt;Box style={{ flexDirection: 'column', gap: 10 }}&gt;&#13;&#10;&#13;&#10;                &lt;Box style={{ height: 58, background: 'rgba(255,255,255,0.04)', borderRadius: 4, padding: '0 16px', flexDirection: 'row', alignItems: 'center', border: '1px solid rgba(255,255,255,0.10)' }}&gt;&#13;&#10;                    &lt;Box style={{ width: 3, height: 30, background: '#22D3EE', marginRight: 14 }} /&gt;&#13;&#10;                    &lt;Box style={{ flexDirection: 'column', flex: 1 }}&gt;&#13;&#10;                        &lt;Text style={{ fontFamily: 'Microsoft YaHei', fontSize: 17, fontWeight: 'bold', color: '#FFFFFF' }}&gt;保单 #0 · 上海 · 真实气象数据&lt;/Text&gt;&#13;&#10;                        &lt;Text style={{ fontFamily: 'Microsoft YaHei', fontSize: 14, color: 'rgba(255,255,255,0.54)', marginTop: 3 }}&gt;链上增量 34 mm 低于 50 mm 阈值&lt;/Text&gt;&#13;&#10;                    &lt;/Box&gt;&#13;&#10;                    &lt;Text style={{ fontFamily: 'Microsoft YaHei', fontSize: 17, fontWeight: 'bold', color: '#FFFFFF' }}&gt;DENY 95&lt;/Text&gt;&#13;&#10;                    &lt;Text style={{ fontFamily: 'Microsoft YaHei', fontSize: 15, color: 'rgba(255,255,255,0.60)', width: 62, textAlign: 'right' }}&gt;不赔&lt;/Text&gt;&#13;&#10;                &lt;/Box&gt;&#13;&#10;&#13;&#10;                &lt;Box style={{ height: 58, background: 'rgba(255,255,255,0.04)', borderRadius: 4, padding: '0 16px', flexDirection: 'row', alignItems: 'center', border: '1px solid rgba(255,255,255,0.10)' }}&gt;&#13;&#10;                    &lt;Box style={{ width: 3, height: 30, background: '#22D3EE', marginRight: 14 }} /&gt;&#13;&#10;                    &lt;Box style={{ flexDirection: 'column', flex: 1 }}&gt;&#13;&#10;                        &lt;Text style={{ fontFamily: 'Microsoft YaHei', fontSize: 17, fontWeight: 'bold', color: '#FFFFFF' }}&gt;保单 #1 · 成都 · 模拟暴雨&lt;/Text&gt;&#13;&#10;                        &lt;Text style={{ fontFamily: 'Microsoft YaHei', fontSize: 14, color: 'rgba(255,255,255,0.54)', marginTop: 3 }}&gt;6 → 120 mm，链上永久标记 simulated&lt;/Text&gt;&#13;&#10;                    &lt;/Box&gt;&#13;&#10;                    &lt;Text style={{ fontFamily: 'Microsoft YaHei', fontSize: 17, fontWeight: 'bold', color: '#22D3EE' }}&gt;PAY 94&lt;/Text&gt;&#13;&#10;                    &lt;Text style={{ fontFamily: 'Microsoft YaHei', fontSize: 15, color: 'rgba(255,255,255,0.82)', width: 62, textAlign: 'right' }}&gt;赔付&lt;/Text&gt;&#13;&#10;                &lt;/Box&gt;&#13;&#10;&#13;&#10;                &lt;Box style={{ height: 58, background: 'rgba(255,255,255,0.04)', borderRadius: 4, padding: '0 16px', flexDirection: 'row', alignItems: 'center', border: '1px solid rgba(255,255,255,0.10)' }}&gt;&#13;&#10;                    &lt;Box style={{ width: 3, height: 30, background: '#22D3EE', marginRight: 14 }} /&gt;&#13;&#10;                    &lt;Box style={{ flexDirection: 'column', flex: 1 }}&gt;&#13;&#10;                        &lt;Text style={{ fontFamily: 'Microsoft YaHei', fontSize: 17, fontWeight: 'bold', color: '#FFFFFF' }}&gt;历史回放 · 武汉 2024-06-27 至 29&lt;/Text&gt;&#13;&#10;                        &lt;Text style={{ fontFamily: 'Microsoft YaHei', fontSize: 14, color: 'rgba(255,255,255,0.54)', marginTop: 3 }}&gt;真实历史累计 230 mm，simulated = false&lt;/Text&gt;&#13;&#10;                    &lt;/Box&gt;&#13;&#10;                    &lt;Text style={{ fontFamily: 'Microsoft YaHei', fontSize: 17, fontWeight: 'bold', color: '#22D3EE' }}&gt;PAY 76&lt;/Text&gt;&#13;&#10;                    &lt;Text style={{ fontFamily: 'Microsoft YaHei', fontSize: 15, color: 'rgba(255,255,255,0.82)', width: 62, textAlign: 'right' }}&gt;赔付&lt;/Text&gt;&#13;&#10;                &lt;/Box&gt;&#13;&#10;&#13;&#10;            &lt;/Box&gt;&#13;&#10;&#13;&#10;            &lt;Box style={{ marginTop: 'auto', flexDirection: 'row', alignItems: 'center', gap: 10 }}&gt;&#13;&#10;                &lt;Text style={{ fontFamily: 'Consolas', fontSize: 14, color: 'rgba(255,255,255,0.44)' }}&gt;&#13;&#10;                    Sepolia · 合约 0x89e7C942535930B61cB61631051E8b0bD670596a · 运行时代码 10,758 字节&#13;&#10;                &lt;/Text&gt;&#13;&#10;            &lt;/Box&gt;&#13;&#10;        &lt;/Box&gt;&#13;&#10;&#13;&#10;        &lt;Box style={{ width: 505, height: 540, flexDirection: 'column', overflow: 'hidden' }}&gt;&#13;&#10;            &lt;Text style={{ fontFamily: 'Consolas', fontSize: 15, color: '#22D3EE', letterSpacing: 4 }}&gt;&#13;&#10;                LIVE VERIFIER&#13;&#10;            &lt;/Text&gt;&#13;&#10;&#13;&#10;            &lt;Box style={{ flex: 1, minHeight: 0, marginTop: 12, borderRadius: 6, overflow: 'hidden', border: '1px solid rgba(255,255,255,0.14)' }}&gt;&#13;&#10;                &lt;Image src=&quot;assets/shot_verifier.png&quot; style={{ width: '100%', height: '100%', objectFit: 'cover' }} /&gt;&#13;&#10;            &lt;/Box&gt;&#13;&#10;&#13;&#10;            &lt;Text style={{ fontFamily: 'Microsoft YaHei', fontSize: 17, color: 'rgba(255,255,255,0.80)', lineHeight: 1.5, marginTop: 14 }}&gt;&#13;&#10;                核验台粘一个地址或哈希，就能读到：&lt;span style={{ color: '#FFFFFF', fontWeight: 'bold' }}&gt;这是不是合约、代码多长、事件逐条说了什么&lt;/span&gt; —— 不依赖任何在线区块浏览器。&#13;&#10;            &lt;/Text&gt;&#13;&#10;            &lt;Text style={{ fontFamily: 'Microsoft YaHei', fontSize: 14, color: 'rgba(255,255,255,0.44)', marginTop: 8 }}&gt;&#13;&#10;                截图为 2026-10-07 线上实读，现场可当场重查&#13;&#10;            &lt;/Text&gt;&#13;&#10;        &lt;/Box&gt;&#13;&#10;&#13;&#10;    &lt;/Box&gt;&#13;&#10;&#13;&#10;    &lt;Box style={{ height: 40, flexDirection: 'row', alignItems: 'center' }}&gt;&#13;&#10;        &lt;Text style={{ fontFamily: 'Microsoft YaHei', fontSize: 15, color: 'rgba(255,255,255,0.40)' }}&gt;雨证 · RainProof&lt;/Text&gt;&#13;&#10;        &lt;Box style={{ flex: 1 }} /&gt;&#13;&#10;        &lt;Text style={{ fontFamily: 'Consolas', fontSize: 15, color: 'rgba(255,255,255,0.40)' }}&gt;06 / 11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矩形 24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245" name="矩形 244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46" name="文本框 245" descr="{&quot;isTemplate&quot;:true,&quot;type&quot;:&quot;text&quot;}"/>
          <p:cNvSpPr txBox="1"/>
          <p:nvPr/>
        </p:nvSpPr>
        <p:spPr>
          <a:xfrm>
            <a:off x="914400" y="409575"/>
            <a:ext cx="48006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三条链上证据，逐项核验读数与结论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7" name="文本框 246" descr="{&quot;isTemplate&quot;:true,&quot;type&quot;:&quot;text&quot;}"/>
          <p:cNvSpPr txBox="1"/>
          <p:nvPr/>
        </p:nvSpPr>
        <p:spPr>
          <a:xfrm>
            <a:off x="10163175" y="571500"/>
            <a:ext cx="1343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02 / EVIDENCE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48" name="文本框 247" descr="{&quot;isTemplate&quot;:true,&quot;type&quot;:&quot;text&quot;}"/>
          <p:cNvSpPr txBox="1"/>
          <p:nvPr/>
        </p:nvSpPr>
        <p:spPr>
          <a:xfrm>
            <a:off x="685800" y="1143000"/>
            <a:ext cx="5762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额度基数 · 最高给付 75 元</a:t>
            </a:r>
            <a:endParaRPr lang="en-US" sz="1125" spc="3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49" name="文本框 248" descr="{&quot;isTemplate&quot;:true,&quot;type&quot;:&quot;text&quot;}"/>
          <p:cNvSpPr txBox="1"/>
          <p:nvPr/>
        </p:nvSpPr>
        <p:spPr>
          <a:xfrm>
            <a:off x="685800" y="1390650"/>
            <a:ext cx="2181225" cy="11906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0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100</a:t>
            </a:r>
            <a:endParaRPr lang="en-US" sz="780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2981325" y="2028825"/>
            <a:ext cx="47625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2250">
                <a:solidFill>
                  <a:srgbClr val="FFFFFF">
                    <a:alpha val="50000"/>
                  </a:srgbClr>
                </a:solidFill>
                <a:latin typeface="Consolas" panose="020B0609020204030204"/>
                <a:ea typeface="Consolas" panose="020B0609020204030204"/>
              </a:rPr>
              <a:t>元</a:t>
            </a:r>
            <a:endParaRPr lang="en-US" sz="2250">
              <a:solidFill>
                <a:srgbClr val="FFFFFF">
                  <a:alpha val="5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51" name="文本框 250" descr="{&quot;isTemplate&quot;:true,&quot;type&quot;:&quot;text&quot;}"/>
          <p:cNvSpPr txBox="1"/>
          <p:nvPr/>
        </p:nvSpPr>
        <p:spPr>
          <a:xfrm>
            <a:off x="685800" y="2562225"/>
            <a:ext cx="5762625" cy="1066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外部任务触发到账，不承诺分钟级。判定与赔付全程上链留痕；链上成本按 BOT 计价，批量摊薄后每单不足一元 —— 传统保险的钱花在「查」，我们的钱花在「给」。</a:t>
            </a:r>
            <a:r>
              <a:rPr lang="en-US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500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2" name="矩形 251"/>
          <p:cNvSpPr/>
          <p:nvPr/>
        </p:nvSpPr>
        <p:spPr>
          <a:xfrm>
            <a:off x="685800" y="4002405"/>
            <a:ext cx="5762625" cy="9525"/>
          </a:xfrm>
          <a:prstGeom prst="rect">
            <a:avLst/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253" name="圆角矩形 252"/>
          <p:cNvSpPr/>
          <p:nvPr>
            <p:custDataLst>
              <p:tags r:id="rId1"/>
            </p:custDataLst>
          </p:nvPr>
        </p:nvSpPr>
        <p:spPr>
          <a:xfrm>
            <a:off x="674370" y="4238625"/>
            <a:ext cx="5762625" cy="552450"/>
          </a:xfrm>
          <a:prstGeom prst="roundRect">
            <a:avLst>
              <a:gd name="adj" fmla="val 689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4" name="矩形 253"/>
          <p:cNvSpPr/>
          <p:nvPr>
            <p:custDataLst>
              <p:tags r:id="rId2"/>
            </p:custDataLst>
          </p:nvPr>
        </p:nvSpPr>
        <p:spPr>
          <a:xfrm>
            <a:off x="826770" y="4371975"/>
            <a:ext cx="28575" cy="285750"/>
          </a:xfrm>
          <a:prstGeom prst="rect">
            <a:avLst/>
          </a:prstGeom>
          <a:solidFill>
            <a:srgbClr val="22D3EE"/>
          </a:solidFill>
        </p:spPr>
        <p:txBody>
          <a:bodyPr/>
          <a:p/>
        </p:txBody>
      </p:sp>
      <p:sp>
        <p:nvSpPr>
          <p:cNvPr id="255" name="文本框 254" descr="{&quot;isTemplate&quot;:true,&quot;type&quot;:&quot;text&quot;}"/>
          <p:cNvSpPr txBox="1"/>
          <p:nvPr>
            <p:custDataLst>
              <p:tags r:id="rId3"/>
            </p:custDataLst>
          </p:nvPr>
        </p:nvSpPr>
        <p:spPr>
          <a:xfrm>
            <a:off x="988695" y="4324350"/>
            <a:ext cx="39909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保单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#0 · 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上海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真实气象数据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6" name="文本框 255" descr="{&quot;isTemplate&quot;:true,&quot;type&quot;:&quot;text&quot;}"/>
          <p:cNvSpPr txBox="1"/>
          <p:nvPr>
            <p:custDataLst>
              <p:tags r:id="rId4"/>
            </p:custDataLst>
          </p:nvPr>
        </p:nvSpPr>
        <p:spPr>
          <a:xfrm>
            <a:off x="988695" y="4552950"/>
            <a:ext cx="3990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买入 172 mm，判定 172 mm；增量 0 mm</a:t>
            </a:r>
            <a:r>
              <a:rPr lang="en-US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050">
              <a:solidFill>
                <a:srgbClr val="FFFFFF">
                  <a:alpha val="5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" name="文本框 256" descr="{&quot;isTemplate&quot;:true,&quot;type&quot;:&quot;text&quot;}"/>
          <p:cNvSpPr txBox="1"/>
          <p:nvPr>
            <p:custDataLst>
              <p:tags r:id="rId5"/>
            </p:custDataLst>
          </p:nvPr>
        </p:nvSpPr>
        <p:spPr>
          <a:xfrm>
            <a:off x="4979670" y="4419600"/>
            <a:ext cx="7143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DENY 95</a:t>
            </a:r>
            <a:endParaRPr lang="en-US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8" name="文本框 257" descr="{&quot;isTemplate&quot;:true,&quot;type&quot;:&quot;text&quot;}"/>
          <p:cNvSpPr txBox="1"/>
          <p:nvPr>
            <p:custDataLst>
              <p:tags r:id="rId6"/>
            </p:custDataLst>
          </p:nvPr>
        </p:nvSpPr>
        <p:spPr>
          <a:xfrm>
            <a:off x="5694045" y="4429125"/>
            <a:ext cx="59055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不赔</a:t>
            </a:r>
            <a:endParaRPr lang="zh-CN" sz="1125">
              <a:solidFill>
                <a:srgbClr val="FFFFFF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9" name="圆角矩形 258"/>
          <p:cNvSpPr/>
          <p:nvPr>
            <p:custDataLst>
              <p:tags r:id="rId7"/>
            </p:custDataLst>
          </p:nvPr>
        </p:nvSpPr>
        <p:spPr>
          <a:xfrm>
            <a:off x="674370" y="4886325"/>
            <a:ext cx="5762625" cy="552450"/>
          </a:xfrm>
          <a:prstGeom prst="roundRect">
            <a:avLst>
              <a:gd name="adj" fmla="val 689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0" name="矩形 259"/>
          <p:cNvSpPr/>
          <p:nvPr>
            <p:custDataLst>
              <p:tags r:id="rId8"/>
            </p:custDataLst>
          </p:nvPr>
        </p:nvSpPr>
        <p:spPr>
          <a:xfrm>
            <a:off x="826770" y="5019675"/>
            <a:ext cx="28575" cy="285750"/>
          </a:xfrm>
          <a:prstGeom prst="rect">
            <a:avLst/>
          </a:prstGeom>
          <a:solidFill>
            <a:srgbClr val="22D3EE"/>
          </a:solidFill>
        </p:spPr>
        <p:txBody>
          <a:bodyPr/>
          <a:p/>
        </p:txBody>
      </p:sp>
      <p:sp>
        <p:nvSpPr>
          <p:cNvPr id="261" name="文本框 260" descr="{&quot;isTemplate&quot;:true,&quot;type&quot;:&quot;text&quot;}"/>
          <p:cNvSpPr txBox="1"/>
          <p:nvPr>
            <p:custDataLst>
              <p:tags r:id="rId9"/>
            </p:custDataLst>
          </p:nvPr>
        </p:nvSpPr>
        <p:spPr>
          <a:xfrm>
            <a:off x="988695" y="4972050"/>
            <a:ext cx="41433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湖北 118 区划 · 逐条开通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2" name="文本框 261" descr="{&quot;isTemplate&quot;:true,&quot;type&quot;:&quot;text&quot;}"/>
          <p:cNvSpPr txBox="1"/>
          <p:nvPr>
            <p:custDataLst>
              <p:tags r:id="rId10"/>
            </p:custDataLst>
          </p:nvPr>
        </p:nvSpPr>
        <p:spPr>
          <a:xfrm>
            <a:off x="988695" y="5200650"/>
            <a:ext cx="41433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118 条注册事件 + 118 条首笔喂价，全部可核验</a:t>
            </a: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en-US" sz="1050">
              <a:solidFill>
                <a:srgbClr val="FFFFFF">
                  <a:alpha val="5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3" name="文本框 262" descr="{&quot;isTemplate&quot;:true,&quot;type&quot;:&quot;text&quot;}"/>
          <p:cNvSpPr txBox="1"/>
          <p:nvPr>
            <p:custDataLst>
              <p:tags r:id="rId11"/>
            </p:custDataLst>
          </p:nvPr>
        </p:nvSpPr>
        <p:spPr>
          <a:xfrm>
            <a:off x="5132070" y="5067300"/>
            <a:ext cx="5619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118</a:t>
            </a:r>
            <a:endParaRPr lang="en-US" sz="12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4" name="文本框 263" descr="{&quot;isTemplate&quot;:true,&quot;type&quot;:&quot;text&quot;}"/>
          <p:cNvSpPr txBox="1"/>
          <p:nvPr>
            <p:custDataLst>
              <p:tags r:id="rId12"/>
            </p:custDataLst>
          </p:nvPr>
        </p:nvSpPr>
        <p:spPr>
          <a:xfrm>
            <a:off x="5694045" y="5076825"/>
            <a:ext cx="59055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已开通</a:t>
            </a:r>
            <a:endParaRPr lang="zh-CN" sz="1125">
              <a:solidFill>
                <a:srgbClr val="FFFFFF">
                  <a:alpha val="8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5" name="圆角矩形 264"/>
          <p:cNvSpPr/>
          <p:nvPr>
            <p:custDataLst>
              <p:tags r:id="rId13"/>
            </p:custDataLst>
          </p:nvPr>
        </p:nvSpPr>
        <p:spPr>
          <a:xfrm>
            <a:off x="674370" y="5534025"/>
            <a:ext cx="5762625" cy="552450"/>
          </a:xfrm>
          <a:prstGeom prst="roundRect">
            <a:avLst>
              <a:gd name="adj" fmla="val 689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6" name="矩形 265"/>
          <p:cNvSpPr/>
          <p:nvPr>
            <p:custDataLst>
              <p:tags r:id="rId14"/>
            </p:custDataLst>
          </p:nvPr>
        </p:nvSpPr>
        <p:spPr>
          <a:xfrm>
            <a:off x="826770" y="5667375"/>
            <a:ext cx="28575" cy="285750"/>
          </a:xfrm>
          <a:prstGeom prst="rect">
            <a:avLst/>
          </a:prstGeom>
          <a:solidFill>
            <a:srgbClr val="22D3EE"/>
          </a:solidFill>
        </p:spPr>
        <p:txBody>
          <a:bodyPr/>
          <a:p/>
        </p:txBody>
      </p:sp>
      <p:sp>
        <p:nvSpPr>
          <p:cNvPr id="267" name="文本框 266" descr="{&quot;isTemplate&quot;:true,&quot;type&quot;:&quot;text&quot;}"/>
          <p:cNvSpPr txBox="1"/>
          <p:nvPr>
            <p:custDataLst>
              <p:tags r:id="rId15"/>
            </p:custDataLst>
          </p:nvPr>
        </p:nvSpPr>
        <p:spPr>
          <a:xfrm>
            <a:off x="988695" y="5619750"/>
            <a:ext cx="4143375" cy="20002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全池快照 · 2026-10-27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8" name="文本框 267" descr="{&quot;isTemplate&quot;:true,&quot;type&quot;:&quot;text&quot;}"/>
          <p:cNvSpPr txBox="1"/>
          <p:nvPr>
            <p:custDataLst>
              <p:tags r:id="rId16"/>
            </p:custDataLst>
          </p:nvPr>
        </p:nvSpPr>
        <p:spPr>
          <a:xfrm>
            <a:off x="988695" y="5848350"/>
            <a:ext cx="4143375" cy="16192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资金池余额 4,958.40 元，累计赔付 0 笔</a:t>
            </a:r>
            <a:endParaRPr lang="en-US" sz="1050">
              <a:solidFill>
                <a:srgbClr val="FFFFFF">
                  <a:alpha val="5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9" name="文本框 268" descr="{&quot;isTemplate&quot;:true,&quot;type&quot;:&quot;text&quot;}"/>
          <p:cNvSpPr txBox="1"/>
          <p:nvPr>
            <p:custDataLst>
              <p:tags r:id="rId17"/>
            </p:custDataLst>
          </p:nvPr>
        </p:nvSpPr>
        <p:spPr>
          <a:xfrm>
            <a:off x="5132070" y="5715000"/>
            <a:ext cx="5619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sz="12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0" name="文本框 269" descr="{&quot;isTemplate&quot;:true,&quot;type&quot;:&quot;text&quot;}"/>
          <p:cNvSpPr txBox="1"/>
          <p:nvPr>
            <p:custDataLst>
              <p:tags r:id="rId18"/>
            </p:custDataLst>
          </p:nvPr>
        </p:nvSpPr>
        <p:spPr>
          <a:xfrm>
            <a:off x="5694045" y="5724525"/>
            <a:ext cx="59055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赔付</a:t>
            </a:r>
            <a:endParaRPr lang="zh-CN" sz="1125">
              <a:solidFill>
                <a:srgbClr val="FFFFFF">
                  <a:alpha val="8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2" name="文本框 271" descr="{&quot;isTemplate&quot;:true,&quot;type&quot;:&quot;text&quot;}"/>
          <p:cNvSpPr txBox="1"/>
          <p:nvPr/>
        </p:nvSpPr>
        <p:spPr>
          <a:xfrm>
            <a:off x="6696075" y="1143000"/>
            <a:ext cx="4810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TWO CHAINS · ONE PROCESS</a:t>
            </a:r>
            <a:endParaRPr lang="en-US" sz="1125" spc="3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73" name="圆角矩形 272"/>
          <p:cNvSpPr/>
          <p:nvPr/>
        </p:nvSpPr>
        <p:spPr>
          <a:xfrm>
            <a:off x="6696075" y="1428750"/>
            <a:ext cx="4810125" cy="3895725"/>
          </a:xfrm>
          <a:prstGeom prst="roundRect">
            <a:avLst>
              <a:gd name="adj" fmla="val 1467"/>
            </a:avLst>
          </a:prstGeom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74" name="图片 273"/>
          <p:cNvPicPr>
            <a:picLocks noChangeAspect="1"/>
          </p:cNvPicPr>
          <p:nvPr/>
        </p:nvPicPr>
        <p:blipFill>
          <a:blip r:embed="rId19"/>
          <a:srcRect/>
          <a:stretch>
            <a:fillRect/>
          </a:stretch>
        </p:blipFill>
        <p:spPr>
          <a:xfrm>
            <a:off x="6696075" y="1428750"/>
            <a:ext cx="4810125" cy="3895725"/>
          </a:xfrm>
          <a:custGeom>
            <a:avLst/>
            <a:gdLst/>
            <a:ahLst/>
            <a:cxnLst/>
            <a:pathLst>
              <a:path w="505" h="409">
                <a:moveTo>
                  <a:pt x="499" y="0"/>
                </a:moveTo>
                <a:cubicBezTo>
                  <a:pt x="502" y="0"/>
                  <a:pt x="505" y="3"/>
                  <a:pt x="505" y="6"/>
                </a:cubicBezTo>
                <a:lnTo>
                  <a:pt x="505" y="403"/>
                </a:lnTo>
                <a:cubicBezTo>
                  <a:pt x="505" y="406"/>
                  <a:pt x="502" y="409"/>
                  <a:pt x="499" y="409"/>
                </a:cubicBezTo>
                <a:lnTo>
                  <a:pt x="6" y="409"/>
                </a:lnTo>
                <a:cubicBezTo>
                  <a:pt x="3" y="409"/>
                  <a:pt x="0" y="406"/>
                  <a:pt x="0" y="403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499" y="0"/>
                </a:lnTo>
                <a:close/>
              </a:path>
            </a:pathLst>
          </a:custGeom>
        </p:spPr>
      </p:pic>
      <p:sp>
        <p:nvSpPr>
          <p:cNvPr id="275" name="文本框 274" descr="{&quot;isTemplate&quot;:true,&quot;type&quot;:&quot;text&quot;}"/>
          <p:cNvSpPr txBox="1"/>
          <p:nvPr/>
        </p:nvSpPr>
        <p:spPr>
          <a:xfrm>
            <a:off x="6696075" y="5457825"/>
            <a:ext cx="481012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核验台粘一个地址或哈希，就能读到：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这是不是合约、代码多长、事件逐条说了什么</a:t>
            </a:r>
            <a:r>
              <a:rPr lang="en-US" sz="12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2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不依赖任何在线区块浏览器。</a:t>
            </a:r>
            <a:endParaRPr lang="zh-CN" sz="127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6" name="文本框 275" descr="{&quot;isTemplate&quot;:true,&quot;type&quot;:&quot;text&quot;}"/>
          <p:cNvSpPr txBox="1"/>
          <p:nvPr/>
        </p:nvSpPr>
        <p:spPr>
          <a:xfrm>
            <a:off x="6696075" y="6124575"/>
            <a:ext cx="4810125" cy="74231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endParaRPr lang="zh-CN" sz="1600">
              <a:solidFill>
                <a:srgbClr val="FFFFFF">
                  <a:alpha val="4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8" name="文本框 277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08 / 19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79" name="TextBox 278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Three proofs, independently verifiable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99" name="" descr="演示站三格截图：链上降雨看板 / 链上动态 / 投保面板，全部直读 BOT Chain 测试网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矩形 99"/>
          <p:cNvSpPr/>
          <p:nvPr/>
        </p:nvSpPr>
        <p:spPr>
          <a:xfrm>
            <a:off x="0" y="0"/>
            <a:ext cx="12191970" cy="6858000"/>
          </a:xfrm>
          <a:solidFill>
            <a:srgbClr val="0A1422"/>
          </a:solidFill>
        </p:spPr>
        <p:txBody>
          <a:bodyPr/>
          <a:p/>
        </p:txBody>
      </p:sp>
      <p:sp>
        <p:nvSpPr>
          <p:cNvPr id="101" name="矩形 100"/>
          <p:cNvSpPr/>
          <p:nvPr/>
        </p:nvSpPr>
        <p:spPr>
          <a:xfrm>
            <a:off x="685800" y="521208"/>
            <a:ext cx="36576" cy="283464"/>
          </a:xfr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914400" y="411480"/>
            <a:ext cx="7863840" cy="512064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不用信这份 PPT，自己点一遍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10058400" y="566928"/>
            <a:ext cx="1453896" cy="192024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03 / LIVE DEMO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685800" y="1207008"/>
            <a:ext cx="5760720" cy="173736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LIVE DEMO · BOT CHAIN 968 · v5</a:t>
            </a:r>
            <a:endParaRPr lang="en-US" sz="1500" spc="4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pic>
        <p:nvPicPr>
          <p:cNvPr id="110" name="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10817352" cy="2170220"/>
          </a:xfrm>
          <a:prstGeom prst="rect">
            <a:avLst/>
          </a:prstGeom>
        </p:spPr>
      </p:pic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685800" y="3913632"/>
            <a:ext cx="3749040" cy="201168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 · 降雨看板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文本框 112" descr="{&quot;isTemplate&quot;:true,&quot;type&quot;:&quot;text&quot;}"/>
          <p:cNvSpPr txBox="1"/>
          <p:nvPr/>
        </p:nvSpPr>
        <p:spPr>
          <a:xfrm>
            <a:off x="4590288" y="3913632"/>
            <a:ext cx="3547872" cy="201168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 · 链上动态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8284464" y="3913632"/>
            <a:ext cx="3163824" cy="201168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 · 投保面板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圆角矩形 116"/>
          <p:cNvSpPr/>
          <p:nvPr/>
        </p:nvSpPr>
        <p:spPr>
          <a:xfrm>
            <a:off x="685800" y="5225288"/>
            <a:ext cx="10817352" cy="914400"/>
          </a:xfrm>
          <a:prstGeom prst="roundRect">
            <a:avLst>
              <a:gd name="adj" fmla="val 625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8" name="矩形 117"/>
          <p:cNvSpPr/>
          <p:nvPr/>
        </p:nvSpPr>
        <p:spPr>
          <a:xfrm>
            <a:off x="832104" y="5389880"/>
            <a:ext cx="27432" cy="530352"/>
          </a:xfr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10954512" y="6391656"/>
            <a:ext cx="548640" cy="173736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09 / 19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914400" y="955547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Do not trust this deck - click through it yourself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685800" y="4114800"/>
            <a:ext cx="3749039" cy="8961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2000"/>
              </a:lnSpc>
            </a:pPr>
            <a:r>
              <a:rPr sz="10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五城雨量直读链上：上海 172、武汉 84、北京 64、广州 53、成都 24 mm；24h 档线 50 / 100，成都未到第一档。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590288" y="4114800"/>
            <a:ext cx="3547872" cy="8961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2000"/>
              </a:lnSpc>
            </a:pPr>
            <a:r>
              <a:rPr sz="10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判定与赔付逐条留痕：968 上 1 张保单、0 笔赔付，123 个区划每次喂价都可核验。每条右侧都能点「核验」。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284464" y="4114800"/>
            <a:ext cx="3163824" cy="8961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2000"/>
              </a:lnSpc>
            </a:pPr>
            <a:r>
              <a:rPr sz="10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武汉 24 小时：保费 8.8 元（880 分）、档线 50 / 100 mm —— 三个数都是合约函数返回的。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05840" y="5376672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100" b="0" i="0" lang="zh-CN">
                <a:solidFill>
                  <a:srgbClr val="FFFFFF">
                    <a:alpha val="84000"/>
                  </a:srgbClr>
                </a:solidFill>
                <a:latin typeface="微软雅黑"/>
                <a:ea typeface="微软雅黑"/>
              </a:rPr>
              <a:t>三个面板读的是同一份合约。纯静态 HTML，没有后端、没有数据库 —— 浏览器直接向 968 要数：premiumOf(regionId, hours, 0, 0, 1)、entryThresholdOf(hours)，都不是页面算的。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279" name="" descr="&lt;Slide style={{ width: 1280, height: 720, background: '#0A1422', padding: '20px 72px' }}&gt;&#13;&#10;&#13;&#10;    &lt;Box style={{ height: 100, flexDirection: 'row', alignItems: 'center', gap: 20 }}&gt;&#13;&#10;        &lt;Box style={{ width: 4, height: 30, background: 'linear-gradient(135deg, #2D7FF9 0%, #22D3EE 100%)' }} /&gt;&#13;&#10;        &lt;Text style={{ fontFamily: 'Microsoft YaHei', fontSize: 36, fontWeight: 'bold', color: '#FFFFFF', lineHeight: 1.25 }}&gt;&#13;&#10;            统一定价是错的&#13;&#10;        &lt;/Text&gt;&#13;&#10;        &lt;Box style={{ flex: 1 }} /&gt;&#13;&#10;        &lt;Text style={{ fontFamily: 'Consolas', fontSize: 16, color: 'rgba(255,255,255,0.34)', letterSpacing: 2 }}&gt;&#13;&#10;            06 / ACTUARY&#13;&#10;        &lt;/Text&gt;&#13;&#10;    &lt;/Box&gt;&#13;&#10;&#13;&#10;    &lt;Box style={{ height: 540, flexDirection: 'row', gap: 26 }}&gt;&#13;&#10;&#13;&#10;        &lt;Box style={{ width: 760, height: 540, flexDirection: 'column', overflow: 'hidden' }}&gt;&#13;&#10;            &lt;Text style={{ fontFamily: 'Consolas', fontSize: 15, color: '#22D3EE', letterSpacing: 3 }}&gt;&#13;&#10;                11 YEARS · 96,432 HOURS PER CITY&#13;&#10;            &lt;/Text&gt;&#13;&#10;&#13;&#10;            &lt;Box style={{ flex: 1, minHeight: 0, marginTop: 12 }}&gt;&#13;&#10;                &lt;Chart&#13;&#10;                    style={{ width: '100%', height: '100%' }}&#13;&#10;                    chartType='barChart'&#13;&#10;                    grouping='clustered'&#13;&#10;                    title='72 小时窗口内累计降雨达到 50 mm 的概率（%）'&#13;&#10;                    titleColor='#FFFFFF'&#13;&#10;                    legendColor='rgba(255,255,255,0.62)'&#13;&#10;                    axisColor='rgba(255,255,255,0.50)'&#13;&#10;                    dataLabelColor='#FFFFFF'&#13;&#10;                    showLegend={true}&#13;&#10;                    showDataLabels={true}&#13;&#10;                    colors={['#2D7FF9', '#F5A524']}&#13;&#10;                    background='#0A1422'&#13;&#10;                    data={[&#13;&#10;                        ['城市', '72h 触发概率 (%)', '10% 保本线'],&#13;&#10;                        ['武汉', 4.756, 10],&#13;&#10;                        ['上海', 4.557, 10],&#13;&#10;                        ['北京', 2.265, 10],&#13;&#10;                        ['广州', 11.524, 10],&#13;&#10;                        ['成都', 3.719, 10],&#13;&#10;                    ]}&#13;&#10;                /&gt;&#13;&#10;            &lt;/Box&gt;&#13;&#10;&#13;&#10;        &lt;/Box&gt;&#13;&#10;&#13;&#10;        &lt;Box style={{ width: 350, height: 540, flexDirection: 'column', overflow: 'hidden' }}&gt;&#13;&#10;&#13;&#10;            &lt;Box style={{ background: 'rgba(245,165,36,0.10)', border: '1px solid rgba(245,165,36,0.40)', borderRadius: 5, padding: 16, flexDirection: 'column' }}&gt;&#13;&#10;                &lt;Text style={{ fontFamily: 'Consolas', fontSize: 15, color: '#F5A524', letterSpacing: 2 }}&gt;OUT OF BOUNDS&lt;/Text&gt;&#13;&#10;                &lt;Text style={{ fontFamily: 'Consolas', fontSize: 40, fontWeight: 'bold', color: '#F5A524', lineHeight: 1.15, marginTop: 6 }}&gt;&#13;&#10;                    11.524%&#13;&#10;                &lt;/Text&gt;&#13;&#10;                &lt;Text style={{ fontFamily: 'Microsoft YaHei', fontSize: 16, color: '#FFFFFF', lineHeight: 1.5, marginTop: 8 }}&gt;&#13;&#10;                    广州越过 10% 保本线 —— 按统一价 0.001 ETH 卖 72 小时保单，赔付率 &lt;span style={{ fontWeight: 'bold' }}&gt;115.2%&lt;/span&gt;：收 1 赔 1.15。&#13;&#10;                &lt;/Text&gt;&#13;&#10;            &lt;/Box&gt;&#13;&#10;&#13;&#10;            &lt;Box style={{ background: 'rgba(255,255,255,0.04)', border: '1px solid rgba(255,255,255,0.12)', borderRadius: 5, padding: 16, marginTop: 14, flexDirection: 'column' }}&gt;&#13;&#10;                &lt;Text style={{ fontFamily: 'Microsoft YaHei', fontSize: 17, fontWeight: 'bold', color: '#FFFFFF' }}&gt;链上现行价（ETH）&lt;/Text&gt;&#13;&#10;                &lt;Box style={{ flexDirection: 'column', gap: 7, marginTop: 10 }}&gt;&#13;&#10;                    &lt;Box style={{ flexDirection: 'row' }}&gt;&#13;&#10;                        &lt;Text style={{ fontFamily: 'Microsoft YaHei', fontSize: 16, color: 'rgba(255,255,255,0.66)', flex: 1 }}&gt;武汉 / 上海&lt;/Text&gt;&#13;&#10;                        &lt;Text style={{ fontFamily: 'Consolas', fontSize: 16, color: '#FFFFFF' }}&gt;0.0008&lt;/Text&gt;&#13;&#10;                    &lt;/Box&gt;&#13;&#10;                    &lt;Box style={{ flexDirection: 'row' }}&gt;&#13;&#10;                        &lt;Text style={{ fontFamily: 'Microsoft YaHei', fontSize: 16, color: 'rgba(255,255,255,0.66)', flex: 1 }}&gt;成都&lt;/Text&gt;&#13;&#10;                        &lt;Text style={{ fontFamily: 'Consolas', fontSize: 16, color: '#FFFFFF' }}&gt;0.0007&lt;/Text&gt;&#13;&#10;                    &lt;/Box&gt;&#13;&#10;                    &lt;Box style={{ flexDirection: 'row' }}&gt;&#13;&#10;                        &lt;Text style={{ fontFamily: 'Microsoft YaHei', fontSize: 16, color: 'rgba(255,255,255,0.66)', flex: 1 }}&gt;北京&lt;/Text&gt;&#13;&#10;                        &lt;Text style={{ fontFamily: 'Consolas', fontSize: 16, color: '#FFFFFF' }}&gt;0.0004&lt;/Text&gt;&#13;&#10;                    &lt;/Box&gt;&#13;&#10;                    &lt;Box style={{ flexDirection: 'row' }}&gt;&#13;&#10;                        &lt;Text style={{ fontFamily: 'Microsoft YaHei', fontSize: 16, color: '#F5A524', flex: 1 }}&gt;广州 · RISK_LOADED&lt;/Text&gt;&#13;&#10;                        &lt;Text style={{ fontFamily: 'Consolas', fontSize: 16, color: '#F5A524', fontWeight: 'bold' }}&gt;0.0020&lt;/Text&gt;&#13;&#10;                    &lt;/Box&gt;&#13;&#10;                &lt;/Box&gt;&#13;&#10;            &lt;/Box&gt;&#13;&#10;&#13;&#10;            &lt;Box style={{ marginTop: 'auto', borderLeft: '3px solid #2D7FF9', background: 'rgba(45,127,249,0.10)', padding: '12px 14px' }}&gt;&#13;&#10;                &lt;Text style={{ fontFamily: 'Microsoft YaHei', fontSize: 16, color: 'rgba(255,255,255,0.86)', lineHeight: 1.5 }}&gt;&#13;&#10;                    保费由脚本按「触发概率 × 赔付额 ÷ 目标赔付率 60%」算出写进合约，&lt;span style={{ color: '#FFFFFF', fontWeight: 'bold' }}&gt;不是手填的&lt;/span&gt;；每次改价都留一条带依据哈希的事件。&#13;&#10;                &lt;/Text&gt;&#13;&#10;            &lt;/Box&gt;&#13;&#10;&#13;&#10;        &lt;/Box&gt;&#13;&#10;&#13;&#10;    &lt;/Box&gt;&#13;&#10;&#13;&#10;    &lt;Box style={{ height: 40, flexDirection: 'row', alignItems: 'center' }}&gt;&#13;&#10;        &lt;Text style={{ fontFamily: 'Microsoft YaHei', fontSize: 15, color: 'rgba(255,255,255,0.40)' }}&gt;雨证 · RainProof&lt;/Text&gt;&#13;&#10;        &lt;Box style={{ flex: 1 }} /&gt;&#13;&#10;        &lt;Text style={{ fontFamily: 'Consolas', fontSize: 15, color: 'rgba(255,255,255,0.40)' }}&gt;07 / 11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矩形 27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281" name="矩形 280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82" name="文本框 281" descr="{&quot;isTemplate&quot;:true,&quot;type&quot;:&quot;text&quot;}"/>
          <p:cNvSpPr txBox="1"/>
          <p:nvPr/>
        </p:nvSpPr>
        <p:spPr>
          <a:xfrm>
            <a:off x="914400" y="409575"/>
            <a:ext cx="24003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统一定价是错的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3" name="文本框 282" descr="{&quot;isTemplate&quot;:true,&quot;type&quot;:&quot;text&quot;}"/>
          <p:cNvSpPr txBox="1"/>
          <p:nvPr/>
        </p:nvSpPr>
        <p:spPr>
          <a:xfrm>
            <a:off x="10267950" y="571500"/>
            <a:ext cx="123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04 / ACTUARY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84" name="文本框 283" descr="{&quot;isTemplate&quot;:true,&quot;type&quot;:&quot;text&quot;}"/>
          <p:cNvSpPr txBox="1"/>
          <p:nvPr/>
        </p:nvSpPr>
        <p:spPr>
          <a:xfrm>
            <a:off x="685800" y="1143000"/>
            <a:ext cx="7239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11 YEARS · 118 REGIONS</a:t>
            </a:r>
            <a:endParaRPr lang="en-US" sz="1125" spc="22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graphicFrame>
        <p:nvGraphicFramePr>
          <p:cNvPr id="285" name="285"/>
          <p:cNvGraphicFramePr/>
          <p:nvPr/>
        </p:nvGraphicFramePr>
        <p:xfrm>
          <a:off x="685800" y="1428750"/>
          <a:ext cx="7239000" cy="4857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86" name="圆角矩形 285"/>
          <p:cNvSpPr/>
          <p:nvPr/>
        </p:nvSpPr>
        <p:spPr>
          <a:xfrm>
            <a:off x="8172450" y="1143000"/>
            <a:ext cx="3333750" cy="1971675"/>
          </a:xfrm>
          <a:prstGeom prst="roundRect">
            <a:avLst>
              <a:gd name="adj" fmla="val 2415"/>
            </a:avLst>
          </a:prstGeom>
          <a:solidFill>
            <a:srgbClr val="F5A524">
              <a:alpha val="10000"/>
            </a:srgbClr>
          </a:solidFill>
          <a:ln w="12700">
            <a:solidFill>
              <a:srgbClr val="F5A524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7" name="文本框 286" descr="{&quot;isTemplate&quot;:true,&quot;type&quot;:&quot;text&quot;}"/>
          <p:cNvSpPr txBox="1"/>
          <p:nvPr/>
        </p:nvSpPr>
        <p:spPr>
          <a:xfrm>
            <a:off x="8324850" y="1295400"/>
            <a:ext cx="30289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PRICE SPREAD</a:t>
            </a:r>
            <a:endParaRPr lang="en-US" sz="1125" spc="150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88" name="文本框 287" descr="{&quot;isTemplate&quot;:true,&quot;type&quot;:&quot;text&quot;}"/>
          <p:cNvSpPr txBox="1"/>
          <p:nvPr/>
        </p:nvSpPr>
        <p:spPr>
          <a:xfrm>
            <a:off x="8343900" y="1428750"/>
            <a:ext cx="3028950" cy="533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en-US" sz="300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4.4×</a:t>
            </a:r>
            <a:endParaRPr lang="en-US" sz="300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89" name="文本框 288" descr="{&quot;isTemplate&quot;:true,&quot;type&quot;:&quot;text&quot;}"/>
          <p:cNvSpPr txBox="1"/>
          <p:nvPr/>
        </p:nvSpPr>
        <p:spPr>
          <a:xfrm>
            <a:off x="8343900" y="1885950"/>
            <a:ext cx="3028950" cy="82867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0000"/>
              </a:lnSpc>
            </a:pPr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湖北 24 小时档最贵 10.5 元（汉南区）、最便宜 2.4 元（房县），相差 4.4 倍 —— 用一个价卖全省：贵的城市赔穿，便宜的城市被逆选择。</a:t>
            </a:r>
            <a:endParaRPr lang="zh-CN" sz="1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0" name="圆角矩形 289"/>
          <p:cNvSpPr/>
          <p:nvPr/>
        </p:nvSpPr>
        <p:spPr>
          <a:xfrm>
            <a:off x="8172450" y="3248025"/>
            <a:ext cx="3333750" cy="1562100"/>
          </a:xfrm>
          <a:prstGeom prst="roundRect">
            <a:avLst>
              <a:gd name="adj" fmla="val 3049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1" name="文本框 290" descr="{&quot;isTemplate&quot;:true,&quot;type&quot;:&quot;text&quot;}"/>
          <p:cNvSpPr txBox="1"/>
          <p:nvPr/>
        </p:nvSpPr>
        <p:spPr>
          <a:xfrm>
            <a:off x="8324850" y="3400425"/>
            <a:ext cx="30289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链上现行价（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968 v5 · 24h 档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2" name="文本框 291" descr="{&quot;isTemplate&quot;:true,&quot;type&quot;:&quot;text&quot;}"/>
          <p:cNvSpPr txBox="1"/>
          <p:nvPr/>
        </p:nvSpPr>
        <p:spPr>
          <a:xfrm>
            <a:off x="8324850" y="3695700"/>
            <a:ext cx="2524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上海</a:t>
            </a:r>
            <a:r>
              <a:rPr lang="en-US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北京</a:t>
            </a:r>
            <a:endParaRPr lang="zh-CN" sz="120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3" name="文本框 292" descr="{&quot;isTemplate&quot;:true,&quot;type&quot;:&quot;text&quot;}"/>
          <p:cNvSpPr txBox="1"/>
          <p:nvPr/>
        </p:nvSpPr>
        <p:spPr>
          <a:xfrm>
            <a:off x="10197465" y="3695700"/>
            <a:ext cx="504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5.10~5.30 元</a:t>
            </a:r>
            <a:endParaRPr lang="en-US" sz="1200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94" name="文本框 293" descr="{&quot;isTemplate&quot;:true,&quot;type&quot;:&quot;text&quot;}"/>
          <p:cNvSpPr txBox="1"/>
          <p:nvPr/>
        </p:nvSpPr>
        <p:spPr>
          <a:xfrm>
            <a:off x="8324850" y="3952875"/>
            <a:ext cx="2524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广州</a:t>
            </a:r>
            <a:endParaRPr lang="zh-CN" sz="120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5" name="文本框 294" descr="{&quot;isTemplate&quot;:true,&quot;type&quot;:&quot;text&quot;}"/>
          <p:cNvSpPr txBox="1"/>
          <p:nvPr/>
        </p:nvSpPr>
        <p:spPr>
          <a:xfrm>
            <a:off x="10848975" y="3952875"/>
            <a:ext cx="504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7.90 元</a:t>
            </a:r>
            <a:endParaRPr lang="en-US" sz="1200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96" name="文本框 295" descr="{&quot;isTemplate&quot;:true,&quot;type&quot;:&quot;text&quot;}"/>
          <p:cNvSpPr txBox="1"/>
          <p:nvPr/>
        </p:nvSpPr>
        <p:spPr>
          <a:xfrm>
            <a:off x="8324850" y="4210050"/>
            <a:ext cx="2524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成都</a:t>
            </a:r>
            <a:endParaRPr lang="zh-CN" sz="120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7" name="文本框 296" descr="{&quot;isTemplate&quot;:true,&quot;type&quot;:&quot;text&quot;}"/>
          <p:cNvSpPr txBox="1"/>
          <p:nvPr/>
        </p:nvSpPr>
        <p:spPr>
          <a:xfrm>
            <a:off x="10848975" y="4210050"/>
            <a:ext cx="504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8.20 元</a:t>
            </a:r>
            <a:endParaRPr lang="en-US" sz="1200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98" name="文本框 297" descr="{&quot;isTemplate&quot;:true,&quot;type&quot;:&quot;text&quot;}"/>
          <p:cNvSpPr txBox="1"/>
          <p:nvPr/>
        </p:nvSpPr>
        <p:spPr>
          <a:xfrm>
            <a:off x="8324850" y="4467225"/>
            <a:ext cx="2524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武汉</a:t>
            </a:r>
            <a:endParaRPr lang="en-US" sz="1200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9" name="文本框 298" descr="{&quot;isTemplate&quot;:true,&quot;type&quot;:&quot;text&quot;}"/>
          <p:cNvSpPr txBox="1"/>
          <p:nvPr/>
        </p:nvSpPr>
        <p:spPr>
          <a:xfrm>
            <a:off x="10848975" y="4467225"/>
            <a:ext cx="504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8.80 元</a:t>
            </a:r>
            <a:endParaRPr lang="en-US" sz="120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00" name="任意多边形 299"/>
          <p:cNvSpPr/>
          <p:nvPr/>
        </p:nvSpPr>
        <p:spPr>
          <a:xfrm>
            <a:off x="8201025" y="5229225"/>
            <a:ext cx="3333750" cy="1057275"/>
          </a:xfrm>
          <a:custGeom>
            <a:avLst/>
            <a:gdLst/>
            <a:ahLst/>
            <a:cxnLst/>
            <a:pathLst>
              <a:path w="350" h="111">
                <a:moveTo>
                  <a:pt x="347" y="111"/>
                </a:moveTo>
                <a:lnTo>
                  <a:pt x="0" y="111"/>
                </a:lnTo>
                <a:lnTo>
                  <a:pt x="0" y="0"/>
                </a:lnTo>
                <a:lnTo>
                  <a:pt x="347" y="0"/>
                </a:lnTo>
                <a:close/>
              </a:path>
            </a:pathLst>
          </a:custGeom>
          <a:solidFill>
            <a:srgbClr val="2D7FF9">
              <a:alpha val="10000"/>
            </a:srgbClr>
          </a:solidFill>
        </p:spPr>
        <p:txBody>
          <a:bodyPr/>
          <a:p/>
        </p:txBody>
      </p:sp>
      <p:sp>
        <p:nvSpPr>
          <p:cNvPr id="301" name="任意多边形 300"/>
          <p:cNvSpPr/>
          <p:nvPr/>
        </p:nvSpPr>
        <p:spPr>
          <a:xfrm>
            <a:off x="8172450" y="5229225"/>
            <a:ext cx="3362325" cy="1057275"/>
          </a:xfrm>
          <a:custGeom>
            <a:avLst/>
            <a:gdLst/>
            <a:ahLst/>
            <a:cxnLst/>
            <a:pathLst>
              <a:path w="353" h="111">
                <a:moveTo>
                  <a:pt x="0" y="0"/>
                </a:moveTo>
                <a:lnTo>
                  <a:pt x="3" y="0"/>
                </a:lnTo>
                <a:lnTo>
                  <a:pt x="3" y="111"/>
                </a:lnTo>
                <a:lnTo>
                  <a:pt x="0" y="111"/>
                </a:lnTo>
                <a:close/>
              </a:path>
            </a:pathLst>
          </a:custGeom>
          <a:solidFill>
            <a:srgbClr val="2D7FF9"/>
          </a:solidFill>
        </p:spPr>
        <p:txBody>
          <a:bodyPr/>
          <a:p/>
        </p:txBody>
      </p:sp>
      <p:sp>
        <p:nvSpPr>
          <p:cNvPr id="302" name="文本框 301" descr="{&quot;isTemplate&quot;:true,&quot;type&quot;:&quot;text&quot;}"/>
          <p:cNvSpPr txBox="1"/>
          <p:nvPr/>
        </p:nvSpPr>
        <p:spPr>
          <a:xfrm>
            <a:off x="8334375" y="5343525"/>
            <a:ext cx="3038475" cy="828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保费由脚本按「现价 = 上整(（触发概率上界</a:t>
            </a:r>
            <a:r>
              <a:rPr lang="en-US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× </a:t>
            </a: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赔付额</a:t>
            </a:r>
            <a:r>
              <a:rPr lang="en-US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固定成本）÷ 目标赔付率</a:t>
            </a:r>
            <a:r>
              <a:rPr lang="en-US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上限 60%)</a:t>
            </a: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」算出写进合约，</a:t>
            </a: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不是手填的</a:t>
            </a: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；每次改价都留一条带依据哈希的事件。</a:t>
            </a:r>
            <a:endParaRPr lang="zh-CN" sz="1200">
              <a:solidFill>
                <a:srgbClr val="FFFFFF">
                  <a:alpha val="8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4" name="文本框 303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10 / 19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05" name="TextBox 304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Flat pricing is wrong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30" name="" descr="&lt;Slide style={{ width: 1280, height: 720, background: '#0A1422', padding: '20px 72px' }}&gt;&#13;&#10;&#13;&#10;    &lt;Box style={{ height: 100, flexDirection: 'row', alignItems: 'center', gap: 20 }}&gt;&#13;&#10;        &lt;Box style={{ width: 4, height: 30, background: 'linear-gradient(135deg, #2D7FF9 0%, #22D3EE 100%)' }} /&gt;&#13;&#10;        &lt;Text style={{ fontFamily: 'Microsoft YaHei', fontSize: 36, fontWeight: 'bold', color: '#FFFFFF', lineHeight: 1.25 }}&gt;&#13;&#10;            附录 A3 · 五层架构与三条硬规则&#13;&#10;        &lt;/Text&gt;&#13;&#10;        &lt;Box style={{ flex: 1 }} /&gt;&#13;&#10;        &lt;Text style={{ fontFamily: 'Consolas', fontSize: 16, color: 'rgba(255,255,255,0.34)', letterSpacing: 2 }}&gt;&#13;&#10;            APPENDIX A3&#13;&#10;        &lt;/Text&gt;&#13;&#10;    &lt;/Box&gt;&#13;&#10;&#13;&#10;    &lt;Box style={{ height: 540, flexDirection: 'row', gap: 26 }}&gt;&#13;&#10;&#13;&#10;        &lt;Box style={{ width: 658, height: 540 }}&gt;&#13;&#10;            &lt;svg width={658} height={540} viewBox='0 0 658 540'&gt;&#13;&#10;                &lt;rect x='0' y='16' width='658' height='88' rx='6' fill='rgba(255,255,255,0.05)' stroke='rgba(255,255,255,0.16)' strokeWidth='1' /&gt;&#13;&#10;                &lt;rect x='0' y='16' width='4' height='88' fill='#22D3EE' /&gt;&#13;&#10;                &lt;text x='20' y='44' fontFamily='Microsoft YaHei' fontSize='17' fontWeight='bold' fill='#FFFFFF'&gt;① 外部数据层&lt;/text&gt;&#13;&#10;                &lt;text x='20' y='70' fontFamily='Microsoft YaHei' fontSize='13' fill='rgba(255,255,255,0.60)'&gt;Open-Meteo Archive（ERA5 逐小时，11 年回测）· Forecast（ECMWF / GFS / ICON 三模型）&lt;/text&gt;&#13;&#10;                &lt;text x='20' y='90' fontFamily='Microsoft YaHei' fontSize='13' fill='rgba(255,255,255,0.60)'&gt;气象灾害预警信号、GB/T 28592-2012 降水量等级 —— HTTP 直连，免费、无需密钥&lt;/text&gt;&#13;&#10;&#13;&#10;                &lt;rect x='0' y='117' width='658' height='88' rx='6' fill='rgba(34,211,238,0.10)' stroke='#22D3EE' strokeWidth='1' /&gt;&#13;&#10;                &lt;rect x='0' y='117' width='4' height='88' fill='#22D3EE' /&gt;&#13;&#10;                &lt;text x='20' y='145' fontFamily='Microsoft YaHei' fontSize='17' fontWeight='bold' fill='#FFFFFF'&gt;② AI 判定层&lt;/text&gt;&#13;&#10;                &lt;text x='20' y='171' fontFamily='Microsoft YaHei' fontSize='13' fill='rgba(255,255,255,0.62)'&gt;ai-collect 取数 → canonical 确定性哈希 → ai-judge（R1–R5）→ submit-judgement 上链&lt;/text&gt;&#13;&#10;                &lt;text x='20' y='191' fontFamily='Microsoft YaHei' fontSize='13' fill='rgba(255,255,255,0.62)'&gt;提交前重算哈希比对，提交后读回校验 6/6 字段一致&lt;/text&gt;&#13;&#10;&#13;&#10;                &lt;rect x='0' y='218' width='658' height='88' rx='6' fill='rgba(45,127,249,0.12)' stroke='#2D7FF9' strokeWidth='1' /&gt;&#13;&#10;                &lt;rect x='0' y='218' width='4' height='88' fill='#2D7FF9' /&gt;&#13;&#10;                &lt;text x='20' y='246' fontFamily='Microsoft YaHei' fontSize='17' fontWeight='bold' fill='#FFFFFF'&gt;③ 共识与结算层&lt;/text&gt;&#13;&#10;                &lt;text x='20' y='272' fontFamily='Microsoft YaHei' fontSize='13' fill='rgba(255,255,255,0.62)'&gt;updateRainfall · rejectFeed · setUnderwriting · submitJudgement · claim · fundPool&lt;/text&gt;&#13;&#10;                &lt;text x='20' y='292' fontFamily='Microsoft YaHei' fontSize='13' fill='rgba(255,255,255,0.62)'&gt;Solidity 合约 · v1 上 Sepolia 实链（10,758 字节）；v2 在 BOT Chain 968 彩排通过&lt;/text&gt;&#13;&#10;&#13;&#10;                &lt;rect x='0' y='319' width='658' height='88' rx='6' fill='rgba(255,255,255,0.05)' stroke='rgba(255,255,255,0.16)' strokeWidth='1' /&gt;&#13;&#10;                &lt;rect x='0' y='319' width='4' height='88' fill='#22D3EE' /&gt;&#13;&#10;                &lt;text x='20' y='347' fontFamily='Microsoft YaHei' fontSize='17' fontWeight='bold' fill='#FFFFFF'&gt;④ 自动化与证据层&lt;/text&gt;&#13;&#10;                &lt;text x='20' y='373' fontFamily='Microsoft YaHei' fontSize='13' fill='rgba(255,255,255,0.60)'&gt;keeper.js 轮询保单状态、发现可赔即触发；09-AI判定留痕/ 存档每张保单的输入与输出哈希&lt;/text&gt;&#13;&#10;                &lt;text x='20' y='393' fontFamily='Microsoft YaHei' fontSize='13' fill='rgba(255,255,255,0.60)'&gt;五套自动化门禁共 229 项断言，含「每条留痕的哈希都能当场重算」&lt;/text&gt;&#13;&#10;&#13;&#10;                &lt;rect x='0' y='420' width='658' height='88' rx='6' fill='rgba(255,255,255,0.05)' stroke='rgba(255,255,255,0.16)' strokeWidth='1' /&gt;&#13;&#10;                &lt;rect x='0' y='420' width='4' height='88' fill='#22D3EE' /&gt;&#13;&#10;                &lt;text x='20' y='448' fontFamily='Microsoft YaHei' fontSize='17' fontWeight='bold' fill='#FFFFFF'&gt;⑤ 产品前端层&lt;/text&gt;&#13;&#10;                &lt;text x='20' y='474' fontFamily='Microsoft YaHei' fontSize='13' fill='rgba(255,255,255,0.60)'&gt;index.html 投保 / 五城降雨看板 / 我的保单；verifier.html 粘交易哈希即解码事件&lt;/text&gt;&#13;&#10;                &lt;text x='20' y='494' fontFamily='Microsoft YaHei' fontSize='13' fill='rgba(255,255,255,0.60)'&gt;单文件核验台零依赖，双击即开 —— 前端只读链，不读自家后端&lt;/text&gt;&#13;&#10;            &lt;/svg&gt;&#13;&#10;        &lt;/Box&gt;&#13;&#10;&#13;&#10;        &lt;Box style={{ width: 452, height: 540, flexDirection: 'column', overflow: 'hidden' }}&gt;&#13;&#10;            &lt;Text style={{ fontFamily: 'Consolas', fontSize: 14, color: '#22D3EE', letterSpacing: 4, flexShrink: 0 }}&gt;&#13;&#10;                THREE HARD RULES&#13;&#10;            &lt;/Text&gt;&#13;&#10;&#13;&#10;            &lt;Box style={{ height: 1, background: 'rgba(255,255,255,0.14)', marginTop: 12, marginBottom: 14, flexShrink: 0 }} /&gt;&#13;&#10;&#13;&#10;            &lt;Box style={{ flexDirection: 'column', gap: 11 }}&gt;&#13;&#10;                &lt;Box style={{ flexDirection: 'row', gap: 12 }}&gt;&#13;&#10;                    &lt;Text style={{ fontFamily: 'Consolas', fontSize: 16, color: '#2D7FF9', fontWeight: 'bold' }}&gt;01&lt;/Text&gt;&#13;&#10;                    &lt;Box style={{ flexDirection: 'column' }}&gt;&#13;&#10;                        &lt;Text style={{ fontFamily: 'Microsoft YaHei', fontSize: 18, fontWeight: 'bold', color: '#FFFFFF' }}&gt;数据来源单一化&lt;/Text&gt;&#13;&#10;                        &lt;Text style={{ fontFamily: 'Microsoft YaHei', fontSize: 15, color: 'rgba(255,255,255,0.60)', lineHeight: 1.45, marginTop: 3 }}&gt;&#13;&#10;                            一个账号体系覆盖降水、气温、风速、空气质量 —— 换险种不必换数据方。&#13;&#10;                        &lt;/Text&gt;&#13;&#10;                    &lt;/Box&gt;&#13;&#10;                &lt;/Box&gt;&#13;&#10;&#13;&#10;                &lt;Box style={{ flexDirection: 'row', gap: 12 }}&gt;&#13;&#10;                    &lt;Text style={{ fontFamily: 'Consolas', fontSize: 16, color: '#2D7FF9', fontWeight: 'bold' }}&gt;02&lt;/Text&gt;&#13;&#10;                    &lt;Box style={{ flexDirection: 'column' }}&gt;&#13;&#10;                        &lt;Text style={{ fontFamily: 'Microsoft YaHei', fontSize: 18, fontWeight: 'bold', color: '#FFFFFF' }}&gt;哈希是唯一的跨层契约&lt;/Text&gt;&#13;&#10;                        &lt;Text style={{ fontFamily: 'Microsoft YaHei', fontSize: 15, color: 'rgba(255,255,255,0.60)', lineHeight: 1.45, marginTop: 3 }}&gt;&#13;&#10;                            inputHash 锁输入、outputHash 锁判定，两者都不含任何会变的字段。&#13;&#10;                        &lt;/Text&gt;&#13;&#10;                    &lt;/Box&gt;&#13;&#10;                &lt;/Box&gt;&#13;&#10;&#13;&#10;                &lt;Box style={{ flexDirection: 'row', gap: 12 }}&gt;&#13;&#10;                    &lt;Text style={{ fontFamily: 'Consolas', fontSize: 16, color: '#2D7FF9', fontWeight: 'bold' }}&gt;03&lt;/Text&gt;&#13;&#10;                    &lt;Box style={{ flexDirection: 'column' }}&gt;&#13;&#10;                        &lt;Text style={{ fontFamily: 'Microsoft YaHei', fontSize: 18, fontWeight: 'bold', color: '#FFFFFF' }}&gt;写链操作只有一个出口&lt;/Text&gt;&#13;&#10;                        &lt;Text style={{ fontFamily: 'Microsoft YaHei', fontSize: 15, color: 'rgba(255,255,255,0.60)', lineHeight: 1.45, marginTop: 3 }}&gt;&#13;&#10;                            一张保单的判定只允许写一次，重复提交会被合约直接拒绝。&#13;&#10;                        &lt;/Text&gt;&#13;&#10;                    &lt;/Box&gt;&#13;&#10;                &lt;/Box&gt;&#13;&#10;            &lt;/Box&gt;&#13;&#10;&#13;&#10;            &lt;Box style={{ marginTop: 'auto', background: 'rgba(245,165,36,0.10)', border: '1px solid rgba(245,165,36,0.34)', borderRadius: 5, padding: 13, flexShrink: 0 }}&gt;&#13;&#10;                &lt;Text style={{ fontFamily: 'Microsoft YaHei', fontSize: 16, color: '#FFFFFF', lineHeight: 1.48 }}&gt;&#13;&#10;                    这三层的接缝是&lt;span style={{ color: '#F5A524', fontWeight: 'bold' }}&gt;「哈希」&lt;/span&gt;，不是「模型」。精算与 AI 都可以被替换，只要它们的输入输出能落成同一个可复算的哈希。&#13;&#10;                &lt;/Text&gt;&#13;&#10;            &lt;/Box&gt;&#13;&#10;        &lt;/Box&gt;&#13;&#10;&#13;&#10;    &lt;/Box&gt;&#13;&#10;&#13;&#10;    &lt;Box style={{ height: 40, flexDirection: 'row', alignItems: 'center' }}&gt;&#13;&#10;        &lt;Text style={{ fontFamily: 'Microsoft YaHei', fontSize: 15, color: 'rgba(255,255,255,0.40)' }}&gt;雨证 · RainProof&lt;/Text&gt;&#13;&#10;        &lt;Box style={{ flex: 1 }} /&gt;&#13;&#10;        &lt;Text style={{ fontFamily: 'Consolas', fontSize: 15, color: 'rgba(255,255,255,0.40)' }}&gt;附录 · 不计入路演时间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3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五层架构与三条硬规则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Five layers, three hard rules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04 / ARCHITECTURE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11 / 19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8580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80">
                <a:solidFill>
                  <a:srgbClr val="22D3EE"/>
                </a:solidFill>
                <a:latin typeface="Consolas"/>
                <a:ea typeface="Consolas"/>
              </a:rPr>
              <a:t>ARCHITECTURE · 接缝是「哈希」，不是「模型」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685800" y="1664208"/>
            <a:ext cx="6675120" cy="859536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685800" y="1664208"/>
            <a:ext cx="41148" cy="859536"/>
          </a:xfrm>
          <a:prstGeom prst="rect">
            <a:avLst/>
          </a:prstGeom>
          <a:solidFill>
            <a:srgbClr val="22D3E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96112" y="1755648"/>
            <a:ext cx="310896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22D3EE"/>
                </a:solidFill>
                <a:latin typeface="微软雅黑"/>
                <a:ea typeface="微软雅黑"/>
              </a:rPr>
              <a:t>①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261872" y="1746504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50" b="1" i="0" lang="zh-CN">
                <a:solidFill>
                  <a:srgbClr val="FFFFFF"/>
                </a:solidFill>
                <a:latin typeface="微软雅黑"/>
                <a:ea typeface="微软雅黑"/>
              </a:rPr>
              <a:t>外部数据层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261872" y="2057400"/>
            <a:ext cx="58978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Open-Meteo Archive（ERA5 逐小时，11 年回测）· Forecast（ECMWF / GFS / ICON 三模型）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261872" y="2286000"/>
            <a:ext cx="5897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气象灾害预警信号、GB/T 28592—2012 降水量等级 —— HTTP 直连，免费、无需密钥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685800" y="2615184"/>
            <a:ext cx="6675120" cy="859536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85800" y="2615184"/>
            <a:ext cx="41148" cy="859536"/>
          </a:xfrm>
          <a:prstGeom prst="rect">
            <a:avLst/>
          </a:prstGeom>
          <a:solidFill>
            <a:srgbClr val="22D3E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96112" y="2706624"/>
            <a:ext cx="310896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22D3EE"/>
                </a:solidFill>
                <a:latin typeface="微软雅黑"/>
                <a:ea typeface="微软雅黑"/>
              </a:rPr>
              <a:t>②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61872" y="2697480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50" b="1" i="0" lang="zh-CN">
                <a:solidFill>
                  <a:srgbClr val="FFFFFF"/>
                </a:solidFill>
                <a:latin typeface="微软雅黑"/>
                <a:ea typeface="微软雅黑"/>
              </a:rPr>
              <a:t>AI 判定层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261872" y="3008376"/>
            <a:ext cx="58978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ai-collect 取数 → canonical 确定性哈希 → ai-judge（R1–R5）→ submit-judgment 上链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261872" y="3236976"/>
            <a:ext cx="5897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提交前重算哈希比对，提交后读回校验 6/6 字段一致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685800" y="3566160"/>
            <a:ext cx="6675120" cy="859536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85800" y="3566160"/>
            <a:ext cx="41148" cy="859536"/>
          </a:xfrm>
          <a:prstGeom prst="rect">
            <a:avLst/>
          </a:prstGeom>
          <a:solidFill>
            <a:srgbClr val="2D7FF9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896112" y="3657600"/>
            <a:ext cx="310896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2D7FF9"/>
                </a:solidFill>
                <a:latin typeface="微软雅黑"/>
                <a:ea typeface="微软雅黑"/>
              </a:rPr>
              <a:t>③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261872" y="3648456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50" b="1" i="0" lang="zh-CN">
                <a:solidFill>
                  <a:srgbClr val="FFFFFF"/>
                </a:solidFill>
                <a:latin typeface="微软雅黑"/>
                <a:ea typeface="微软雅黑"/>
              </a:rPr>
              <a:t>共识与结算层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261872" y="3959352"/>
            <a:ext cx="58978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updateRainfallBatch · rejectFeed · setUnderwriting · submitJudgment · claim · fundPool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261872" y="4187952"/>
            <a:ext cx="5897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Solidity 合约：v5 在 BOT Chain 968 实链运行，123 个区划全部开通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685800" y="4517136"/>
            <a:ext cx="6675120" cy="859536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85800" y="4517136"/>
            <a:ext cx="41148" cy="859536"/>
          </a:xfrm>
          <a:prstGeom prst="rect">
            <a:avLst/>
          </a:prstGeom>
          <a:solidFill>
            <a:srgbClr val="2D7FF9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96112" y="4608576"/>
            <a:ext cx="310896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2D7FF9"/>
                </a:solidFill>
                <a:latin typeface="微软雅黑"/>
                <a:ea typeface="微软雅黑"/>
              </a:rPr>
              <a:t>④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261872" y="4599432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50" b="1" i="0" lang="zh-CN">
                <a:solidFill>
                  <a:srgbClr val="FFFFFF"/>
                </a:solidFill>
                <a:latin typeface="微软雅黑"/>
                <a:ea typeface="微软雅黑"/>
              </a:rPr>
              <a:t>自动化与证据层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261872" y="4910328"/>
            <a:ext cx="58978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keeper.js 每 30 分钟轮询保单状态，发现可赔即触发；09-AI判定留痕/ 存档每张保单的输入与输出哈希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261872" y="5138928"/>
            <a:ext cx="5897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24 组自动化门禁，含「每条留痕的哈希都能当场重算」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685800" y="5468112"/>
            <a:ext cx="6675120" cy="859536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85800" y="5468112"/>
            <a:ext cx="41148" cy="859536"/>
          </a:xfrm>
          <a:prstGeom prst="rect">
            <a:avLst/>
          </a:prstGeom>
          <a:solidFill>
            <a:srgbClr val="F5A524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896112" y="5559552"/>
            <a:ext cx="310896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F5A524"/>
                </a:solidFill>
                <a:latin typeface="微软雅黑"/>
                <a:ea typeface="微软雅黑"/>
              </a:rPr>
              <a:t>⑤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261872" y="5550408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50" b="1" i="0" lang="zh-CN">
                <a:solidFill>
                  <a:srgbClr val="FFFFFF"/>
                </a:solidFill>
                <a:latin typeface="微软雅黑"/>
                <a:ea typeface="微软雅黑"/>
              </a:rPr>
              <a:t>产品前端层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261872" y="5861304"/>
            <a:ext cx="58978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index-v5.html 投保与看板 / rider.html 保单 / console.html 台账 / verify-v5.html 核验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261872" y="6089904"/>
            <a:ext cx="5897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单文件核验台零依赖，双击即开 —— 前端只读链，不读自家后端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58952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80">
                <a:solidFill>
                  <a:srgbClr val="22D3EE"/>
                </a:solidFill>
                <a:latin typeface="Consolas"/>
                <a:ea typeface="Consolas"/>
              </a:rPr>
              <a:t>THREE HARD RULES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7589520" y="1700784"/>
            <a:ext cx="29260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60">
                <a:solidFill>
                  <a:srgbClr val="22D3EE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955279" y="1682496"/>
            <a:ext cx="34747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数据来源单一化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955279" y="1975104"/>
            <a:ext cx="3529584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一个 Open-Meteo 账号体系覆盖降水、气温、风速、空气质量 —— 换险种不必换数据方。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589520" y="2834640"/>
            <a:ext cx="29260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60">
                <a:solidFill>
                  <a:srgbClr val="22D3EE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955279" y="2816352"/>
            <a:ext cx="34747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哈希是唯一的跨层契约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955279" y="3108960"/>
            <a:ext cx="3529584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inputHash 锁输入、outputHash 锁判定，两者都不含任何会变的字段。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589520" y="3968496"/>
            <a:ext cx="29260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60">
                <a:solidFill>
                  <a:srgbClr val="22D3EE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55279" y="3950208"/>
            <a:ext cx="34747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写链操作只有一个出口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7955279" y="4242816"/>
            <a:ext cx="3529584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一张保单的判定只允许写一次，重复提交会被合约直接拒绝。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7589520" y="4626864"/>
            <a:ext cx="3895344" cy="1133856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7589520" y="4626864"/>
            <a:ext cx="3895344" cy="11338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45000"/>
              </a:lnSpc>
            </a:pPr>
            <a:r>
              <a:rPr sz="1000" b="0" i="0" lang="zh-CN">
                <a:solidFill>
                  <a:srgbClr val="FFFFFF">
                    <a:alpha val="80000"/>
                  </a:srgbClr>
                </a:solidFill>
                <a:latin typeface="微软雅黑"/>
                <a:ea typeface="微软雅黑"/>
              </a:rPr>
              <a:t>精算与 AI 都可以被替换，只要它们的输入输出能落成同一个可复算的哈希。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三个创新，一层叠一层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Three layers of innovation, stacked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04 / INNOVATION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12 /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80">
                <a:solidFill>
                  <a:srgbClr val="22D3EE"/>
                </a:solidFill>
                <a:latin typeface="Consolas"/>
                <a:ea typeface="Consolas"/>
              </a:rPr>
              <a:t>INNOVATION · 不是三个功能点，是一条因果链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5564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 spc="60">
                <a:solidFill>
                  <a:srgbClr val="22D3EE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1773936"/>
            <a:ext cx="10972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20">
                <a:solidFill>
                  <a:srgbClr val="FFFFFF">
                    <a:alpha val="48000"/>
                  </a:srgbClr>
                </a:solidFill>
                <a:latin typeface="Consolas"/>
                <a:ea typeface="Consolas"/>
              </a:rPr>
              <a:t>产品层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84831"/>
            <a:ext cx="3310128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900" b="1" i="0" lang="zh-CN">
                <a:solidFill>
                  <a:srgbClr val="FFFFFF"/>
                </a:solidFill>
                <a:latin typeface="微软雅黑"/>
                <a:ea typeface="微软雅黑"/>
              </a:rPr>
              <a:t>把「定损」删掉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798064"/>
            <a:ext cx="3310128" cy="7315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944368"/>
            <a:ext cx="3310128" cy="8595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05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参数化早有先例。新的是场景：个人 / 小额 / 高频 / 无凭证的收入中断。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931920"/>
            <a:ext cx="33101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为什么难复制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69663"/>
            <a:ext cx="3310128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050" b="0" i="0" lang="zh-CN">
                <a:solidFill>
                  <a:srgbClr val="22D3EE"/>
                </a:solidFill>
                <a:latin typeface="微软雅黑"/>
                <a:ea typeface="微软雅黑"/>
              </a:rPr>
              <a:t>传统险的成本结构在这里必亏 —— 删掉定损才有毛利。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6" y="175564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 spc="60">
                <a:solidFill>
                  <a:srgbClr val="2D7FF9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1773936"/>
            <a:ext cx="10972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20">
                <a:solidFill>
                  <a:srgbClr val="FFFFFF">
                    <a:alpha val="48000"/>
                  </a:srgbClr>
                </a:solidFill>
                <a:latin typeface="Consolas"/>
                <a:ea typeface="Consolas"/>
              </a:rPr>
              <a:t>技术层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6" y="2084831"/>
            <a:ext cx="3310128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900" b="1" i="0" lang="zh-CN">
                <a:solidFill>
                  <a:srgbClr val="FFFFFF"/>
                </a:solidFill>
                <a:latin typeface="微软雅黑"/>
                <a:ea typeface="微软雅黑"/>
              </a:rPr>
              <a:t>AI 只验真，不判赔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4256" y="2798064"/>
            <a:ext cx="3310128" cy="7315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34256" y="2944368"/>
            <a:ext cx="3310128" cy="8595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05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行业里 AI 做核保评分，结论是概率、责任是模糊的。我们把它关进笼子。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256" y="3931920"/>
            <a:ext cx="33101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D7FF9"/>
                </a:solidFill>
                <a:latin typeface="Consolas"/>
                <a:ea typeface="Consolas"/>
              </a:rPr>
              <a:t>为什么难复制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34256" y="4169663"/>
            <a:ext cx="3310128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050" b="0" i="0" lang="zh-CN">
                <a:solidFill>
                  <a:srgbClr val="2D7FF9"/>
                </a:solidFill>
                <a:latin typeface="微软雅黑"/>
                <a:ea typeface="微软雅黑"/>
              </a:rPr>
              <a:t>责任边界可审计，才进得了条款报备流程。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82712" y="175564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 spc="60">
                <a:solidFill>
                  <a:srgbClr val="F5A524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4" y="1773936"/>
            <a:ext cx="10972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20">
                <a:solidFill>
                  <a:srgbClr val="FFFFFF">
                    <a:alpha val="48000"/>
                  </a:srgbClr>
                </a:solidFill>
                <a:latin typeface="Consolas"/>
                <a:ea typeface="Consolas"/>
              </a:rPr>
              <a:t>信任层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82712" y="2084831"/>
            <a:ext cx="3310128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900" b="1" i="0" lang="zh-CN">
                <a:solidFill>
                  <a:srgbClr val="FFFFFF"/>
                </a:solidFill>
                <a:latin typeface="微软雅黑"/>
                <a:ea typeface="微软雅黑"/>
              </a:rPr>
              <a:t>结论可被第三方复算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82712" y="2798064"/>
            <a:ext cx="3310128" cy="7315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82712" y="2944368"/>
            <a:ext cx="3310128" cy="8595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05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原始报文 → SHA-256 → 上链 → 规则 → outputHash，任何人重跑同一个结论。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82712" y="3931920"/>
            <a:ext cx="33101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F5A524"/>
                </a:solidFill>
                <a:latin typeface="Consolas"/>
                <a:ea typeface="Consolas"/>
              </a:rPr>
              <a:t>为什么难复制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82712" y="4169663"/>
            <a:ext cx="3310128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050" b="0" i="0" lang="zh-CN">
                <a:solidFill>
                  <a:srgbClr val="F5A524"/>
                </a:solidFill>
                <a:latin typeface="微软雅黑"/>
                <a:ea typeface="微软雅黑"/>
              </a:rPr>
              <a:t>它要求前两层本来就是确定性、可复现的系统。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047488"/>
            <a:ext cx="10817352" cy="603504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" y="5047488"/>
            <a:ext cx="1037844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35000"/>
              </a:lnSpc>
            </a:pPr>
            <a:r>
              <a:rPr sz="1150" b="0" i="0" lang="zh-CN">
                <a:solidFill>
                  <a:srgbClr val="FFFFFF">
                    <a:alpha val="88000"/>
                  </a:srgbClr>
                </a:solidFill>
                <a:latin typeface="微软雅黑"/>
                <a:ea typeface="微软雅黑"/>
              </a:rPr>
              <a:t>第三条才是壁垒：一套靠「模型判断」的系统永远无法自证；只有确定性系统，才可能被第三方当场复算。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把 TAM 说小，是故意的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We keep the TAM deliberately small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05 /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13 /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50">
                <a:solidFill>
                  <a:srgbClr val="22D3EE"/>
                </a:solidFill>
                <a:latin typeface="Consolas"/>
                <a:ea typeface="Consolas"/>
              </a:rPr>
              <a:t>MARKET · 单位：亿元／年 · 只算「会被暴雨打断收入」的那一群人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19072"/>
            <a:ext cx="192024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100">
                <a:solidFill>
                  <a:srgbClr val="FFFFFF">
                    <a:alpha val="44000"/>
                  </a:srgbClr>
                </a:solidFill>
                <a:latin typeface="Consolas"/>
                <a:ea typeface="Consolas"/>
              </a:rPr>
              <a:t>TAM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01952"/>
            <a:ext cx="178308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800" b="1" i="0" lang="zh-CN">
                <a:solidFill>
                  <a:srgbClr val="2D7FF9"/>
                </a:solidFill>
                <a:latin typeface="Consolas"/>
                <a:ea typeface="Consolas"/>
              </a:rPr>
              <a:t>19–26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9152" y="1984248"/>
            <a:ext cx="3931920" cy="146304"/>
          </a:xfrm>
          <a:prstGeom prst="rect">
            <a:avLst/>
          </a:prstGeom>
          <a:solidFill>
            <a:srgbClr val="2D7FF9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59152"/>
            <a:ext cx="65836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500–700 万骑手 × 250 天 × 1.5 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07791"/>
            <a:ext cx="192024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100">
                <a:solidFill>
                  <a:srgbClr val="FFFFFF">
                    <a:alpha val="44000"/>
                  </a:srgbClr>
                </a:solidFill>
                <a:latin typeface="Consolas"/>
                <a:ea typeface="Consolas"/>
              </a:rPr>
              <a:t>SAM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090672"/>
            <a:ext cx="178308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800" b="1" i="0" lang="zh-CN">
                <a:solidFill>
                  <a:srgbClr val="22D3EE"/>
                </a:solidFill>
                <a:latin typeface="Consolas"/>
                <a:ea typeface="Consolas"/>
              </a:rPr>
              <a:t>3.6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59152" y="3172968"/>
            <a:ext cx="1572768" cy="146304"/>
          </a:xfrm>
          <a:prstGeom prst="rect">
            <a:avLst/>
          </a:prstGeom>
          <a:solidFill>
            <a:srgbClr val="22D3EE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547872"/>
            <a:ext cx="65836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200 万高频骑手 × 120 天 × 1.5 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96512"/>
            <a:ext cx="192024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100">
                <a:solidFill>
                  <a:srgbClr val="FFFFFF">
                    <a:alpha val="44000"/>
                  </a:srgbClr>
                </a:solidFill>
                <a:latin typeface="Consolas"/>
                <a:ea typeface="Consolas"/>
              </a:rPr>
              <a:t>SOM · 第 3 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79392"/>
            <a:ext cx="178308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800" b="1" i="0" lang="zh-CN">
                <a:solidFill>
                  <a:srgbClr val="F5A524"/>
                </a:solidFill>
                <a:latin typeface="Consolas"/>
                <a:ea typeface="Consolas"/>
              </a:rPr>
              <a:t>1.1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59152" y="4361688"/>
            <a:ext cx="676656" cy="146304"/>
          </a:xfrm>
          <a:prstGeom prst="rect">
            <a:avLst/>
          </a:prstGeom>
          <a:solidFill>
            <a:srgbClr val="F5A524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736592"/>
            <a:ext cx="65836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80 万骑手 × 100 天 × 1.4 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35824" y="1700784"/>
            <a:ext cx="7315" cy="3749039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1700784"/>
            <a:ext cx="3200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150">
                <a:solidFill>
                  <a:srgbClr val="22D3EE"/>
                </a:solidFill>
                <a:latin typeface="Consolas"/>
                <a:ea typeface="Consolas"/>
              </a:rPr>
              <a:t>五条假设 · 全部可替换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2048256"/>
            <a:ext cx="182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2029968"/>
            <a:ext cx="3255264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骑手规模 500–700 万（美团 300 万 ＋ 蜂鸟 400 万，口径并列不混算）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2633472"/>
            <a:ext cx="182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2615184"/>
            <a:ext cx="3255264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每城每年因暴雨停工的时数：8–12 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3218688"/>
            <a:ext cx="182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3200400"/>
            <a:ext cx="3255264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客单价 1.4–1.5 元／单日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3803904"/>
            <a:ext cx="182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1312" y="3785616"/>
            <a:ext cx="3255264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第 3 年渗透率 12%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4389120"/>
            <a:ext cx="182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2" y="4370832"/>
            <a:ext cx="3255264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单城在保规模上限由平台单量决定，不由我们的销售能力决定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5047488"/>
            <a:ext cx="3529584" cy="6035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950" b="0" i="0" lang="zh-CN">
                <a:solidFill>
                  <a:srgbClr val="FFFFFF">
                    <a:alpha val="42000"/>
                  </a:srgbClr>
                </a:solidFill>
                <a:latin typeface="微软雅黑"/>
                <a:ea typeface="微软雅黑"/>
              </a:rPr>
              <a:t>不给单点估值 —— 参数换一组，结论跟着变，这是这一页唯一的方法论。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468112"/>
            <a:ext cx="67665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我们只算那一小群：收入会被暴雨打断，且损失能被一个公开数字代表。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305" name="" descr="&lt;Slide style={{ width: 1280, height: 720, background: '#0A1422', padding: '20px 72px' }}&gt;&#13;&#10;&#13;&#10;    &lt;Box style={{ height: 100, flexDirection: 'row', alignItems: 'center', gap: 20 }}&gt;&#13;&#10;        &lt;Box style={{ width: 4, height: 30, background: 'linear-gradient(135deg, #2D7FF9 0%, #22D3EE 100%)' }} /&gt;&#13;&#10;        &lt;Text style={{ fontFamily: 'Microsoft YaHei', fontSize: 36, fontWeight: 'bold', color: '#FFFFFF', lineHeight: 1.25 }}&gt;&#13;&#10;            那谁为这个风险付钱？&#13;&#10;        &lt;/Text&gt;&#13;&#10;        &lt;Box style={{ flex: 1 }} /&gt;&#13;&#10;        &lt;Text style={{ fontFamily: 'Consolas', fontSize: 16, color: 'rgba(255,255,255,0.34)', letterSpacing: 2 }}&gt;&#13;&#10;            07 / BUSINESS&#13;&#10;        &lt;/Text&gt;&#13;&#10;    &lt;/Box&gt;&#13;&#10;&#13;&#10;    &lt;Box style={{ height: 540, flexDirection: 'row', gap: 26 }}&gt;&#13;&#10;&#13;&#10;        &lt;Box style={{ width: 400, height: 540, flexDirection: 'column' }}&gt;&#13;&#10;            &lt;Text style={{ fontFamily: 'Consolas', fontSize: 14, color: '#22D3EE', letterSpacing: 4 }}&gt;&#13;&#10;                WHO PAYS&#13;&#10;            &lt;/Text&gt;&#13;&#10;&#13;&#10;            &lt;Text style={{ fontFamily: 'Microsoft YaHei', fontSize: 30, fontWeight: 'bold', color: '#FFFFFF', lineHeight: 1.35, marginTop: 14 }}&gt;&#13;&#10;                骑手自己不付钱。&#13;&#10;                &lt;br /&gt;&#13;&#10;                向有合规与舆情压力的一方收费。&#13;&#10;            &lt;/Text&gt;&#13;&#10;&#13;&#10;            &lt;Box style={{ height: 1, background: 'rgba(255,255,255,0.14)', marginTop: 20, marginBottom: 18 }} /&gt;&#13;&#10;&#13;&#10;            &lt;Text style={{ fontFamily: 'Microsoft YaHei', fontSize: 17, color: 'rgba(255,255,255,0.66)', lineHeight: 1.6 }}&gt;&#13;&#10;                单均保费只有千分之几 ETH，靠骑手逐单付费撑不起渠道成本；但平台一次决策就能覆盖成千上万骑手，边际获客成本趋近于零。&#13;&#10;            &lt;/Text&gt;&#13;&#10;&#13;&#10;            &lt;Text style={{ fontFamily: 'Microsoft YaHei', fontSize: 17, color: 'rgba(255,255,255,0.66)', lineHeight: 1.6, marginTop: 12 }}&gt;&#13;&#10;                更关键的是：暴雨天的运力缺口与事故舆情，本身就是平台必须花的钱。&#13;&#10;            &lt;/Text&gt;&#13;&#10;&#13;&#10;            &lt;Box style={{ marginTop: 'auto', background: 'rgba(45,127,249,0.10)', border: '1px solid rgba(45,127,249,0.30)', borderRadius: 5, padding: 16 }}&gt;&#13;&#10;                &lt;Text style={{ fontFamily: 'Consolas', fontSize: 14, color: '#22D3EE', letterSpacing: 3 }}&gt;&#13;&#10;                    RECOMMENDED PATH&#13;&#10;                &lt;/Text&gt;&#13;&#10;                &lt;Text style={{ fontFamily: 'Microsoft YaHei', fontSize: 16, color: 'rgba(255,255,255,0.88)', lineHeight: 1.5, marginTop: 8 }}&gt;&#13;&#10;                    先以平台为客户做 &lt;span style={{ fontFamily: 'Consolas', fontWeight: 'bold', color: '#FFFFFF' }}&gt;B2B2C&lt;/span&gt;，把单区域在保规模做起来；规模起来后，再向保险公司输出定价与证据能力。&#13;&#10;                &lt;/Text&gt;&#13;&#10;            &lt;/Box&gt;&#13;&#10;        &lt;/Box&gt;&#13;&#10;&#13;&#10;        &lt;Box style={{ width: 710, height: 540, flexDirection: 'column' }}&gt;&#13;&#10;&#13;&#10;            &lt;Box style={{ flex: 1, minHeight: 0, flexDirection: 'column' }}&gt;&#13;&#10;                &lt;Text style={{ fontFamily: 'Consolas', fontSize: 14, color: '#22D3EE', letterSpacing: 3 }}&gt;&#13;&#10;                    THREE BUYERS&#13;&#10;                &lt;/Text&gt;&#13;&#10;&#13;&#10;                &lt;Box style={{ flexDirection: 'column', gap: 8, marginTop: 12 }}&gt;&#13;&#10;&#13;&#10;                    &lt;Box style={{ height: 68, flexDirection: 'row', alignItems: 'center', background: 'rgba(255,255,255,0.03)', borderLeft: '3px solid rgba(255,255,255,0.14)', borderRadius: 4, padding: '0 18px' }}&gt;&#13;&#10;                        &lt;Text style={{ width: 172, fontFamily: 'Microsoft YaHei', fontSize: 18, fontWeight: 'bold', color: 'rgba(255,255,255,0.62)' }}&gt;骑手自付&lt;/Text&gt;&#13;&#10;                        &lt;Text style={{ flex: 1, fontFamily: 'Microsoft YaHei', fontSize: 15, color: 'rgba(255,255,255,0.50)', lineHeight: 1.45 }}&gt;&#13;&#10;                            获客成本高、价格极敏感、单均太小撑不起渠道 —— 不推荐作为主路径&#13;&#10;                        &lt;/Text&gt;&#13;&#10;                    &lt;/Box&gt;&#13;&#10;&#13;&#10;                    &lt;Box style={{ height: 102, flexDirection: 'column', justifyContent: 'center', background: 'rgba(45,127,249,0.12)', borderLeft: '3px solid #2D7FF9', borderRadius: 4, padding: '0 18px' }}&gt;&#13;&#10;                        &lt;Box style={{ flexDirection: 'row', alignItems: 'center', gap: 12 }}&gt;&#13;&#10;                            &lt;Text style={{ fontFamily: 'Microsoft YaHei', fontSize: 20, fontWeight: 'bold', color: '#FFFFFF' }}&gt;平台 / 众包服务商&lt;/Text&gt;&#13;&#10;                            &lt;Box style={{ background: 'rgba(34,211,238,0.16)', border: '1px solid rgba(34,211,238,0.42)', borderRadius: 3, padding: '2px 10px' }}&gt;&#13;&#10;                                &lt;Text style={{ fontFamily: 'Microsoft YaHei', fontSize: 13, color: '#22D3EE' }}&gt;推荐&lt;/Text&gt;&#13;&#10;                            &lt;/Box&gt;&#13;&#10;                        &lt;/Box&gt;&#13;&#10;                        &lt;Text style={{ fontFamily: 'Microsoft YaHei', fontSize: 15, color: 'rgba(255,255,255,0.74)', lineHeight: 1.45, marginTop: 6 }}&gt;&#13;&#10;                            一次决策覆盖成千上万骑手，边际获客成本≈0；且它的合规成本、骑手留存与舆情风险对冲都指向同一笔支出&#13;&#10;                        &lt;/Text&gt;&#13;&#10;                    &lt;/Box&gt;&#13;&#10;&#13;&#10;                    &lt;Box style={{ height: 68, flexDirection: 'row', alignItems: 'center', background: 'rgba(255,255,255,0.04)', borderLeft: '3px solid #22D3EE', borderRadius: 4, padding: '0 18px' }}&gt;&#13;&#10;                        &lt;Text style={{ width: 172, fontFamily: 'Microsoft YaHei', fontSize: 18, fontWeight: 'bold', color: '#FFFFFF' }}&gt;保险公司&lt;/Text&gt;&#13;&#10;                        &lt;Text style={{ flex: 1, fontFamily: 'Microsoft YaHei', fontSize: 15, color: 'rgba(255,255,255,0.62)', lineHeight: 1.45 }}&gt;&#13;&#10;                            我们做风控与技术方：输出参数化定价与链上证据层 —— 第二阶段&#13;&#10;                        &lt;/Text&gt;&#13;&#10;                    &lt;/Box&gt;&#13;&#10;&#13;&#10;                &lt;/Box&gt;&#13;&#10;            &lt;/Box&gt;&#13;&#10;&#13;&#10;        &lt;/Box&gt;&#13;&#10;&#13;&#10;    &lt;/Box&gt;&#13;&#10;&#13;&#10;    &lt;Box style={{ height: 40, flexDirection: 'row', alignItems: 'center' }}&gt;&#13;&#10;        &lt;Text style={{ fontFamily: 'Microsoft YaHei', fontSize: 15, color: 'rgba(255,255,255,0.40)' }}&gt;雨证 · RainProof&lt;/Text&gt;&#13;&#10;        &lt;Box style={{ flex: 1 }} /&gt;&#13;&#10;        &lt;Text style={{ fontFamily: 'Consolas', fontSize: 15, color: 'rgba(255,255,255,0.40)' }}&gt;08 / 11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矩形 30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307" name="矩形 306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08" name="文本框 307" descr="{&quot;isTemplate&quot;:true,&quot;type&quot;:&quot;text&quot;}"/>
          <p:cNvSpPr txBox="1"/>
          <p:nvPr/>
        </p:nvSpPr>
        <p:spPr>
          <a:xfrm>
            <a:off x="914400" y="409575"/>
            <a:ext cx="34290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那谁为这个风险付钱？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9" name="文本框 308" descr="{&quot;isTemplate&quot;:true,&quot;type&quot;:&quot;text&quot;}"/>
          <p:cNvSpPr txBox="1"/>
          <p:nvPr/>
        </p:nvSpPr>
        <p:spPr>
          <a:xfrm>
            <a:off x="10163175" y="571500"/>
            <a:ext cx="1343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05 / BUSINESS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10" name="文本框 309" descr="{&quot;isTemplate&quot;:true,&quot;type&quot;:&quot;text&quot;}"/>
          <p:cNvSpPr txBox="1"/>
          <p:nvPr/>
        </p:nvSpPr>
        <p:spPr>
          <a:xfrm>
            <a:off x="685800" y="1143000"/>
            <a:ext cx="3810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WHO PAYS</a:t>
            </a:r>
            <a:endParaRPr lang="en-US" sz="1050" spc="3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11" name="文本框 310" descr="{&quot;isTemplate&quot;:true,&quot;type&quot;:&quot;text&quot;}"/>
          <p:cNvSpPr txBox="1"/>
          <p:nvPr/>
        </p:nvSpPr>
        <p:spPr>
          <a:xfrm>
            <a:off x="685800" y="1438275"/>
            <a:ext cx="4160520" cy="1390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骑手自己不付钱。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5000"/>
              </a:lnSpc>
            </a:pPr>
            <a:r>
              <a:rPr lang="zh-CN" sz="1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向有合规与舆情压力的一方收费。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2" name="矩形 311"/>
          <p:cNvSpPr/>
          <p:nvPr/>
        </p:nvSpPr>
        <p:spPr>
          <a:xfrm>
            <a:off x="685800" y="3019425"/>
            <a:ext cx="3810000" cy="9525"/>
          </a:xfrm>
          <a:prstGeom prst="rect">
            <a:avLst/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313" name="文本框 312" descr="{&quot;isTemplate&quot;:true,&quot;type&quot;:&quot;text&quot;}"/>
          <p:cNvSpPr txBox="1"/>
          <p:nvPr/>
        </p:nvSpPr>
        <p:spPr>
          <a:xfrm>
            <a:off x="685800" y="3200400"/>
            <a:ext cx="3810000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单均保费只有千分之几</a:t>
            </a:r>
            <a:r>
              <a:rPr lang="en-US" sz="11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BOT</a:t>
            </a:r>
            <a:r>
              <a:rPr lang="zh-CN" sz="11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，靠骑手逐单付费撑不起渠道成本；但平台一次决策就能覆盖成千上万骑手，边际获客成本趋近于零。</a:t>
            </a:r>
            <a:endParaRPr lang="zh-CN" sz="1275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4" name="文本框 313" descr="{&quot;isTemplate&quot;:true,&quot;type&quot;:&quot;text&quot;}"/>
          <p:cNvSpPr txBox="1"/>
          <p:nvPr/>
        </p:nvSpPr>
        <p:spPr>
          <a:xfrm>
            <a:off x="685800" y="4248150"/>
            <a:ext cx="38100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更关键的是：暴雨天的运力缺口与事故舆情，本身就是平台必须花的钱。</a:t>
            </a:r>
            <a:endParaRPr lang="zh-CN" sz="1275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5" name="圆角矩形 314"/>
          <p:cNvSpPr/>
          <p:nvPr/>
        </p:nvSpPr>
        <p:spPr>
          <a:xfrm>
            <a:off x="685800" y="4914900"/>
            <a:ext cx="3810000" cy="1371600"/>
          </a:xfrm>
          <a:prstGeom prst="roundRect">
            <a:avLst>
              <a:gd name="adj" fmla="val 3472"/>
            </a:avLst>
          </a:prstGeom>
          <a:solidFill>
            <a:srgbClr val="2D7FF9">
              <a:alpha val="10000"/>
            </a:srgbClr>
          </a:solidFill>
          <a:ln w="12700">
            <a:solidFill>
              <a:srgbClr val="2D7FF9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6" name="文本框 315" descr="{&quot;isTemplate&quot;:true,&quot;type&quot;:&quot;text&quot;}"/>
          <p:cNvSpPr txBox="1"/>
          <p:nvPr/>
        </p:nvSpPr>
        <p:spPr>
          <a:xfrm>
            <a:off x="838200" y="5067300"/>
            <a:ext cx="3505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RECOMMENDED PATH</a:t>
            </a:r>
            <a:endParaRPr lang="en-US" sz="1050" spc="22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17" name="文本框 316" descr="{&quot;isTemplate&quot;:true,&quot;type&quot;:&quot;text&quot;}"/>
          <p:cNvSpPr txBox="1"/>
          <p:nvPr/>
        </p:nvSpPr>
        <p:spPr>
          <a:xfrm>
            <a:off x="838200" y="5305425"/>
            <a:ext cx="3505200" cy="828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先以平台为客户做</a:t>
            </a:r>
            <a:r>
              <a:rPr lang="en-US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B2B2C</a:t>
            </a:r>
            <a:r>
              <a:rPr lang="zh-CN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，把单区域在保规模做起来；规模起来后，再向保险公司输出定价与证据能力。</a:t>
            </a:r>
            <a:endParaRPr lang="zh-CN" sz="1200">
              <a:solidFill>
                <a:srgbClr val="FFFFFF">
                  <a:alpha val="8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8" name="文本框 317" descr="{&quot;isTemplate&quot;:true,&quot;type&quot;:&quot;text&quot;}"/>
          <p:cNvSpPr txBox="1"/>
          <p:nvPr/>
        </p:nvSpPr>
        <p:spPr>
          <a:xfrm>
            <a:off x="4743450" y="1143000"/>
            <a:ext cx="6762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THREE BUYERS</a:t>
            </a:r>
            <a:endParaRPr lang="en-US" sz="1050" spc="22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19" name="圆角矩形 318"/>
          <p:cNvSpPr/>
          <p:nvPr/>
        </p:nvSpPr>
        <p:spPr>
          <a:xfrm>
            <a:off x="4772025" y="1419225"/>
            <a:ext cx="6762750" cy="647700"/>
          </a:xfrm>
          <a:prstGeom prst="roundRect">
            <a:avLst>
              <a:gd name="adj" fmla="val 5882"/>
            </a:avLst>
          </a:prstGeom>
          <a:solidFill>
            <a:srgbClr val="FFFFFF">
              <a:alpha val="3000"/>
            </a:srgbClr>
          </a:solidFill>
        </p:spPr>
        <p:txBody>
          <a:bodyPr/>
          <a:p/>
        </p:txBody>
      </p:sp>
      <p:sp>
        <p:nvSpPr>
          <p:cNvPr id="320" name="任意多边形 319"/>
          <p:cNvSpPr/>
          <p:nvPr/>
        </p:nvSpPr>
        <p:spPr>
          <a:xfrm>
            <a:off x="4772025" y="1419225"/>
            <a:ext cx="6762750" cy="647700"/>
          </a:xfrm>
          <a:custGeom>
            <a:avLst/>
            <a:gdLst/>
            <a:ahLst/>
            <a:cxnLst/>
            <a:pathLst>
              <a:path w="710" h="68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67"/>
                </a:lnTo>
                <a:cubicBezTo>
                  <a:pt x="3" y="67"/>
                  <a:pt x="3" y="68"/>
                  <a:pt x="4" y="68"/>
                </a:cubicBezTo>
                <a:cubicBezTo>
                  <a:pt x="2" y="68"/>
                  <a:pt x="0" y="66"/>
                  <a:pt x="0" y="6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321" name="文本框 320" descr="{&quot;isTemplate&quot;:true,&quot;type&quot;:&quot;text&quot;}"/>
          <p:cNvSpPr txBox="1"/>
          <p:nvPr/>
        </p:nvSpPr>
        <p:spPr>
          <a:xfrm>
            <a:off x="4943475" y="1638300"/>
            <a:ext cx="1638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骑手自付</a:t>
            </a:r>
            <a:endParaRPr lang="zh-CN" sz="1350" b="1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2" name="文本框 321" descr="{&quot;isTemplate&quot;:true,&quot;type&quot;:&quot;text&quot;}"/>
          <p:cNvSpPr txBox="1"/>
          <p:nvPr/>
        </p:nvSpPr>
        <p:spPr>
          <a:xfrm>
            <a:off x="6581775" y="1619250"/>
            <a:ext cx="47529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获客成本高、价格极敏感、单均太小撑不起渠道</a:t>
            </a:r>
            <a:r>
              <a:rPr lang="en-US" sz="1125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125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不推荐作为主路径</a:t>
            </a:r>
            <a:endParaRPr lang="zh-CN" sz="1125">
              <a:solidFill>
                <a:srgbClr val="FFFFFF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3" name="圆角矩形 322"/>
          <p:cNvSpPr/>
          <p:nvPr/>
        </p:nvSpPr>
        <p:spPr>
          <a:xfrm>
            <a:off x="4772025" y="2143125"/>
            <a:ext cx="6762750" cy="971550"/>
          </a:xfrm>
          <a:prstGeom prst="roundRect">
            <a:avLst>
              <a:gd name="adj" fmla="val 3922"/>
            </a:avLst>
          </a:prstGeom>
          <a:solidFill>
            <a:srgbClr val="2D7FF9">
              <a:alpha val="12000"/>
            </a:srgbClr>
          </a:solidFill>
        </p:spPr>
        <p:txBody>
          <a:bodyPr/>
          <a:p/>
        </p:txBody>
      </p:sp>
      <p:sp>
        <p:nvSpPr>
          <p:cNvPr id="324" name="任意多边形 323"/>
          <p:cNvSpPr/>
          <p:nvPr/>
        </p:nvSpPr>
        <p:spPr>
          <a:xfrm>
            <a:off x="4772025" y="2143125"/>
            <a:ext cx="6762750" cy="971550"/>
          </a:xfrm>
          <a:custGeom>
            <a:avLst/>
            <a:gdLst/>
            <a:ahLst/>
            <a:cxnLst/>
            <a:pathLst>
              <a:path w="710" h="102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101"/>
                </a:lnTo>
                <a:cubicBezTo>
                  <a:pt x="3" y="101"/>
                  <a:pt x="3" y="102"/>
                  <a:pt x="4" y="102"/>
                </a:cubicBezTo>
                <a:cubicBezTo>
                  <a:pt x="2" y="102"/>
                  <a:pt x="0" y="100"/>
                  <a:pt x="0" y="9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2D7FF9"/>
          </a:solidFill>
        </p:spPr>
        <p:txBody>
          <a:bodyPr/>
          <a:p/>
        </p:txBody>
      </p:sp>
      <p:sp>
        <p:nvSpPr>
          <p:cNvPr id="325" name="文本框 324" descr="{&quot;isTemplate&quot;:true,&quot;type&quot;:&quot;text&quot;}"/>
          <p:cNvSpPr txBox="1"/>
          <p:nvPr/>
        </p:nvSpPr>
        <p:spPr>
          <a:xfrm>
            <a:off x="4943475" y="2238375"/>
            <a:ext cx="15430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平台</a:t>
            </a:r>
            <a:r>
              <a:rPr 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众包服务商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6" name="圆角矩形 325"/>
          <p:cNvSpPr/>
          <p:nvPr/>
        </p:nvSpPr>
        <p:spPr>
          <a:xfrm>
            <a:off x="6600825" y="2257425"/>
            <a:ext cx="438150" cy="190500"/>
          </a:xfrm>
          <a:prstGeom prst="roundRect">
            <a:avLst>
              <a:gd name="adj" fmla="val 15000"/>
            </a:avLst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7" name="文本框 326" descr="{&quot;isTemplate&quot;:true,&quot;type&quot;:&quot;text&quot;}"/>
          <p:cNvSpPr txBox="1"/>
          <p:nvPr/>
        </p:nvSpPr>
        <p:spPr>
          <a:xfrm>
            <a:off x="6696075" y="2276475"/>
            <a:ext cx="247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推荐</a:t>
            </a:r>
            <a:endParaRPr lang="zh-CN" sz="975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8" name="文本框 327" descr="{&quot;isTemplate&quot;:true,&quot;type&quot;:&quot;text&quot;}"/>
          <p:cNvSpPr txBox="1"/>
          <p:nvPr/>
        </p:nvSpPr>
        <p:spPr>
          <a:xfrm>
            <a:off x="4943475" y="2524125"/>
            <a:ext cx="6391275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一次决策覆盖成千上万骑手，边际获客成本≈</a:t>
            </a:r>
            <a:r>
              <a:rPr lang="en-US" sz="112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sz="112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；且它的合规成本、骑手留存与舆情风险对冲都指向同一笔支出</a:t>
            </a:r>
            <a:endParaRPr lang="zh-CN" sz="1125">
              <a:solidFill>
                <a:srgbClr val="FFFFFF">
                  <a:alpha val="7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9" name="圆角矩形 328"/>
          <p:cNvSpPr/>
          <p:nvPr/>
        </p:nvSpPr>
        <p:spPr>
          <a:xfrm>
            <a:off x="4772025" y="3190875"/>
            <a:ext cx="6762750" cy="647700"/>
          </a:xfrm>
          <a:prstGeom prst="roundRect">
            <a:avLst>
              <a:gd name="adj" fmla="val 5882"/>
            </a:avLst>
          </a:prstGeom>
          <a:solidFill>
            <a:srgbClr val="FFFFFF">
              <a:alpha val="4000"/>
            </a:srgbClr>
          </a:solidFill>
        </p:spPr>
        <p:txBody>
          <a:bodyPr/>
          <a:p/>
        </p:txBody>
      </p:sp>
      <p:sp>
        <p:nvSpPr>
          <p:cNvPr id="330" name="任意多边形 329"/>
          <p:cNvSpPr/>
          <p:nvPr/>
        </p:nvSpPr>
        <p:spPr>
          <a:xfrm>
            <a:off x="4772025" y="3190875"/>
            <a:ext cx="6762750" cy="647700"/>
          </a:xfrm>
          <a:custGeom>
            <a:avLst/>
            <a:gdLst/>
            <a:ahLst/>
            <a:cxnLst/>
            <a:pathLst>
              <a:path w="710" h="68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67"/>
                </a:lnTo>
                <a:cubicBezTo>
                  <a:pt x="3" y="67"/>
                  <a:pt x="3" y="68"/>
                  <a:pt x="4" y="68"/>
                </a:cubicBezTo>
                <a:cubicBezTo>
                  <a:pt x="2" y="68"/>
                  <a:pt x="0" y="66"/>
                  <a:pt x="0" y="6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22D3EE"/>
          </a:solidFill>
        </p:spPr>
        <p:txBody>
          <a:bodyPr/>
          <a:p/>
        </p:txBody>
      </p:sp>
      <p:sp>
        <p:nvSpPr>
          <p:cNvPr id="331" name="文本框 330" descr="{&quot;isTemplate&quot;:true,&quot;type&quot;:&quot;text&quot;}"/>
          <p:cNvSpPr txBox="1"/>
          <p:nvPr/>
        </p:nvSpPr>
        <p:spPr>
          <a:xfrm>
            <a:off x="4943475" y="3409950"/>
            <a:ext cx="1638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保险公司</a:t>
            </a:r>
            <a:endParaRPr lang="zh-CN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2" name="文本框 331" descr="{&quot;isTemplate&quot;:true,&quot;type&quot;:&quot;text&quot;}"/>
          <p:cNvSpPr txBox="1"/>
          <p:nvPr/>
        </p:nvSpPr>
        <p:spPr>
          <a:xfrm>
            <a:off x="6581775" y="3390900"/>
            <a:ext cx="47529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我们做风控与技术方：输出参数化定价与链上证据层</a:t>
            </a:r>
            <a:r>
              <a:rPr lang="en-US" sz="1125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125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第二阶段</a:t>
            </a:r>
            <a:endParaRPr lang="zh-CN" sz="1125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4" name="文本框 333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14 / 19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35" name="TextBox 334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So who pays for this risk?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三件必须先说清的事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Three things to state before you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05 /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15 /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80">
                <a:solidFill>
                  <a:srgbClr val="22D3EE"/>
                </a:solidFill>
                <a:latin typeface="Consolas"/>
                <a:ea typeface="Consolas"/>
              </a:rPr>
              <a:t>COMPLIANCE · 我们不做承保主体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682496"/>
            <a:ext cx="41148" cy="804672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1719072"/>
            <a:ext cx="31089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60">
                <a:solidFill>
                  <a:srgbClr val="22D3EE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1700784"/>
            <a:ext cx="1828800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FFFFFF"/>
                </a:solidFill>
                <a:latin typeface="微软雅黑"/>
                <a:ea typeface="微软雅黑"/>
              </a:rPr>
              <a:t>谁承保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8" y="1682496"/>
            <a:ext cx="7315" cy="804672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700784"/>
            <a:ext cx="8065008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100" b="0" i="0" lang="zh-CN">
                <a:solidFill>
                  <a:srgbClr val="FFFFFF">
                    <a:alpha val="78000"/>
                  </a:srgbClr>
                </a:solidFill>
                <a:latin typeface="微软雅黑"/>
                <a:ea typeface="微软雅黑"/>
              </a:rPr>
              <a:t>我们不做承保主体。前期与持牌险企、保险经纪合作，保单法律关系在持牌方；我们收科技服务费（保费 12–15%）。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615184"/>
            <a:ext cx="41148" cy="804672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2651760"/>
            <a:ext cx="31089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60">
                <a:solidFill>
                  <a:srgbClr val="22D3EE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633472"/>
            <a:ext cx="1828800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FFFFFF"/>
                </a:solidFill>
                <a:latin typeface="微软雅黑"/>
                <a:ea typeface="微软雅黑"/>
              </a:rPr>
              <a:t>条款怎么过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18688" y="2615184"/>
            <a:ext cx="7315" cy="804672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38144" y="2633472"/>
            <a:ext cx="8065008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100" b="0" i="0" lang="zh-CN">
                <a:solidFill>
                  <a:srgbClr val="FFFFFF">
                    <a:alpha val="78000"/>
                  </a:srgbClr>
                </a:solidFill>
                <a:latin typeface="微软雅黑"/>
                <a:ea typeface="微软雅黑"/>
              </a:rPr>
              <a:t>参数化产品的触发口径必须写进条款：城市、时段、档线、数据源、容差、拒收规则；按现行条款费率管理办法报备后销售。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547872"/>
            <a:ext cx="41148" cy="804672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84448"/>
            <a:ext cx="31089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60">
                <a:solidFill>
                  <a:srgbClr val="22D3EE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566160"/>
            <a:ext cx="1828800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FFFFFF"/>
                </a:solidFill>
                <a:latin typeface="微软雅黑"/>
                <a:ea typeface="微软雅黑"/>
              </a:rPr>
              <a:t>算法怎么被检查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18688" y="3547872"/>
            <a:ext cx="7315" cy="804672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38144" y="3566160"/>
            <a:ext cx="8065008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100" b="0" i="0" lang="zh-CN">
                <a:solidFill>
                  <a:srgbClr val="FFFFFF">
                    <a:alpha val="78000"/>
                  </a:srgbClr>
                </a:solidFill>
                <a:latin typeface="微软雅黑"/>
                <a:ea typeface="微软雅黑"/>
              </a:rPr>
              <a:t>规则确定性、可复现；AI 只生成解释，不进哈希、不改结论；原始报文与哈希留痕，可供监管与第三方抽查。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663440"/>
            <a:ext cx="10817352" cy="107899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4791456"/>
            <a:ext cx="29260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120">
                <a:solidFill>
                  <a:srgbClr val="F5A524"/>
                </a:solidFill>
                <a:latin typeface="Consolas"/>
                <a:ea typeface="Consolas"/>
              </a:rPr>
              <a:t>还没解决的三个问题（不藏）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5029200"/>
            <a:ext cx="32918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1" i="0" lang="zh-CN">
                <a:solidFill>
                  <a:srgbClr val="F5A524"/>
                </a:solidFill>
                <a:latin typeface="微软雅黑"/>
                <a:ea typeface="微软雅黑"/>
              </a:rPr>
              <a:t>基差风险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" y="5266944"/>
            <a:ext cx="331012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8000"/>
                  </a:srgbClr>
                </a:solidFill>
                <a:latin typeface="微软雅黑"/>
                <a:ea typeface="微软雅黑"/>
              </a:rPr>
              <a:t>城市雨量 ≠ 骑手街道 → 区划码加权，再接订单数据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9704" y="5029200"/>
            <a:ext cx="32918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1" i="0" lang="zh-CN">
                <a:solidFill>
                  <a:srgbClr val="F5A524"/>
                </a:solidFill>
                <a:latin typeface="微软雅黑"/>
                <a:ea typeface="微软雅黑"/>
              </a:rPr>
              <a:t>数据源断供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9704" y="5266944"/>
            <a:ext cx="331012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8000"/>
                  </a:srgbClr>
                </a:solidFill>
                <a:latin typeface="微软雅黑"/>
                <a:ea typeface="微软雅黑"/>
              </a:rPr>
              <a:t>三模型 + 容差 + 拒收留痕；条款里先约定兜底口径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74152" y="5029200"/>
            <a:ext cx="32918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1" i="0" lang="zh-CN">
                <a:solidFill>
                  <a:srgbClr val="F5A524"/>
                </a:solidFill>
                <a:latin typeface="微软雅黑"/>
                <a:ea typeface="微软雅黑"/>
              </a:rPr>
              <a:t>身份核验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74152" y="5266944"/>
            <a:ext cx="331012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8000"/>
                  </a:srgbClr>
                </a:solidFill>
                <a:latin typeface="微软雅黑"/>
                <a:ea typeface="微软雅黑"/>
              </a:rPr>
              <a:t>保单绑定骑手地址，由平台批量签发，单骑手不可自证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335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回到那个骑手&#10;        &lt;/Text&gt;&#10;        &lt;Box style={{ flex: 1 }} /&gt;&#10;        &lt;Text style={{ fontFamily: 'Consolas', fontSize: 16, color: 'rgba(255,255,255,0.34)', letterSpacing: 2 }}&gt;&#10;            08 / BACK TO HIM&#10;        &lt;/Text&gt;&#10;    &lt;/Box&gt;&#10;&#10;    &lt;Box style={{ height: 540, flexDirection: 'column' }}&gt;&#10;&#10;        &lt;Box style={{ height: 216, position: 'relative', borderRadius: 6, overflow: 'hidden', border: '1px solid rgba(255,255,255,0.12)' }}&gt;&#10;            &lt;Image src=&quot;assets/rider_payout_phone.png&quot; style={{ width: '100%', height: '100%', objectFit: 'cover', objectPosition: 'center 35%' }} /&gt;&#10;            &lt;Box style={{ position: 'absolute', top: 0, left: 0, width: 1136, height: 216, background: 'linear-gradient(180deg, rgba(10,20,34,0) 26%, rgba(10,20,34,0.92) 100%)' }} /&gt;&#10;            &lt;Box style={{ position: 'absolute', left: 28, bottom: 22, width: 920, flexDirection: 'column' }}&gt;&#10;                &lt;Text style={{ fontFamily: 'Consolas', fontSize: 14, color: '#22D3EE', letterSpacing: 4 }}&gt;&#10;                    PRIMARY SCENARIO&#10;                &lt;/Text&gt;&#10;                &lt;Text style={{ fontFamily: 'Microsoft YaHei', fontSize: 22, fontWeight: 'bold', color: '#FFFFFF', lineHeight: 1.4, marginTop: 8 }}&gt;&#10;                    暴雨日平台限流、骑手停工 —— 收入中断由链上判定自动兜底&#10;                &lt;/Text&gt;&#10;            &lt;/Box&gt;&#10;        &lt;/Box&gt;&#10;&#10;        &lt;Box style={{ flexDirection: 'column', marginTop: 20 }}&gt;&#10;            &lt;Text style={{ fontFamily: 'Consolas', fontSize: 14, color: '#22D3EE', letterSpacing: 3 }}&gt;&#10;                TRADITIONAL RIDER ACCIDENT VS. RAINPROOF&#10;            &lt;/Text&gt;&#10;&#10;            &lt;Box style={{ height: 30, flexDirection: 'row', alignItems: 'center', marginTop: 8, gap: 20 }}&gt;&#10;                &lt;Text style={{ width: 140, fontFamily: 'Microsoft YaHei', fontSize: 14, color: 'rgba(255,255,255,0.40)' }}&gt;对比维度&lt;/Text&gt;&#10;                &lt;Text style={{ width: 450, fontFamily: 'Microsoft YaHei', fontSize: 14, color: 'rgba(255,255,255,0.40)' }}&gt;传统骑手意外险&lt;/Text&gt;&#10;                &lt;Text style={{ width: 450, fontFamily: 'Microsoft YaHei', fontSize: 14, color: '#22D3EE' }}&gt;雨证 · 参数化降雨险&lt;/Text&gt;&#10;            &lt;/Box&gt;&#10;&#10;            &lt;Box style={{ flexDirection: 'column', gap: 8, marginTop: 8 }}&gt;&#10;                &lt;Box style={{ height: 64, flexDirection: 'row', alignItems: 'center', gap: 20, background: 'rgba(255,255,255,0.04)', borderRadius: 5, padding: '0 18px', border: '1px solid rgba(255,255,255,0.08)' }}&gt;&#10;                    &lt;Text style={{ width: 140, fontFamily: 'Microsoft YaHei', fontSize: 16, fontWeight: 'bold', color: '#FFFFFF' }}&gt;触发依据&lt;/Text&gt;&#10;                    &lt;Text style={{ width: 450, fontFamily: 'Microsoft YaHei', fontSize: 16, color: 'rgba(255,255,255,0.56)' }}&gt;实际受伤与实际损失&lt;/Text&gt;&#10;                    &lt;Text style={{ width: 450, fontFamily: 'Microsoft YaHei', fontSize: 16, color: 'rgba(255,255,255,0.88)' }}&gt;链上降雨量是否越过国标线&lt;/Text&gt;&#10;                &lt;/Box&gt;&#10;                &lt;Box style={{ height: 64, flexDirection: 'row', alignItems: 'center', gap: 20, background: 'rgba(255,255,255,0.04)', borderRadius: 5, padding: '0 18px', border: '1px solid rgba(255,255,255,0.08)' }}&gt;&#10;                    &lt;Text style={{ width: 140, fontFamily: 'Microsoft YaHei', fontSize: 16, fontWeight: 'bold', color: '#FFFFFF' }}&gt;举证责任&lt;/Text&gt;&#10;                    &lt;Text style={{ width: 450, fontFamily: 'Microsoft YaHei', fontSize: 16, color: 'rgba(255,255,255,0.56)' }}&gt;骑手报案 + 人工查勘定损&lt;/Text&gt;&#10;                    &lt;Text style={{ width: 450, fontFamily: 'Microsoft YaHei', fontSize: 16, color: 'rgba(255,255,255,0.88)' }}&gt;无人报案，判定链上自证&lt;/Text&gt;&#10;                &lt;/Box&gt;&#10;            &lt;/Box&gt;&#10;        &lt;/Box&gt;&#10;&#10;        &lt;Box style={{ marginTop: 'auto', background: 'rgba(45,127,249,0.10)', border: '1px solid rgba(45,127,249,0.30)', borderRadius: 5, padding: '16px 26px' }}&gt;&#10;            &lt;Text style={{ fontFamily: 'Microsoft YaHei', fontSize: 28, fontWeight: 'bold', color: '#FFFFFF', lineHeight: 1.3 }}&gt;&#10;                贵的不是赔付，是「&lt;span style={{ color: '#22D3EE' }}&gt;查&lt;/span&gt;」。&#10;            &lt;/Text&gt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9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矩形 3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337" name="矩形 336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38" name="文本框 337" descr="{&quot;isTemplate&quot;:true,&quot;type&quot;:&quot;text&quot;}"/>
          <p:cNvSpPr txBox="1"/>
          <p:nvPr/>
        </p:nvSpPr>
        <p:spPr>
          <a:xfrm>
            <a:off x="914400" y="409575"/>
            <a:ext cx="20574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回到那个骑手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9" name="文本框 338" descr="{&quot;isTemplate&quot;:true,&quot;type&quot;:&quot;text&quot;}"/>
          <p:cNvSpPr txBox="1"/>
          <p:nvPr/>
        </p:nvSpPr>
        <p:spPr>
          <a:xfrm>
            <a:off x="9858375" y="571500"/>
            <a:ext cx="1647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06 / BACK TO HIM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40" name="文本框 339" descr="{&quot;isTemplate&quot;:true,&quot;type&quot;:&quot;text&quot;}"/>
          <p:cNvSpPr txBox="1"/>
          <p:nvPr/>
        </p:nvSpPr>
        <p:spPr>
          <a:xfrm>
            <a:off x="685800" y="3390900"/>
            <a:ext cx="10820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TRADITIONAL RIDER ACCIDENT VS. RAINPROOF</a:t>
            </a:r>
            <a:endParaRPr lang="en-US" sz="1050" spc="22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41" name="文本框 340" descr="{&quot;isTemplate&quot;:true,&quot;type&quot;:&quot;text&quot;}"/>
          <p:cNvSpPr txBox="1"/>
          <p:nvPr/>
        </p:nvSpPr>
        <p:spPr>
          <a:xfrm>
            <a:off x="685800" y="3695700"/>
            <a:ext cx="1333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4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对比维度</a:t>
            </a:r>
            <a:endParaRPr lang="zh-CN" sz="1050">
              <a:solidFill>
                <a:srgbClr val="FFFFFF">
                  <a:alpha val="4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2" name="文本框 341" descr="{&quot;isTemplate&quot;:true,&quot;type&quot;:&quot;text&quot;}"/>
          <p:cNvSpPr txBox="1"/>
          <p:nvPr/>
        </p:nvSpPr>
        <p:spPr>
          <a:xfrm>
            <a:off x="2209800" y="3695700"/>
            <a:ext cx="42862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4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传统骑手意外险</a:t>
            </a:r>
            <a:endParaRPr lang="zh-CN" sz="1050">
              <a:solidFill>
                <a:srgbClr val="FFFFFF">
                  <a:alpha val="4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3" name="文本框 342" descr="{&quot;isTemplate&quot;:true,&quot;type&quot;:&quot;text&quot;}"/>
          <p:cNvSpPr txBox="1"/>
          <p:nvPr/>
        </p:nvSpPr>
        <p:spPr>
          <a:xfrm>
            <a:off x="6686550" y="3695700"/>
            <a:ext cx="42862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雨证</a:t>
            </a:r>
            <a:r>
              <a:rPr lang="en-US" sz="105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参数化降雨险</a:t>
            </a:r>
            <a:endParaRPr lang="zh-CN" sz="1050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4" name="圆角矩形 343"/>
          <p:cNvSpPr/>
          <p:nvPr/>
        </p:nvSpPr>
        <p:spPr>
          <a:xfrm>
            <a:off x="685800" y="3990975"/>
            <a:ext cx="10820400" cy="609600"/>
          </a:xfrm>
          <a:prstGeom prst="roundRect">
            <a:avLst>
              <a:gd name="adj" fmla="val 781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5" name="文本框 344" descr="{&quot;isTemplate&quot;:true,&quot;type&quot;:&quot;text&quot;}"/>
          <p:cNvSpPr txBox="1"/>
          <p:nvPr/>
        </p:nvSpPr>
        <p:spPr>
          <a:xfrm>
            <a:off x="857250" y="4200525"/>
            <a:ext cx="1333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触发依据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6" name="文本框 345" descr="{&quot;isTemplate&quot;:true,&quot;type&quot;:&quot;text&quot;}"/>
          <p:cNvSpPr txBox="1"/>
          <p:nvPr/>
        </p:nvSpPr>
        <p:spPr>
          <a:xfrm>
            <a:off x="2381250" y="4200525"/>
            <a:ext cx="4286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实际受伤与实际损失</a:t>
            </a:r>
            <a:endParaRPr lang="zh-CN" sz="1200">
              <a:solidFill>
                <a:srgbClr val="FFFFFF">
                  <a:alpha val="5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7" name="文本框 346" descr="{&quot;isTemplate&quot;:true,&quot;type&quot;:&quot;text&quot;}"/>
          <p:cNvSpPr txBox="1"/>
          <p:nvPr/>
        </p:nvSpPr>
        <p:spPr>
          <a:xfrm>
            <a:off x="6858000" y="4200525"/>
            <a:ext cx="4286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链上降雨量是否越过合约档线（v5 · 24h 档 50 / 100 mm）</a:t>
            </a:r>
            <a:endParaRPr lang="zh-CN" sz="1200">
              <a:solidFill>
                <a:srgbClr val="FFFFFF">
                  <a:alpha val="8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8" name="圆角矩形 347"/>
          <p:cNvSpPr/>
          <p:nvPr/>
        </p:nvSpPr>
        <p:spPr>
          <a:xfrm>
            <a:off x="685800" y="4676775"/>
            <a:ext cx="10820400" cy="609600"/>
          </a:xfrm>
          <a:prstGeom prst="roundRect">
            <a:avLst>
              <a:gd name="adj" fmla="val 781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9" name="文本框 348" descr="{&quot;isTemplate&quot;:true,&quot;type&quot;:&quot;text&quot;}"/>
          <p:cNvSpPr txBox="1"/>
          <p:nvPr/>
        </p:nvSpPr>
        <p:spPr>
          <a:xfrm>
            <a:off x="857250" y="4886325"/>
            <a:ext cx="1333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举证责任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0" name="文本框 349" descr="{&quot;isTemplate&quot;:true,&quot;type&quot;:&quot;text&quot;}"/>
          <p:cNvSpPr txBox="1"/>
          <p:nvPr/>
        </p:nvSpPr>
        <p:spPr>
          <a:xfrm>
            <a:off x="2381250" y="4886325"/>
            <a:ext cx="4286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骑手报案</a:t>
            </a:r>
            <a:r>
              <a:rPr lang="en-US" sz="120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20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人工查勘定损</a:t>
            </a:r>
            <a:endParaRPr lang="zh-CN" sz="1200">
              <a:solidFill>
                <a:srgbClr val="FFFFFF">
                  <a:alpha val="5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1" name="文本框 350" descr="{&quot;isTemplate&quot;:true,&quot;type&quot;:&quot;text&quot;}"/>
          <p:cNvSpPr txBox="1"/>
          <p:nvPr/>
        </p:nvSpPr>
        <p:spPr>
          <a:xfrm>
            <a:off x="6858000" y="4886325"/>
            <a:ext cx="4286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无人报案，判定链上自证</a:t>
            </a:r>
            <a:endParaRPr lang="zh-CN" sz="1200">
              <a:solidFill>
                <a:srgbClr val="FFFFFF">
                  <a:alpha val="8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2" name="圆角矩形 351"/>
          <p:cNvSpPr/>
          <p:nvPr/>
        </p:nvSpPr>
        <p:spPr>
          <a:xfrm>
            <a:off x="685800" y="5562600"/>
            <a:ext cx="10820400" cy="723900"/>
          </a:xfrm>
          <a:prstGeom prst="roundRect">
            <a:avLst>
              <a:gd name="adj" fmla="val 6579"/>
            </a:avLst>
          </a:prstGeom>
          <a:solidFill>
            <a:srgbClr val="2D7FF9">
              <a:alpha val="10000"/>
            </a:srgbClr>
          </a:solidFill>
          <a:ln w="12700">
            <a:solidFill>
              <a:srgbClr val="2D7FF9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3" name="文本框 352" descr="{&quot;isTemplate&quot;:true,&quot;type&quot;:&quot;text&quot;}"/>
          <p:cNvSpPr txBox="1"/>
          <p:nvPr/>
        </p:nvSpPr>
        <p:spPr>
          <a:xfrm>
            <a:off x="933450" y="5715000"/>
            <a:ext cx="1032510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贵的不是赔付，是「</a:t>
            </a:r>
            <a:r>
              <a:rPr lang="zh-CN" sz="21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查</a:t>
            </a:r>
            <a:r>
              <a:rPr lang="zh-CN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」。</a:t>
            </a:r>
            <a:endParaRPr lang="zh-CN"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5" name="文本框 354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16 / 19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56" name="圆角矩形 355"/>
          <p:cNvSpPr/>
          <p:nvPr/>
        </p:nvSpPr>
        <p:spPr>
          <a:xfrm>
            <a:off x="685800" y="1143000"/>
            <a:ext cx="10820400" cy="2057400"/>
          </a:xfrm>
          <a:prstGeom prst="roundRect">
            <a:avLst>
              <a:gd name="adj" fmla="val 2778"/>
            </a:avLst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57" name="图片 356"/>
          <p:cNvPicPr>
            <a:picLocks noChangeAspect="1"/>
          </p:cNvPicPr>
          <p:nvPr/>
        </p:nvPicPr>
        <p:blipFill>
          <a:blip r:embed="rId1"/>
          <a:srcRect t="34530" b="34530"/>
          <a:stretch>
            <a:fillRect/>
          </a:stretch>
        </p:blipFill>
        <p:spPr>
          <a:xfrm>
            <a:off x="685800" y="1143000"/>
            <a:ext cx="10820400" cy="2057400"/>
          </a:xfrm>
          <a:custGeom>
            <a:avLst/>
            <a:gdLst/>
            <a:ahLst/>
            <a:cxnLst/>
            <a:pathLst>
              <a:path w="1136" h="216">
                <a:moveTo>
                  <a:pt x="1130" y="0"/>
                </a:moveTo>
                <a:cubicBezTo>
                  <a:pt x="1133" y="0"/>
                  <a:pt x="1136" y="3"/>
                  <a:pt x="1136" y="6"/>
                </a:cubicBezTo>
                <a:lnTo>
                  <a:pt x="1136" y="210"/>
                </a:lnTo>
                <a:cubicBezTo>
                  <a:pt x="1136" y="213"/>
                  <a:pt x="1133" y="216"/>
                  <a:pt x="1130" y="216"/>
                </a:cubicBezTo>
                <a:lnTo>
                  <a:pt x="6" y="216"/>
                </a:lnTo>
                <a:cubicBezTo>
                  <a:pt x="3" y="216"/>
                  <a:pt x="0" y="213"/>
                  <a:pt x="0" y="21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1130" y="0"/>
                </a:lnTo>
                <a:close/>
              </a:path>
            </a:pathLst>
          </a:custGeom>
        </p:spPr>
      </p:pic>
      <p:sp>
        <p:nvSpPr>
          <p:cNvPr id="358" name="任意多边形 357"/>
          <p:cNvSpPr/>
          <p:nvPr/>
        </p:nvSpPr>
        <p:spPr>
          <a:xfrm>
            <a:off x="685800" y="1143000"/>
            <a:ext cx="10820400" cy="2057400"/>
          </a:xfrm>
          <a:custGeom>
            <a:avLst/>
            <a:gdLst/>
            <a:ahLst/>
            <a:cxnLst/>
            <a:pathLst>
              <a:path w="1136" h="216">
                <a:moveTo>
                  <a:pt x="1130" y="0"/>
                </a:moveTo>
                <a:cubicBezTo>
                  <a:pt x="1133" y="0"/>
                  <a:pt x="1136" y="3"/>
                  <a:pt x="1136" y="6"/>
                </a:cubicBezTo>
                <a:lnTo>
                  <a:pt x="1136" y="210"/>
                </a:lnTo>
                <a:cubicBezTo>
                  <a:pt x="1136" y="213"/>
                  <a:pt x="1133" y="216"/>
                  <a:pt x="1130" y="216"/>
                </a:cubicBezTo>
                <a:lnTo>
                  <a:pt x="6" y="216"/>
                </a:lnTo>
                <a:cubicBezTo>
                  <a:pt x="3" y="216"/>
                  <a:pt x="0" y="213"/>
                  <a:pt x="0" y="21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1130" y="0"/>
                </a:lnTo>
                <a:close/>
              </a:path>
            </a:pathLst>
          </a:custGeom>
          <a:gradFill>
            <a:gsLst>
              <a:gs pos="26000">
                <a:srgbClr val="0A1422">
                  <a:alpha val="0"/>
                </a:srgbClr>
              </a:gs>
              <a:gs pos="100000">
                <a:srgbClr val="0A1422">
                  <a:alpha val="92000"/>
                </a:srgbClr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359" name="文本框 358" descr="{&quot;isTemplate&quot;:true,&quot;type&quot;:&quot;text&quot;}"/>
          <p:cNvSpPr txBox="1"/>
          <p:nvPr/>
        </p:nvSpPr>
        <p:spPr>
          <a:xfrm>
            <a:off x="952500" y="2400300"/>
            <a:ext cx="8763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PRIMARY SCENARIO</a:t>
            </a:r>
            <a:endParaRPr lang="en-US" sz="1050" spc="3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60" name="文本框 359" descr="{&quot;isTemplate&quot;:true,&quot;type&quot;:&quot;text&quot;}"/>
          <p:cNvSpPr txBox="1"/>
          <p:nvPr/>
        </p:nvSpPr>
        <p:spPr>
          <a:xfrm>
            <a:off x="952500" y="2638425"/>
            <a:ext cx="8763000" cy="3524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暴雨日平台限流、骑手停工</a:t>
            </a:r>
            <a:r>
              <a:rPr lang="en-US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收入中断由链上判定自动兜底</a:t>
            </a:r>
            <a:endParaRPr lang="zh-CN"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1" name="TextBox 360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Back to that rider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三年三步，第一年只证一件事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Three years, three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06 /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17 /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80">
                <a:solidFill>
                  <a:srgbClr val="22D3EE"/>
                </a:solidFill>
                <a:latin typeface="Consolas"/>
                <a:ea typeface="Consolas"/>
              </a:rPr>
              <a:t>ROADMAP · 数字为假设口径的测算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1591056"/>
            <a:ext cx="16459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00">
                <a:solidFill>
                  <a:srgbClr val="FFFFFF">
                    <a:alpha val="36000"/>
                  </a:srgbClr>
                </a:solidFill>
                <a:latin typeface="Consolas"/>
                <a:ea typeface="Consolas"/>
              </a:rPr>
              <a:t>阶段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7943" y="1591056"/>
            <a:ext cx="16459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00">
                <a:solidFill>
                  <a:srgbClr val="FFFFFF">
                    <a:alpha val="36000"/>
                  </a:srgbClr>
                </a:solidFill>
                <a:latin typeface="Consolas"/>
                <a:ea typeface="Consolas"/>
              </a:rPr>
              <a:t>时间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1591056"/>
            <a:ext cx="16459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00">
                <a:solidFill>
                  <a:srgbClr val="FFFFFF">
                    <a:alpha val="36000"/>
                  </a:srgbClr>
                </a:solidFill>
                <a:latin typeface="Consolas"/>
                <a:ea typeface="Consolas"/>
              </a:rPr>
              <a:t>规模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58968" y="1591056"/>
            <a:ext cx="16459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00">
                <a:solidFill>
                  <a:srgbClr val="FFFFFF">
                    <a:alpha val="36000"/>
                  </a:srgbClr>
                </a:solidFill>
                <a:latin typeface="Consolas"/>
                <a:ea typeface="Consolas"/>
              </a:rPr>
              <a:t>年保费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1591056"/>
            <a:ext cx="16459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00">
                <a:solidFill>
                  <a:srgbClr val="FFFFFF">
                    <a:alpha val="36000"/>
                  </a:srgbClr>
                </a:solidFill>
                <a:latin typeface="Consolas"/>
                <a:ea typeface="Consolas"/>
              </a:rPr>
              <a:t>关键动作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810512"/>
            <a:ext cx="10817352" cy="804672"/>
          </a:xfrm>
          <a:prstGeom prst="roundRect">
            <a:avLst>
              <a:gd name="adj" fmla="val 54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1956816"/>
            <a:ext cx="10058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FFFFFF"/>
                </a:solidFill>
                <a:latin typeface="微软雅黑"/>
                <a:ea typeface="微软雅黑"/>
              </a:rPr>
              <a:t>试点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37943" y="2084831"/>
            <a:ext cx="11887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48000"/>
                  </a:srgbClr>
                </a:solidFill>
                <a:latin typeface="Consolas"/>
                <a:ea typeface="Consolas"/>
              </a:rPr>
              <a:t>0–12 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39" y="1975104"/>
            <a:ext cx="23774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22D3EE"/>
                </a:solidFill>
                <a:latin typeface="微软雅黑"/>
                <a:ea typeface="微软雅黑"/>
              </a:rPr>
              <a:t>1 城 · 2 万骑手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58968" y="1993392"/>
            <a:ext cx="109728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5A524"/>
                </a:solidFill>
                <a:latin typeface="Consolas"/>
                <a:ea typeface="Consolas"/>
              </a:rPr>
              <a:t>144 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011680"/>
            <a:ext cx="5084064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签 1 家平台 + 1 家持牌险企，跑通首单闭环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724912"/>
            <a:ext cx="10817352" cy="804672"/>
          </a:xfrm>
          <a:prstGeom prst="roundRect">
            <a:avLst>
              <a:gd name="adj" fmla="val 540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" y="2871216"/>
            <a:ext cx="10058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FFFFFF"/>
                </a:solidFill>
                <a:latin typeface="微软雅黑"/>
                <a:ea typeface="微软雅黑"/>
              </a:rPr>
              <a:t>扩展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37943" y="2999232"/>
            <a:ext cx="11887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48000"/>
                  </a:srgbClr>
                </a:solidFill>
                <a:latin typeface="Consolas"/>
                <a:ea typeface="Consolas"/>
              </a:rPr>
              <a:t>12–24 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39" y="2889504"/>
            <a:ext cx="23774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22D3EE"/>
                </a:solidFill>
                <a:latin typeface="微软雅黑"/>
                <a:ea typeface="微软雅黑"/>
              </a:rPr>
              <a:t>5 城 · 20 万骑手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58968" y="2907792"/>
            <a:ext cx="109728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5A524"/>
                </a:solidFill>
                <a:latin typeface="Consolas"/>
                <a:ea typeface="Consolas"/>
              </a:rPr>
              <a:t>2,080 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2926080"/>
            <a:ext cx="5084064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复制模板；接平台订单数据补基差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639312"/>
            <a:ext cx="10817352" cy="804672"/>
          </a:xfrm>
          <a:prstGeom prst="roundRect">
            <a:avLst>
              <a:gd name="adj" fmla="val 540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3785615"/>
            <a:ext cx="10058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FFFFFF"/>
                </a:solidFill>
                <a:latin typeface="微软雅黑"/>
                <a:ea typeface="微软雅黑"/>
              </a:rPr>
              <a:t>规模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37943" y="3913632"/>
            <a:ext cx="11887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48000"/>
                  </a:srgbClr>
                </a:solidFill>
                <a:latin typeface="Consolas"/>
                <a:ea typeface="Consolas"/>
              </a:rPr>
              <a:t>24–36 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3239" y="3803904"/>
            <a:ext cx="23774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22D3EE"/>
                </a:solidFill>
                <a:latin typeface="微软雅黑"/>
                <a:ea typeface="微软雅黑"/>
              </a:rPr>
              <a:t>15 城 · 80 万骑手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58968" y="3822191"/>
            <a:ext cx="109728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5A524"/>
                </a:solidFill>
                <a:latin typeface="Consolas"/>
                <a:ea typeface="Consolas"/>
              </a:rPr>
              <a:t>1.12 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9672" y="3840480"/>
            <a:ext cx="5084064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加高温 / 台风品类；向险企输出定价系统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736592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80">
                <a:solidFill>
                  <a:srgbClr val="22D3EE"/>
                </a:solidFill>
                <a:latin typeface="Consolas"/>
                <a:ea typeface="Consolas"/>
              </a:rPr>
              <a:t>MILESTONES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4992624"/>
            <a:ext cx="29260" cy="603504"/>
          </a:xfrm>
          <a:prstGeom prst="rect">
            <a:avLst/>
          </a:prstGeom>
          <a:solidFill>
            <a:srgbClr val="22D3E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6968" y="4992624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00">
                <a:solidFill>
                  <a:srgbClr val="22D3EE"/>
                </a:solidFill>
                <a:latin typeface="Consolas"/>
                <a:ea typeface="Consolas"/>
              </a:rPr>
              <a:t>第 6 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" y="5230368"/>
            <a:ext cx="3218688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050" b="0" i="0" lang="zh-CN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首单「判定 → 赔付 → 复算」闭环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34256" y="4992624"/>
            <a:ext cx="29260" cy="603504"/>
          </a:xfrm>
          <a:prstGeom prst="rect">
            <a:avLst/>
          </a:prstGeom>
          <a:solidFill>
            <a:srgbClr val="22D3E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5424" y="4992624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00">
                <a:solidFill>
                  <a:srgbClr val="22D3EE"/>
                </a:solidFill>
                <a:latin typeface="Consolas"/>
                <a:ea typeface="Consolas"/>
              </a:rPr>
              <a:t>第 12 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35424" y="5230368"/>
            <a:ext cx="3218688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050" b="0" i="0" lang="zh-CN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单城赔付率稳定在 60% 以下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82712" y="4992624"/>
            <a:ext cx="29260" cy="603504"/>
          </a:xfrm>
          <a:prstGeom prst="rect">
            <a:avLst/>
          </a:prstGeom>
          <a:solidFill>
            <a:srgbClr val="22D3E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83880" y="4992624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00">
                <a:solidFill>
                  <a:srgbClr val="22D3EE"/>
                </a:solidFill>
                <a:latin typeface="Consolas"/>
                <a:ea typeface="Consolas"/>
              </a:rPr>
              <a:t>第 24 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80" y="5230368"/>
            <a:ext cx="3218688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050" b="0" i="0" lang="zh-CN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第二险种上线，同一套引擎换参数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888736"/>
            <a:ext cx="106070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2000"/>
                  </a:srgbClr>
                </a:solidFill>
                <a:latin typeface="微软雅黑"/>
                <a:ea typeface="微软雅黑"/>
              </a:rPr>
              <a:t>盈亏平衡：在保骑手 25–30 万，第 3 年初达成。不碰承保利润，只收保费 12–15% 的科技服务费。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谁在做这件事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Who is doing this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06 /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18 /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80">
                <a:solidFill>
                  <a:srgbClr val="22D3EE"/>
                </a:solidFill>
                <a:latin typeface="Consolas"/>
                <a:ea typeface="Consolas"/>
              </a:rPr>
              <a:t>TEAM · 三个专业，一条链路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00784"/>
            <a:ext cx="3474720" cy="1847088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865376"/>
            <a:ext cx="3017520" cy="3108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1" i="0" lang="zh-CN">
                <a:solidFill>
                  <a:srgbClr val="FFFFFF"/>
                </a:solidFill>
                <a:latin typeface="微软雅黑"/>
                <a:ea typeface="微软雅黑"/>
              </a:rPr>
              <a:t>李卓昊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231136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中南财经政法大学 · 金融数学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560320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150">
                <a:solidFill>
                  <a:srgbClr val="22D3EE"/>
                </a:solidFill>
                <a:latin typeface="Consolas"/>
                <a:ea typeface="Consolas"/>
              </a:rPr>
              <a:t>产品与精算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8346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规则设计、236 格费率表、历史回测；答辩主讲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1700784"/>
            <a:ext cx="3474720" cy="1847088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865376"/>
            <a:ext cx="3017520" cy="3108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1" i="0" lang="zh-CN">
                <a:solidFill>
                  <a:srgbClr val="FFFFFF"/>
                </a:solidFill>
                <a:latin typeface="微软雅黑"/>
                <a:ea typeface="微软雅黑"/>
              </a:rPr>
              <a:t>【姓名】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231136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【学校 · 院系 · 年级】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560320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150">
                <a:solidFill>
                  <a:srgbClr val="22D3EE"/>
                </a:solidFill>
                <a:latin typeface="Consolas"/>
                <a:ea typeface="Consolas"/>
              </a:rPr>
              <a:t>工程与合约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8346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合约 v1–v5、keeper 与门禁脚本、留痕体系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82712" y="1700784"/>
            <a:ext cx="3474720" cy="1847088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0456" y="1865376"/>
            <a:ext cx="3017520" cy="3108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1" i="0" lang="zh-CN">
                <a:solidFill>
                  <a:srgbClr val="FFFFFF"/>
                </a:solidFill>
                <a:latin typeface="微软雅黑"/>
                <a:ea typeface="微软雅黑"/>
              </a:rPr>
              <a:t>【姓名】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0456" y="2231136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【学校 · 院系 · 年级】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0456" y="2560320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150">
                <a:solidFill>
                  <a:srgbClr val="22D3EE"/>
                </a:solidFill>
                <a:latin typeface="Consolas"/>
                <a:ea typeface="Consolas"/>
              </a:rPr>
              <a:t>行业与合规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8346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条款口径、报备路径、平台侧商务与试点对接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785615"/>
            <a:ext cx="10817352" cy="7315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877056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50">
                <a:solidFill>
                  <a:srgbClr val="22D3EE"/>
                </a:solidFill>
                <a:latin typeface="Consolas"/>
                <a:ea typeface="Consolas"/>
              </a:rPr>
              <a:t>WHAT WE HAVE BUILT · 已完成的工程事实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169663"/>
            <a:ext cx="1645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" y="4187951"/>
            <a:ext cx="51206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4000"/>
                  </a:srgbClr>
                </a:solidFill>
                <a:latin typeface="微软雅黑"/>
                <a:ea typeface="微软雅黑"/>
              </a:rPr>
              <a:t>合约 v1–v5，Sepolia 与 BOT Chain 968 跑通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169663"/>
            <a:ext cx="1645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7376" y="4187951"/>
            <a:ext cx="51206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4000"/>
                  </a:srgbClr>
                </a:solidFill>
                <a:latin typeface="微软雅黑"/>
                <a:ea typeface="微软雅黑"/>
              </a:rPr>
              <a:t>保险赛导览 + v5 页面，模拟资金、只读核验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626864"/>
            <a:ext cx="1645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" y="4645151"/>
            <a:ext cx="51206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4000"/>
                  </a:srgbClr>
                </a:solidFill>
                <a:latin typeface="微软雅黑"/>
                <a:ea typeface="微软雅黑"/>
              </a:rPr>
              <a:t>24 组自动化门禁，含每条哈希当场重算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626864"/>
            <a:ext cx="1645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7376" y="4645151"/>
            <a:ext cx="51206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4000"/>
                  </a:srgbClr>
                </a:solidFill>
                <a:latin typeface="微软雅黑"/>
                <a:ea typeface="微软雅黑"/>
              </a:rPr>
              <a:t>11 年逐小时回测：5 城各 96,432 小时；湖北 118 区划全量定价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084064"/>
            <a:ext cx="1645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5102351"/>
            <a:ext cx="51206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4000"/>
                  </a:srgbClr>
                </a:solidFill>
                <a:latin typeface="微软雅黑"/>
                <a:ea typeface="微软雅黑"/>
              </a:rPr>
              <a:t>判定留痕可被第三方复跑，含「不赔」的样本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5084064"/>
            <a:ext cx="1645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37376" y="5102351"/>
            <a:ext cx="51206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4000"/>
                  </a:srgbClr>
                </a:solidFill>
                <a:latin typeface="微软雅黑"/>
                <a:ea typeface="微软雅黑"/>
              </a:rPr>
              <a:t>从取数、开通、定价到判定的闭环已在 968 跑通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742432"/>
            <a:ext cx="1060704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40000"/>
                  </a:srgbClr>
                </a:solidFill>
                <a:latin typeface="微软雅黑"/>
                <a:ea typeface="微软雅黑"/>
              </a:rPr>
              <a:t>指导教师：【姓名】·【职称】·【单位】　｜　队名：神麻　｜　联系方式：【手机 / 邮箱】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27" name="" descr="&lt;Slide style={{ width: 1280, height: 720, background: '#0A1422', position: 'relative', overflow: 'hidden', padding: 0 }}&gt;&#13;&#10;&#13;&#10;    &lt;Image src=&quot;assets/dawn_clear_city.png&quot; style={{ position: 'absolute', top: 0, left: 0, width: 1280, height: 720, objectFit: 'cover' }} /&gt;&#13;&#10;&#13;&#10;    &lt;Box style={{ position: 'absolute', top: 0, left: 0, width: 1280, height: 720, background: 'linear-gradient(90deg, rgba(10,20,34,0.96) 0%, rgba(10,20,34,0.86) 46%, rgba(10,20,34,0.30) 100%)' }} /&gt;&#13;&#10;&#13;&#10;    &lt;Box style={{ position: 'absolute', top: 0, left: 0, width: 1280, height: 720, background: 'linear-gradient(180deg, rgba(10,20,34,0.55) 0%, rgba(10,20,34,0) 34%, rgba(10,20,34,0.72) 100%)' }} /&gt;&#13;&#10;&#13;&#10;    &lt;Box style={{ position: 'absolute', top: 150, left: 96, width: 6, height: 4, background: 'linear-gradient(90deg, #2D7FF9 0%, #22D3EE 100%)' }} /&gt;&#13;&#10;&#13;&#10;    &lt;Box style={{ position: 'absolute', top: 186, left: 96, width: 760, flexDirection: 'column' }}&gt;&#13;&#10;        &lt;Text style={{ fontFamily: 'Consolas', fontSize: 17, letterSpacing: 5, color: '#22D3EE', lineHeight: 1.4 }}&gt;&#13;&#10;            汉客松 S1 · ETH Wuhan 2026&#13;&#10;        &lt;/Text&gt;&#13;&#10;&#13;&#10;        &lt;Text style={{ fontFamily: 'Microsoft YaHei', fontSize: 62, fontWeight: 'bold', color: '#FFFFFF', lineHeight: 1.22, marginTop: 24 }}&gt;&#13;&#10;            雨是数据，&#13;&#10;            &lt;br /&gt;&#13;&#10;            判定是代码，&#13;&#10;            &lt;br /&gt;&#13;&#10;            打款是自动的。&#13;&#10;        &lt;/Text&gt;&#13;&#10;&#13;&#10;        &lt;Box style={{ width: 640, height: 1, background: 'rgba(255,255,255,0.18)', marginTop: 26 }} /&gt;&#13;&#10;&#13;&#10;        &lt;Text style={{ fontFamily: 'Microsoft YaHei', fontSize: 24, color: 'rgba(255,255,255,0.80)', letterSpacing: 1, marginTop: 22 }}&gt;&#13;&#10;            规则和证据都在链上 —— &lt;span style={{ color: '#F5A524', fontWeight: 'bold' }}&gt;你自己验&lt;/span&gt;。&#13;&#10;        &lt;/Text&gt;&#13;&#10;    &lt;/Box&gt;&#13;&#10;&#13;&#10;    &lt;Box style={{ position: 'absolute', left: 96, bottom: 64, width: 760, flexDirection: 'column' }}&gt;&#13;&#10;        &lt;Text style={{ fontFamily: 'Microsoft YaHei', fontSize: 17, color: 'rgba(255,255,255,0.56)', letterSpacing: 1 }}&gt;&#13;&#10;            雨证 · RainProof　·　TEAM 神麻&#13;&#10;        &lt;/Text&gt;&#13;&#10;        &lt;Text style={{ fontFamily: 'Consolas', fontSize: 15, color: 'rgba(255,255,255,0.42)', marginTop: 8 }}&gt;&#13;&#10;            github.com/juice-butterfly/rainproof&#13;&#10;        &lt;/Text&gt;&#13;&#10;    &lt;/Box&gt;&#13;&#10;&#13;&#10;    &lt;Box style={{ position: 'absolute', right: 96, bottom: 62, width: 150, flexDirection: 'column', alignItems: 'center' }}&gt;&#13;&#10;        &lt;Box style={{ width: 132, height: 132, background: '#FFFFFF', borderRadius: 6, padding: 6 }}&gt;&#13;&#10;            &lt;QRCode text='https://juice-butterfly.github.io/rainproof/' width={120} height={120} darkColor='#0A1422' lightColor='#FFFFFF' errorCorrectionLevel='M' margin={0} /&gt;&#13;&#10;        &lt;/Box&gt;&#13;&#10;        &lt;Text style={{ fontFamily: 'Microsoft YaHei', fontSize: 14, color: 'rgba(255,255,255,0.72)', marginTop: 10 }}&gt;&#13;&#10;            扫码进演示站&#13;&#10;        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/>
          <a:srcRect t="4237" b="423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矩形 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422">
                  <a:alpha val="96000"/>
                </a:srgbClr>
              </a:gs>
              <a:gs pos="46000">
                <a:srgbClr val="0A1422">
                  <a:alpha val="86000"/>
                </a:srgbClr>
              </a:gs>
              <a:gs pos="100000">
                <a:srgbClr val="0A1422">
                  <a:alpha val="30000"/>
                </a:srgbClr>
              </a:gs>
            </a:gsLst>
            <a:lin ang="0" scaled="1"/>
          </a:gradFill>
        </p:spPr>
        <p:txBody>
          <a:bodyPr/>
          <a:p/>
        </p:txBody>
      </p:sp>
      <p:sp>
        <p:nvSpPr>
          <p:cNvPr id="31" name="矩形 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422">
                  <a:alpha val="55000"/>
                </a:srgbClr>
              </a:gs>
              <a:gs pos="34000">
                <a:srgbClr val="0A1422">
                  <a:alpha val="0"/>
                </a:srgbClr>
              </a:gs>
              <a:gs pos="100000">
                <a:srgbClr val="0A1422">
                  <a:alpha val="72000"/>
                </a:srgbClr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32" name="矩形 31"/>
          <p:cNvSpPr/>
          <p:nvPr/>
        </p:nvSpPr>
        <p:spPr>
          <a:xfrm>
            <a:off x="914400" y="1428750"/>
            <a:ext cx="57150" cy="3810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0" scaled="1"/>
          </a:gradFill>
        </p:spPr>
        <p:txBody>
          <a:bodyPr/>
          <a:p/>
        </p:txBody>
      </p:sp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914400" y="1771650"/>
            <a:ext cx="7239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sz="1275" b="0" lang="zh-CN" spc="300">
                <a:solidFill>
                  <a:srgbClr val="22D3EE"/>
                </a:solidFill>
                <a:latin typeface="微软雅黑"/>
                <a:ea typeface="微软雅黑"/>
              </a:rPr>
              <a:t>分子实验室 · 2026 大学生保险模拟创业大赛</a:t>
            </a:r>
            <a:endParaRPr lang="en-US" sz="1275" spc="37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4" name="文本框 33" descr="{&quot;isTemplate&quot;:true,&quot;type&quot;:&quot;text&quot;}"/>
          <p:cNvSpPr txBox="1"/>
          <p:nvPr/>
        </p:nvSpPr>
        <p:spPr>
          <a:xfrm>
            <a:off x="914400" y="2276475"/>
            <a:ext cx="7239000" cy="2600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2000"/>
              </a:lnSpc>
            </a:pPr>
            <a:r>
              <a:rPr lang="zh-CN"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雨是数据，</a:t>
            </a:r>
            <a:endParaRPr lang="zh-CN" sz="4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2000"/>
              </a:lnSpc>
            </a:pPr>
            <a:r>
              <a:rPr lang="zh-CN"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判定是代码，</a:t>
            </a:r>
            <a:endParaRPr lang="zh-CN" sz="4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2000"/>
              </a:lnSpc>
            </a:pPr>
            <a:r>
              <a:rPr lang="zh-CN"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付款不需要我们点头。</a:t>
            </a:r>
            <a:endParaRPr lang="zh-CN" sz="4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914400" y="5175504"/>
            <a:ext cx="6096000" cy="9525"/>
          </a:xfrm>
          <a:prstGeom prst="rect">
            <a:avLst/>
          </a:prstGeom>
          <a:solidFill>
            <a:srgbClr val="FFFFFF">
              <a:alpha val="18000"/>
            </a:srgbClr>
          </a:solidFill>
        </p:spPr>
        <p:txBody>
          <a:bodyPr/>
          <a:p/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914400" y="5343525"/>
            <a:ext cx="7239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spc="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规则和证据都在链上</a:t>
            </a:r>
            <a:r>
              <a:rPr lang="en-US" sz="1800" spc="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800" b="1" spc="75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你自己验</a:t>
            </a:r>
            <a:r>
              <a:rPr lang="zh-CN" sz="1800" spc="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800" spc="7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 descr="{&quot;isTemplate&quot;:true,&quot;type&quot;:&quot;text&quot;}"/>
          <p:cNvSpPr txBox="1"/>
          <p:nvPr/>
        </p:nvSpPr>
        <p:spPr>
          <a:xfrm>
            <a:off x="914400" y="5779008"/>
            <a:ext cx="7239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雨证</a:t>
            </a:r>
            <a:r>
              <a:rPr lang="en-US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RainProof</a:t>
            </a:r>
            <a:r>
              <a:rPr lang="zh-CN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TEAM </a:t>
            </a:r>
            <a:r>
              <a:rPr lang="zh-CN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神麻</a:t>
            </a:r>
            <a:endParaRPr lang="zh-CN" sz="1275" spc="75">
              <a:solidFill>
                <a:srgbClr val="FFFFFF">
                  <a:alpha val="5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914400" y="6053328"/>
            <a:ext cx="7239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2000"/>
                  </a:srgbClr>
                </a:solidFill>
                <a:latin typeface="Consolas" panose="020B0609020204030204"/>
                <a:ea typeface="Consolas" panose="020B0609020204030204"/>
              </a:rPr>
              <a:t>github.com/juice-butterfly/rainproof　·　演示站默认读 BOT Chain 968 · v5</a:t>
            </a:r>
            <a:endParaRPr lang="en-US" sz="1125">
              <a:solidFill>
                <a:srgbClr val="FFFFFF">
                  <a:alpha val="42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9934575" y="4752975"/>
            <a:ext cx="1257300" cy="1257300"/>
          </a:xfrm>
          <a:prstGeom prst="roundRect">
            <a:avLst>
              <a:gd name="adj" fmla="val 4545"/>
            </a:avLst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40" name="图片 39" descr="QR Code: https://juice-butterfly.github.io/rainproof/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1725" y="4810125"/>
            <a:ext cx="1143000" cy="1143000"/>
          </a:xfrm>
          <a:prstGeom prst="rect">
            <a:avLst/>
          </a:prstGeom>
        </p:spPr>
      </p:pic>
      <p:sp>
        <p:nvSpPr>
          <p:cNvPr id="41" name="文本框 40" descr="{&quot;isTemplate&quot;:true,&quot;type&quot;:&quot;text&quot;}"/>
          <p:cNvSpPr txBox="1"/>
          <p:nvPr/>
        </p:nvSpPr>
        <p:spPr>
          <a:xfrm>
            <a:off x="10163175" y="6105525"/>
            <a:ext cx="800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扫码进演示站</a:t>
            </a:r>
            <a:endParaRPr lang="zh-CN" sz="1050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14400" y="4882896"/>
            <a:ext cx="724204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FFFFFF">
                    <a:alpha val="36000"/>
                  </a:srgbClr>
                </a:solidFill>
              </a:rPr>
              <a:t>Rain is data. Judgement is code. Payment does not need our nod.</a:t>
            </a:r>
            <a:endParaRPr sz="1200"/>
          </a:p>
        </p:txBody>
      </p:sp>
    </p:spTree>
  </p:cSld>
  <p:clrMapOvr>
    <a:masterClrMapping/>
  </p:clrMapOvr>
  <p:transition spd="med">
    <p:fade/>
  </p:transition>
</p:sld>
</file>

<file path=ppt/tags/tag1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2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3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4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5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6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7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8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9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0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1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2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3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4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5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6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7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8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9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0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1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2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3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4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5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6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7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3662</Words>
  <Application>WPS 演示</Application>
  <PresentationFormat/>
  <Paragraphs>357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Consolas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李卓昊</cp:lastModifiedBy>
  <cp:revision>7</cp:revision>
  <dcterms:created xsi:type="dcterms:W3CDTF">2026-10-07T10:26:00Z</dcterms:created>
  <dcterms:modified xsi:type="dcterms:W3CDTF">2026-10-08T08:20:22Z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{"AIGC":{"Label":"1","ContentProducer":"00119111010856365494821B355","ProduceID":"01a1152f4a507fc48604b92d4294d604","ReservedCode1":"","ContentPropagator":"00119111010856365494821B355","PropagateID":"01a1152f4a507fc48604b92d4294d604","ReservedCode2":""}}</vt:lpwstr>
  </property>
  <property fmtid="{D5CDD505-2E9C-101B-9397-08002B2CF9AE}" pid="3" name="KSOProductBuildVer">
    <vt:lpwstr>2052-12.1.0.23542</vt:lpwstr>
  </property>
  <property fmtid="{D5CDD505-2E9C-101B-9397-08002B2CF9AE}" pid="4" name="ICV">
    <vt:lpwstr>4E624E8D09FC4C92884AAED42FE7BE56_13</vt:lpwstr>
  </property>
</Properties>
</file>