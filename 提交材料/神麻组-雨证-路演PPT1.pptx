
<file path=[Content_Types].xml><?xml version="1.0" encoding="utf-8"?>
<Types xmlns="http://schemas.openxmlformats.org/package/2006/content-types">
  <Default Extension="png" ContentType="image/png"/>
  <Default Extension="m4a" ContentType="audi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1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70" r:id="rId9"/>
    <p:sldId id="262" r:id="rId10"/>
    <p:sldId id="263" r:id="rId11"/>
    <p:sldId id="264" r:id="rId12"/>
    <p:sldId id="269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350" b="1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  <a:r>
              <a:rPr sz="1350">
                <a:solidFill>
                  <a:srgbClr val="FFFFFF"/>
                </a:solidFill>
              </a:rPr>
              <a:t>72 小时窗口内累计降雨达到 50 mm 的概率（%）</a:t>
            </a:r>
            <a:endParaRPr sz="1350">
              <a:solidFill>
                <a:srgbClr val="FFFFFF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72h 期望赔付比例（按档位加权）(%)</c:v>
                </c:pt>
              </c:strCache>
            </c:strRef>
          </c:tx>
          <c:spPr>
            <a:solidFill>
              <a:srgbClr val="2D7FF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{4.77,4.557,2.281,11.574,3.724}</c:f>
              <c:numCache>
                <c:formatCode>General</c:formatCode>
                <c:ptCount val="5"/>
                <c:pt idx="0">
                  <c:v>4.77</c:v>
                </c:pt>
                <c:pt idx="1">
                  <c:v>4.557</c:v>
                </c:pt>
                <c:pt idx="2">
                  <c:v>2.281</c:v>
                </c:pt>
                <c:pt idx="3">
                  <c:v>11.574</c:v>
                </c:pt>
                <c:pt idx="4">
                  <c:v>3.724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10% 保本线</c:v>
                </c:pt>
              </c:strCache>
            </c:strRef>
          </c:tx>
          <c:spPr>
            <a:solidFill>
              <a:srgbClr val="F5A52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{10,10,10,10,10}</c:f>
              <c:numCache>
                <c:formatCode>General</c:formatCode>
                <c:ptCount val="5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dLbls>
          <c:showLegendKey val="1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2"/>
        <c:crosses val="autoZero"/>
        <c:auto val="1"/>
        <c:lblAlgn val="ctr"/>
        <c:lblOffset val="100"/>
        <c:noMultiLvlLbl val="0"/>
      </c:catAx>
      <c:valAx>
        <c:axId val="8973680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1"/>
        <c:crosses val="autoZero"/>
        <c:crossBetween val="between"/>
      </c:valAx>
      <c:spPr>
        <a:solidFill>
          <a:srgbClr val="0A1422"/>
        </a:solid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rgbClr val="FFFFFF">
                  <a:alpha val="62000"/>
                </a:s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4c34dc7-2473-4d80-9158-edf07039920d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microsoft.com/office/2007/relationships/media" Target="../media/media1.m4a"/><Relationship Id="rId2" Type="http://schemas.openxmlformats.org/officeDocument/2006/relationships/audio" Target="../media/media1.m4a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9" Type="http://schemas.openxmlformats.org/officeDocument/2006/relationships/image" Target="../media/image4.png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image" Target="../media/image8.svg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" name="" descr="&lt;Slide style={{ width: 1280, height: 720, background: '#0A1422', position: 'relative', overflow: 'hidden', padding: 0 }}&gt;&#13;&#10;&#13;&#10;    &lt;Image src=&quot;assets/hero_rain_night.png&quot; style={{ position: 'absolute', top: 0, left: 0, width: 1280, height: 720, objectFit: 'cover', opacity: 0.95 }} /&gt;&#13;&#10;&#13;&#10;    &lt;Box style={{ position: 'absolute', top: 0, left: 0, width: 1280, height: 720, background: 'linear-gradient(90deg, rgba(10,20,34,0.97) 0%, rgba(10,20,34,0.86) 42%, rgba(10,20,34,0.26) 100%)' }} /&gt;&#13;&#10;&#13;&#10;    &lt;Box style={{ position: 'absolute', top: 0, left: 0, width: 1280, height: 720, background: 'linear-gradient(180deg, rgba(10,20,34,0.60) 0%, rgba(10,20,34,0) 38%, rgba(10,20,34,0.80) 100%)' }} /&gt;&#13;&#10;&#13;&#10;    &lt;Box style={{ position: 'absolute', top: 118, left: 96, width: 56, height: 4, background: 'linear-gradient(135deg, #2D7FF9 0%, #22D3EE 100%)' }} /&gt;&#13;&#10;&#13;&#10;    &lt;Box style={{ position: 'absolute', top: 148, left: 96, width: 700, flexDirection: 'column' }}&gt;&#13;&#10;        &lt;Text style={{ fontFamily: 'Consolas', fontSize: 19, letterSpacing: 5, color: '#22D3EE', lineHeight: 1.4 }}&gt;&#13;&#10;            汉客松 S1 · ETH Wuhan 2026&#13;&#10;        &lt;/Text&gt;&#13;&#10;&#13;&#10;        &lt;Text style={{ fontFamily: 'Microsoft YaHei', fontSize: 74, fontWeight: 'bold', color: '#FFFFFF', letterSpacing: 3, lineHeight: 1.15, marginTop: 18 }}&gt;&#13;&#10;            雨证 · RainProof&#13;&#10;        &lt;/Text&gt;&#13;&#10;&#13;&#10;        &lt;Text style={{ fontFamily: 'Microsoft YaHei', fontSize: 27, color: 'rgba(255,255,255,0.88)', letterSpacing: 1.5, lineHeight: 1.45, marginTop: 20 }}&gt;&#13;&#10;            可验证的 AI 参数化配送险&#13;&#10;        &lt;/Text&gt;&#13;&#10;&#13;&#10;        &lt;Box style={{ width: 640, height: 1, background: 'rgba(255,255,255,0.14)', marginTop: 26, marginBottom: 26 }} /&gt;&#13;&#10;&#13;&#10;        &lt;Text style={{ fontFamily: 'Microsoft YaHei', fontSize: 23, color: 'rgba(255,255,255,0.66)', lineHeight: 1.6 }}&gt;&#13;&#10;            把「你信不信我」换成「&lt;span style={{ color: '#F5A524', fontWeight: 'bold' }}&gt;你自己验&lt;/span&gt;」&#13;&#10;        &lt;/Text&gt;&#13;&#10;    &lt;/Box&gt;&#13;&#10;&#13;&#10;    &lt;Box style={{ position: 'absolute', left: 96, bottom: 60, width: 1000, flexDirection: 'row', alignItems: 'center' }}&gt;&#13;&#10;        &lt;Text style={{ fontFamily: 'Microsoft YaHei', fontSize: 17, color: 'rgba(255,255,255,0.50)', letterSpacing: 1 }}&gt;&#13;&#10;            给外卖骑手的参数化降雨险　·　不核灾、不定损、骑手不举证&#13;&#10;        &lt;/Text&gt;&#13;&#10;    &lt;/Box&gt;&#13;&#10;&#13;&#10;    &lt;Box style={{ position: 'absolute', right: 96, bottom: 58, width: 320, flexDirection: 'row', alignItems: 'center', justifyContent: 'flex-end' }}&gt;&#13;&#10;        &lt;Text style={{ fontFamily: 'Consolas', fontSize: 16, color: 'rgba(255,255,255,0.40)', letterSpacing: 1 }}&gt;&#13;&#10;            TEAM 神麻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95000"/>
          </a:blip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7000"/>
                </a:srgbClr>
              </a:gs>
              <a:gs pos="42000">
                <a:srgbClr val="0A1422">
                  <a:alpha val="86000"/>
                </a:srgbClr>
              </a:gs>
              <a:gs pos="100000">
                <a:srgbClr val="0A1422">
                  <a:alpha val="26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60000"/>
                </a:srgbClr>
              </a:gs>
              <a:gs pos="38000">
                <a:srgbClr val="0A1422">
                  <a:alpha val="0"/>
                </a:srgbClr>
              </a:gs>
              <a:gs pos="100000">
                <a:srgbClr val="0A1422">
                  <a:alpha val="80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914400" y="1123950"/>
            <a:ext cx="53340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914400" y="1409700"/>
            <a:ext cx="66675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汉客松</a:t>
            </a:r>
            <a:r>
              <a:rPr lang="en-US" sz="1425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 S1 · ETH Wuhan 2026</a:t>
            </a:r>
            <a:endParaRPr lang="en-US" sz="142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914400" y="1885950"/>
            <a:ext cx="6667500" cy="981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endParaRPr lang="en-US" sz="5550" b="1" spc="2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914400" y="3057525"/>
            <a:ext cx="666750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可验证的</a:t>
            </a:r>
            <a:r>
              <a:rPr lang="en-US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参数化配送险</a:t>
            </a:r>
            <a:endParaRPr lang="zh-CN" sz="2025" spc="113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4400" y="3752850"/>
            <a:ext cx="6096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914400" y="4010025"/>
            <a:ext cx="66675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把「你信不信我」换成「</a:t>
            </a:r>
            <a:r>
              <a:rPr lang="zh-CN" sz="17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</a:t>
            </a:r>
            <a:endParaRPr lang="zh-CN" sz="172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914400" y="6086475"/>
            <a:ext cx="4686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给外卖骑手的参数化降雨险　·　不核灾、不定损、骑手不举证</a:t>
            </a:r>
            <a:endParaRPr lang="zh-CN" sz="1275" spc="7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10391775" y="6115050"/>
            <a:ext cx="885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TEAM </a:t>
            </a:r>
            <a:r>
              <a:rPr lang="zh-CN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神麻</a:t>
            </a:r>
            <a:endParaRPr lang="zh-CN" sz="1200" spc="7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14400" y="3529584"/>
            <a:ext cx="66659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/>
              <a:t>Verifiable AI parametric insurance for delivery riders</a:t>
            </a:r>
            <a:endParaRPr sz="1200"/>
          </a:p>
        </p:txBody>
      </p:sp>
      <p:sp>
        <p:nvSpPr>
          <p:cNvPr id="50" name="TextBox 49"/>
          <p:cNvSpPr txBox="1"/>
          <p:nvPr/>
        </p:nvSpPr>
        <p:spPr>
          <a:xfrm>
            <a:off x="914400" y="4480560"/>
            <a:ext cx="66659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/>
              <a:t>Replace "trust me" with "verify it yourself"</a:t>
            </a:r>
            <a:endParaRPr sz="1200"/>
          </a:p>
        </p:txBody>
      </p:sp>
      <p:pic>
        <p:nvPicPr>
          <p:cNvPr id="14" name="rainproof-opening-15s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4550" y="5524500"/>
            <a:ext cx="412750" cy="4127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51" dur="1500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52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51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那天，他还是出门了&#10;        &lt;/Text&gt;&#10;        &lt;Box style={{ flex: 1 }} /&gt;&#10;        &lt;Text style={{ fontFamily: 'Consolas', fontSize: 16, color: 'rgba(255,255,255,0.34)', letterSpacing: 2 }}&gt;&#10;            01 / THE RIDER&#10;        &lt;/Text&gt;&#10;    &lt;/Box&gt;&#10;&#10;    &lt;Box style={{ height: 540, flexDirection: 'row', gap: 30 }}&gt;&#10;&#10;        &lt;Box style={{ width: 500, height: 540, borderRadius: 6, overflow: 'hidden', border: '1px solid rgba(255,255,255,0.12)' }}&gt;&#10;            &lt;Image src=&quot;assets/rider_rain_street.png&quot; style={{ width: '100%', height: '100%', objectFit: 'cover' }} /&gt;&#10;        &lt;/Box&gt;&#10;&#10;        &lt;Box style={{ width: 606, height: 540, flexDirection: 'column' }}&gt;&#10;&#10;            &lt;Text style={{ fontFamily: 'Microsoft YaHei', fontSize: 21, color: 'rgba(255,255,255,0.74)', lineHeight: 1.55 }}&gt;&#10;                暴雨橙色预警。他穿上雨衣，骑上车，跑了 12 个小时 —— 因为当天不出勤，就没有收入。&#10;            &lt;/Text&gt;&#10;&#10;            &lt;Box style={{ flexDirection: 'column', gap: 12, marginTop: 20 }}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2D7FF9' }}&gt;336 万&lt;/Text&gt;&#10;                    &lt;Text style={{ fontFamily: 'Microsoft YaHei', fontSize: 17, color: 'rgba(255,255,255,0.68)', lineHeight: 1.45 }}&gt;&#10;                        中国月均有单骑手&#10;                    &lt;/Text&gt;&#10;                &lt;/Box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F5A524' }}&gt;-30%&lt;/Text&gt;&#10;                    &lt;Text style={{ fontFamily: 'Microsoft YaHei', fontSize: 17, color: 'rgba(255,255,255,0.68)', lineHeight: 1.45 }}&gt;&#10;                        暴雨日，一个骑手的收入&#10;                    &lt;/Text&gt;&#10;                &lt;/Box&gt;&#10;&#10;                &lt;Box style={{ height: 92, background: 'rgba(245,165,36,0.10)', border: '1px solid rgba(245,165,36,0.34)', borderRadius: 5, padding: '0 22px', flexDirection: 'row', alignItems: 'center', gap: 20 }}&gt;&#10;                    &lt;Text style={{ width: 180, fontFamily: 'Consolas', fontSize: 42, fontWeight: 'bold', color: '#F5A524' }}&gt;0&lt;/Text&gt;&#10;                    &lt;Text style={{ fontFamily: 'Microsoft YaHei', fontSize: 17, fontWeight: 'bold', color: '#FFFFFF', lineHeight: 1.45 }}&gt;&#10;                        他能拿到的赔偿&#10;                    &lt;/Text&gt;&#10;                &lt;/Box&gt;&#10;&#10;            &lt;/Box&gt;&#10;&#10;            &lt;Box style={{ marginTop: 'auto' }}&gt;&#10;                &lt;Text style={{ fontFamily: 'Microsoft YaHei', fontSize: 30, fontWeight: 'bold', color: '#FFFFFF', lineHeight: 1.4 }}&gt;&#10;                    而他不知道该找谁赔。&#10;                &lt;/Text&gt;&#10;                &lt;Text style={{ fontFamily: 'Microsoft YaHei', fontSize: 14, color: 'rgba(255,255,255,0.42)', lineHeight: 1.5, marginTop: 10 }}&gt;&#10;                    336 万为美团研究院 2024 年调研口径；-30% 为暴雨日收入折损量级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2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53" name="矩形 152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914400" y="409575"/>
            <a:ext cx="30861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那天，他还是出门了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0058400" y="571500"/>
            <a:ext cx="1447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RIDER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685800" y="1143000"/>
            <a:ext cx="4762500" cy="5143500"/>
          </a:xfrm>
          <a:prstGeom prst="roundRect">
            <a:avLst>
              <a:gd name="adj" fmla="val 1200"/>
            </a:avLst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7" name="图片 156"/>
          <p:cNvPicPr>
            <a:picLocks noChangeAspect="1"/>
          </p:cNvPicPr>
          <p:nvPr/>
        </p:nvPicPr>
        <p:blipFill>
          <a:blip r:embed="rId1"/>
          <a:srcRect l="21547" r="21547"/>
          <a:stretch>
            <a:fillRect/>
          </a:stretch>
        </p:blipFill>
        <p:spPr>
          <a:xfrm>
            <a:off x="685800" y="1143000"/>
            <a:ext cx="4762500" cy="5143500"/>
          </a:xfrm>
          <a:custGeom>
            <a:avLst/>
            <a:gdLst/>
            <a:ahLst/>
            <a:cxnLst/>
            <a:pathLst>
              <a:path w="500" h="540">
                <a:moveTo>
                  <a:pt x="494" y="0"/>
                </a:moveTo>
                <a:cubicBezTo>
                  <a:pt x="497" y="0"/>
                  <a:pt x="500" y="3"/>
                  <a:pt x="500" y="6"/>
                </a:cubicBezTo>
                <a:lnTo>
                  <a:pt x="500" y="534"/>
                </a:lnTo>
                <a:cubicBezTo>
                  <a:pt x="500" y="537"/>
                  <a:pt x="497" y="540"/>
                  <a:pt x="494" y="540"/>
                </a:cubicBezTo>
                <a:lnTo>
                  <a:pt x="6" y="540"/>
                </a:lnTo>
                <a:cubicBezTo>
                  <a:pt x="3" y="540"/>
                  <a:pt x="0" y="537"/>
                  <a:pt x="0" y="53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4" y="0"/>
                </a:lnTo>
                <a:close/>
              </a:path>
            </a:pathLst>
          </a:custGeom>
        </p:spPr>
      </p:pic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5734050" y="1143000"/>
            <a:ext cx="577215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暴雨橙色预警。他穿上雨衣，骑上车，跑了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个小时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因为当天不出勤，就没有收入。</a:t>
            </a:r>
            <a:endParaRPr lang="zh-CN" sz="157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5734050" y="20859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5943600" y="23050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300 </a:t>
            </a:r>
            <a:r>
              <a:rPr lang="zh-CN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万</a:t>
            </a:r>
            <a:endParaRPr lang="zh-CN" sz="285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7848600" y="2381250"/>
            <a:ext cx="1295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美团官方口径覆盖骑手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圆角矩形 161"/>
          <p:cNvSpPr/>
          <p:nvPr/>
        </p:nvSpPr>
        <p:spPr>
          <a:xfrm>
            <a:off x="5734050" y="30765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5943600" y="32956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-30%</a:t>
            </a:r>
            <a:endParaRPr lang="en-US" sz="28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7848600" y="3371850"/>
            <a:ext cx="17811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暴雨日，一个骑手的收入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圆角矩形 164"/>
          <p:cNvSpPr/>
          <p:nvPr/>
        </p:nvSpPr>
        <p:spPr>
          <a:xfrm>
            <a:off x="5734050" y="40671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5943600" y="4267200"/>
            <a:ext cx="17145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0</a:t>
            </a:r>
            <a:endParaRPr lang="en-US" sz="31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7848600" y="4362450"/>
            <a:ext cx="11334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他能拿到的赔偿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5734050" y="5457825"/>
            <a:ext cx="57721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而他不知道该找谁赔。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5734050" y="6038850"/>
            <a:ext cx="57721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FFFFFF">
                    <a:alpha val="4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300 万为美团 2025-06-26 官方口径；-30% 为暴雨日收入折损量级（公开口径有分歧，仅作量级）</a:t>
            </a:r>
            <a:endParaRPr lang="zh-CN" sz="1050">
              <a:solidFill>
                <a:srgbClr val="FFFFFF">
                  <a:alpha val="4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02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That day, he still went out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8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/>
      <p:bldP spid="153" grpId="0"/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/>
      <p:bldP spid="164" grpId="0"/>
      <p:bldP spid="165" grpId="0"/>
      <p:bldP spid="166" grpId="0"/>
      <p:bldP spid="167" grpId="0"/>
      <p:bldP spid="168" grpId="0"/>
      <p:bldP spid="16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72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不是没人想保，是这笔账算不过来&#10;        &lt;/Text&gt;&#10;        &lt;Box style={{ flex: 1 }} /&gt;&#10;        &lt;Text style={{ fontFamily: 'Consolas', fontSize: 16, color: 'rgba(255,255,255,0.34)', letterSpacing: 2 }}&gt;&#10;            02 / THE MATH&#10;        &lt;/Text&gt;&#10;    &lt;/Box&gt;&#10;&#10;    &lt;Box style={{ height: 540, flexDirection: 'column' }}&gt;&#10;&#10;        &lt;Box style={{ height: 190, flexDirection: 'row', alignItems: 'center', justifyContent: 'center', gap: 34 }}&gt;&#10;            &lt;Text style={{ fontFamily: 'Microsoft YaHei', fontSize: 44, fontWeight: 'bold', color: '#FFFFFF' }}&gt;&#10;                查一次的成本&#10;            &lt;/Text&gt;&#10;            &lt;Text style={{ fontFamily: 'Consolas', fontSize: 54, fontWeight: 'bold', color: '#F5A524' }}&gt;&#10;                ≈&#10;            &lt;/Text&gt;&#10;            &lt;Text style={{ fontFamily: 'Microsoft YaHei', fontSize: 44, fontWeight: 'bold', color: '#FFFFFF' }}&gt;&#10;                赔一次的钱&#10;            &lt;/Text&gt;&#10;        &lt;/Box&gt;&#10;&#10;        &lt;Box style={{ flexDirection: 'column', gap: 12, padding: '0 56px' }}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单次赔几十到几百元&#10;                &lt;/Text&gt;&#10;            &lt;/Box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人工报案 + 查勘 + 核赔的固定成本，与赔款同量级&#10;                &lt;/Text&gt;&#10;            &lt;/Box&gt;&#10;            &lt;Box style={{ flexDirection: 'row', alignItems: 'center', gap: 14 }}&gt;&#10;                &lt;Box style={{ width: 6, height: 6, borderRadius: 3, background: '#F5A524' }} /&gt;&#10;                &lt;Text style={{ fontFamily: 'Microsoft YaHei', fontSize: 19, fontWeight: 'bold', color: '#FFFFFF', lineHeight: 1.45 }}&gt;&#10;                    保险公司的理性选择：不卖&#10;                &lt;/Text&gt;&#10;            &lt;/Box&gt;&#10;        &lt;/Box&gt;&#10;&#10;        &lt;Box style={{ marginTop: 'auto', flexDirection: 'row', gap: 20 }}&gt;&#10;&#10;            &lt;Box style={{ flex: 1, background: 'rgba(255,255,255,0.04)', border: '1px solid rgba(255,255,255,0.10)', borderRadius: 5, padding: '16px 22px', flexDirection: 'column' }}&gt;&#10;                &lt;Text style={{ fontFamily: 'Consolas', fontSize: 13, color: 'rgba(255,255,255,0.44)', letterSpacing: 3 }}&gt;&#10;                    下游的三个结果&#10;                &lt;/Text&gt;&#10;                &lt;Text style={{ fontFamily: 'Microsoft YaHei', fontSize: 16, color: 'rgba(255,255,255,0.62)', lineHeight: 1.55, marginTop: 8 }}&gt;&#10;                    损失核不了 · 逆选择与骗赔 · 身份无正式凭据 —— 都是这个成本结构的下游，不是三个独立的问题。&#10;                &lt;/Text&gt;&#10;            &lt;/Box&gt;&#10;&#10;            &lt;Box style={{ width: 336, background: 'rgba(45,127,249,0.10)', border: '1px solid rgba(45,127,249,0.30)', borderRadius: 5, padding: '16px 22px', flexDirection: 'column' }}&gt;&#10;                &lt;Box style={{ flexDirection: 'row', alignItems: 'baseline', gap: 10 }}&gt;&#10;                    &lt;Text style={{ fontFamily: 'Consolas', fontSize: 34, fontWeight: 'bold', color: '#22D3EE' }}&gt;6.8×&lt;/Text&gt;&#10;                    &lt;Text style={{ fontFamily: 'Microsoft YaHei', fontSize: 15, color: 'rgba(255,255,255,0.80)' }}&gt;雨天配送事故率&lt;/Text&gt;&#10;                &lt;/Box&gt;&#10;                &lt;Text style={{ fontFamily: 'Microsoft YaHei', fontSize: 13, color: 'rgba(255,255,255,0.44)', lineHeight: 1.5, marginTop: 8 }}&gt;&#10;                    泰国骑手交通事故研究，OR = 6.79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3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矩形 1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74" name="矩形 173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914400" y="409575"/>
            <a:ext cx="5143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不是没人想保，是这笔账算不过来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02 / THE MATH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3324225" y="1800225"/>
            <a:ext cx="25146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查一次的成本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6162675" y="1743075"/>
            <a:ext cx="285750" cy="619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0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≈</a:t>
            </a:r>
            <a:endParaRPr sz="40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6772275" y="1800225"/>
            <a:ext cx="20955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赔一次的钱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1219200" y="30861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1409700" y="2952750"/>
            <a:ext cx="16287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单次赔几十到几百元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1219200" y="3524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1409700" y="3390900"/>
            <a:ext cx="41052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人工报案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查勘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核赔的固定成本，与赔款同量级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1219200" y="39624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5A524"/>
          </a:solidFill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1409700" y="3829050"/>
            <a:ext cx="21717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保险公司的理性选择：不卖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/>
        </p:nvSpPr>
        <p:spPr>
          <a:xfrm>
            <a:off x="685800" y="5286375"/>
            <a:ext cx="7429500" cy="1000125"/>
          </a:xfrm>
          <a:prstGeom prst="roundRect">
            <a:avLst>
              <a:gd name="adj" fmla="val 476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895350" y="5438775"/>
            <a:ext cx="7010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FFFFFF">
                    <a:alpha val="44000"/>
                  </a:srgbClr>
                </a:solidFill>
                <a:latin typeface="Consolas" panose="020B0609020204030204"/>
                <a:ea typeface="Consolas" panose="020B0609020204030204"/>
              </a:rPr>
              <a:t>下游的三个结果</a:t>
            </a:r>
            <a:endParaRPr lang="zh-CN" sz="975" spc="225">
              <a:solidFill>
                <a:srgbClr val="FFFFFF">
                  <a:alpha val="4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895350" y="5667375"/>
            <a:ext cx="7010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损失核不了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逆选择与骗赔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身份无正式凭据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都是这个成本结构的下游，不是三个独立的问题。</a:t>
            </a:r>
            <a:endParaRPr lang="zh-CN" sz="1200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圆角矩形 188"/>
          <p:cNvSpPr/>
          <p:nvPr/>
        </p:nvSpPr>
        <p:spPr>
          <a:xfrm>
            <a:off x="8305800" y="5286375"/>
            <a:ext cx="3200400" cy="1000125"/>
          </a:xfrm>
          <a:prstGeom prst="roundRect">
            <a:avLst>
              <a:gd name="adj" fmla="val 476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8515350" y="5438775"/>
            <a:ext cx="7143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6.8×</a:t>
            </a:r>
            <a:endParaRPr lang="en-US" sz="2550" b="1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9324975" y="5438775"/>
            <a:ext cx="10001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雨天配送事故率</a:t>
            </a:r>
            <a:endParaRPr lang="zh-CN" sz="11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8515350" y="5905500"/>
            <a:ext cx="2781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泰国骑手交通事故研究，</a:t>
            </a:r>
            <a:r>
              <a:rPr lang="en-US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OR = 6.79</a:t>
            </a:r>
            <a:endParaRPr lang="en-US" sz="975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03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It is not that nobody wants to insure them - the math does not work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/>
      <p:bldP spid="174" grpId="0"/>
      <p:bldP spid="175" grpId="0"/>
      <p:bldP spid="176" grpId="0"/>
      <p:bldP spid="177" grpId="0"/>
      <p:bldP spid="178" grpId="0"/>
      <p:bldP spid="179" grpId="0"/>
      <p:bldP spid="180" grpId="0"/>
      <p:bldP spid="182" grpId="0"/>
      <p:bldP spid="184" grpId="0"/>
      <p:bldP spid="181" grpId="0"/>
      <p:bldP spid="183" grpId="0"/>
      <p:bldP spid="185" grpId="0"/>
      <p:bldP spid="186" grpId="0"/>
      <p:bldP spid="187" grpId="0"/>
      <p:bldP spid="188" grpId="0"/>
      <p:bldP spid="189" grpId="0"/>
      <p:bldP spid="190" grpId="0"/>
      <p:bldP spid="191" grpId="0"/>
      <p:bldP spid="19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95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AI + 天气，几乎所有人都在做预测&#10;        &lt;/Text&gt;&#10;        &lt;Box style={{ flex: 1 }} /&gt;&#10;        &lt;Text style={{ fontFamily: 'Consolas', fontSize: 16, color: 'rgba(255,255,255,0.34)', letterSpacing: 2 }}&gt;&#10;            03 / THE INDUSTRY&#10;        &lt;/Text&gt;&#10;    &lt;/Box&gt;&#10;&#10;    &lt;Box style={{ height: 540, flexDirection: 'column' }}&gt;&#10;&#10;        &lt;Box style={{ height: 168, flexDirection: 'column', alignItems: 'center', justifyContent: 'center' }}&gt;&#10;            &lt;Text style={{ fontFamily: 'Consolas', fontSize: 42, fontWeight: 'bold', color: '#22D3EE', letterSpacing: 5 }}&gt;&#10;                ECMWF · GFS · ICON&#10;            &lt;/Text&gt;&#10;            &lt;Text style={{ fontFamily: 'Microsoft YaHei', fontSize: 19, color: 'rgba(255,255,255,0.62)', lineHeight: 1.5, marginTop: 18 }}&gt;&#10;                整个行业在做的事，是把明天算得更准&#10;            &lt;/Text&gt;&#10;        &lt;/Box&gt;&#10;&#10;        &lt;Box style={{ height: 1, background: 'rgba(255,255,255,0.10)', marginLeft: 140, marginRight: 140 }} /&gt;&#10;&#10;        &lt;Box style={{ flex: 1, flexDirection: 'column', alignItems: 'center', justifyContent: 'center' }}&gt;&#10;            &lt;Text style={{ fontFamily: 'Consolas', fontSize: 14, color: '#F5A524', letterSpacing: 6 }}&gt;&#10;                BUT&#10;            &lt;/Text&gt;&#10;            &lt;Text style={{ fontFamily: 'Microsoft YaHei', fontSize: 50, fontWeight: 'bold', color: '#FFFFFF', lineHeight: 1.3, marginTop: 20, textAlign: 'center' }}&gt;&#10;                预报越准，这个产品越难成立。&#10;            &lt;/Text&gt;&#10;            &lt;Text style={{ fontFamily: 'Microsoft YaHei', fontSize: 21, color: 'rgba(255,255,255,0.60)', lineHeight: 1.5, marginTop: 24 }}&gt;&#10;                人人都挑下雨那天来买。&#10;            &lt;/Text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4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矩形 1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97" name="矩形 19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914400" y="409575"/>
            <a:ext cx="52959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+ </a:t>
            </a: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天气，几乎所有人都在做预测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9753600" y="571500"/>
            <a:ext cx="1752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03 / THE INDUSTRY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3686175" y="1447800"/>
            <a:ext cx="48196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ECMWF · GFS · ICON</a:t>
            </a:r>
            <a:endParaRPr lang="en-US" sz="3150" b="1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4562475" y="2105025"/>
            <a:ext cx="30765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整个行业在做的事，是把明天算得更准</a:t>
            </a:r>
            <a:endParaRPr lang="zh-CN" sz="1425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2019300" y="2743200"/>
            <a:ext cx="8153400" cy="9525"/>
          </a:xfrm>
          <a:prstGeom prst="rect">
            <a:avLst/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5417185" y="113665"/>
            <a:ext cx="1356995" cy="6630670"/>
          </a:xfrm>
          <a:prstGeom prst="rect">
            <a:avLst/>
          </a:prstGeom>
        </p:spPr>
        <p:txBody>
          <a:bodyPr wrap="none" lIns="0" tIns="0" rIns="0" bIns="0" anchor="ctr" anchorCtr="0"/>
          <a:p>
            <a:pPr algn="ctr">
              <a:lnSpc>
                <a:spcPct val="110000"/>
              </a:lnSpc>
            </a:pPr>
            <a:r>
              <a:rPr lang="en-US" sz="3600" spc="450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BUT</a:t>
            </a:r>
            <a:endParaRPr lang="en-US" sz="3600" spc="450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2762250" y="4029075"/>
            <a:ext cx="6667500" cy="7429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3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预报越准，这个产品越难成立。</a:t>
            </a:r>
            <a:endParaRPr lang="zh-CN" sz="3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5000625" y="5000625"/>
            <a:ext cx="2200275" cy="361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人人都挑下雨那天来买。</a:t>
            </a:r>
            <a:endParaRPr lang="zh-CN" sz="157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04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AI plus weather: almost everyone is forecasting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" grpId="0"/>
      <p:bldP spid="197" grpId="0"/>
      <p:bldP spid="198" grpId="0"/>
      <p:bldP spid="199" grpId="0"/>
      <p:bldP spid="200" grpId="0"/>
      <p:bldP spid="201" grpId="0"/>
      <p:bldP spid="202" grpId="0"/>
      <p:bldP spid="204" grpId="0"/>
      <p:bldP spid="205" grpId="0"/>
      <p:bldP spid="20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08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所以我们根本不问「你损失了多少」&#10;        &lt;/Text&gt;&#10;        &lt;Box style={{ flex: 1 }} /&gt;&#10;        &lt;Text style={{ fontFamily: 'Consolas', fontSize: 16, color: 'rgba(255,255,255,0.34)', letterSpacing: 2 }}&gt;&#10;            04 / THE TURN&#10;        &lt;/Text&gt;&#10;    &lt;/Box&gt;&#10;&#10;    &lt;Box style={{ height: 540, flexDirection: 'column' }}&gt;&#10;&#10;        &lt;Box style={{ height: 118, background: 'rgba(45,127,249,0.10)', border: '1px solid rgba(45,127,249,0.30)', borderRadius: 6, padding: '0 32px', flexDirection: 'row', alignItems: 'center' }}&gt;&#10;            &lt;Text style={{ fontFamily: 'Microsoft YaHei', fontSize: 30, fontWeight: 'bold', color: '#FFFFFF', lineHeight: 1.45 }}&gt;&#10;                只看一个公开数字：保单期内，这个区域下了多少雨。&#10;            &lt;/Text&gt;&#10;        &lt;/Box&gt;&#10;&#10;        &lt;Box style={{ height: 108, flexDirection: 'row', alignItems: 'center', justifyContent: 'space-between', marginTop: 30 }}&gt;&#10;            &lt;Box style={{ width: 196, height: 84, background: 'rgba(45,127,249,0.12)', border: '1px solid #2D7FF9', borderRadius: 5, flexDirection: 'column', alignItems: 'center', justifyContent: 'center' }}&gt;&#10;                &lt;Text style={{ fontFamily: 'Consolas', fontSize: 12, color: '#22D3EE', letterSpacing: 2 }}&gt;STEP 01&lt;/Text&gt;&#10;                &lt;Text style={{ fontFamily: 'Microsoft YaHei', fontSize: 20, fontWeight: 'bold', color: '#FFFFFF', marginTop: 4 }}&gt;投保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2&lt;/Text&gt;&#10;                &lt;Text style={{ fontFamily: 'Microsoft YaHei', fontSize: 20, fontWeight: 'bold', color: '#FFFFFF', marginTop: 4 }}&gt;喂价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3&lt;/Text&gt;&#10;                &lt;Text style={{ fontFamily: 'Microsoft YaHei', fontSize: 20, fontWeight: 'bold', color: '#FFFFFF', marginTop: 4 }}&gt;判定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4&lt;/Text&gt;&#10;                &lt;Text style={{ fontFamily: 'Microsoft YaHei', fontSize: 20, fontWeight: 'bold', color: '#FFFFFF', marginTop: 4 }}&gt;赔付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5&lt;/Text&gt;&#10;                &lt;Text style={{ fontFamily: 'Microsoft YaHei', fontSize: 20, fontWeight: 'bold', color: '#FFFFFF', marginTop: 4 }}&gt;核验&lt;/Text&gt;&#10;            &lt;/Box&gt;&#10;        &lt;/Box&gt;&#10;&#10;        &lt;Box style={{ marginTop: 30 }}&gt;&#10;            &lt;Text style={{ fontFamily: 'Microsoft YaHei', fontSize: 46, fontWeight: 'bold', color: '#22D3EE', lineHeight: 1.3 }}&gt;&#10;                定损成本，接近零。&#10;            &lt;/Text&gt;&#10;        &lt;/Box&gt;&#10;&#10;        &lt;Box style={{ marginTop: 'auto', flexDirection: 'row', gap: 16 }}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规则写死在合约里 —— 赔付额、阈值、保障期全是 constant，部署后连我们也改不了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claim() 没有任何权限修饰符 —— 任何人可触发，钱只进保单登记的骑手地址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保费由脚本按触发概率算出来写进链，不是手填 —— 每次改价都留一条依据哈希&#10;                &lt;/Text&gt;&#10;            &lt;/Box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5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矩形 2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10" name="矩形 209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914400" y="409575"/>
            <a:ext cx="5486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所以我们根本不问「你损失了多少」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04 / THE TURN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685800" y="1143000"/>
            <a:ext cx="10820400" cy="1123950"/>
          </a:xfrm>
          <a:prstGeom prst="roundRect">
            <a:avLst>
              <a:gd name="adj" fmla="val 5085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990600" y="1457325"/>
            <a:ext cx="68580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只看一个公开数字：保单期内，这个区域下了多少雨。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214"/>
          <p:cNvSpPr/>
          <p:nvPr/>
        </p:nvSpPr>
        <p:spPr>
          <a:xfrm>
            <a:off x="6858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2D7FF9">
              <a:alpha val="12000"/>
            </a:srgbClr>
          </a:solidFill>
          <a:ln w="12700">
            <a:solidFill>
              <a:srgbClr val="2D7FF9"/>
            </a:solidFill>
            <a:prstDash val="solid"/>
          </a:ln>
        </p:spPr>
        <p:txBody>
          <a:bodyPr/>
          <a:p/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13335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01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14287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投保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267652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292417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357187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02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366712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喂价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491490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516255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581025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03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590550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715327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740092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804862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04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814387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赔付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939165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96393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102870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05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103822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核验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685800" y="3867150"/>
            <a:ext cx="10820400" cy="685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定损成本，接近零。</a:t>
            </a:r>
            <a:endParaRPr lang="zh-CN" sz="34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任意多边形 234"/>
          <p:cNvSpPr/>
          <p:nvPr/>
        </p:nvSpPr>
        <p:spPr>
          <a:xfrm>
            <a:off x="734695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734695" y="4953000"/>
            <a:ext cx="3505200" cy="184213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赔付档线、档位比例、单笔上限写死在合约里；价格可以调，但每调一次都要上链，并附一条依据哈希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任意多边形 236"/>
          <p:cNvSpPr/>
          <p:nvPr/>
        </p:nvSpPr>
        <p:spPr>
          <a:xfrm>
            <a:off x="4343400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4343400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en-US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claim() </a:t>
            </a: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没有任何权限修饰符</a:t>
            </a:r>
            <a:r>
              <a:rPr lang="en-US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任何人可触发，钱只进保单登记的骑手地址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任意多边形 238"/>
          <p:cNvSpPr/>
          <p:nvPr/>
        </p:nvSpPr>
        <p:spPr>
          <a:xfrm>
            <a:off x="8048625" y="4943475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7990205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保费由脚本按触发概率算出来写进链，不是手填；但判定这一环仍须有人提交，合约里没有定时器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05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So we never ask how much you lost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 bldLvl="0" animBg="1"/>
      <p:bldP spid="210" grpId="0"/>
      <p:bldP spid="211" grpId="0"/>
      <p:bldP spid="212" grpId="0"/>
      <p:bldP spid="213" grpId="0"/>
      <p:bldP spid="214" grpId="0"/>
      <p:bldP spid="215" grpId="0"/>
      <p:bldP spid="216" grpId="0"/>
      <p:bldP spid="217" grpId="0"/>
      <p:bldP spid="218" grpId="0"/>
      <p:bldP spid="219" grpId="0"/>
      <p:bldP spid="220" grpId="0"/>
      <p:bldP spid="221" grpId="0"/>
      <p:bldP spid="222" grpId="0"/>
      <p:bldP spid="223" grpId="0"/>
      <p:bldP spid="224" grpId="0"/>
      <p:bldP spid="225" grpId="0"/>
      <p:bldP spid="226" grpId="0"/>
      <p:bldP spid="227" grpId="0"/>
      <p:bldP spid="228" grpId="0"/>
      <p:bldP spid="229" grpId="0"/>
      <p:bldP spid="230" grpId="0"/>
      <p:bldP spid="231" grpId="0"/>
      <p:bldP spid="232" grpId="0"/>
      <p:bldP spid="233" grpId="0"/>
      <p:bldP spid="234" grpId="0"/>
      <p:bldP spid="235" grpId="0" bldLvl="0" animBg="1"/>
      <p:bldP spid="236" grpId="0"/>
      <p:bldP spid="237" grpId="0" bldLvl="0" animBg="1"/>
      <p:bldP spid="238" grpId="0"/>
      <p:bldP spid="239" grpId="0" bldLvl="0" animBg="1"/>
      <p:bldP spid="2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43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三条链上证据，两种相反的结论&#13;&#10;        &lt;/Text&gt;&#13;&#10;        &lt;Box style={{ flex: 1 }} /&gt;&#13;&#10;        &lt;Text style={{ fontFamily: 'Consolas', fontSize: 16, color: 'rgba(255,255,255,0.34)', letterSpacing: 2 }}&gt;&#13;&#10;            05 / EVIDENCE&#13;&#10;        &lt;/Text&gt;&#13;&#10;    &lt;/Box&gt;&#13;&#10;&#13;&#10;    &lt;Box style={{ height: 540, flexDirection: 'row', gap: 26 }}&gt;&#13;&#10;&#13;&#10;        &lt;Box style={{ width: 605, height: 540, flexDirection: 'column', overflow: 'hidden' }}&gt;&#13;&#10;            &lt;Text style={{ fontFamily: 'Consolas', fontSize: 15, color: '#22D3EE', letterSpacing: 4 }}&gt;&#13;&#10;                PAYOUT PER CLAIM&#13;&#10;            &lt;/Text&gt;&#13;&#10;&#13;&#10;            &lt;Box style={{ flexDirection: 'row', alignItems: 'flex-end', gap: 12, marginTop: 8 }}&gt;&#13;&#10;                &lt;Text style={{ fontFamily: 'Consolas', fontSize: 104, fontWeight: 'bold', color: '#F5A524', lineHeight: 1.0 }}&gt;&#13;&#10;                    0.01&#13;&#10;                &lt;/Text&gt;&#13;&#10;                &lt;Text style={{ fontFamily: 'Consolas', fontSize: 30, color: 'rgba(255,255,255,0.50)', lineHeight: 1.6 }}&gt;&#13;&#10;                    ETH&#13;&#10;                &lt;/Text&gt;&#13;&#10;            &lt;/Box&gt;&#13;&#10;&#13;&#10;            &lt;Text style={{ fontFamily: 'Microsoft YaHei', fontSize: 20, color: 'rgba(255,255,255,0.72)', lineHeight: 1.55, marginTop: 12 }}&gt;&#13;&#10;                触发到到账是分钟级。含判定与赔付的链上总成本约 0.00025 ETH，只占赔付额的 2.5% —— 传统保险的钱花在「查」，我们的钱花在「给」。&#13;&#10;            &lt;/Text&gt;&#13;&#10;&#13;&#10;            &lt;Box style={{ height: 1, background: 'rgba(255,255,255,0.14)', marginTop: 18, marginBottom: 16 }} /&gt;&#13;&#10;&#13;&#10;            &lt;Box style={{ flexDirection: 'column', gap: 10 }}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0 · 上海 · 真实气象数据&lt;/Text&gt;&#13;&#10;                        &lt;Text style={{ fontFamily: 'Microsoft YaHei', fontSize: 14, color: 'rgba(255,255,255,0.54)', marginTop: 3 }}&gt;链上增量 34 mm 低于 50 mm 阈值&lt;/Text&gt;&#13;&#10;                    &lt;/Box&gt;&#13;&#10;                    &lt;Text style={{ fontFamily: 'Microsoft YaHei', fontSize: 17, fontWeight: 'bold', color: '#FFFFFF' }}&gt;DENY 95&lt;/Text&gt;&#13;&#10;                    &lt;Text style={{ fontFamily: 'Microsoft YaHei', fontSize: 15, color: 'rgba(255,255,255,0.60)', width: 62, textAlign: 'right' }}&gt;不赔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1 · 成都 · 模拟暴雨&lt;/Text&gt;&#13;&#10;                        &lt;Text style={{ fontFamily: 'Microsoft YaHei', fontSize: 14, color: 'rgba(255,255,255,0.54)', marginTop: 3 }}&gt;6 → 120 mm，链上永久标记 simulated&lt;/Text&gt;&#13;&#10;                    &lt;/Box&gt;&#13;&#10;                    &lt;Text style={{ fontFamily: 'Microsoft YaHei', fontSize: 17, fontWeight: 'bold', color: '#22D3EE' }}&gt;PAY 94&lt;/Text&gt;&#13;&#10;                    &lt;Text style={{ fontFamily: 'Microsoft YaHei', fontSize: 15, color: 'rgba(255,255,255,0.82)', width: 62, textAlign: 'right' }}&gt;赔付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历史回放 · 武汉 2024-06-27 至 29&lt;/Text&gt;&#13;&#10;                        &lt;Text style={{ fontFamily: 'Microsoft YaHei', fontSize: 14, color: 'rgba(255,255,255,0.54)', marginTop: 3 }}&gt;真实历史累计 230 mm，simulated = false&lt;/Text&gt;&#13;&#10;                    &lt;/Box&gt;&#13;&#10;                    &lt;Text style={{ fontFamily: 'Microsoft YaHei', fontSize: 17, fontWeight: 'bold', color: '#22D3EE' }}&gt;PAY 76&lt;/Text&gt;&#13;&#10;                    &lt;Text style={{ fontFamily: 'Microsoft YaHei', fontSize: 15, color: 'rgba(255,255,255,0.82)', width: 62, textAlign: 'right' }}&gt;赔付&lt;/Text&gt;&#13;&#10;                &lt;/Box&gt;&#13;&#10;&#13;&#10;            &lt;/Box&gt;&#13;&#10;&#13;&#10;            &lt;Box style={{ marginTop: 'auto', flexDirection: 'row', alignItems: 'center', gap: 10 }}&gt;&#13;&#10;                &lt;Text style={{ fontFamily: 'Consolas', fontSize: 14, color: 'rgba(255,255,255,0.44)' }}&gt;&#13;&#10;                    Sepolia · 合约 0x89e7C942535930B61cB61631051E8b0bD670596a · 运行时代码 10,758 字节&#13;&#10;                &lt;/Text&gt;&#13;&#10;            &lt;/Box&gt;&#13;&#10;        &lt;/Box&gt;&#13;&#10;&#13;&#10;        &lt;Box style={{ width: 505, height: 540, flexDirection: 'column', overflow: 'hidden' }}&gt;&#13;&#10;            &lt;Text style={{ fontFamily: 'Consolas', fontSize: 15, color: '#22D3EE', letterSpacing: 4 }}&gt;&#13;&#10;                LIVE VERIFIER&#13;&#10;            &lt;/Text&gt;&#13;&#10;&#13;&#10;            &lt;Box style={{ flex: 1, minHeight: 0, marginTop: 12, borderRadius: 6, overflow: 'hidden', border: '1px solid rgba(255,255,255,0.14)' }}&gt;&#13;&#10;                &lt;Image src=&quot;assets/shot_verifier.png&quot; style={{ width: '100%', height: '100%', objectFit: 'cover' }} /&gt;&#13;&#10;            &lt;/Box&gt;&#13;&#10;&#13;&#10;            &lt;Text style={{ fontFamily: 'Microsoft YaHei', fontSize: 17, color: 'rgba(255,255,255,0.80)', lineHeight: 1.5, marginTop: 14 }}&gt;&#13;&#10;                核验台粘一个地址或哈希，就能读到：&lt;span style={{ color: '#FFFFFF', fontWeight: 'bold' }}&gt;这是不是合约、代码多长、事件逐条说了什么&lt;/span&gt; —— 不依赖任何在线区块浏览器。&#13;&#10;            &lt;/Text&gt;&#13;&#10;            &lt;Text style={{ fontFamily: 'Microsoft YaHei', fontSize: 14, color: 'rgba(255,255,255,0.44)', marginTop: 8 }}&gt;&#13;&#10;                截图为 2026-10-07 线上实读，现场可当场重查&#13;&#10;            &lt;/Text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6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矩形 2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45" name="矩形 244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914400" y="409575"/>
            <a:ext cx="48006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三条链上证据，两种相反的结论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05 / EVIDENCE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685800" y="1143000"/>
            <a:ext cx="5762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PAYOUT PER CLAIM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685800" y="1390650"/>
            <a:ext cx="2181225" cy="1190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0.01</a:t>
            </a:r>
            <a:endParaRPr lang="en-US" sz="78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2981325" y="2028825"/>
            <a:ext cx="4762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2250">
                <a:solidFill>
                  <a:srgbClr val="FFFFFF">
                    <a:alpha val="50000"/>
                  </a:srgbClr>
                </a:solidFill>
                <a:latin typeface="Consolas" panose="020B0609020204030204"/>
                <a:ea typeface="Consolas" panose="020B0609020204030204"/>
              </a:rPr>
              <a:t>ETH</a:t>
            </a:r>
            <a:endParaRPr lang="en-US" sz="2250">
              <a:solidFill>
                <a:srgbClr val="FFFFFF">
                  <a:alpha val="5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685800" y="2562225"/>
            <a:ext cx="5762625" cy="1066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触发到账是分钟级。含判定与赔付的链上总成本约</a:t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0.00025 ETH（Sepolia 实测、1 Gwei）</a:t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，只占赔付额的</a:t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2.5%（968 未摊薄 ≈0.0043 BOT，靠批量摊薄）—— </a:t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传统保险的钱花在「查」，我们的钱花在「给」。</a:t>
            </a:r>
            <a:endParaRPr lang="zh-CN" sz="150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685800" y="4002405"/>
            <a:ext cx="5762625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253" name="圆角矩形 252"/>
          <p:cNvSpPr/>
          <p:nvPr>
            <p:custDataLst>
              <p:tags r:id="rId1"/>
            </p:custDataLst>
          </p:nvPr>
        </p:nvSpPr>
        <p:spPr>
          <a:xfrm>
            <a:off x="674370" y="42386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4" name="矩形 253"/>
          <p:cNvSpPr/>
          <p:nvPr>
            <p:custDataLst>
              <p:tags r:id="rId2"/>
            </p:custDataLst>
          </p:nvPr>
        </p:nvSpPr>
        <p:spPr>
          <a:xfrm>
            <a:off x="826770" y="43719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55" name="文本框 254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988695" y="4324350"/>
            <a:ext cx="3990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保单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#0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真实气象数据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988695" y="4552950"/>
            <a:ext cx="3990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链上增量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34 mm </a:t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低于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50 mm </a:t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阈值</a:t>
            </a:r>
            <a:endParaRPr lang="zh-CN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4979670" y="4419600"/>
            <a:ext cx="714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DENY 95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5694045" y="44291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不赔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圆角矩形 258"/>
          <p:cNvSpPr/>
          <p:nvPr>
            <p:custDataLst>
              <p:tags r:id="rId7"/>
            </p:custDataLst>
          </p:nvPr>
        </p:nvSpPr>
        <p:spPr>
          <a:xfrm>
            <a:off x="674370" y="48863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0" name="矩形 259"/>
          <p:cNvSpPr/>
          <p:nvPr>
            <p:custDataLst>
              <p:tags r:id="rId8"/>
            </p:custDataLst>
          </p:nvPr>
        </p:nvSpPr>
        <p:spPr>
          <a:xfrm>
            <a:off x="826770" y="50196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1" name="文本框 260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988695" y="4972050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保单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#1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模拟暴雨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988695" y="5200650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6 → 120 mm</a:t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，链上永久标记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simulated</a:t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5132070" y="5067300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PAY 94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5694045" y="50768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圆角矩形 264"/>
          <p:cNvSpPr/>
          <p:nvPr>
            <p:custDataLst>
              <p:tags r:id="rId13"/>
            </p:custDataLst>
          </p:nvPr>
        </p:nvSpPr>
        <p:spPr>
          <a:xfrm>
            <a:off x="674370" y="55340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6" name="矩形 265"/>
          <p:cNvSpPr/>
          <p:nvPr>
            <p:custDataLst>
              <p:tags r:id="rId14"/>
            </p:custDataLst>
          </p:nvPr>
        </p:nvSpPr>
        <p:spPr>
          <a:xfrm>
            <a:off x="826770" y="56673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7" name="文本框 266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988695" y="5619750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历史回放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上海 2026-08-09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988695" y="5848350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链上增量 105 mm（448 → 553），simulated = false</a:t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>
            <p:custDataLst>
              <p:tags r:id="rId17"/>
            </p:custDataLst>
          </p:nvPr>
        </p:nvSpPr>
        <p:spPr>
          <a:xfrm>
            <a:off x="5132070" y="5715000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PAY 91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5694045" y="57245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6696075" y="1143000"/>
            <a:ext cx="481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TWO CHAINS · ONE PROCESS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3" name="圆角矩形 272"/>
          <p:cNvSpPr/>
          <p:nvPr/>
        </p:nvSpPr>
        <p:spPr>
          <a:xfrm>
            <a:off x="6696075" y="1428750"/>
            <a:ext cx="4810125" cy="3895725"/>
          </a:xfrm>
          <a:prstGeom prst="roundRect">
            <a:avLst>
              <a:gd name="adj" fmla="val 1467"/>
            </a:avLst>
          </a:prstGeom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4" name="图片 273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6696075" y="1428750"/>
            <a:ext cx="4810125" cy="3895725"/>
          </a:xfrm>
          <a:custGeom>
            <a:avLst/>
            <a:gdLst/>
            <a:ahLst/>
            <a:cxnLst/>
            <a:pathLst>
              <a:path w="505" h="409">
                <a:moveTo>
                  <a:pt x="499" y="0"/>
                </a:moveTo>
                <a:cubicBezTo>
                  <a:pt x="502" y="0"/>
                  <a:pt x="505" y="3"/>
                  <a:pt x="505" y="6"/>
                </a:cubicBezTo>
                <a:lnTo>
                  <a:pt x="505" y="403"/>
                </a:lnTo>
                <a:cubicBezTo>
                  <a:pt x="505" y="406"/>
                  <a:pt x="502" y="409"/>
                  <a:pt x="499" y="409"/>
                </a:cubicBezTo>
                <a:lnTo>
                  <a:pt x="6" y="409"/>
                </a:lnTo>
                <a:cubicBezTo>
                  <a:pt x="3" y="409"/>
                  <a:pt x="0" y="406"/>
                  <a:pt x="0" y="403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9" y="0"/>
                </a:lnTo>
                <a:close/>
              </a:path>
            </a:pathLst>
          </a:custGeom>
        </p:spPr>
      </p:pic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6696075" y="5457825"/>
            <a:ext cx="48101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核验台粘一个地址或哈希，就能读到：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这是不是合约、代码多长、事件逐条说了什么</a:t>
            </a:r>
            <a:r>
              <a:rPr lang="en-US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不依赖任何在线区块浏览器。</a:t>
            </a:r>
            <a:endParaRPr lang="zh-CN" sz="12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6696075" y="6124575"/>
            <a:ext cx="4810125" cy="74231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endParaRPr lang="zh-CN" sz="1600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06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9" name="TextBox 278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Three on-chain proofs, two opposite conclusions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074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8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" grpId="0"/>
      <p:bldP spid="245" grpId="0"/>
      <p:bldP spid="246" grpId="0"/>
      <p:bldP spid="247" grpId="0"/>
      <p:bldP spid="248" grpId="0"/>
      <p:bldP spid="249" grpId="0"/>
      <p:bldP spid="251" grpId="0"/>
      <p:bldP spid="250" grpId="0"/>
      <p:bldP spid="272" grpId="0"/>
      <p:bldP spid="273" grpId="0"/>
      <p:bldP spid="274" grpId="0"/>
      <p:bldP spid="252" grpId="0" bldLvl="0" animBg="1"/>
      <p:bldP spid="253" grpId="0" bldLvl="0" animBg="1"/>
      <p:bldP spid="254" grpId="0" bldLvl="0" animBg="1"/>
      <p:bldP spid="255" grpId="0"/>
      <p:bldP spid="256" grpId="0"/>
      <p:bldP spid="257" grpId="0"/>
      <p:bldP spid="258" grpId="0"/>
      <p:bldP spid="259" grpId="0" bldLvl="0" animBg="1"/>
      <p:bldP spid="260" grpId="0" bldLvl="0" animBg="1"/>
      <p:bldP spid="261" grpId="0"/>
      <p:bldP spid="262" grpId="0"/>
      <p:bldP spid="263" grpId="0"/>
      <p:bldP spid="264" grpId="0"/>
      <p:bldP spid="265" grpId="0" bldLvl="0" animBg="1"/>
      <p:bldP spid="266" grpId="0" bldLvl="0" animBg="1"/>
      <p:bldP spid="267" grpId="0"/>
      <p:bldP spid="268" grpId="0"/>
      <p:bldP spid="269" grpId="0"/>
      <p:bldP spid="270" grpId="0"/>
      <p:bldP spid="275" grpId="0"/>
      <p:bldP spid="2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99" name="" descr="演示站三格截图：链上降雨看板 / 链上动态 / 投保面板，全部直读 BOT Chain 测试网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 99"/>
          <p:cNvSpPr/>
          <p:nvPr/>
        </p:nvSpPr>
        <p:spPr>
          <a:xfrm>
            <a:off x="0" y="0"/>
            <a:ext cx="12191970" cy="6858000"/>
          </a:xfrm>
          <a:solidFill>
            <a:srgbClr val="0A1422"/>
          </a:solidFill>
        </p:spPr>
        <p:txBody>
          <a:bodyPr/>
          <a:p/>
        </p:txBody>
      </p:sp>
      <p:sp>
        <p:nvSpPr>
          <p:cNvPr id="101" name="矩形 100"/>
          <p:cNvSpPr/>
          <p:nvPr/>
        </p:nvSpPr>
        <p:spPr>
          <a:xfrm>
            <a:off x="685800" y="521208"/>
            <a:ext cx="36576" cy="283464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914400" y="411480"/>
            <a:ext cx="7863840" cy="51206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不用信这份 PPT，自己点一遍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10058400" y="566928"/>
            <a:ext cx="1453896" cy="19202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06 / LIVE DEMO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685800" y="1143000"/>
            <a:ext cx="576072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4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LIVE DEMO · BOT CHAIN 677</a:t>
            </a:r>
            <a:endParaRPr lang="en-US" sz="1500" spc="4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110" name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10817352" cy="2170220"/>
          </a:xfrm>
          <a:prstGeom prst="rect">
            <a:avLst/>
          </a:prstGeom>
        </p:spPr>
      </p:pic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685800" y="3913632"/>
            <a:ext cx="3749040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· 降雨看板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685800" y="4142232"/>
            <a:ext cx="3749040" cy="475488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五城雨量直读链上（2026-10-08）—— 北京 39 未到 50 mm 入场线，武汉 67 过第一档、未够 100 mm，上海 128、广州 162 越过第二档；成都因三模型离散度超容差被闸门拒收，只留拒收事件。保单只看买入后的增量。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4590288" y="3913632"/>
            <a:ext cx="3547872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· 链上动态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4590288" y="4142232"/>
            <a:ext cx="3547872" cy="475488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AI 判定与赔付逐条留痕（968 上是 PAY 94 / 0.0075 BOT，677 目前是喂价与注池记录），每条右侧都能点「核验」跳回链上；背景雨幕强度也是链上雨量算出来的，不是画的。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8284464" y="3913632"/>
            <a:ext cx="3163824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· 投保面板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8284464" y="4142232"/>
            <a:ext cx="3163824" cy="475488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武汉 24 小时：保费 0.00105 BOT、档线 50 / 100 mm —— 三个数都是合约函数返回的。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685800" y="5225288"/>
            <a:ext cx="10817352" cy="9144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" name="矩形 117"/>
          <p:cNvSpPr/>
          <p:nvPr/>
        </p:nvSpPr>
        <p:spPr>
          <a:xfrm>
            <a:off x="832104" y="5389880"/>
            <a:ext cx="27432" cy="530352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1005840" y="5380736"/>
            <a:ext cx="10314432" cy="603504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三个面板读的是同一份合约。页面是纯静态 HTML：没有后端、没有数据库 —— 浏览器打开它，直接向 677 要数保费来自 </a:t>
            </a: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premiumOf(regionId, hours)</a:t>
            </a:r>
            <a:r>
              <a:rPr lang="zh-CN" sz="13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，档线来自 </a:t>
            </a: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thresholdOf(hours, tier)</a:t>
            </a:r>
            <a:r>
              <a:rPr lang="zh-CN" sz="13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：都不是页面算的，是合约返回的。</a:t>
            </a:r>
            <a:endParaRPr lang="zh-CN" sz="13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10954512" y="6391656"/>
            <a:ext cx="54864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07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Do not trust this deck - click through it yourself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8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1" grpId="0"/>
      <p:bldP spid="102" grpId="0"/>
      <p:bldP spid="103" grpId="0"/>
      <p:bldP spid="104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 bldLvl="0" animBg="1"/>
      <p:bldP spid="118" grpId="0" bldLvl="0" animBg="1"/>
      <p:bldP spid="1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9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统一定价是错的&#13;&#10;        &lt;/Text&gt;&#13;&#10;        &lt;Box style={{ flex: 1 }} /&gt;&#13;&#10;        &lt;Text style={{ fontFamily: 'Consolas', fontSize: 16, color: 'rgba(255,255,255,0.34)', letterSpacing: 2 }}&gt;&#13;&#10;            06 / ACTUARY&#13;&#10;        &lt;/Text&gt;&#13;&#10;    &lt;/Box&gt;&#13;&#10;&#13;&#10;    &lt;Box style={{ height: 540, flexDirection: 'row', gap: 26 }}&gt;&#13;&#10;&#13;&#10;        &lt;Box style={{ width: 760, height: 540, flexDirection: 'column', overflow: 'hidden' }}&gt;&#13;&#10;            &lt;Text style={{ fontFamily: 'Consolas', fontSize: 15, color: '#22D3EE', letterSpacing: 3 }}&gt;&#13;&#10;                11 YEARS · 96,432 HOURS PER CITY&#13;&#10;            &lt;/Text&gt;&#13;&#10;&#13;&#10;            &lt;Box style={{ flex: 1, minHeight: 0, marginTop: 12 }}&gt;&#13;&#10;                &lt;Chart&#13;&#10;                    style={{ width: '100%', height: '100%' }}&#13;&#10;                    chartType='barChart'&#13;&#10;                    grouping='clustered'&#13;&#10;                    title='72 小时窗口内累计降雨达到 50 mm 的概率（%）'&#13;&#10;                    titleColor='#FFFFFF'&#13;&#10;                    legendColor='rgba(255,255,255,0.62)'&#13;&#10;                    axisColor='rgba(255,255,255,0.50)'&#13;&#10;                    dataLabelColor='#FFFFFF'&#13;&#10;                    showLegend={true}&#13;&#10;                    showDataLabels={true}&#13;&#10;                    colors={['#2D7FF9', '#F5A524']}&#13;&#10;                    background='#0A1422'&#13;&#10;                    data={[&#13;&#10;                        ['城市', '72h 触发概率 (%)', '10% 保本线'],&#13;&#10;                        ['武汉', 4.756, 10],&#13;&#10;                        ['上海', 4.557, 10],&#13;&#10;                        ['北京', 2.265, 10],&#13;&#10;                        ['广州', 11.524, 10],&#13;&#10;                        ['成都', 3.719, 10],&#13;&#10;                    ]}&#13;&#10;                /&gt;&#13;&#10;            &lt;/Box&gt;&#13;&#10;&#13;&#10;        &lt;/Box&gt;&#13;&#10;&#13;&#10;        &lt;Box style={{ width: 350, height: 540, flexDirection: 'column', overflow: 'hidden' }}&gt;&#13;&#10;&#13;&#10;            &lt;Box style={{ background: 'rgba(245,165,36,0.10)', border: '1px solid rgba(245,165,36,0.40)', borderRadius: 5, padding: 16, flexDirection: 'column' }}&gt;&#13;&#10;                &lt;Text style={{ fontFamily: 'Consolas', fontSize: 15, color: '#F5A524', letterSpacing: 2 }}&gt;OUT OF BOUNDS&lt;/Text&gt;&#13;&#10;                &lt;Text style={{ fontFamily: 'Consolas', fontSize: 40, fontWeight: 'bold', color: '#F5A524', lineHeight: 1.15, marginTop: 6 }}&gt;&#13;&#10;                    11.524%&#13;&#10;                &lt;/Text&gt;&#13;&#10;                &lt;Text style={{ fontFamily: 'Microsoft YaHei', fontSize: 16, color: '#FFFFFF', lineHeight: 1.5, marginTop: 8 }}&gt;&#13;&#10;                    广州越过 10% 保本线 —— 按统一价 0.001 ETH 卖 72 小时保单，赔付率 &lt;span style={{ fontWeight: 'bold' }}&gt;115.2%&lt;/span&gt;：收 1 赔 1.15。&#13;&#10;                &lt;/Text&gt;&#13;&#10;            &lt;/Box&gt;&#13;&#10;&#13;&#10;            &lt;Box style={{ background: 'rgba(255,255,255,0.04)', border: '1px solid rgba(255,255,255,0.12)', borderRadius: 5, padding: 16, marginTop: 14, flexDirection: 'column' }}&gt;&#13;&#10;                &lt;Text style={{ fontFamily: 'Microsoft YaHei', fontSize: 17, fontWeight: 'bold', color: '#FFFFFF' }}&gt;链上现行价（ETH）&lt;/Text&gt;&#13;&#10;                &lt;Box style={{ flexDirection: 'column', gap: 7, marginTop: 10 }}&gt;&#13;&#10;                    &lt;Box style={{ flexDirection: 'row' }}&gt;&#13;&#10;                        &lt;Text style={{ fontFamily: 'Microsoft YaHei', fontSize: 16, color: 'rgba(255,255,255,0.66)', flex: 1 }}&gt;武汉 / 上海&lt;/Text&gt;&#13;&#10;                        &lt;Text style={{ fontFamily: 'Consolas', fontSize: 16, color: '#FFFFFF' }}&gt;0.0008&lt;/Text&gt;&#13;&#10;                    &lt;/Box&gt;&#13;&#10;                    &lt;Box style={{ flexDirection: 'row' }}&gt;&#13;&#10;                        &lt;Text style={{ fontFamily: 'Microsoft YaHei', fontSize: 16, color: 'rgba(255,255,255,0.66)', flex: 1 }}&gt;成都&lt;/Text&gt;&#13;&#10;                        &lt;Text style={{ fontFamily: 'Consolas', fontSize: 16, color: '#FFFFFF' }}&gt;0.0007&lt;/Text&gt;&#13;&#10;                    &lt;/Box&gt;&#13;&#10;                    &lt;Box style={{ flexDirection: 'row' }}&gt;&#13;&#10;                        &lt;Text style={{ fontFamily: 'Microsoft YaHei', fontSize: 16, color: 'rgba(255,255,255,0.66)', flex: 1 }}&gt;北京&lt;/Text&gt;&#13;&#10;                        &lt;Text style={{ fontFamily: 'Consolas', fontSize: 16, color: '#FFFFFF' }}&gt;0.0004&lt;/Text&gt;&#13;&#10;                    &lt;/Box&gt;&#13;&#10;                    &lt;Box style={{ flexDirection: 'row' }}&gt;&#13;&#10;                        &lt;Text style={{ fontFamily: 'Microsoft YaHei', fontSize: 16, color: '#F5A524', flex: 1 }}&gt;广州 · RISK_LOADED&lt;/Text&gt;&#13;&#10;                        &lt;Text style={{ fontFamily: 'Consolas', fontSize: 16, color: '#F5A524', fontWeight: 'bold' }}&gt;0.0020&lt;/Text&gt;&#13;&#10;                    &lt;/Box&gt;&#13;&#10;                &lt;/Box&gt;&#13;&#10;            &lt;/Box&gt;&#13;&#10;&#13;&#10;            &lt;Box style={{ marginTop: 'auto', borderLeft: '3px solid #2D7FF9', background: 'rgba(45,127,249,0.10)', padding: '12px 14px' }}&gt;&#13;&#10;                &lt;Text style={{ fontFamily: 'Microsoft YaHei', fontSize: 16, color: 'rgba(255,255,255,0.86)', lineHeight: 1.5 }}&gt;&#13;&#10;                    保费由脚本按「触发概率 × 赔付额 ÷ 目标赔付率 60%」算出写进合约，&lt;span style={{ color: '#FFFFFF', fontWeight: 'bold' }}&gt;不是手填的&lt;/span&gt;；每次改价都留一条带依据哈希的事件。&#13;&#10;                &lt;/Text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7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矩形 2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81" name="矩形 280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914400" y="409575"/>
            <a:ext cx="24003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统一定价是错的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10267950" y="571500"/>
            <a:ext cx="123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07 / ACTUARY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85800" y="1143000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11 YEARS · 96,432 HOURS PER CITY</a:t>
            </a:r>
            <a:endParaRPr lang="en-US" sz="1125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graphicFrame>
        <p:nvGraphicFramePr>
          <p:cNvPr id="285" name="285"/>
          <p:cNvGraphicFramePr/>
          <p:nvPr/>
        </p:nvGraphicFramePr>
        <p:xfrm>
          <a:off x="685800" y="1428750"/>
          <a:ext cx="7239000" cy="4857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86" name="圆角矩形 285"/>
          <p:cNvSpPr/>
          <p:nvPr/>
        </p:nvSpPr>
        <p:spPr>
          <a:xfrm>
            <a:off x="8172450" y="1143000"/>
            <a:ext cx="3333750" cy="1971675"/>
          </a:xfrm>
          <a:prstGeom prst="roundRect">
            <a:avLst>
              <a:gd name="adj" fmla="val 241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8324850" y="1295400"/>
            <a:ext cx="3028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OUT OF BOUNDS</a:t>
            </a:r>
            <a:endParaRPr lang="en-US" sz="1125" spc="150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8343900" y="1428750"/>
            <a:ext cx="302895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en-US" sz="30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11.574%</a:t>
            </a:r>
            <a:endParaRPr lang="en-US" sz="30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8343900" y="1885950"/>
            <a:ext cx="3028950" cy="8286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</a:pPr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广州越过 10% 保本线 —— 按统一价 0.001 ETH 卖 72 小时保单，赔付率 115.7%：收 1 赔 1.16。月聚类自举 95% 区间是 [9.35%, 13.88%]，下界低于保本线，所以能站住的说法是「显著高于其余四城，故单独加价」。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圆角矩形 289"/>
          <p:cNvSpPr/>
          <p:nvPr/>
        </p:nvSpPr>
        <p:spPr>
          <a:xfrm>
            <a:off x="8172450" y="3248025"/>
            <a:ext cx="3333750" cy="1562100"/>
          </a:xfrm>
          <a:prstGeom prst="roundRect">
            <a:avLst>
              <a:gd name="adj" fmla="val 304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8324850" y="3400425"/>
            <a:ext cx="3028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链上现行价（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677 v3 · 24h 档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8324850" y="369570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北京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10197465" y="369570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0.00068~0.00070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8324850" y="395287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广州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10848975" y="395287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0.00097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8324850" y="421005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10848975" y="421005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0.00099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8324850" y="446722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武汉</a:t>
            </a:r>
            <a:endParaRPr lang="en-US" sz="120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10848975" y="446722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0.00105</a:t>
            </a:r>
            <a:endParaRPr lang="en-US" sz="12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0" name="任意多边形 299"/>
          <p:cNvSpPr/>
          <p:nvPr/>
        </p:nvSpPr>
        <p:spPr>
          <a:xfrm>
            <a:off x="8201025" y="5229225"/>
            <a:ext cx="3333750" cy="1057275"/>
          </a:xfrm>
          <a:custGeom>
            <a:avLst/>
            <a:gdLst/>
            <a:ahLst/>
            <a:cxnLst/>
            <a:pathLst>
              <a:path w="350" h="111">
                <a:moveTo>
                  <a:pt x="347" y="111"/>
                </a:moveTo>
                <a:lnTo>
                  <a:pt x="0" y="111"/>
                </a:lnTo>
                <a:lnTo>
                  <a:pt x="0" y="0"/>
                </a:lnTo>
                <a:lnTo>
                  <a:pt x="347" y="0"/>
                </a:lnTo>
                <a:close/>
              </a:path>
            </a:pathLst>
          </a:custGeom>
          <a:solidFill>
            <a:srgbClr val="2D7FF9">
              <a:alpha val="10000"/>
            </a:srgbClr>
          </a:solidFill>
        </p:spPr>
        <p:txBody>
          <a:bodyPr/>
          <a:p/>
        </p:txBody>
      </p:sp>
      <p:sp>
        <p:nvSpPr>
          <p:cNvPr id="301" name="任意多边形 300"/>
          <p:cNvSpPr/>
          <p:nvPr/>
        </p:nvSpPr>
        <p:spPr>
          <a:xfrm>
            <a:off x="8172450" y="5229225"/>
            <a:ext cx="3362325" cy="1057275"/>
          </a:xfrm>
          <a:custGeom>
            <a:avLst/>
            <a:gdLst/>
            <a:ahLst/>
            <a:cxnLst/>
            <a:pathLst>
              <a:path w="353" h="111">
                <a:moveTo>
                  <a:pt x="0" y="0"/>
                </a:moveTo>
                <a:lnTo>
                  <a:pt x="3" y="0"/>
                </a:lnTo>
                <a:lnTo>
                  <a:pt x="3" y="111"/>
                </a:lnTo>
                <a:lnTo>
                  <a:pt x="0" y="111"/>
                </a:ln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8334375" y="5343525"/>
            <a:ext cx="3038475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保费由脚本按「触发概率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赔付额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÷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目标赔付率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60%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」算出写进合约，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不是手填的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；每次改价都留一条带依据哈希的事件。</a:t>
            </a:r>
            <a:endParaRPr lang="zh-CN" sz="1200">
              <a:solidFill>
                <a:srgbClr val="FFFFFF">
                  <a:alpha val="8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08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Flat pricing is wrong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" grpId="0"/>
      <p:bldP spid="281" grpId="0"/>
      <p:bldP spid="282" grpId="0"/>
      <p:bldP spid="283" grpId="0"/>
      <p:bldP spid="284" grpId="0"/>
      <p:bldP spid="285" grpId="0"/>
      <p:bldP spid="286" grpId="0"/>
      <p:bldP spid="287" grpId="0"/>
      <p:bldP spid="288" grpId="0"/>
      <p:bldP spid="289" grpId="0"/>
      <p:bldP spid="290" grpId="0"/>
      <p:bldP spid="291" grpId="0"/>
      <p:bldP spid="292" grpId="0"/>
      <p:bldP spid="293" grpId="0"/>
      <p:bldP spid="294" grpId="0"/>
      <p:bldP spid="295" grpId="0"/>
      <p:bldP spid="296" grpId="0"/>
      <p:bldP spid="297" grpId="0"/>
      <p:bldP spid="298" grpId="0"/>
      <p:bldP spid="299" grpId="0"/>
      <p:bldP spid="301" grpId="0"/>
      <p:bldP spid="300" grpId="0"/>
      <p:bldP spid="30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305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那谁为这个风险付钱？&#13;&#10;        &lt;/Text&gt;&#13;&#10;        &lt;Box style={{ flex: 1 }} /&gt;&#13;&#10;        &lt;Text style={{ fontFamily: 'Consolas', fontSize: 16, color: 'rgba(255,255,255,0.34)', letterSpacing: 2 }}&gt;&#13;&#10;            07 / BUSINESS&#13;&#10;        &lt;/Text&gt;&#13;&#10;    &lt;/Box&gt;&#13;&#10;&#13;&#10;    &lt;Box style={{ height: 540, flexDirection: 'row', gap: 26 }}&gt;&#13;&#10;&#13;&#10;        &lt;Box style={{ width: 400, height: 540, flexDirection: 'column' }}&gt;&#13;&#10;            &lt;Text style={{ fontFamily: 'Consolas', fontSize: 14, color: '#22D3EE', letterSpacing: 4 }}&gt;&#13;&#10;                WHO PAYS&#13;&#10;            &lt;/Text&gt;&#13;&#10;&#13;&#10;            &lt;Text style={{ fontFamily: 'Microsoft YaHei', fontSize: 30, fontWeight: 'bold', color: '#FFFFFF', lineHeight: 1.35, marginTop: 14 }}&gt;&#13;&#10;                骑手自己不付钱。&#13;&#10;                &lt;br /&gt;&#13;&#10;                向有合规与舆情压力的一方收费。&#13;&#10;            &lt;/Text&gt;&#13;&#10;&#13;&#10;            &lt;Box style={{ height: 1, background: 'rgba(255,255,255,0.14)', marginTop: 20, marginBottom: 18 }} /&gt;&#13;&#10;&#13;&#10;            &lt;Text style={{ fontFamily: 'Microsoft YaHei', fontSize: 17, color: 'rgba(255,255,255,0.66)', lineHeight: 1.6 }}&gt;&#13;&#10;                单均保费只有千分之几 ETH，靠骑手逐单付费撑不起渠道成本；但平台一次决策就能覆盖成千上万骑手，边际获客成本趋近于零。&#13;&#10;            &lt;/Text&gt;&#13;&#10;&#13;&#10;            &lt;Text style={{ fontFamily: 'Microsoft YaHei', fontSize: 17, color: 'rgba(255,255,255,0.66)', lineHeight: 1.6, marginTop: 12 }}&gt;&#13;&#10;                更关键的是：暴雨天的运力缺口与事故舆情，本身就是平台必须花的钱。&#13;&#10;            &lt;/Text&gt;&#13;&#10;&#13;&#10;            &lt;Box style={{ marginTop: 'auto', background: 'rgba(45,127,249,0.10)', border: '1px solid rgba(45,127,249,0.30)', borderRadius: 5, padding: 16 }}&gt;&#13;&#10;                &lt;Text style={{ fontFamily: 'Consolas', fontSize: 14, color: '#22D3EE', letterSpacing: 3 }}&gt;&#13;&#10;                    RECOMMENDED PATH&#13;&#10;                &lt;/Text&gt;&#13;&#10;                &lt;Text style={{ fontFamily: 'Microsoft YaHei', fontSize: 16, color: 'rgba(255,255,255,0.88)', lineHeight: 1.5, marginTop: 8 }}&gt;&#13;&#10;                    先以平台为客户做 &lt;span style={{ fontFamily: 'Consolas', fontWeight: 'bold', color: '#FFFFFF' }}&gt;B2B2C&lt;/span&gt;，把单区域在保规模做起来；规模起来后，再向保险公司输出定价与证据能力。&#13;&#10;                &lt;/Text&gt;&#13;&#10;            &lt;/Box&gt;&#13;&#10;        &lt;/Box&gt;&#13;&#10;&#13;&#10;        &lt;Box style={{ width: 710, height: 540, flexDirection: 'column' }}&gt;&#13;&#10;&#13;&#10;            &lt;Box style={{ flex: 1, minHeight: 0, flexDirection: 'column' }}&gt;&#13;&#10;                &lt;Text style={{ fontFamily: 'Consolas', fontSize: 14, color: '#22D3EE', letterSpacing: 3 }}&gt;&#13;&#10;                    THREE BUYERS&#13;&#10;                &lt;/Text&gt;&#13;&#10;&#13;&#10;                &lt;Box style={{ flexDirection: 'column', gap: 8, marginTop: 12 }}&gt;&#13;&#10;&#13;&#10;                    &lt;Box style={{ height: 68, flexDirection: 'row', alignItems: 'center', background: 'rgba(255,255,255,0.03)', borderLeft: '3px solid rgba(255,255,255,0.14)', borderRadius: 4, padding: '0 18px' }}&gt;&#13;&#10;                        &lt;Text style={{ width: 172, fontFamily: 'Microsoft YaHei', fontSize: 18, fontWeight: 'bold', color: 'rgba(255,255,255,0.62)' }}&gt;骑手自付&lt;/Text&gt;&#13;&#10;                        &lt;Text style={{ flex: 1, fontFamily: 'Microsoft YaHei', fontSize: 15, color: 'rgba(255,255,255,0.50)', lineHeight: 1.45 }}&gt;&#13;&#10;                            获客成本高、价格极敏感、单均太小撑不起渠道 —— 不推荐作为主路径&#13;&#10;                        &lt;/Text&gt;&#13;&#10;                    &lt;/Box&gt;&#13;&#10;&#13;&#10;                    &lt;Box style={{ height: 102, flexDirection: 'column', justifyContent: 'center', background: 'rgba(45,127,249,0.12)', borderLeft: '3px solid #2D7FF9', borderRadius: 4, padding: '0 18px' }}&gt;&#13;&#10;                        &lt;Box style={{ flexDirection: 'row', alignItems: 'center', gap: 12 }}&gt;&#13;&#10;                            &lt;Text style={{ fontFamily: 'Microsoft YaHei', fontSize: 20, fontWeight: 'bold', color: '#FFFFFF' }}&gt;平台 / 众包服务商&lt;/Text&gt;&#13;&#10;                            &lt;Box style={{ background: 'rgba(34,211,238,0.16)', border: '1px solid rgba(34,211,238,0.42)', borderRadius: 3, padding: '2px 10px' }}&gt;&#13;&#10;                                &lt;Text style={{ fontFamily: 'Microsoft YaHei', fontSize: 13, color: '#22D3EE' }}&gt;推荐&lt;/Text&gt;&#13;&#10;                            &lt;/Box&gt;&#13;&#10;                        &lt;/Box&gt;&#13;&#10;                        &lt;Text style={{ fontFamily: 'Microsoft YaHei', fontSize: 15, color: 'rgba(255,255,255,0.74)', lineHeight: 1.45, marginTop: 6 }}&gt;&#13;&#10;                            一次决策覆盖成千上万骑手，边际获客成本≈0；且它的合规成本、骑手留存与舆情风险对冲都指向同一笔支出&#13;&#10;                        &lt;/Text&gt;&#13;&#10;                    &lt;/Box&gt;&#13;&#10;&#13;&#10;                    &lt;Box style={{ height: 68, flexDirection: 'row', alignItems: 'center', background: 'rgba(255,255,255,0.04)', borderLeft: '3px solid #22D3EE', borderRadius: 4, padding: '0 18px' }}&gt;&#13;&#10;                        &lt;Text style={{ width: 172, fontFamily: 'Microsoft YaHei', fontSize: 18, fontWeight: 'bold', color: '#FFFFFF' }}&gt;保险公司&lt;/Text&gt;&#13;&#10;                        &lt;Text style={{ flex: 1, fontFamily: 'Microsoft YaHei', fontSize: 15, color: 'rgba(255,255,255,0.62)', lineHeight: 1.45 }}&gt;&#13;&#10;                            我们做风控与技术方：输出参数化定价与链上证据层 —— 第二阶段&#13;&#10;                        &lt;/Text&gt;&#13;&#10;                    &lt;/Box&gt;&#13;&#10;&#13;&#10;                &lt;/Box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8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矩形 3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307" name="矩形 30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914400" y="409575"/>
            <a:ext cx="342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那谁为这个风险付钱？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08 / BUSINESS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685800" y="1143000"/>
            <a:ext cx="381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WHO PAYS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685800" y="1438275"/>
            <a:ext cx="3810000" cy="1390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骑手自己不付钱。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向有合规与舆情压力的一方收费。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矩形 311"/>
          <p:cNvSpPr/>
          <p:nvPr/>
        </p:nvSpPr>
        <p:spPr>
          <a:xfrm>
            <a:off x="685800" y="3019425"/>
            <a:ext cx="3810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685800" y="3200400"/>
            <a:ext cx="38100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单均保费只有千分之几</a:t>
            </a:r>
            <a:r>
              <a:rPr lang="en-US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ETH</a:t>
            </a:r>
            <a:r>
              <a:rPr lang="zh-CN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，靠骑手逐单付费撑不起渠道成本；但平台一次决策就能覆盖成千上万骑手，边际获客成本趋近于零。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685800" y="4248150"/>
            <a:ext cx="38100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更关键的是：暴雨天的运力缺口与事故舆情，本身就是平台必须花的钱。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圆角矩形 314"/>
          <p:cNvSpPr/>
          <p:nvPr/>
        </p:nvSpPr>
        <p:spPr>
          <a:xfrm>
            <a:off x="685800" y="4914900"/>
            <a:ext cx="3810000" cy="1371600"/>
          </a:xfrm>
          <a:prstGeom prst="roundRect">
            <a:avLst>
              <a:gd name="adj" fmla="val 347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838200" y="5067300"/>
            <a:ext cx="3505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RECOMMENDED PATH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838200" y="5305425"/>
            <a:ext cx="35052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先以平台为客户做</a:t>
            </a:r>
            <a:r>
              <a:rPr lang="en-US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B2B2C</a:t>
            </a: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，把单区域在保规模做起来；规模起来后，再向保险公司输出定价与证据能力。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4743450" y="1143000"/>
            <a:ext cx="6762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THREE BUYERS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9" name="圆角矩形 318"/>
          <p:cNvSpPr/>
          <p:nvPr/>
        </p:nvSpPr>
        <p:spPr>
          <a:xfrm>
            <a:off x="4772025" y="141922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3000"/>
            </a:srgbClr>
          </a:solidFill>
        </p:spPr>
        <p:txBody>
          <a:bodyPr/>
          <a:p/>
        </p:txBody>
      </p:sp>
      <p:sp>
        <p:nvSpPr>
          <p:cNvPr id="320" name="任意多边形 319"/>
          <p:cNvSpPr/>
          <p:nvPr/>
        </p:nvSpPr>
        <p:spPr>
          <a:xfrm>
            <a:off x="4772025" y="141922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4943475" y="163830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骑手自付</a:t>
            </a:r>
            <a:endParaRPr lang="zh-CN" sz="1350" b="1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6581775" y="161925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获客成本高、价格极敏感、单均太小撑不起渠道</a:t>
            </a:r>
            <a:r>
              <a:rPr lang="en-US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不推荐作为主路径</a:t>
            </a:r>
            <a:endParaRPr lang="zh-CN" sz="112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圆角矩形 322"/>
          <p:cNvSpPr/>
          <p:nvPr/>
        </p:nvSpPr>
        <p:spPr>
          <a:xfrm>
            <a:off x="4772025" y="2143125"/>
            <a:ext cx="6762750" cy="971550"/>
          </a:xfrm>
          <a:prstGeom prst="roundRect">
            <a:avLst>
              <a:gd name="adj" fmla="val 3922"/>
            </a:avLst>
          </a:prstGeom>
          <a:solidFill>
            <a:srgbClr val="2D7FF9">
              <a:alpha val="12000"/>
            </a:srgbClr>
          </a:solidFill>
        </p:spPr>
        <p:txBody>
          <a:bodyPr/>
          <a:p/>
        </p:txBody>
      </p:sp>
      <p:sp>
        <p:nvSpPr>
          <p:cNvPr id="324" name="任意多边形 323"/>
          <p:cNvSpPr/>
          <p:nvPr/>
        </p:nvSpPr>
        <p:spPr>
          <a:xfrm>
            <a:off x="4772025" y="2143125"/>
            <a:ext cx="6762750" cy="971550"/>
          </a:xfrm>
          <a:custGeom>
            <a:avLst/>
            <a:gdLst/>
            <a:ahLst/>
            <a:cxnLst/>
            <a:pathLst>
              <a:path w="710" h="102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101"/>
                </a:lnTo>
                <a:cubicBezTo>
                  <a:pt x="3" y="101"/>
                  <a:pt x="3" y="102"/>
                  <a:pt x="4" y="102"/>
                </a:cubicBezTo>
                <a:cubicBezTo>
                  <a:pt x="2" y="102"/>
                  <a:pt x="0" y="100"/>
                  <a:pt x="0" y="9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4943475" y="2238375"/>
            <a:ext cx="1543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众包服务商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圆角矩形 325"/>
          <p:cNvSpPr/>
          <p:nvPr/>
        </p:nvSpPr>
        <p:spPr>
          <a:xfrm>
            <a:off x="6600825" y="2257425"/>
            <a:ext cx="438150" cy="190500"/>
          </a:xfrm>
          <a:prstGeom prst="roundRect">
            <a:avLst>
              <a:gd name="adj" fmla="val 15000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6696075" y="2276475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推荐</a:t>
            </a:r>
            <a:endParaRPr lang="zh-CN" sz="97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4943475" y="2524125"/>
            <a:ext cx="63912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一次决策覆盖成千上万骑手，边际获客成本≈</a:t>
            </a:r>
            <a:r>
              <a:rPr lang="en-US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；且它的合规成本、骑手留存与舆情风险对冲都指向同一笔支出</a:t>
            </a:r>
            <a:endParaRPr lang="zh-CN" sz="112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圆角矩形 328"/>
          <p:cNvSpPr/>
          <p:nvPr/>
        </p:nvSpPr>
        <p:spPr>
          <a:xfrm>
            <a:off x="4772025" y="319087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4000"/>
            </a:srgbClr>
          </a:solidFill>
        </p:spPr>
        <p:txBody>
          <a:bodyPr/>
          <a:p/>
        </p:txBody>
      </p:sp>
      <p:sp>
        <p:nvSpPr>
          <p:cNvPr id="330" name="任意多边形 329"/>
          <p:cNvSpPr/>
          <p:nvPr/>
        </p:nvSpPr>
        <p:spPr>
          <a:xfrm>
            <a:off x="4772025" y="319087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2D3EE"/>
          </a:solidFill>
        </p:spPr>
        <p:txBody>
          <a:bodyPr/>
          <a:p/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4943475" y="340995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6581775" y="339090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我们做风控与技术方：输出参数化定价与链上证据层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第二阶段</a:t>
            </a:r>
            <a:endParaRPr lang="zh-CN" sz="1125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09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So who pays for this risk?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" grpId="0"/>
      <p:bldP spid="307" grpId="0"/>
      <p:bldP spid="308" grpId="0"/>
      <p:bldP spid="309" grpId="0"/>
      <p:bldP spid="310" grpId="0"/>
      <p:bldP spid="311" grpId="0"/>
      <p:bldP spid="318" grpId="0"/>
      <p:bldP spid="319" grpId="0"/>
      <p:bldP spid="321" grpId="0"/>
      <p:bldP spid="322" grpId="0"/>
      <p:bldP spid="320" grpId="0"/>
      <p:bldP spid="323" grpId="0"/>
      <p:bldP spid="325" grpId="0"/>
      <p:bldP spid="328" grpId="0"/>
      <p:bldP spid="324" grpId="0"/>
      <p:bldP spid="326" grpId="0"/>
      <p:bldP spid="327" grpId="0"/>
      <p:bldP spid="312" grpId="0"/>
      <p:bldP spid="313" grpId="0"/>
      <p:bldP spid="329" grpId="0"/>
      <p:bldP spid="331" grpId="0"/>
      <p:bldP spid="332" grpId="0"/>
      <p:bldP spid="330" grpId="0"/>
      <p:bldP spid="314" grpId="0"/>
      <p:bldP spid="315" grpId="0"/>
      <p:bldP spid="316" grpId="0"/>
      <p:bldP spid="3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335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回到那个骑手&#10;        &lt;/Text&gt;&#10;        &lt;Box style={{ flex: 1 }} /&gt;&#10;        &lt;Text style={{ fontFamily: 'Consolas', fontSize: 16, color: 'rgba(255,255,255,0.34)', letterSpacing: 2 }}&gt;&#10;            08 / BACK TO HIM&#10;        &lt;/Text&gt;&#10;    &lt;/Box&gt;&#10;&#10;    &lt;Box style={{ height: 540, flexDirection: 'column' }}&gt;&#10;&#10;        &lt;Box style={{ height: 216, position: 'relative', borderRadius: 6, overflow: 'hidden', border: '1px solid rgba(255,255,255,0.12)' }}&gt;&#10;            &lt;Image src=&quot;assets/rider_payout_phone.png&quot; style={{ width: '100%', height: '100%', objectFit: 'cover', objectPosition: 'center 35%' }} /&gt;&#10;            &lt;Box style={{ position: 'absolute', top: 0, left: 0, width: 1136, height: 216, background: 'linear-gradient(180deg, rgba(10,20,34,0) 26%, rgba(10,20,34,0.92) 100%)' }} /&gt;&#10;            &lt;Box style={{ position: 'absolute', left: 28, bottom: 22, width: 920, flexDirection: 'column' }}&gt;&#10;                &lt;Text style={{ fontFamily: 'Consolas', fontSize: 14, color: '#22D3EE', letterSpacing: 4 }}&gt;&#10;                    PRIMARY SCENARIO&#10;                &lt;/Text&gt;&#10;                &lt;Text style={{ fontFamily: 'Microsoft YaHei', fontSize: 22, fontWeight: 'bold', color: '#FFFFFF', lineHeight: 1.4, marginTop: 8 }}&gt;&#10;                    暴雨日平台限流、骑手停工 —— 收入中断由链上判定自动兜底&#10;                &lt;/Text&gt;&#10;            &lt;/Box&gt;&#10;        &lt;/Box&gt;&#10;&#10;        &lt;Box style={{ flexDirection: 'column', marginTop: 20 }}&gt;&#10;            &lt;Text style={{ fontFamily: 'Consolas', fontSize: 14, color: '#22D3EE', letterSpacing: 3 }}&gt;&#10;                TRADITIONAL RIDER ACCIDENT VS. RAINPROOF&#10;            &lt;/Text&gt;&#10;&#10;            &lt;Box style={{ height: 30, flexDirection: 'row', alignItems: 'center', marginTop: 8, gap: 20 }}&gt;&#10;                &lt;Text style={{ width: 140, fontFamily: 'Microsoft YaHei', fontSize: 14, color: 'rgba(255,255,255,0.40)' }}&gt;对比维度&lt;/Text&gt;&#10;                &lt;Text style={{ width: 450, fontFamily: 'Microsoft YaHei', fontSize: 14, color: 'rgba(255,255,255,0.40)' }}&gt;传统骑手意外险&lt;/Text&gt;&#10;                &lt;Text style={{ width: 450, fontFamily: 'Microsoft YaHei', fontSize: 14, color: '#22D3EE' }}&gt;雨证 · 参数化降雨险&lt;/Text&gt;&#10;            &lt;/Box&gt;&#10;&#10;            &lt;Box style={{ flexDirection: 'column', gap: 8, marginTop: 8 }}&gt;&#10;                &lt;Box style={{ height: 64, flexDirection: 'row', alignItems: 'center', gap: 20, background: 'rgba(255,255,255,0.04)', borderRadius: 5, padding: '0 18px', border: '1px solid rgba(255,255,255,0.08)' }}&gt;&#10;                    &lt;Text style={{ width: 140, fontFamily: 'Microsoft YaHei', fontSize: 16, fontWeight: 'bold', color: '#FFFFFF' }}&gt;触发依据&lt;/Text&gt;&#10;                    &lt;Text style={{ width: 450, fontFamily: 'Microsoft YaHei', fontSize: 16, color: 'rgba(255,255,255,0.56)' }}&gt;实际受伤与实际损失&lt;/Text&gt;&#10;                    &lt;Text style={{ width: 450, fontFamily: 'Microsoft YaHei', fontSize: 16, color: 'rgba(255,255,255,0.88)' }}&gt;链上降雨量是否越过国标线&lt;/Text&gt;&#10;                &lt;/Box&gt;&#10;                &lt;Box style={{ height: 64, flexDirection: 'row', alignItems: 'center', gap: 20, background: 'rgba(255,255,255,0.04)', borderRadius: 5, padding: '0 18px', border: '1px solid rgba(255,255,255,0.08)' }}&gt;&#10;                    &lt;Text style={{ width: 140, fontFamily: 'Microsoft YaHei', fontSize: 16, fontWeight: 'bold', color: '#FFFFFF' }}&gt;举证责任&lt;/Text&gt;&#10;                    &lt;Text style={{ width: 450, fontFamily: 'Microsoft YaHei', fontSize: 16, color: 'rgba(255,255,255,0.56)' }}&gt;骑手报案 + 人工查勘定损&lt;/Text&gt;&#10;                    &lt;Text style={{ width: 450, fontFamily: 'Microsoft YaHei', fontSize: 16, color: 'rgba(255,255,255,0.88)' }}&gt;无人报案，判定链上自证&lt;/Text&gt;&#10;                &lt;/Box&gt;&#10;            &lt;/Box&gt;&#10;        &lt;/Box&gt;&#10;&#10;        &lt;Box style={{ marginTop: 'auto', background: 'rgba(45,127,249,0.10)', border: '1px solid rgba(45,127,249,0.30)', borderRadius: 5, padding: '16px 26px' }}&gt;&#10;            &lt;Text style={{ fontFamily: 'Microsoft YaHei', fontSize: 28, fontWeight: 'bold', color: '#FFFFFF', lineHeight: 1.3 }}&gt;&#10;                贵的不是赔付，是「&lt;span style={{ color: '#22D3EE' }}&gt;查&lt;/span&gt;」。&#10;            &lt;/Text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9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矩形 3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337" name="矩形 33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914400" y="409575"/>
            <a:ext cx="2057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回到那个骑手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9858375" y="571500"/>
            <a:ext cx="1647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09 / BACK TO HIM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685800" y="3390900"/>
            <a:ext cx="10820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TRADITIONAL RIDER ACCIDENT VS. RAINPROOF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685800" y="369570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对比维度</a:t>
            </a:r>
            <a:endParaRPr lang="zh-CN" sz="1050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2209800" y="3695700"/>
            <a:ext cx="428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传统骑手意外险</a:t>
            </a:r>
            <a:endParaRPr lang="zh-CN" sz="1050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6686550" y="3695700"/>
            <a:ext cx="428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参数化降雨险</a:t>
            </a:r>
            <a:endParaRPr lang="zh-CN" sz="10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圆角矩形 343"/>
          <p:cNvSpPr/>
          <p:nvPr/>
        </p:nvSpPr>
        <p:spPr>
          <a:xfrm>
            <a:off x="685800" y="3990975"/>
            <a:ext cx="10820400" cy="609600"/>
          </a:xfrm>
          <a:prstGeom prst="roundRect">
            <a:avLst>
              <a:gd name="adj" fmla="val 781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57250" y="4200525"/>
            <a:ext cx="133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触发依据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2381250" y="42005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实际受伤与实际损失</a:t>
            </a:r>
            <a:endParaRPr lang="zh-CN" sz="120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6858000" y="42005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链上降雨量是否越过合约档线（v3 · 24h 档 50 / 100 mm）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8" name="圆角矩形 347"/>
          <p:cNvSpPr/>
          <p:nvPr/>
        </p:nvSpPr>
        <p:spPr>
          <a:xfrm>
            <a:off x="685800" y="4676775"/>
            <a:ext cx="10820400" cy="609600"/>
          </a:xfrm>
          <a:prstGeom prst="roundRect">
            <a:avLst>
              <a:gd name="adj" fmla="val 781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857250" y="4886325"/>
            <a:ext cx="133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举证责任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2381250" y="48863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骑手报案</a:t>
            </a:r>
            <a:r>
              <a:rPr lang="en-US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人工查勘定损</a:t>
            </a:r>
            <a:endParaRPr lang="zh-CN" sz="120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6858000" y="48863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无人报案，判定链上自证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圆角矩形 351"/>
          <p:cNvSpPr/>
          <p:nvPr/>
        </p:nvSpPr>
        <p:spPr>
          <a:xfrm>
            <a:off x="685800" y="5562600"/>
            <a:ext cx="10820400" cy="723900"/>
          </a:xfrm>
          <a:prstGeom prst="roundRect">
            <a:avLst>
              <a:gd name="adj" fmla="val 6579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933450" y="5715000"/>
            <a:ext cx="103251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贵的不是赔付，是「</a:t>
            </a:r>
            <a:r>
              <a:rPr lang="zh-CN" sz="21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查</a:t>
            </a: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」。</a:t>
            </a:r>
            <a:endParaRPr lang="zh-CN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10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56" name="圆角矩形 355"/>
          <p:cNvSpPr/>
          <p:nvPr/>
        </p:nvSpPr>
        <p:spPr>
          <a:xfrm>
            <a:off x="685800" y="1143000"/>
            <a:ext cx="10820400" cy="2057400"/>
          </a:xfrm>
          <a:prstGeom prst="roundRect">
            <a:avLst>
              <a:gd name="adj" fmla="val 2778"/>
            </a:avLst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57" name="图片 356"/>
          <p:cNvPicPr>
            <a:picLocks noChangeAspect="1"/>
          </p:cNvPicPr>
          <p:nvPr/>
        </p:nvPicPr>
        <p:blipFill>
          <a:blip r:embed="rId1"/>
          <a:srcRect t="34530" b="34530"/>
          <a:stretch>
            <a:fillRect/>
          </a:stretch>
        </p:blipFill>
        <p:spPr>
          <a:xfrm>
            <a:off x="685800" y="1143000"/>
            <a:ext cx="10820400" cy="2057400"/>
          </a:xfrm>
          <a:custGeom>
            <a:avLst/>
            <a:gdLst/>
            <a:ahLst/>
            <a:cxnLst/>
            <a:pathLst>
              <a:path w="1136" h="216">
                <a:moveTo>
                  <a:pt x="1130" y="0"/>
                </a:moveTo>
                <a:cubicBezTo>
                  <a:pt x="1133" y="0"/>
                  <a:pt x="1136" y="3"/>
                  <a:pt x="1136" y="6"/>
                </a:cubicBezTo>
                <a:lnTo>
                  <a:pt x="1136" y="210"/>
                </a:lnTo>
                <a:cubicBezTo>
                  <a:pt x="1136" y="213"/>
                  <a:pt x="1133" y="216"/>
                  <a:pt x="1130" y="216"/>
                </a:cubicBezTo>
                <a:lnTo>
                  <a:pt x="6" y="216"/>
                </a:lnTo>
                <a:cubicBezTo>
                  <a:pt x="3" y="216"/>
                  <a:pt x="0" y="213"/>
                  <a:pt x="0" y="2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30" y="0"/>
                </a:lnTo>
                <a:close/>
              </a:path>
            </a:pathLst>
          </a:custGeom>
        </p:spPr>
      </p:pic>
      <p:sp>
        <p:nvSpPr>
          <p:cNvPr id="358" name="任意多边形 357"/>
          <p:cNvSpPr/>
          <p:nvPr/>
        </p:nvSpPr>
        <p:spPr>
          <a:xfrm>
            <a:off x="685800" y="1143000"/>
            <a:ext cx="10820400" cy="2057400"/>
          </a:xfrm>
          <a:custGeom>
            <a:avLst/>
            <a:gdLst/>
            <a:ahLst/>
            <a:cxnLst/>
            <a:pathLst>
              <a:path w="1136" h="216">
                <a:moveTo>
                  <a:pt x="1130" y="0"/>
                </a:moveTo>
                <a:cubicBezTo>
                  <a:pt x="1133" y="0"/>
                  <a:pt x="1136" y="3"/>
                  <a:pt x="1136" y="6"/>
                </a:cubicBezTo>
                <a:lnTo>
                  <a:pt x="1136" y="210"/>
                </a:lnTo>
                <a:cubicBezTo>
                  <a:pt x="1136" y="213"/>
                  <a:pt x="1133" y="216"/>
                  <a:pt x="1130" y="216"/>
                </a:cubicBezTo>
                <a:lnTo>
                  <a:pt x="6" y="216"/>
                </a:lnTo>
                <a:cubicBezTo>
                  <a:pt x="3" y="216"/>
                  <a:pt x="0" y="213"/>
                  <a:pt x="0" y="2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30" y="0"/>
                </a:lnTo>
                <a:close/>
              </a:path>
            </a:pathLst>
          </a:custGeom>
          <a:gradFill>
            <a:gsLst>
              <a:gs pos="26000">
                <a:srgbClr val="0A1422">
                  <a:alpha val="0"/>
                </a:srgbClr>
              </a:gs>
              <a:gs pos="100000">
                <a:srgbClr val="0A1422">
                  <a:alpha val="9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952500" y="2400300"/>
            <a:ext cx="876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PRIMARY SCENARIO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952500" y="2638425"/>
            <a:ext cx="8763000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暴雨日平台限流、骑手停工</a:t>
            </a: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收入中断由链上判定自动兜底</a:t>
            </a:r>
            <a:endParaRPr lang="zh-CN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TextBox 360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Back to that rider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8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" grpId="0"/>
      <p:bldP spid="337" grpId="0"/>
      <p:bldP spid="338" grpId="0"/>
      <p:bldP spid="339" grpId="0"/>
      <p:bldP spid="356" grpId="0"/>
      <p:bldP spid="359" grpId="0"/>
      <p:bldP spid="360" grpId="0"/>
      <p:bldP spid="357" grpId="0"/>
      <p:bldP spid="358" grpId="0"/>
      <p:bldP spid="340" grpId="0"/>
      <p:bldP spid="341" grpId="0"/>
      <p:bldP spid="342" grpId="0"/>
      <p:bldP spid="343" grpId="0"/>
      <p:bldP spid="344" grpId="0"/>
      <p:bldP spid="345" grpId="0"/>
      <p:bldP spid="346" grpId="0"/>
      <p:bldP spid="347" grpId="0"/>
      <p:bldP spid="348" grpId="0"/>
      <p:bldP spid="349" grpId="0"/>
      <p:bldP spid="350" grpId="0"/>
      <p:bldP spid="351" grpId="0"/>
      <p:bldP spid="352" grpId="0"/>
      <p:bldP spid="3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30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附录 A3 · 五层架构与三条硬规则&#13;&#10;        &lt;/Text&gt;&#13;&#10;        &lt;Box style={{ flex: 1 }} /&gt;&#13;&#10;        &lt;Text style={{ fontFamily: 'Consolas', fontSize: 16, color: 'rgba(255,255,255,0.34)', letterSpacing: 2 }}&gt;&#13;&#10;            APPENDIX A3&#13;&#10;        &lt;/Text&gt;&#13;&#10;    &lt;/Box&gt;&#13;&#10;&#13;&#10;    &lt;Box style={{ height: 540, flexDirection: 'row', gap: 26 }}&gt;&#13;&#10;&#13;&#10;        &lt;Box style={{ width: 658, height: 540 }}&gt;&#13;&#10;            &lt;svg width={658} height={540} viewBox='0 0 658 540'&gt;&#13;&#10;                &lt;rect x='0' y='16' width='658' height='88' rx='6' fill='rgba(255,255,255,0.05)' stroke='rgba(255,255,255,0.16)' strokeWidth='1' /&gt;&#13;&#10;                &lt;rect x='0' y='16' width='4' height='88' fill='#22D3EE' /&gt;&#13;&#10;                &lt;text x='20' y='44' fontFamily='Microsoft YaHei' fontSize='17' fontWeight='bold' fill='#FFFFFF'&gt;① 外部数据层&lt;/text&gt;&#13;&#10;                &lt;text x='20' y='70' fontFamily='Microsoft YaHei' fontSize='13' fill='rgba(255,255,255,0.60)'&gt;Open-Meteo Archive（ERA5 逐小时，11 年回测）· Forecast（ECMWF / GFS / ICON 三模型）&lt;/text&gt;&#13;&#10;                &lt;text x='20' y='90' fontFamily='Microsoft YaHei' fontSize='13' fill='rgba(255,255,255,0.60)'&gt;气象灾害预警信号、GB/T 28592-2012 降水量等级 —— HTTP 直连，免费、无需密钥&lt;/text&gt;&#13;&#10;&#13;&#10;                &lt;rect x='0' y='117' width='658' height='88' rx='6' fill='rgba(34,211,238,0.10)' stroke='#22D3EE' strokeWidth='1' /&gt;&#13;&#10;                &lt;rect x='0' y='117' width='4' height='88' fill='#22D3EE' /&gt;&#13;&#10;                &lt;text x='20' y='145' fontFamily='Microsoft YaHei' fontSize='17' fontWeight='bold' fill='#FFFFFF'&gt;② AI 判定层&lt;/text&gt;&#13;&#10;                &lt;text x='20' y='171' fontFamily='Microsoft YaHei' fontSize='13' fill='rgba(255,255,255,0.62)'&gt;ai-collect 取数 → canonical 确定性哈希 → ai-judge（R1–R5）→ submit-judgement 上链&lt;/text&gt;&#13;&#10;                &lt;text x='20' y='191' fontFamily='Microsoft YaHei' fontSize='13' fill='rgba(255,255,255,0.62)'&gt;提交前重算哈希比对，提交后读回校验 6/6 字段一致&lt;/text&gt;&#13;&#10;&#13;&#10;                &lt;rect x='0' y='218' width='658' height='88' rx='6' fill='rgba(45,127,249,0.12)' stroke='#2D7FF9' strokeWidth='1' /&gt;&#13;&#10;                &lt;rect x='0' y='218' width='4' height='88' fill='#2D7FF9' /&gt;&#13;&#10;                &lt;text x='20' y='246' fontFamily='Microsoft YaHei' fontSize='17' fontWeight='bold' fill='#FFFFFF'&gt;③ 共识与结算层&lt;/text&gt;&#13;&#10;                &lt;text x='20' y='272' fontFamily='Microsoft YaHei' fontSize='13' fill='rgba(255,255,255,0.62)'&gt;updateRainfall · rejectFeed · setUnderwriting · submitJudgement · claim · fundPool&lt;/text&gt;&#13;&#10;                &lt;text x='20' y='292' fontFamily='Microsoft YaHei' fontSize='13' fill='rgba(255,255,255,0.62)'&gt;Solidity 合约 · v1 上 Sepolia 实链（10,758 字节）；v2 在 BOT Chain 968 彩排通过&lt;/text&gt;&#13;&#10;&#13;&#10;                &lt;rect x='0' y='319' width='658' height='88' rx='6' fill='rgba(255,255,255,0.05)' stroke='rgba(255,255,255,0.16)' strokeWidth='1' /&gt;&#13;&#10;                &lt;rect x='0' y='319' width='4' height='88' fill='#22D3EE' /&gt;&#13;&#10;                &lt;text x='20' y='347' fontFamily='Microsoft YaHei' fontSize='17' fontWeight='bold' fill='#FFFFFF'&gt;④ 自动化与证据层&lt;/text&gt;&#13;&#10;                &lt;text x='20' y='373' fontFamily='Microsoft YaHei' fontSize='13' fill='rgba(255,255,255,0.60)'&gt;keeper.js 轮询保单状态、发现可赔即触发；09-AI判定留痕/ 存档每张保单的输入与输出哈希&lt;/text&gt;&#13;&#10;                &lt;text x='20' y='393' fontFamily='Microsoft YaHei' fontSize='13' fill='rgba(255,255,255,0.60)'&gt;五套自动化门禁共 229 项断言，含「每条留痕的哈希都能当场重算」&lt;/text&gt;&#13;&#10;&#13;&#10;                &lt;rect x='0' y='420' width='658' height='88' rx='6' fill='rgba(255,255,255,0.05)' stroke='rgba(255,255,255,0.16)' strokeWidth='1' /&gt;&#13;&#10;                &lt;rect x='0' y='420' width='4' height='88' fill='#22D3EE' /&gt;&#13;&#10;                &lt;text x='20' y='448' fontFamily='Microsoft YaHei' fontSize='17' fontWeight='bold' fill='#FFFFFF'&gt;⑤ 产品前端层&lt;/text&gt;&#13;&#10;                &lt;text x='20' y='474' fontFamily='Microsoft YaHei' fontSize='13' fill='rgba(255,255,255,0.60)'&gt;index.html 投保 / 五城降雨看板 / 我的保单；verifier.html 粘交易哈希即解码事件&lt;/text&gt;&#13;&#10;                &lt;text x='20' y='494' fontFamily='Microsoft YaHei' fontSize='13' fill='rgba(255,255,255,0.60)'&gt;单文件核验台零依赖，双击即开 —— 前端只读链，不读自家后端&lt;/text&gt;&#13;&#10;            &lt;/svg&gt;&#13;&#10;        &lt;/Box&gt;&#13;&#10;&#13;&#10;        &lt;Box style={{ width: 452, height: 540, flexDirection: 'column', overflow: 'hidden' }}&gt;&#13;&#10;            &lt;Text style={{ fontFamily: 'Consolas', fontSize: 14, color: '#22D3EE', letterSpacing: 4, flexShrink: 0 }}&gt;&#13;&#10;                THREE HARD RULES&#13;&#10;            &lt;/Text&gt;&#13;&#10;&#13;&#10;            &lt;Box style={{ height: 1, background: 'rgba(255,255,255,0.14)', marginTop: 12, marginBottom: 14, flexShrink: 0 }} /&gt;&#13;&#10;&#13;&#10;            &lt;Box style={{ flexDirection: 'column', gap: 11 }}&gt;&#13;&#10;                &lt;Box style={{ flexDirection: 'row', gap: 12 }}&gt;&#13;&#10;                    &lt;Text style={{ fontFamily: 'Consolas', fontSize: 16, color: '#2D7FF9', fontWeight: 'bold' }}&gt;01&lt;/Text&gt;&#13;&#10;                    &lt;Box style={{ flexDirection: 'column' }}&gt;&#13;&#10;                        &lt;Text style={{ fontFamily: 'Microsoft YaHei', fontSize: 18, fontWeight: 'bold', color: '#FFFFFF' }}&gt;数据来源单一化&lt;/Text&gt;&#13;&#10;                        &lt;Text style={{ fontFamily: 'Microsoft YaHei', fontSize: 15, color: 'rgba(255,255,255,0.60)', lineHeight: 1.45, marginTop: 3 }}&gt;&#13;&#10;                            一个账号体系覆盖降水、气温、风速、空气质量 —— 换险种不必换数据方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2&lt;/Text&gt;&#13;&#10;                    &lt;Box style={{ flexDirection: 'column' }}&gt;&#13;&#10;                        &lt;Text style={{ fontFamily: 'Microsoft YaHei', fontSize: 18, fontWeight: 'bold', color: '#FFFFFF' }}&gt;哈希是唯一的跨层契约&lt;/Text&gt;&#13;&#10;                        &lt;Text style={{ fontFamily: 'Microsoft YaHei', fontSize: 15, color: 'rgba(255,255,255,0.60)', lineHeight: 1.45, marginTop: 3 }}&gt;&#13;&#10;                            inputHash 锁输入、outputHash 锁判定，两者都不含任何会变的字段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3&lt;/Text&gt;&#13;&#10;                    &lt;Box style={{ flexDirection: 'column' }}&gt;&#13;&#10;                        &lt;Text style={{ fontFamily: 'Microsoft YaHei', fontSize: 18, fontWeight: 'bold', color: '#FFFFFF' }}&gt;写链操作只有一个出口&lt;/Text&gt;&#13;&#10;                        &lt;Text style={{ fontFamily: 'Microsoft YaHei', fontSize: 15, color: 'rgba(255,255,255,0.60)', lineHeight: 1.45, marginTop: 3 }}&gt;&#13;&#10;                            一张保单的判定只允许写一次，重复提交会被合约直接拒绝。&#13;&#10;                        &lt;/Text&gt;&#13;&#10;                    &lt;/Box&gt;&#13;&#10;                &lt;/Box&gt;&#13;&#10;            &lt;/Box&gt;&#13;&#10;&#13;&#10;            &lt;Box style={{ marginTop: 'auto', background: 'rgba(245,165,36,0.10)', border: '1px solid rgba(245,165,36,0.34)', borderRadius: 5, padding: 13, flexShrink: 0 }}&gt;&#13;&#10;                &lt;Text style={{ fontFamily: 'Microsoft YaHei', fontSize: 16, color: '#FFFFFF', lineHeight: 1.48 }}&gt;&#13;&#10;                    这三层的接缝是&lt;span style={{ color: '#F5A524', fontWeight: 'bold' }}&gt;「哈希」&lt;/span&gt;，不是「模型」。精算与 AI 都可以被替换，只要它们的输入输出能落成同一个可复算的哈希。&#13;&#10;                &lt;/Text&gt;&#13;&#10;            &lt;/Box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附录 · 不计入路演时间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 1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32" name="矩形 131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914400" y="409575"/>
            <a:ext cx="50482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五层架构与三条硬规则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10372725" y="571500"/>
            <a:ext cx="11334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APPENDIX A2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135" name="图片 13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143000"/>
            <a:ext cx="6267450" cy="5143500"/>
          </a:xfrm>
          <a:prstGeom prst="rect">
            <a:avLst/>
          </a:prstGeom>
        </p:spPr>
      </p:pic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7200900" y="1315085"/>
            <a:ext cx="4305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THREE HARD RULES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7200900" y="1591310"/>
            <a:ext cx="43053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138" name="文本框 137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7200900" y="1780540"/>
            <a:ext cx="161925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01</a:t>
            </a:r>
            <a:endParaRPr lang="en-US" sz="12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39" name="文本框 138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7477125" y="1780540"/>
            <a:ext cx="4029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数据来源单一化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39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7477125" y="2018665"/>
            <a:ext cx="40290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一个 Open-Meteo 账号体系覆盖降水、气温、风速、空气质量 —— 换险种不必换数据方（数据源同一家）。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文本框 140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7200900" y="2816860"/>
            <a:ext cx="161925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02</a:t>
            </a:r>
            <a:endParaRPr lang="en-US" sz="12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42" name="文本框 141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7477125" y="2816860"/>
            <a:ext cx="4029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哈希是唯一的跨层契约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文本框 142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7477125" y="3054985"/>
            <a:ext cx="40290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inputHash </a:t>
            </a: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锁输入、</a:t>
            </a:r>
            <a:r>
              <a:rPr lang="en-US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outputHash </a:t>
            </a: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锁判定，两者都不含任何会变的字段。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文本框 143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7239000" y="3853180"/>
            <a:ext cx="17145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03</a:t>
            </a:r>
            <a:endParaRPr lang="en-US" sz="12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45" name="文本框 144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7524750" y="3853180"/>
            <a:ext cx="3857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写链操作只有一个出口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文本框 145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7524750" y="4091305"/>
            <a:ext cx="38576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一张保单的判定只允许写一次，重复提交会被合约直接拒绝。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圆角矩形 146"/>
          <p:cNvSpPr/>
          <p:nvPr/>
        </p:nvSpPr>
        <p:spPr>
          <a:xfrm>
            <a:off x="7239000" y="4785995"/>
            <a:ext cx="4305300" cy="790575"/>
          </a:xfrm>
          <a:prstGeom prst="roundRect">
            <a:avLst>
              <a:gd name="adj" fmla="val 6024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7362825" y="4909820"/>
            <a:ext cx="4057650" cy="542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8000"/>
              </a:lnSpc>
            </a:pP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这三层的接缝是</a:t>
            </a:r>
            <a:r>
              <a:rPr lang="zh-CN" sz="1200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「哈希」</a:t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，不是「模型」。精算与</a:t>
            </a:r>
            <a:r>
              <a:rPr 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都可以被替换，只要它们的输入输出能落成同一个可复算的哈希。</a:t>
            </a:r>
            <a:endParaRPr 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9467850" y="6037580"/>
            <a:ext cx="2038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</a:p>
        </p:txBody>
      </p:sp>
      <p:sp>
        <p:nvSpPr>
          <p:cNvPr id="151" name="TextBox 150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/>
              <a:t>Appendix A2 - five-layer architecture and three hard rules</a:t>
            </a:r>
            <a:endParaRPr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132" grpId="0"/>
      <p:bldP spid="133" grpId="0"/>
      <p:bldP spid="134" grpId="0"/>
      <p:bldP spid="135" grpId="0"/>
      <p:bldP spid="136" grpId="0"/>
      <p:bldP spid="137" grpId="0" bldLvl="0" animBg="1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 bldLvl="0" animBg="1"/>
      <p:bldP spid="14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" name="" descr="&lt;Slide style={{ width: 1280, height: 720, background: '#0A1422', position: 'relative', overflow: 'hidden', padding: 0 }}&gt;&#13;&#10;&#13;&#10;    &lt;Image src=&quot;assets/dawn_clear_city.png&quot; style={{ position: 'absolute', top: 0, left: 0, width: 1280, height: 720, objectFit: 'cover' }} /&gt;&#13;&#10;&#13;&#10;    &lt;Box style={{ position: 'absolute', top: 0, left: 0, width: 1280, height: 720, background: 'linear-gradient(90deg, rgba(10,20,34,0.96) 0%, rgba(10,20,34,0.86) 46%, rgba(10,20,34,0.30) 100%)' }} /&gt;&#13;&#10;&#13;&#10;    &lt;Box style={{ position: 'absolute', top: 0, left: 0, width: 1280, height: 720, background: 'linear-gradient(180deg, rgba(10,20,34,0.55) 0%, rgba(10,20,34,0) 34%, rgba(10,20,34,0.72) 100%)' }} /&gt;&#13;&#10;&#13;&#10;    &lt;Box style={{ position: 'absolute', top: 150, left: 96, width: 6, height: 4, background: 'linear-gradient(90deg, #2D7FF9 0%, #22D3EE 100%)' }} /&gt;&#13;&#10;&#13;&#10;    &lt;Box style={{ position: 'absolute', top: 186, left: 96, width: 760, flexDirection: 'column' }}&gt;&#13;&#10;        &lt;Text style={{ fontFamily: 'Consolas', fontSize: 17, letterSpacing: 5, color: '#22D3EE', lineHeight: 1.4 }}&gt;&#13;&#10;            汉客松 S1 · ETH Wuhan 2026&#13;&#10;        &lt;/Text&gt;&#13;&#10;&#13;&#10;        &lt;Text style={{ fontFamily: 'Microsoft YaHei', fontSize: 62, fontWeight: 'bold', color: '#FFFFFF', lineHeight: 1.22, marginTop: 24 }}&gt;&#13;&#10;            雨是数据，&#13;&#10;            &lt;br /&gt;&#13;&#10;            判定是代码，&#13;&#10;            &lt;br /&gt;&#13;&#10;            打款是自动的。&#13;&#10;        &lt;/Text&gt;&#13;&#10;&#13;&#10;        &lt;Box style={{ width: 640, height: 1, background: 'rgba(255,255,255,0.18)', marginTop: 26 }} /&gt;&#13;&#10;&#13;&#10;        &lt;Text style={{ fontFamily: 'Microsoft YaHei', fontSize: 24, color: 'rgba(255,255,255,0.80)', letterSpacing: 1, marginTop: 22 }}&gt;&#13;&#10;            规则和证据都在链上 —— &lt;span style={{ color: '#F5A524', fontWeight: 'bold' }}&gt;你自己验&lt;/span&gt;。&#13;&#10;        &lt;/Text&gt;&#13;&#10;    &lt;/Box&gt;&#13;&#10;&#13;&#10;    &lt;Box style={{ position: 'absolute', left: 96, bottom: 64, width: 760, flexDirection: 'column' }}&gt;&#13;&#10;        &lt;Text style={{ fontFamily: 'Microsoft YaHei', fontSize: 17, color: 'rgba(255,255,255,0.56)', letterSpacing: 1 }}&gt;&#13;&#10;            雨证 · RainProof　·　TEAM 神麻&#13;&#10;        &lt;/Text&gt;&#13;&#10;        &lt;Text style={{ fontFamily: 'Consolas', fontSize: 15, color: 'rgba(255,255,255,0.42)', marginTop: 8 }}&gt;&#13;&#10;            github.com/juice-butterfly/rainproof&#13;&#10;        &lt;/Text&gt;&#13;&#10;    &lt;/Box&gt;&#13;&#10;&#13;&#10;    &lt;Box style={{ position: 'absolute', right: 96, bottom: 62, width: 150, flexDirection: 'column', alignItems: 'center' }}&gt;&#13;&#10;        &lt;Box style={{ width: 132, height: 132, background: '#FFFFFF', borderRadius: 6, padding: 6 }}&gt;&#13;&#10;            &lt;QRCode text='https://juice-butterfly.github.io/rainproof/' width={120} height={120} darkColor='#0A1422' lightColor='#FFFFFF' errorCorrectionLevel='M' margin={0} /&gt;&#13;&#10;        &lt;/Box&gt;&#13;&#10;        &lt;Text style={{ fontFamily: 'Microsoft YaHei', fontSize: 14, color: 'rgba(255,255,255,0.72)', marginTop: 10 }}&gt;&#13;&#10;            扫码进演示站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6000"/>
                </a:srgbClr>
              </a:gs>
              <a:gs pos="46000">
                <a:srgbClr val="0A1422">
                  <a:alpha val="86000"/>
                </a:srgbClr>
              </a:gs>
              <a:gs pos="100000">
                <a:srgbClr val="0A1422">
                  <a:alpha val="30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31" name="矩形 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55000"/>
                </a:srgbClr>
              </a:gs>
              <a:gs pos="34000">
                <a:srgbClr val="0A1422">
                  <a:alpha val="0"/>
                </a:srgbClr>
              </a:gs>
              <a:gs pos="100000">
                <a:srgbClr val="0A1422">
                  <a:alpha val="7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2" name="矩形 31"/>
          <p:cNvSpPr/>
          <p:nvPr/>
        </p:nvSpPr>
        <p:spPr>
          <a:xfrm>
            <a:off x="914400" y="1428750"/>
            <a:ext cx="5715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0" scaled="1"/>
          </a:gradFill>
        </p:spPr>
        <p:txBody>
          <a:bodyPr/>
          <a:p/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914400" y="1771650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汉客松</a:t>
            </a:r>
            <a:r>
              <a:rPr lang="en-US" sz="1275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 S1 · ETH Wuhan 2026</a:t>
            </a:r>
            <a:endParaRPr lang="en-US" sz="127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914400" y="2276475"/>
            <a:ext cx="7239000" cy="2600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雨是数据，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判定是代码，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付款不需要我们点头。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14400" y="5124450"/>
            <a:ext cx="6096000" cy="9525"/>
          </a:xfrm>
          <a:prstGeom prst="rect">
            <a:avLst/>
          </a:prstGeom>
          <a:solidFill>
            <a:srgbClr val="FFFFFF">
              <a:alpha val="18000"/>
            </a:srgbClr>
          </a:soli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914400" y="5343525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规则和证据都在链上</a:t>
            </a:r>
            <a:r>
              <a:rPr lang="en-US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800" b="1" spc="7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800" spc="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914400" y="5800725"/>
            <a:ext cx="723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TEAM 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神麻</a:t>
            </a:r>
            <a:endParaRPr lang="zh-CN" sz="1275" spc="75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914400" y="6076950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2000"/>
                  </a:srgbClr>
                </a:solidFill>
                <a:latin typeface="Consolas" panose="020B0609020204030204"/>
                <a:ea typeface="Consolas" panose="020B0609020204030204"/>
              </a:rPr>
              <a:t>github.com/juice-butterfly/rainproof　·　演示站默认读 677 主网 v3</a:t>
            </a:r>
            <a:endParaRPr lang="en-US" sz="1125">
              <a:solidFill>
                <a:srgbClr val="FFFFFF">
                  <a:alpha val="42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9934575" y="4752975"/>
            <a:ext cx="12573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40" name="图片 39" descr="QR Code: https://juice-butterfly.github.io/rainproof/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1725" y="4810125"/>
            <a:ext cx="1143000" cy="1143000"/>
          </a:xfrm>
          <a:prstGeom prst="rect">
            <a:avLst/>
          </a:prstGeom>
        </p:spPr>
      </p:pic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10163175" y="6105525"/>
            <a:ext cx="80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扫码进演示站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14400" y="4956048"/>
            <a:ext cx="72420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/>
              <a:t>Rain is data. Judgement is code. Payment does not need our nod.</a:t>
            </a:r>
            <a:endParaRPr sz="1200"/>
          </a:p>
        </p:txBody>
      </p:sp>
      <p:sp>
        <p:nvSpPr>
          <p:cNvPr id="58" name="TextBox 57"/>
          <p:cNvSpPr txBox="1"/>
          <p:nvPr/>
        </p:nvSpPr>
        <p:spPr>
          <a:xfrm>
            <a:off x="914400" y="5577840"/>
            <a:ext cx="72420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/>
              <a:t>The rules and the evidence are on-chain - verify it yourself.</a:t>
            </a:r>
            <a:endParaRPr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  <p:bldP spid="34" grpId="0"/>
      <p:bldP spid="39" grpId="0"/>
      <p:bldP spid="40" grpId="0"/>
      <p:bldP spid="35" grpId="0"/>
      <p:bldP spid="36" grpId="0"/>
      <p:bldP spid="37" grpId="0"/>
      <p:bldP spid="38" grpId="0"/>
      <p:bldP spid="41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2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3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4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5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6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7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8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9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0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1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2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3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4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5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6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7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8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9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0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1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2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3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4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5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6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7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3662</Words>
  <Application>WPS 演示</Application>
  <PresentationFormat/>
  <Paragraphs>357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Consolas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李卓昊</cp:lastModifiedBy>
  <cp:revision>7</cp:revision>
  <dcterms:created xsi:type="dcterms:W3CDTF">2026-10-07T10:26:00Z</dcterms:created>
  <dcterms:modified xsi:type="dcterms:W3CDTF">2026-10-08T08:20:22Z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{"AIGC":{"Label":"1","ContentProducer":"00119111010856365494821B355","ProduceID":"01a1152f4a507fc48604b92d4294d604","ReservedCode1":"","ContentPropagator":"00119111010856365494821B355","PropagateID":"01a1152f4a507fc48604b92d4294d604","ReservedCode2":""}}</vt:lpwstr>
  </property>
  <property fmtid="{D5CDD505-2E9C-101B-9397-08002B2CF9AE}" pid="3" name="KSOProductBuildVer">
    <vt:lpwstr>2052-12.1.0.23542</vt:lpwstr>
  </property>
  <property fmtid="{D5CDD505-2E9C-101B-9397-08002B2CF9AE}" pid="4" name="ICV">
    <vt:lpwstr>4E624E8D09FC4C92884AAED42FE7BE56_13</vt:lpwstr>
  </property>
</Properties>
</file>