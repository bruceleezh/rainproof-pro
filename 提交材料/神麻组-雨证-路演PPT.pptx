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media/image10.svg" ContentType="image/svg+xml"/>
  <Override PartName="/ppt/media/image12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3"/>
    <p:sldId id="257" r:id="rId4"/>
    <p:sldId id="258" r:id="rId5"/>
    <p:sldId id="259" r:id="rId6"/>
    <p:sldId id="260" r:id="rId7"/>
    <p:sldId id="261" r:id="rId8"/>
    <p:sldId id="270" r:id="rId9"/>
    <p:sldId id="262" r:id="rId10"/>
    <p:sldId id="263" r:id="rId11"/>
    <p:sldId id="264" r:id="rId12"/>
    <p:sldId id="266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oleObject" Target="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zh-CN" sz="1350" b="1" i="0" u="none" strike="noStrike" kern="1200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pPr>
            <a:r>
              <a:rPr sz="1350">
                <a:solidFill>
                  <a:srgbClr val="FFFFFF"/>
                </a:solidFill>
              </a:rPr>
              <a:t>72 小时窗口内累计降雨达到 50 mm 的概率（%）</a:t>
            </a:r>
            <a:endParaRPr sz="1350">
              <a:solidFill>
                <a:srgbClr val="FFFFFF"/>
              </a:solidFill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</c:f>
              <c:strCache>
                <c:ptCount val="1"/>
                <c:pt idx="0">
                  <c:v>72h 期望赔付比例（按档位加权）(%)</c:v>
                </c:pt>
              </c:strCache>
            </c:strRef>
          </c:tx>
          <c:spPr>
            <a:solidFill>
              <a:srgbClr val="2D7FF9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1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{"武汉","上海","北京","广州","成都"}</c:f>
              <c:strCache>
                <c:ptCount val="5"/>
                <c:pt idx="0">
                  <c:v>武汉</c:v>
                </c:pt>
                <c:pt idx="1">
                  <c:v>上海</c:v>
                </c:pt>
                <c:pt idx="2">
                  <c:v>北京</c:v>
                </c:pt>
                <c:pt idx="3">
                  <c:v>广州</c:v>
                </c:pt>
                <c:pt idx="4">
                  <c:v>成都</c:v>
                </c:pt>
              </c:strCache>
            </c:strRef>
          </c:cat>
          <c:val>
            <c:numRef>
              <c:f>{4.77,4.557,2.281,11.574,3.724}</c:f>
              <c:numCache>
                <c:formatCode>General</c:formatCode>
                <c:ptCount val="5"/>
                <c:pt idx="0">
                  <c:v>4.77</c:v>
                </c:pt>
                <c:pt idx="1">
                  <c:v>4.557</c:v>
                </c:pt>
                <c:pt idx="2">
                  <c:v>2.281</c:v>
                </c:pt>
                <c:pt idx="3">
                  <c:v>11.574</c:v>
                </c:pt>
                <c:pt idx="4">
                  <c:v>3.724</c:v>
                </c:pt>
              </c:numCache>
            </c:numRef>
          </c:val>
        </c:ser>
        <c:ser>
          <c:idx val="1"/>
          <c:order val="1"/>
          <c:tx>
            <c:strRef>
              <c:f>sheet</c:f>
              <c:strCache>
                <c:ptCount val="1"/>
                <c:pt idx="0">
                  <c:v>10% 保本线</c:v>
                </c:pt>
              </c:strCache>
            </c:strRef>
          </c:tx>
          <c:spPr>
            <a:solidFill>
              <a:srgbClr val="F5A524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750" b="0" i="0" u="none" strike="noStrike" kern="1200" baseline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outEnd"/>
            <c:showLegendKey val="1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{"武汉","上海","北京","广州","成都"}</c:f>
              <c:strCache>
                <c:ptCount val="5"/>
                <c:pt idx="0">
                  <c:v>武汉</c:v>
                </c:pt>
                <c:pt idx="1">
                  <c:v>上海</c:v>
                </c:pt>
                <c:pt idx="2">
                  <c:v>北京</c:v>
                </c:pt>
                <c:pt idx="3">
                  <c:v>广州</c:v>
                </c:pt>
                <c:pt idx="4">
                  <c:v>成都</c:v>
                </c:pt>
              </c:strCache>
            </c:strRef>
          </c:cat>
          <c:val>
            <c:numRef>
              <c:f>{10,10,10,10,10}</c:f>
              <c:numCache>
                <c:formatCode>General</c:formatCode>
                <c:ptCount val="5"/>
                <c:pt idx="0">
                  <c:v>10</c:v>
                </c:pt>
                <c:pt idx="1">
                  <c:v>10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</c:numCache>
            </c:numRef>
          </c:val>
        </c:ser>
        <c:dLbls>
          <c:showLegendKey val="1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89736801"/>
        <c:axId val="89736802"/>
      </c:barChart>
      <c:catAx>
        <c:axId val="8973680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rgbClr val="D9D9D9"/>
            </a:solidFill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FFFFFF">
                    <a:alpha val="50000"/>
                  </a:srgbClr>
                </a:solidFill>
                <a:latin typeface="+mn-lt"/>
                <a:ea typeface="+mn-ea"/>
                <a:cs typeface="+mn-cs"/>
              </a:defRPr>
            </a:pPr>
          </a:p>
        </c:txPr>
        <c:crossAx val="89736802"/>
        <c:crosses val="autoZero"/>
        <c:auto val="1"/>
        <c:lblAlgn val="ctr"/>
        <c:lblOffset val="100"/>
        <c:noMultiLvlLbl val="0"/>
      </c:catAx>
      <c:valAx>
        <c:axId val="8973680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D9D9D9"/>
              </a:solidFill>
              <a:prstDash val="solid"/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 w="6350" cap="flat" cmpd="sng" algn="ctr">
            <a:noFill/>
            <a:prstDash val="solid"/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rgbClr val="FFFFFF">
                    <a:alpha val="50000"/>
                  </a:srgbClr>
                </a:solidFill>
                <a:latin typeface="+mn-lt"/>
                <a:ea typeface="+mn-ea"/>
                <a:cs typeface="+mn-cs"/>
              </a:defRPr>
            </a:pPr>
          </a:p>
        </c:txPr>
        <c:crossAx val="89736801"/>
        <c:crosses val="autoZero"/>
        <c:crossBetween val="between"/>
      </c:valAx>
      <c:spPr>
        <a:solidFill>
          <a:srgbClr val="0A1422"/>
        </a:solidFill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zh-CN" sz="900" b="0" i="0" u="none" strike="noStrike" kern="1200" baseline="0">
              <a:solidFill>
                <a:srgbClr val="FFFFFF">
                  <a:alpha val="62000"/>
                </a:srgb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24c34dc7-2473-4d80-9158-edf07039920d}"/>
      </c:ext>
    </c:extLst>
  </c:chart>
  <c:txPr>
    <a:bodyPr/>
    <a:lstStyle/>
    <a:p>
      <a:pPr>
        <a:defRPr lang="zh-CN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0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9" Type="http://schemas.openxmlformats.org/officeDocument/2006/relationships/image" Target="../media/image3.png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svg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1" name="" descr="&lt;Slide style={{ width: 1280, height: 720, background: '#0A1422', position: 'relative', overflow: 'hidden', padding: 0 }}&gt;&#13;&#10;&#13;&#10;    &lt;Image src=&quot;assets/hero_rain_night.png&quot; style={{ position: 'absolute', top: 0, left: 0, width: 1280, height: 720, objectFit: 'cover', opacity: 0.95 }} /&gt;&#13;&#10;&#13;&#10;    &lt;Box style={{ position: 'absolute', top: 0, left: 0, width: 1280, height: 720, background: 'linear-gradient(90deg, rgba(10,20,34,0.97) 0%, rgba(10,20,34,0.86) 42%, rgba(10,20,34,0.26) 100%)' }} /&gt;&#13;&#10;&#13;&#10;    &lt;Box style={{ position: 'absolute', top: 0, left: 0, width: 1280, height: 720, background: 'linear-gradient(180deg, rgba(10,20,34,0.60) 0%, rgba(10,20,34,0) 38%, rgba(10,20,34,0.80) 100%)' }} /&gt;&#13;&#10;&#13;&#10;    &lt;Box style={{ position: 'absolute', top: 118, left: 96, width: 56, height: 4, background: 'linear-gradient(135deg, #2D7FF9 0%, #22D3EE 100%)' }} /&gt;&#13;&#10;&#13;&#10;    &lt;Box style={{ position: 'absolute', top: 148, left: 96, width: 700, flexDirection: 'column' }}&gt;&#13;&#10;        &lt;Text style={{ fontFamily: 'Consolas', fontSize: 19, letterSpacing: 5, color: '#22D3EE', lineHeight: 1.4 }}&gt;&#13;&#10;            汉客松 S1 · ETH Wuhan 2026&#13;&#10;        &lt;/Text&gt;&#13;&#10;&#13;&#10;        &lt;Text style={{ fontFamily: 'Microsoft YaHei', fontSize: 74, fontWeight: 'bold', color: '#FFFFFF', letterSpacing: 3, lineHeight: 1.15, marginTop: 18 }}&gt;&#13;&#10;            雨证 · RainProof&#13;&#10;        &lt;/Text&gt;&#13;&#10;&#13;&#10;        &lt;Text style={{ fontFamily: 'Microsoft YaHei', fontSize: 27, color: 'rgba(255,255,255,0.88)', letterSpacing: 1.5, lineHeight: 1.45, marginTop: 20 }}&gt;&#13;&#10;            可验证的 AI 参数化配送险&#13;&#10;        &lt;/Text&gt;&#13;&#10;&#13;&#10;        &lt;Box style={{ width: 640, height: 1, background: 'rgba(255,255,255,0.14)', marginTop: 26, marginBottom: 26 }} /&gt;&#13;&#10;&#13;&#10;        &lt;Text style={{ fontFamily: 'Microsoft YaHei', fontSize: 23, color: 'rgba(255,255,255,0.66)', lineHeight: 1.6 }}&gt;&#13;&#10;            把「你信不信我」换成「&lt;span style={{ color: '#F5A524', fontWeight: 'bold' }}&gt;你自己验&lt;/span&gt;」&#13;&#10;        &lt;/Text&gt;&#13;&#10;    &lt;/Box&gt;&#13;&#10;&#13;&#10;    &lt;Box style={{ position: 'absolute', left: 96, bottom: 60, width: 1000, flexDirection: 'row', alignItems: 'center' }}&gt;&#13;&#10;        &lt;Text style={{ fontFamily: 'Microsoft YaHei', fontSize: 17, color: 'rgba(255,255,255,0.50)', letterSpacing: 1 }}&gt;&#13;&#10;            给外卖骑手的参数化降雨险　·　不核灾、不定损、骑手不举证&#13;&#10;        &lt;/Text&gt;&#13;&#10;    &lt;/Box&gt;&#13;&#10;&#13;&#10;    &lt;Box style={{ position: 'absolute', right: 96, bottom: 58, width: 320, flexDirection: 'row', alignItems: 'center', justifyContent: 'flex-end' }}&gt;&#13;&#10;        &lt;Text style={{ fontFamily: 'Consolas', fontSize: 16, color: 'rgba(255,255,255,0.40)', letterSpacing: 1 }}&gt;&#13;&#10;            TEAM 神麻&#13;&#10;        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>
            <a:alphaModFix amt="95000"/>
          </a:blip>
          <a:srcRect t="4237" b="423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422">
                  <a:alpha val="97000"/>
                </a:srgbClr>
              </a:gs>
              <a:gs pos="42000">
                <a:srgbClr val="0A1422">
                  <a:alpha val="86000"/>
                </a:srgbClr>
              </a:gs>
              <a:gs pos="100000">
                <a:srgbClr val="0A1422">
                  <a:alpha val="26000"/>
                </a:srgbClr>
              </a:gs>
            </a:gsLst>
            <a:lin ang="0" scaled="1"/>
          </a:gradFill>
        </p:spPr>
        <p:txBody>
          <a:bodyPr/>
          <a:p/>
        </p:txBody>
      </p:sp>
      <p:sp>
        <p:nvSpPr>
          <p:cNvPr id="5" name="矩形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422">
                  <a:alpha val="60000"/>
                </a:srgbClr>
              </a:gs>
              <a:gs pos="38000">
                <a:srgbClr val="0A1422">
                  <a:alpha val="0"/>
                </a:srgbClr>
              </a:gs>
              <a:gs pos="100000">
                <a:srgbClr val="0A1422">
                  <a:alpha val="80000"/>
                </a:srgbClr>
              </a:gs>
            </a:gsLst>
            <a:lin ang="5400000" scaled="1"/>
          </a:gradFill>
        </p:spPr>
        <p:txBody>
          <a:bodyPr/>
          <a:p/>
        </p:txBody>
      </p:sp>
      <p:sp>
        <p:nvSpPr>
          <p:cNvPr id="6" name="矩形 5"/>
          <p:cNvSpPr/>
          <p:nvPr/>
        </p:nvSpPr>
        <p:spPr>
          <a:xfrm>
            <a:off x="914400" y="1123950"/>
            <a:ext cx="533400" cy="3810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7" name="文本框 6" descr="{&quot;isTemplate&quot;:true,&quot;type&quot;:&quot;text&quot;}"/>
          <p:cNvSpPr txBox="1"/>
          <p:nvPr/>
        </p:nvSpPr>
        <p:spPr>
          <a:xfrm>
            <a:off x="914400" y="1409700"/>
            <a:ext cx="6667500" cy="304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425" spc="37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汉客松</a:t>
            </a:r>
            <a:r>
              <a:rPr lang="en-US" sz="1425" spc="37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 S1 · ETH Wuhan 2026</a:t>
            </a:r>
            <a:endParaRPr lang="en-US" sz="1425" spc="37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8" name="文本框 7" descr="{&quot;isTemplate&quot;:true,&quot;type&quot;:&quot;text&quot;}"/>
          <p:cNvSpPr txBox="1"/>
          <p:nvPr/>
        </p:nvSpPr>
        <p:spPr>
          <a:xfrm>
            <a:off x="914400" y="1885950"/>
            <a:ext cx="6667500" cy="9810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lang="zh-CN" sz="5550" b="1" spc="2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雨证</a:t>
            </a:r>
            <a:r>
              <a:rPr lang="en-US" sz="5550" b="1" spc="2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RainProof</a:t>
            </a:r>
            <a:endParaRPr lang="en-US" sz="5550" b="1" spc="22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 descr="{&quot;isTemplate&quot;:true,&quot;type&quot;:&quot;text&quot;}"/>
          <p:cNvSpPr txBox="1"/>
          <p:nvPr/>
        </p:nvSpPr>
        <p:spPr>
          <a:xfrm>
            <a:off x="914400" y="3057525"/>
            <a:ext cx="6667500" cy="4476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2025" spc="113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可验证的</a:t>
            </a:r>
            <a:r>
              <a:rPr lang="en-US" sz="2025" spc="113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AI </a:t>
            </a:r>
            <a:r>
              <a:rPr lang="zh-CN" sz="2025" spc="113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参数化配送险</a:t>
            </a:r>
            <a:endParaRPr lang="zh-CN" sz="2025" spc="113">
              <a:solidFill>
                <a:srgbClr val="FFFFFF">
                  <a:alpha val="8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914400" y="3752850"/>
            <a:ext cx="6096000" cy="9525"/>
          </a:xfrm>
          <a:prstGeom prst="rect">
            <a:avLst/>
          </a:prstGeom>
          <a:solidFill>
            <a:srgbClr val="FFFFFF">
              <a:alpha val="14000"/>
            </a:srgbClr>
          </a:solidFill>
        </p:spPr>
        <p:txBody>
          <a:bodyPr/>
          <a:p/>
        </p:txBody>
      </p:sp>
      <p:sp>
        <p:nvSpPr>
          <p:cNvPr id="11" name="文本框 10" descr="{&quot;isTemplate&quot;:true,&quot;type&quot;:&quot;text&quot;}"/>
          <p:cNvSpPr txBox="1"/>
          <p:nvPr/>
        </p:nvSpPr>
        <p:spPr>
          <a:xfrm>
            <a:off x="914400" y="4010025"/>
            <a:ext cx="6667500" cy="4286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725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把「你信不信我」换成「</a:t>
            </a:r>
            <a:r>
              <a:rPr lang="zh-CN" sz="1725" b="1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你自己验</a:t>
            </a:r>
            <a:r>
              <a:rPr lang="zh-CN" sz="1725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」</a:t>
            </a:r>
            <a:endParaRPr lang="zh-CN" sz="1725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 descr="{&quot;isTemplate&quot;:true,&quot;type&quot;:&quot;text&quot;}"/>
          <p:cNvSpPr txBox="1"/>
          <p:nvPr/>
        </p:nvSpPr>
        <p:spPr>
          <a:xfrm>
            <a:off x="914400" y="6086475"/>
            <a:ext cx="46863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spc="75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给外卖骑手的参数化降雨险　·　不核灾、不定损、骑手不举证</a:t>
            </a:r>
            <a:endParaRPr lang="zh-CN" sz="1275" spc="75">
              <a:solidFill>
                <a:srgbClr val="FFFFFF">
                  <a:alpha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 descr="{&quot;isTemplate&quot;:true,&quot;type&quot;:&quot;text&quot;}"/>
          <p:cNvSpPr txBox="1"/>
          <p:nvPr/>
        </p:nvSpPr>
        <p:spPr>
          <a:xfrm>
            <a:off x="10391775" y="6115050"/>
            <a:ext cx="8858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7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TEAM </a:t>
            </a:r>
            <a:r>
              <a:rPr lang="zh-CN" sz="1200" spc="7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神麻</a:t>
            </a:r>
            <a:endParaRPr lang="zh-CN" sz="1200" spc="7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914400" y="3529584"/>
            <a:ext cx="666597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/>
              <a:t>Verifiable AI parametric insurance for delivery riders</a:t>
            </a:r>
            <a:endParaRPr sz="1200"/>
          </a:p>
        </p:txBody>
      </p:sp>
      <p:sp>
        <p:nvSpPr>
          <p:cNvPr id="50" name="TextBox 49"/>
          <p:cNvSpPr txBox="1"/>
          <p:nvPr/>
        </p:nvSpPr>
        <p:spPr>
          <a:xfrm>
            <a:off x="914400" y="4480560"/>
            <a:ext cx="6665976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/>
              <a:t>Replace "trust me" with "verify it yourself"</a:t>
            </a:r>
            <a:endParaRPr sz="12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92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151" name="" descr="&lt;Slide style={{ width: 1280, height: 720, background: '#0A1422', padding: '20px 72px' }}&gt;&#10;&#10;    &lt;Box style={{ height: 100, flexDirection: 'row', alignItems: 'center', gap: 20 }}&gt;&#10;        &lt;Box style={{ width: 4, height: 30, background: 'linear-gradient(135deg, #2D7FF9 0%, #22D3EE 100%)' }} /&gt;&#10;        &lt;Text style={{ fontFamily: 'Microsoft YaHei', fontSize: 36, fontWeight: 'bold', color: '#FFFFFF', lineHeight: 1.25 }}&gt;&#10;            那天，他还是出门了&#10;        &lt;/Text&gt;&#10;        &lt;Box style={{ flex: 1 }} /&gt;&#10;        &lt;Text style={{ fontFamily: 'Consolas', fontSize: 16, color: 'rgba(255,255,255,0.34)', letterSpacing: 2 }}&gt;&#10;            01 / THE RIDER&#10;        &lt;/Text&gt;&#10;    &lt;/Box&gt;&#10;&#10;    &lt;Box style={{ height: 540, flexDirection: 'row', gap: 30 }}&gt;&#10;&#10;        &lt;Box style={{ width: 500, height: 540, borderRadius: 6, overflow: 'hidden', border: '1px solid rgba(255,255,255,0.12)' }}&gt;&#10;            &lt;Image src=&quot;assets/rider_rain_street.png&quot; style={{ width: '100%', height: '100%', objectFit: 'cover' }} /&gt;&#10;        &lt;/Box&gt;&#10;&#10;        &lt;Box style={{ width: 606, height: 540, flexDirection: 'column' }}&gt;&#10;&#10;            &lt;Text style={{ fontFamily: 'Microsoft YaHei', fontSize: 21, color: 'rgba(255,255,255,0.74)', lineHeight: 1.55 }}&gt;&#10;                暴雨橙色预警。他穿上雨衣，骑上车，跑了 12 个小时 —— 因为当天不出勤，就没有收入。&#10;            &lt;/Text&gt;&#10;&#10;            &lt;Box style={{ flexDirection: 'column', gap: 12, marginTop: 20 }}&gt;&#10;&#10;                &lt;Box style={{ height: 92, background: 'rgba(255,255,255,0.04)', border: '1px solid rgba(255,255,255,0.08)', borderRadius: 5, padding: '0 22px', flexDirection: 'row', alignItems: 'center', gap: 20 }}&gt;&#10;                    &lt;Text style={{ width: 180, fontFamily: 'Consolas', fontSize: 38, fontWeight: 'bold', color: '#2D7FF9' }}&gt;336 万&lt;/Text&gt;&#10;                    &lt;Text style={{ fontFamily: 'Microsoft YaHei', fontSize: 17, color: 'rgba(255,255,255,0.68)', lineHeight: 1.45 }}&gt;&#10;                        中国月均有单骑手&#10;                    &lt;/Text&gt;&#10;                &lt;/Box&gt;&#10;&#10;                &lt;Box style={{ height: 92, background: 'rgba(255,255,255,0.04)', border: '1px solid rgba(255,255,255,0.08)', borderRadius: 5, padding: '0 22px', flexDirection: 'row', alignItems: 'center', gap: 20 }}&gt;&#10;                    &lt;Text style={{ width: 180, fontFamily: 'Consolas', fontSize: 38, fontWeight: 'bold', color: '#F5A524' }}&gt;-30%&lt;/Text&gt;&#10;                    &lt;Text style={{ fontFamily: 'Microsoft YaHei', fontSize: 17, color: 'rgba(255,255,255,0.68)', lineHeight: 1.45 }}&gt;&#10;                        暴雨日，一个骑手的收入&#10;                    &lt;/Text&gt;&#10;                &lt;/Box&gt;&#10;&#10;                &lt;Box style={{ height: 92, background: 'rgba(245,165,36,0.10)', border: '1px solid rgba(245,165,36,0.34)', borderRadius: 5, padding: '0 22px', flexDirection: 'row', alignItems: 'center', gap: 20 }}&gt;&#10;                    &lt;Text style={{ width: 180, fontFamily: 'Consolas', fontSize: 42, fontWeight: 'bold', color: '#F5A524' }}&gt;0&lt;/Text&gt;&#10;                    &lt;Text style={{ fontFamily: 'Microsoft YaHei', fontSize: 17, fontWeight: 'bold', color: '#FFFFFF', lineHeight: 1.45 }}&gt;&#10;                        他能拿到的赔偿&#10;                    &lt;/Text&gt;&#10;                &lt;/Box&gt;&#10;&#10;            &lt;/Box&gt;&#10;&#10;            &lt;Box style={{ marginTop: 'auto' }}&gt;&#10;                &lt;Text style={{ fontFamily: 'Microsoft YaHei', fontSize: 30, fontWeight: 'bold', color: '#FFFFFF', lineHeight: 1.4 }}&gt;&#10;                    而他不知道该找谁赔。&#10;                &lt;/Text&gt;&#10;                &lt;Text style={{ fontFamily: 'Microsoft YaHei', fontSize: 14, color: 'rgba(255,255,255,0.42)', lineHeight: 1.5, marginTop: 10 }}&gt;&#10;                    336 万为美团研究院 2024 年调研口径；-30% 为暴雨日收入折损量级&#10;                &lt;/Text&gt;&#10;            &lt;/Box&gt;&#10;&#10;        &lt;/Box&gt;&#10;&#10;    &lt;/Box&gt;&#10;&#10;    &lt;Box style={{ height: 40, flexDirection: 'row', alignItems: 'center' }}&gt;&#10;        &lt;Text style={{ fontFamily: 'Microsoft YaHei', fontSize: 15, color: 'rgba(255,255,255,0.40)' }}&gt;雨证 · RainProof&lt;/Text&gt;&#10;        &lt;Box style={{ flex: 1 }} /&gt;&#10;        &lt;Text style={{ fontFamily: 'Consolas', fontSize: 15, color: 'rgba(255,255,255,0.40)' }}&gt;02 / 1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矩形 15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153" name="矩形 152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54" name="文本框 153" descr="{&quot;isTemplate&quot;:true,&quot;type&quot;:&quot;text&quot;}"/>
          <p:cNvSpPr txBox="1"/>
          <p:nvPr/>
        </p:nvSpPr>
        <p:spPr>
          <a:xfrm>
            <a:off x="914400" y="409575"/>
            <a:ext cx="30861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那天，他还是出门了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5" name="文本框 154" descr="{&quot;isTemplate&quot;:true,&quot;type&quot;:&quot;text&quot;}"/>
          <p:cNvSpPr txBox="1"/>
          <p:nvPr/>
        </p:nvSpPr>
        <p:spPr>
          <a:xfrm>
            <a:off x="10058400" y="571500"/>
            <a:ext cx="14478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01 / THE RIDER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56" name="圆角矩形 155"/>
          <p:cNvSpPr/>
          <p:nvPr/>
        </p:nvSpPr>
        <p:spPr>
          <a:xfrm>
            <a:off x="685800" y="1143000"/>
            <a:ext cx="4762500" cy="5143500"/>
          </a:xfrm>
          <a:prstGeom prst="roundRect">
            <a:avLst>
              <a:gd name="adj" fmla="val 1200"/>
            </a:avLst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157" name="图片 156"/>
          <p:cNvPicPr>
            <a:picLocks noChangeAspect="1"/>
          </p:cNvPicPr>
          <p:nvPr/>
        </p:nvPicPr>
        <p:blipFill>
          <a:blip r:embed="rId1"/>
          <a:srcRect l="21547" r="21547"/>
          <a:stretch>
            <a:fillRect/>
          </a:stretch>
        </p:blipFill>
        <p:spPr>
          <a:xfrm>
            <a:off x="685800" y="1143000"/>
            <a:ext cx="4762500" cy="5143500"/>
          </a:xfrm>
          <a:custGeom>
            <a:avLst/>
            <a:gdLst/>
            <a:ahLst/>
            <a:cxnLst/>
            <a:pathLst>
              <a:path w="500" h="540">
                <a:moveTo>
                  <a:pt x="494" y="0"/>
                </a:moveTo>
                <a:cubicBezTo>
                  <a:pt x="497" y="0"/>
                  <a:pt x="500" y="3"/>
                  <a:pt x="500" y="6"/>
                </a:cubicBezTo>
                <a:lnTo>
                  <a:pt x="500" y="534"/>
                </a:lnTo>
                <a:cubicBezTo>
                  <a:pt x="500" y="537"/>
                  <a:pt x="497" y="540"/>
                  <a:pt x="494" y="540"/>
                </a:cubicBezTo>
                <a:lnTo>
                  <a:pt x="6" y="540"/>
                </a:lnTo>
                <a:cubicBezTo>
                  <a:pt x="3" y="540"/>
                  <a:pt x="0" y="537"/>
                  <a:pt x="0" y="534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lnTo>
                  <a:pt x="494" y="0"/>
                </a:lnTo>
                <a:close/>
              </a:path>
            </a:pathLst>
          </a:custGeom>
        </p:spPr>
      </p:pic>
      <p:sp>
        <p:nvSpPr>
          <p:cNvPr id="158" name="文本框 157" descr="{&quot;isTemplate&quot;:true,&quot;type&quot;:&quot;text&quot;}"/>
          <p:cNvSpPr txBox="1"/>
          <p:nvPr/>
        </p:nvSpPr>
        <p:spPr>
          <a:xfrm>
            <a:off x="5734050" y="1143000"/>
            <a:ext cx="5772150" cy="7524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7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暴雨橙色预警。他穿上雨衣，骑上车，跑了</a:t>
            </a:r>
            <a:r>
              <a:rPr lang="en-US" sz="157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12 </a:t>
            </a:r>
            <a:r>
              <a:rPr lang="zh-CN" sz="157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个小时</a:t>
            </a:r>
            <a:r>
              <a:rPr lang="en-US" sz="157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57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因为当天不出勤，就没有收入。</a:t>
            </a:r>
            <a:endParaRPr lang="zh-CN" sz="1575">
              <a:solidFill>
                <a:srgbClr val="FFFFFF">
                  <a:alpha val="7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9" name="圆角矩形 158"/>
          <p:cNvSpPr/>
          <p:nvPr/>
        </p:nvSpPr>
        <p:spPr>
          <a:xfrm>
            <a:off x="5734050" y="2085975"/>
            <a:ext cx="5772150" cy="876300"/>
          </a:xfrm>
          <a:prstGeom prst="roundRect">
            <a:avLst>
              <a:gd name="adj" fmla="val 5435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0" name="文本框 159" descr="{&quot;isTemplate&quot;:true,&quot;type&quot;:&quot;text&quot;}"/>
          <p:cNvSpPr txBox="1"/>
          <p:nvPr/>
        </p:nvSpPr>
        <p:spPr>
          <a:xfrm>
            <a:off x="5943600" y="2305050"/>
            <a:ext cx="1714500" cy="4381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300 </a:t>
            </a:r>
            <a:r>
              <a:rPr lang="zh-CN" sz="2850" b="1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万</a:t>
            </a:r>
            <a:endParaRPr lang="zh-CN" sz="2850" b="1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61" name="文本框 160" descr="{&quot;isTemplate&quot;:true,&quot;type&quot;:&quot;text&quot;}"/>
          <p:cNvSpPr txBox="1"/>
          <p:nvPr/>
        </p:nvSpPr>
        <p:spPr>
          <a:xfrm>
            <a:off x="7848600" y="2381250"/>
            <a:ext cx="12954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FFFFFF">
                    <a:alpha val="6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美团官方口径覆盖骑手</a:t>
            </a:r>
            <a:endParaRPr lang="zh-CN" sz="1275">
              <a:solidFill>
                <a:srgbClr val="FFFFFF">
                  <a:alpha val="6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2" name="圆角矩形 161"/>
          <p:cNvSpPr/>
          <p:nvPr/>
        </p:nvSpPr>
        <p:spPr>
          <a:xfrm>
            <a:off x="5734050" y="3076575"/>
            <a:ext cx="5772150" cy="876300"/>
          </a:xfrm>
          <a:prstGeom prst="roundRect">
            <a:avLst>
              <a:gd name="adj" fmla="val 5435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3" name="文本框 162" descr="{&quot;isTemplate&quot;:true,&quot;type&quot;:&quot;text&quot;}"/>
          <p:cNvSpPr txBox="1"/>
          <p:nvPr/>
        </p:nvSpPr>
        <p:spPr>
          <a:xfrm>
            <a:off x="5943600" y="3295650"/>
            <a:ext cx="1714500" cy="4381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850" b="1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-30%</a:t>
            </a:r>
            <a:endParaRPr lang="en-US" sz="2850" b="1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64" name="文本框 163" descr="{&quot;isTemplate&quot;:true,&quot;type&quot;:&quot;text&quot;}"/>
          <p:cNvSpPr txBox="1"/>
          <p:nvPr/>
        </p:nvSpPr>
        <p:spPr>
          <a:xfrm>
            <a:off x="7848600" y="3371850"/>
            <a:ext cx="1781175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>
                <a:solidFill>
                  <a:srgbClr val="FFFFFF">
                    <a:alpha val="6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暴雨日，一个骑手的收入</a:t>
            </a:r>
            <a:endParaRPr lang="zh-CN" sz="1275">
              <a:solidFill>
                <a:srgbClr val="FFFFFF">
                  <a:alpha val="6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5" name="圆角矩形 164"/>
          <p:cNvSpPr/>
          <p:nvPr/>
        </p:nvSpPr>
        <p:spPr>
          <a:xfrm>
            <a:off x="5734050" y="4067175"/>
            <a:ext cx="5772150" cy="876300"/>
          </a:xfrm>
          <a:prstGeom prst="roundRect">
            <a:avLst>
              <a:gd name="adj" fmla="val 5435"/>
            </a:avLst>
          </a:prstGeom>
          <a:solidFill>
            <a:srgbClr val="F5A524">
              <a:alpha val="10000"/>
            </a:srgbClr>
          </a:solidFill>
          <a:ln w="12700">
            <a:solidFill>
              <a:srgbClr val="F5A524">
                <a:alpha val="3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66" name="文本框 165" descr="{&quot;isTemplate&quot;:true,&quot;type&quot;:&quot;text&quot;}"/>
          <p:cNvSpPr txBox="1"/>
          <p:nvPr/>
        </p:nvSpPr>
        <p:spPr>
          <a:xfrm>
            <a:off x="5943600" y="4267200"/>
            <a:ext cx="1714500" cy="4857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150" b="1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0</a:t>
            </a:r>
            <a:endParaRPr lang="en-US" sz="3150" b="1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67" name="文本框 166" descr="{&quot;isTemplate&quot;:true,&quot;type&quot;:&quot;text&quot;}"/>
          <p:cNvSpPr txBox="1"/>
          <p:nvPr/>
        </p:nvSpPr>
        <p:spPr>
          <a:xfrm>
            <a:off x="7848600" y="4362450"/>
            <a:ext cx="1133475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他能拿到的赔偿</a:t>
            </a:r>
            <a:endParaRPr lang="zh-CN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8" name="文本框 167" descr="{&quot;isTemplate&quot;:true,&quot;type&quot;:&quot;text&quot;}"/>
          <p:cNvSpPr txBox="1"/>
          <p:nvPr/>
        </p:nvSpPr>
        <p:spPr>
          <a:xfrm>
            <a:off x="5734050" y="5457825"/>
            <a:ext cx="5772150" cy="4857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而他不知道该找谁赔。</a:t>
            </a:r>
            <a:endParaRPr lang="zh-CN"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9" name="文本框 168" descr="{&quot;isTemplate&quot;:true,&quot;type&quot;:&quot;text&quot;}"/>
          <p:cNvSpPr txBox="1"/>
          <p:nvPr/>
        </p:nvSpPr>
        <p:spPr>
          <a:xfrm>
            <a:off x="5734050" y="6038850"/>
            <a:ext cx="5772150" cy="2476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050">
                <a:solidFill>
                  <a:srgbClr val="FFFFFF">
                    <a:alpha val="4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300 万为美团 2025-06-26 官方口径；-30% 为暴雨日收入折损量级（公开口径有分歧，仅作量级）</a:t>
            </a:r>
            <a:endParaRPr lang="zh-CN" sz="1050">
              <a:solidFill>
                <a:srgbClr val="FFFFFF">
                  <a:alpha val="4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1" name="文本框 170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02 / 12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72" name="TextBox 171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That day, he still went out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8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92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92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92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2" grpId="0"/>
      <p:bldP spid="153" grpId="0"/>
      <p:bldP spid="154" grpId="0"/>
      <p:bldP spid="155" grpId="0"/>
      <p:bldP spid="156" grpId="0"/>
      <p:bldP spid="157" grpId="0"/>
      <p:bldP spid="158" grpId="0"/>
      <p:bldP spid="159" grpId="0"/>
      <p:bldP spid="160" grpId="0"/>
      <p:bldP spid="161" grpId="0"/>
      <p:bldP spid="162" grpId="0"/>
      <p:bldP spid="163" grpId="0"/>
      <p:bldP spid="164" grpId="0"/>
      <p:bldP spid="165" grpId="0"/>
      <p:bldP spid="166" grpId="0"/>
      <p:bldP spid="167" grpId="0"/>
      <p:bldP spid="168" grpId="0"/>
      <p:bldP spid="16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172" name="" descr="&lt;Slide style={{ width: 1280, height: 720, background: '#0A1422', padding: '20px 72px' }}&gt;&#10;&#10;    &lt;Box style={{ height: 100, flexDirection: 'row', alignItems: 'center', gap: 20 }}&gt;&#10;        &lt;Box style={{ width: 4, height: 30, background: 'linear-gradient(135deg, #2D7FF9 0%, #22D3EE 100%)' }} /&gt;&#10;        &lt;Text style={{ fontFamily: 'Microsoft YaHei', fontSize: 36, fontWeight: 'bold', color: '#FFFFFF', lineHeight: 1.25 }}&gt;&#10;            不是没人想保，是这笔账算不过来&#10;        &lt;/Text&gt;&#10;        &lt;Box style={{ flex: 1 }} /&gt;&#10;        &lt;Text style={{ fontFamily: 'Consolas', fontSize: 16, color: 'rgba(255,255,255,0.34)', letterSpacing: 2 }}&gt;&#10;            02 / THE MATH&#10;        &lt;/Text&gt;&#10;    &lt;/Box&gt;&#10;&#10;    &lt;Box style={{ height: 540, flexDirection: 'column' }}&gt;&#10;&#10;        &lt;Box style={{ height: 190, flexDirection: 'row', alignItems: 'center', justifyContent: 'center', gap: 34 }}&gt;&#10;            &lt;Text style={{ fontFamily: 'Microsoft YaHei', fontSize: 44, fontWeight: 'bold', color: '#FFFFFF' }}&gt;&#10;                查一次的成本&#10;            &lt;/Text&gt;&#10;            &lt;Text style={{ fontFamily: 'Consolas', fontSize: 54, fontWeight: 'bold', color: '#F5A524' }}&gt;&#10;                ≈&#10;            &lt;/Text&gt;&#10;            &lt;Text style={{ fontFamily: 'Microsoft YaHei', fontSize: 44, fontWeight: 'bold', color: '#FFFFFF' }}&gt;&#10;                赔一次的钱&#10;            &lt;/Text&gt;&#10;        &lt;/Box&gt;&#10;&#10;        &lt;Box style={{ flexDirection: 'column', gap: 12, padding: '0 56px' }}&gt;&#10;            &lt;Box style={{ flexDirection: 'row', alignItems: 'center', gap: 14 }}&gt;&#10;                &lt;Box style={{ width: 6, height: 6, borderRadius: 3, background: '#22D3EE' }} /&gt;&#10;                &lt;Text style={{ fontFamily: 'Microsoft YaHei', fontSize: 19, color: 'rgba(255,255,255,0.80)', lineHeight: 1.45 }}&gt;&#10;                    单次赔几十到几百元&#10;                &lt;/Text&gt;&#10;            &lt;/Box&gt;&#10;            &lt;Box style={{ flexDirection: 'row', alignItems: 'center', gap: 14 }}&gt;&#10;                &lt;Box style={{ width: 6, height: 6, borderRadius: 3, background: '#22D3EE' }} /&gt;&#10;                &lt;Text style={{ fontFamily: 'Microsoft YaHei', fontSize: 19, color: 'rgba(255,255,255,0.80)', lineHeight: 1.45 }}&gt;&#10;                    人工报案 + 查勘 + 核赔的固定成本，与赔款同量级&#10;                &lt;/Text&gt;&#10;            &lt;/Box&gt;&#10;            &lt;Box style={{ flexDirection: 'row', alignItems: 'center', gap: 14 }}&gt;&#10;                &lt;Box style={{ width: 6, height: 6, borderRadius: 3, background: '#F5A524' }} /&gt;&#10;                &lt;Text style={{ fontFamily: 'Microsoft YaHei', fontSize: 19, fontWeight: 'bold', color: '#FFFFFF', lineHeight: 1.45 }}&gt;&#10;                    保险公司的理性选择：不卖&#10;                &lt;/Text&gt;&#10;            &lt;/Box&gt;&#10;        &lt;/Box&gt;&#10;&#10;        &lt;Box style={{ marginTop: 'auto', flexDirection: 'row', gap: 20 }}&gt;&#10;&#10;            &lt;Box style={{ flex: 1, background: 'rgba(255,255,255,0.04)', border: '1px solid rgba(255,255,255,0.10)', borderRadius: 5, padding: '16px 22px', flexDirection: 'column' }}&gt;&#10;                &lt;Text style={{ fontFamily: 'Consolas', fontSize: 13, color: 'rgba(255,255,255,0.44)', letterSpacing: 3 }}&gt;&#10;                    下游的三个结果&#10;                &lt;/Text&gt;&#10;                &lt;Text style={{ fontFamily: 'Microsoft YaHei', fontSize: 16, color: 'rgba(255,255,255,0.62)', lineHeight: 1.55, marginTop: 8 }}&gt;&#10;                    损失核不了 · 逆选择与骗赔 · 身份无正式凭据 —— 都是这个成本结构的下游，不是三个独立的问题。&#10;                &lt;/Text&gt;&#10;            &lt;/Box&gt;&#10;&#10;            &lt;Box style={{ width: 336, background: 'rgba(45,127,249,0.10)', border: '1px solid rgba(45,127,249,0.30)', borderRadius: 5, padding: '16px 22px', flexDirection: 'column' }}&gt;&#10;                &lt;Box style={{ flexDirection: 'row', alignItems: 'baseline', gap: 10 }}&gt;&#10;                    &lt;Text style={{ fontFamily: 'Consolas', fontSize: 34, fontWeight: 'bold', color: '#22D3EE' }}&gt;6.8×&lt;/Text&gt;&#10;                    &lt;Text style={{ fontFamily: 'Microsoft YaHei', fontSize: 15, color: 'rgba(255,255,255,0.80)' }}&gt;雨天配送事故率&lt;/Text&gt;&#10;                &lt;/Box&gt;&#10;                &lt;Text style={{ fontFamily: 'Microsoft YaHei', fontSize: 13, color: 'rgba(255,255,255,0.44)', lineHeight: 1.5, marginTop: 8 }}&gt;&#10;                    泰国骑手交通事故研究，OR = 6.79&#10;                &lt;/Text&gt;&#10;            &lt;/Box&gt;&#10;&#10;        &lt;/Box&gt;&#10;&#10;    &lt;/Box&gt;&#10;&#10;    &lt;Box style={{ height: 40, flexDirection: 'row', alignItems: 'center' }}&gt;&#10;        &lt;Text style={{ fontFamily: 'Microsoft YaHei', fontSize: 15, color: 'rgba(255,255,255,0.40)' }}&gt;雨证 · RainProof&lt;/Text&gt;&#10;        &lt;Box style={{ flex: 1 }} /&gt;&#10;        &lt;Text style={{ fontFamily: 'Consolas', fontSize: 15, color: 'rgba(255,255,255,0.40)' }}&gt;03 / 1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矩形 17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174" name="矩形 173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75" name="文本框 174" descr="{&quot;isTemplate&quot;:true,&quot;type&quot;:&quot;text&quot;}"/>
          <p:cNvSpPr txBox="1"/>
          <p:nvPr/>
        </p:nvSpPr>
        <p:spPr>
          <a:xfrm>
            <a:off x="914400" y="409575"/>
            <a:ext cx="51435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不是没人想保，是这笔账算不过来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6" name="文本框 175" descr="{&quot;isTemplate&quot;:true,&quot;type&quot;:&quot;text&quot;}"/>
          <p:cNvSpPr txBox="1"/>
          <p:nvPr/>
        </p:nvSpPr>
        <p:spPr>
          <a:xfrm>
            <a:off x="10163175" y="571500"/>
            <a:ext cx="13430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02 / THE MATH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77" name="文本框 176" descr="{&quot;isTemplate&quot;:true,&quot;type&quot;:&quot;text&quot;}"/>
          <p:cNvSpPr txBox="1"/>
          <p:nvPr/>
        </p:nvSpPr>
        <p:spPr>
          <a:xfrm>
            <a:off x="3324225" y="1800225"/>
            <a:ext cx="2514600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查一次的成本</a:t>
            </a:r>
            <a:endParaRPr lang="zh-CN" sz="3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8" name="文本框 177" descr="{&quot;isTemplate&quot;:true,&quot;type&quot;:&quot;text&quot;}"/>
          <p:cNvSpPr txBox="1"/>
          <p:nvPr/>
        </p:nvSpPr>
        <p:spPr>
          <a:xfrm>
            <a:off x="6162675" y="1743075"/>
            <a:ext cx="285750" cy="6191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4050" b="1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≈</a:t>
            </a:r>
            <a:endParaRPr sz="4050" b="1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79" name="文本框 178" descr="{&quot;isTemplate&quot;:true,&quot;type&quot;:&quot;text&quot;}"/>
          <p:cNvSpPr txBox="1"/>
          <p:nvPr/>
        </p:nvSpPr>
        <p:spPr>
          <a:xfrm>
            <a:off x="6772275" y="1800225"/>
            <a:ext cx="2095500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赔一次的钱</a:t>
            </a:r>
            <a:endParaRPr lang="zh-CN" sz="3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0" name="圆角矩形 179"/>
          <p:cNvSpPr/>
          <p:nvPr/>
        </p:nvSpPr>
        <p:spPr>
          <a:xfrm>
            <a:off x="1219200" y="30861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</p:spPr>
        <p:txBody>
          <a:bodyPr/>
          <a:p/>
        </p:txBody>
      </p:sp>
      <p:sp>
        <p:nvSpPr>
          <p:cNvPr id="181" name="文本框 180" descr="{&quot;isTemplate&quot;:true,&quot;type&quot;:&quot;text&quot;}"/>
          <p:cNvSpPr txBox="1"/>
          <p:nvPr/>
        </p:nvSpPr>
        <p:spPr>
          <a:xfrm>
            <a:off x="1409700" y="2952750"/>
            <a:ext cx="1628775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单次赔几十到几百元</a:t>
            </a:r>
            <a:endParaRPr lang="zh-CN" sz="142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2" name="圆角矩形 181"/>
          <p:cNvSpPr/>
          <p:nvPr/>
        </p:nvSpPr>
        <p:spPr>
          <a:xfrm>
            <a:off x="1219200" y="3524250"/>
            <a:ext cx="57150" cy="57150"/>
          </a:xfrm>
          <a:prstGeom prst="roundRect">
            <a:avLst>
              <a:gd name="adj" fmla="val 50000"/>
            </a:avLst>
          </a:prstGeom>
          <a:solidFill>
            <a:srgbClr val="22D3EE"/>
          </a:solidFill>
        </p:spPr>
        <p:txBody>
          <a:bodyPr/>
          <a:p/>
        </p:txBody>
      </p:sp>
      <p:sp>
        <p:nvSpPr>
          <p:cNvPr id="183" name="文本框 182" descr="{&quot;isTemplate&quot;:true,&quot;type&quot;:&quot;text&quot;}"/>
          <p:cNvSpPr txBox="1"/>
          <p:nvPr/>
        </p:nvSpPr>
        <p:spPr>
          <a:xfrm>
            <a:off x="1409700" y="3390900"/>
            <a:ext cx="4105275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人工报案</a:t>
            </a:r>
            <a:r>
              <a:rPr lang="en-US" sz="14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4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查勘</a:t>
            </a:r>
            <a:r>
              <a:rPr lang="en-US" sz="14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4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核赔的固定成本，与赔款同量级</a:t>
            </a:r>
            <a:endParaRPr lang="zh-CN" sz="142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4" name="圆角矩形 183"/>
          <p:cNvSpPr/>
          <p:nvPr/>
        </p:nvSpPr>
        <p:spPr>
          <a:xfrm>
            <a:off x="1219200" y="3962400"/>
            <a:ext cx="57150" cy="57150"/>
          </a:xfrm>
          <a:prstGeom prst="roundRect">
            <a:avLst>
              <a:gd name="adj" fmla="val 50000"/>
            </a:avLst>
          </a:prstGeom>
          <a:solidFill>
            <a:srgbClr val="F5A524"/>
          </a:solidFill>
        </p:spPr>
        <p:txBody>
          <a:bodyPr/>
          <a:p/>
        </p:txBody>
      </p:sp>
      <p:sp>
        <p:nvSpPr>
          <p:cNvPr id="185" name="文本框 184" descr="{&quot;isTemplate&quot;:true,&quot;type&quot;:&quot;text&quot;}"/>
          <p:cNvSpPr txBox="1"/>
          <p:nvPr/>
        </p:nvSpPr>
        <p:spPr>
          <a:xfrm>
            <a:off x="1409700" y="3829050"/>
            <a:ext cx="2171700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保险公司的理性选择：不卖</a:t>
            </a:r>
            <a:endParaRPr lang="zh-CN" sz="14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6" name="圆角矩形 185"/>
          <p:cNvSpPr/>
          <p:nvPr/>
        </p:nvSpPr>
        <p:spPr>
          <a:xfrm>
            <a:off x="685800" y="5286375"/>
            <a:ext cx="7429500" cy="1000125"/>
          </a:xfrm>
          <a:prstGeom prst="roundRect">
            <a:avLst>
              <a:gd name="adj" fmla="val 476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87" name="文本框 186" descr="{&quot;isTemplate&quot;:true,&quot;type&quot;:&quot;text&quot;}"/>
          <p:cNvSpPr txBox="1"/>
          <p:nvPr/>
        </p:nvSpPr>
        <p:spPr>
          <a:xfrm>
            <a:off x="895350" y="5438775"/>
            <a:ext cx="70104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225">
                <a:solidFill>
                  <a:srgbClr val="FFFFFF">
                    <a:alpha val="44000"/>
                  </a:srgbClr>
                </a:solidFill>
                <a:latin typeface="Consolas" panose="020B0609020204030204"/>
                <a:ea typeface="Consolas" panose="020B0609020204030204"/>
              </a:rPr>
              <a:t>下游的三个结果</a:t>
            </a:r>
            <a:endParaRPr lang="zh-CN" sz="975" spc="225">
              <a:solidFill>
                <a:srgbClr val="FFFFFF">
                  <a:alpha val="4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88" name="文本框 187" descr="{&quot;isTemplate&quot;:true,&quot;type&quot;:&quot;text&quot;}"/>
          <p:cNvSpPr txBox="1"/>
          <p:nvPr/>
        </p:nvSpPr>
        <p:spPr>
          <a:xfrm>
            <a:off x="895350" y="5667375"/>
            <a:ext cx="7010400" cy="2857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损失核不了</a:t>
            </a:r>
            <a:r>
              <a:rPr lang="en-US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逆选择与骗赔</a:t>
            </a:r>
            <a:r>
              <a:rPr lang="en-US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身份无正式凭据</a:t>
            </a:r>
            <a:r>
              <a:rPr lang="en-US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2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都是这个成本结构的下游，不是三个独立的问题。</a:t>
            </a:r>
            <a:endParaRPr lang="zh-CN" sz="1200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9" name="圆角矩形 188"/>
          <p:cNvSpPr/>
          <p:nvPr/>
        </p:nvSpPr>
        <p:spPr>
          <a:xfrm>
            <a:off x="8305800" y="5286375"/>
            <a:ext cx="3200400" cy="1000125"/>
          </a:xfrm>
          <a:prstGeom prst="roundRect">
            <a:avLst>
              <a:gd name="adj" fmla="val 4762"/>
            </a:avLst>
          </a:prstGeom>
          <a:solidFill>
            <a:srgbClr val="2D7FF9">
              <a:alpha val="10000"/>
            </a:srgbClr>
          </a:solidFill>
          <a:ln w="12700">
            <a:solidFill>
              <a:srgbClr val="2D7FF9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90" name="文本框 189" descr="{&quot;isTemplate&quot;:true,&quot;type&quot;:&quot;text&quot;}"/>
          <p:cNvSpPr txBox="1"/>
          <p:nvPr/>
        </p:nvSpPr>
        <p:spPr>
          <a:xfrm>
            <a:off x="8515350" y="5438775"/>
            <a:ext cx="714375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6.8×</a:t>
            </a:r>
            <a:endParaRPr lang="en-US" sz="2550" b="1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91" name="文本框 190" descr="{&quot;isTemplate&quot;:true,&quot;type&quot;:&quot;text&quot;}"/>
          <p:cNvSpPr txBox="1"/>
          <p:nvPr/>
        </p:nvSpPr>
        <p:spPr>
          <a:xfrm>
            <a:off x="9324975" y="5438775"/>
            <a:ext cx="1000125" cy="3905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雨天配送事故率</a:t>
            </a:r>
            <a:endParaRPr lang="zh-CN" sz="112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2" name="文本框 191" descr="{&quot;isTemplate&quot;:true,&quot;type&quot;:&quot;text&quot;}"/>
          <p:cNvSpPr txBox="1"/>
          <p:nvPr/>
        </p:nvSpPr>
        <p:spPr>
          <a:xfrm>
            <a:off x="8515350" y="5905500"/>
            <a:ext cx="27813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FFFFFF">
                    <a:alpha val="4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泰国骑手交通事故研究，</a:t>
            </a:r>
            <a:r>
              <a:rPr lang="en-US" sz="975">
                <a:solidFill>
                  <a:srgbClr val="FFFFFF">
                    <a:alpha val="4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OR = 6.79</a:t>
            </a:r>
            <a:endParaRPr lang="en-US" sz="975">
              <a:solidFill>
                <a:srgbClr val="FFFFFF">
                  <a:alpha val="4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4" name="文本框 193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03 / 12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95" name="TextBox 194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It is not that nobody wants to insure them - the math does not work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92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92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92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3" grpId="0"/>
      <p:bldP spid="174" grpId="0"/>
      <p:bldP spid="175" grpId="0"/>
      <p:bldP spid="176" grpId="0"/>
      <p:bldP spid="177" grpId="0"/>
      <p:bldP spid="178" grpId="0"/>
      <p:bldP spid="179" grpId="0"/>
      <p:bldP spid="180" grpId="0"/>
      <p:bldP spid="182" grpId="0"/>
      <p:bldP spid="184" grpId="0"/>
      <p:bldP spid="181" grpId="0"/>
      <p:bldP spid="183" grpId="0"/>
      <p:bldP spid="185" grpId="0"/>
      <p:bldP spid="186" grpId="0"/>
      <p:bldP spid="187" grpId="0"/>
      <p:bldP spid="188" grpId="0"/>
      <p:bldP spid="189" grpId="0"/>
      <p:bldP spid="190" grpId="0"/>
      <p:bldP spid="191" grpId="0"/>
      <p:bldP spid="19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195" name="" descr="&lt;Slide style={{ width: 1280, height: 720, background: '#0A1422', padding: '20px 72px' }}&gt;&#10;&#10;    &lt;Box style={{ height: 100, flexDirection: 'row', alignItems: 'center', gap: 20 }}&gt;&#10;        &lt;Box style={{ width: 4, height: 30, background: 'linear-gradient(135deg, #2D7FF9 0%, #22D3EE 100%)' }} /&gt;&#10;        &lt;Text style={{ fontFamily: 'Microsoft YaHei', fontSize: 36, fontWeight: 'bold', color: '#FFFFFF', lineHeight: 1.25 }}&gt;&#10;            AI + 天气，几乎所有人都在做预测&#10;        &lt;/Text&gt;&#10;        &lt;Box style={{ flex: 1 }} /&gt;&#10;        &lt;Text style={{ fontFamily: 'Consolas', fontSize: 16, color: 'rgba(255,255,255,0.34)', letterSpacing: 2 }}&gt;&#10;            03 / THE INDUSTRY&#10;        &lt;/Text&gt;&#10;    &lt;/Box&gt;&#10;&#10;    &lt;Box style={{ height: 540, flexDirection: 'column' }}&gt;&#10;&#10;        &lt;Box style={{ height: 168, flexDirection: 'column', alignItems: 'center', justifyContent: 'center' }}&gt;&#10;            &lt;Text style={{ fontFamily: 'Consolas', fontSize: 42, fontWeight: 'bold', color: '#22D3EE', letterSpacing: 5 }}&gt;&#10;                ECMWF · GFS · ICON&#10;            &lt;/Text&gt;&#10;            &lt;Text style={{ fontFamily: 'Microsoft YaHei', fontSize: 19, color: 'rgba(255,255,255,0.62)', lineHeight: 1.5, marginTop: 18 }}&gt;&#10;                整个行业在做的事，是把明天算得更准&#10;            &lt;/Text&gt;&#10;        &lt;/Box&gt;&#10;&#10;        &lt;Box style={{ height: 1, background: 'rgba(255,255,255,0.10)', marginLeft: 140, marginRight: 140 }} /&gt;&#10;&#10;        &lt;Box style={{ flex: 1, flexDirection: 'column', alignItems: 'center', justifyContent: 'center' }}&gt;&#10;            &lt;Text style={{ fontFamily: 'Consolas', fontSize: 14, color: '#F5A524', letterSpacing: 6 }}&gt;&#10;                BUT&#10;            &lt;/Text&gt;&#10;            &lt;Text style={{ fontFamily: 'Microsoft YaHei', fontSize: 50, fontWeight: 'bold', color: '#FFFFFF', lineHeight: 1.3, marginTop: 20, textAlign: 'center' }}&gt;&#10;                预报越准，这个产品越难成立。&#10;            &lt;/Text&gt;&#10;            &lt;Text style={{ fontFamily: 'Microsoft YaHei', fontSize: 21, color: 'rgba(255,255,255,0.60)', lineHeight: 1.5, marginTop: 24 }}&gt;&#10;                人人都挑下雨那天来买。&#10;            &lt;/Text&gt;&#10;        &lt;/Box&gt;&#10;&#10;    &lt;/Box&gt;&#10;&#10;    &lt;Box style={{ height: 40, flexDirection: 'row', alignItems: 'center' }}&gt;&#10;        &lt;Text style={{ fontFamily: 'Microsoft YaHei', fontSize: 15, color: 'rgba(255,255,255,0.40)' }}&gt;雨证 · RainProof&lt;/Text&gt;&#10;        &lt;Box style={{ flex: 1 }} /&gt;&#10;        &lt;Text style={{ fontFamily: 'Consolas', fontSize: 15, color: 'rgba(255,255,255,0.40)' }}&gt;04 / 1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矩形 19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197" name="矩形 196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98" name="文本框 197" descr="{&quot;isTemplate&quot;:true,&quot;type&quot;:&quot;text&quot;}"/>
          <p:cNvSpPr txBox="1"/>
          <p:nvPr/>
        </p:nvSpPr>
        <p:spPr>
          <a:xfrm>
            <a:off x="914400" y="409575"/>
            <a:ext cx="52959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en-US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AI + </a:t>
            </a: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天气，几乎所有人都在做预测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9" name="文本框 198" descr="{&quot;isTemplate&quot;:true,&quot;type&quot;:&quot;text&quot;}"/>
          <p:cNvSpPr txBox="1"/>
          <p:nvPr/>
        </p:nvSpPr>
        <p:spPr>
          <a:xfrm>
            <a:off x="9753600" y="571500"/>
            <a:ext cx="17526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03 / THE INDUSTRY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00" name="文本框 199" descr="{&quot;isTemplate&quot;:true,&quot;type&quot;:&quot;text&quot;}"/>
          <p:cNvSpPr txBox="1"/>
          <p:nvPr/>
        </p:nvSpPr>
        <p:spPr>
          <a:xfrm>
            <a:off x="3686175" y="1447800"/>
            <a:ext cx="4819650" cy="4857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150" b="1" spc="37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ECMWF · GFS · ICON</a:t>
            </a:r>
            <a:endParaRPr lang="en-US" sz="3150" b="1" spc="37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01" name="文本框 200" descr="{&quot;isTemplate&quot;:true,&quot;type&quot;:&quot;text&quot;}"/>
          <p:cNvSpPr txBox="1"/>
          <p:nvPr/>
        </p:nvSpPr>
        <p:spPr>
          <a:xfrm>
            <a:off x="4562475" y="2105025"/>
            <a:ext cx="3076575" cy="3333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整个行业在做的事，是把明天算得更准</a:t>
            </a:r>
            <a:endParaRPr lang="zh-CN" sz="1425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2" name="矩形 201"/>
          <p:cNvSpPr/>
          <p:nvPr/>
        </p:nvSpPr>
        <p:spPr>
          <a:xfrm>
            <a:off x="2019300" y="2743200"/>
            <a:ext cx="8153400" cy="9525"/>
          </a:xfrm>
          <a:prstGeom prst="rect">
            <a:avLst/>
          </a:prstGeom>
          <a:solidFill>
            <a:srgbClr val="FFFFFF">
              <a:alpha val="10000"/>
            </a:srgbClr>
          </a:solidFill>
        </p:spPr>
        <p:txBody>
          <a:bodyPr/>
          <a:p/>
        </p:txBody>
      </p:sp>
      <p:sp>
        <p:nvSpPr>
          <p:cNvPr id="203" name="文本框 202" descr="{&quot;isTemplate&quot;:true,&quot;type&quot;:&quot;text&quot;}"/>
          <p:cNvSpPr txBox="1"/>
          <p:nvPr/>
        </p:nvSpPr>
        <p:spPr>
          <a:xfrm>
            <a:off x="5417185" y="113665"/>
            <a:ext cx="1356995" cy="6630670"/>
          </a:xfrm>
          <a:prstGeom prst="rect">
            <a:avLst/>
          </a:prstGeom>
        </p:spPr>
        <p:txBody>
          <a:bodyPr wrap="none" lIns="0" tIns="0" rIns="0" bIns="0" anchor="ctr" anchorCtr="0"/>
          <a:p>
            <a:pPr algn="ctr">
              <a:lnSpc>
                <a:spcPct val="110000"/>
              </a:lnSpc>
            </a:pPr>
            <a:r>
              <a:rPr lang="en-US" sz="3600" spc="450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BUT</a:t>
            </a:r>
            <a:endParaRPr lang="en-US" sz="3600" spc="450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04" name="文本框 203" descr="{&quot;isTemplate&quot;:true,&quot;type&quot;:&quot;text&quot;}"/>
          <p:cNvSpPr txBox="1"/>
          <p:nvPr/>
        </p:nvSpPr>
        <p:spPr>
          <a:xfrm>
            <a:off x="2762250" y="4029075"/>
            <a:ext cx="6667500" cy="742950"/>
          </a:xfrm>
          <a:prstGeom prst="rect">
            <a:avLst/>
          </a:prstGeom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37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预报越准，这个产品越难成立。</a:t>
            </a:r>
            <a:endParaRPr lang="zh-CN" sz="37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5" name="文本框 204" descr="{&quot;isTemplate&quot;:true,&quot;type&quot;:&quot;text&quot;}"/>
          <p:cNvSpPr txBox="1"/>
          <p:nvPr/>
        </p:nvSpPr>
        <p:spPr>
          <a:xfrm>
            <a:off x="5000625" y="5000625"/>
            <a:ext cx="2200275" cy="3619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75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人人都挑下雨那天来买。</a:t>
            </a:r>
            <a:endParaRPr lang="zh-CN" sz="1575">
              <a:solidFill>
                <a:srgbClr val="FFFFFF">
                  <a:alpha val="6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7" name="文本框 206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04 / 12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08" name="TextBox 207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AI plus weather: almost everyone is forecasting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92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92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6" grpId="0"/>
      <p:bldP spid="197" grpId="0"/>
      <p:bldP spid="198" grpId="0"/>
      <p:bldP spid="199" grpId="0"/>
      <p:bldP spid="200" grpId="0"/>
      <p:bldP spid="201" grpId="0"/>
      <p:bldP spid="202" grpId="0"/>
      <p:bldP spid="204" grpId="0"/>
      <p:bldP spid="205" grpId="0"/>
      <p:bldP spid="20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208" name="" descr="&lt;Slide style={{ width: 1280, height: 720, background: '#0A1422', padding: '20px 72px' }}&gt;&#10;&#10;    &lt;Box style={{ height: 100, flexDirection: 'row', alignItems: 'center', gap: 20 }}&gt;&#10;        &lt;Box style={{ width: 4, height: 30, background: 'linear-gradient(135deg, #2D7FF9 0%, #22D3EE 100%)' }} /&gt;&#10;        &lt;Text style={{ fontFamily: 'Microsoft YaHei', fontSize: 36, fontWeight: 'bold', color: '#FFFFFF', lineHeight: 1.25 }}&gt;&#10;            所以我们根本不问「你损失了多少」&#10;        &lt;/Text&gt;&#10;        &lt;Box style={{ flex: 1 }} /&gt;&#10;        &lt;Text style={{ fontFamily: 'Consolas', fontSize: 16, color: 'rgba(255,255,255,0.34)', letterSpacing: 2 }}&gt;&#10;            04 / THE TURN&#10;        &lt;/Text&gt;&#10;    &lt;/Box&gt;&#10;&#10;    &lt;Box style={{ height: 540, flexDirection: 'column' }}&gt;&#10;&#10;        &lt;Box style={{ height: 118, background: 'rgba(45,127,249,0.10)', border: '1px solid rgba(45,127,249,0.30)', borderRadius: 6, padding: '0 32px', flexDirection: 'row', alignItems: 'center' }}&gt;&#10;            &lt;Text style={{ fontFamily: 'Microsoft YaHei', fontSize: 30, fontWeight: 'bold', color: '#FFFFFF', lineHeight: 1.45 }}&gt;&#10;                只看一个公开数字：保单期内，这个区域下了多少雨。&#10;            &lt;/Text&gt;&#10;        &lt;/Box&gt;&#10;&#10;        &lt;Box style={{ height: 108, flexDirection: 'row', alignItems: 'center', justifyContent: 'space-between', marginTop: 30 }}&gt;&#10;            &lt;Box style={{ width: 196, height: 84, background: 'rgba(45,127,249,0.12)', border: '1px solid #2D7FF9', borderRadius: 5, flexDirection: 'column', alignItems: 'center', justifyContent: 'center' }}&gt;&#10;                &lt;Text style={{ fontFamily: 'Consolas', fontSize: 12, color: '#22D3EE', letterSpacing: 2 }}&gt;STEP 01&lt;/Text&gt;&#10;                &lt;Text style={{ fontFamily: 'Microsoft YaHei', fontSize: 20, fontWeight: 'bold', color: '#FFFFFF', marginTop: 4 }}&gt;投保&lt;/Text&gt;&#10;            &lt;/Box&gt;&#10;            &lt;Text style={{ fontFamily: 'Consolas', fontSize: 22, color: '#2D7FF9' }}&gt;→&lt;/Text&gt;&#10;            &lt;Box style={{ width: 196, height: 84, background: 'rgba(255,255,255,0.04)', border: '1px solid rgba(255,255,255,0.14)', borderRadius: 5, flexDirection: 'column', alignItems: 'center', justifyContent: 'center' }}&gt;&#10;                &lt;Text style={{ fontFamily: 'Consolas', fontSize: 12, color: '#22D3EE', letterSpacing: 2 }}&gt;STEP 02&lt;/Text&gt;&#10;                &lt;Text style={{ fontFamily: 'Microsoft YaHei', fontSize: 20, fontWeight: 'bold', color: '#FFFFFF', marginTop: 4 }}&gt;喂价&lt;/Text&gt;&#10;            &lt;/Box&gt;&#10;            &lt;Text style={{ fontFamily: 'Consolas', fontSize: 22, color: '#2D7FF9' }}&gt;→&lt;/Text&gt;&#10;            &lt;Box style={{ width: 196, height: 84, background: 'rgba(255,255,255,0.04)', border: '1px solid rgba(255,255,255,0.14)', borderRadius: 5, flexDirection: 'column', alignItems: 'center', justifyContent: 'center' }}&gt;&#10;                &lt;Text style={{ fontFamily: 'Consolas', fontSize: 12, color: '#22D3EE', letterSpacing: 2 }}&gt;STEP 03&lt;/Text&gt;&#10;                &lt;Text style={{ fontFamily: 'Microsoft YaHei', fontSize: 20, fontWeight: 'bold', color: '#FFFFFF', marginTop: 4 }}&gt;判定&lt;/Text&gt;&#10;            &lt;/Box&gt;&#10;            &lt;Text style={{ fontFamily: 'Consolas', fontSize: 22, color: '#2D7FF9' }}&gt;→&lt;/Text&gt;&#10;            &lt;Box style={{ width: 196, height: 84, background: 'rgba(255,255,255,0.04)', border: '1px solid rgba(255,255,255,0.14)', borderRadius: 5, flexDirection: 'column', alignItems: 'center', justifyContent: 'center' }}&gt;&#10;                &lt;Text style={{ fontFamily: 'Consolas', fontSize: 12, color: '#22D3EE', letterSpacing: 2 }}&gt;STEP 04&lt;/Text&gt;&#10;                &lt;Text style={{ fontFamily: 'Microsoft YaHei', fontSize: 20, fontWeight: 'bold', color: '#FFFFFF', marginTop: 4 }}&gt;赔付&lt;/Text&gt;&#10;            &lt;/Box&gt;&#10;            &lt;Text style={{ fontFamily: 'Consolas', fontSize: 22, color: '#2D7FF9' }}&gt;→&lt;/Text&gt;&#10;            &lt;Box style={{ width: 196, height: 84, background: 'rgba(255,255,255,0.04)', border: '1px solid rgba(255,255,255,0.14)', borderRadius: 5, flexDirection: 'column', alignItems: 'center', justifyContent: 'center' }}&gt;&#10;                &lt;Text style={{ fontFamily: 'Consolas', fontSize: 12, color: '#22D3EE', letterSpacing: 2 }}&gt;STEP 05&lt;/Text&gt;&#10;                &lt;Text style={{ fontFamily: 'Microsoft YaHei', fontSize: 20, fontWeight: 'bold', color: '#FFFFFF', marginTop: 4 }}&gt;核验&lt;/Text&gt;&#10;            &lt;/Box&gt;&#10;        &lt;/Box&gt;&#10;&#10;        &lt;Box style={{ marginTop: 30 }}&gt;&#10;            &lt;Text style={{ fontFamily: 'Microsoft YaHei', fontSize: 46, fontWeight: 'bold', color: '#22D3EE', lineHeight: 1.3 }}&gt;&#10;                定损成本，接近零。&#10;            &lt;/Text&gt;&#10;        &lt;/Box&gt;&#10;&#10;        &lt;Box style={{ marginTop: 'auto', flexDirection: 'row', gap: 16 }}&gt;&#10;            &lt;Box style={{ width: 368, borderTop: '2px solid rgba(255,255,255,0.16)', paddingTop: 10 }}&gt;&#10;                &lt;Text style={{ fontFamily: 'Microsoft YaHei', fontSize: 14, color: 'rgba(255,255,255,0.62)', lineHeight: 1.55 }}&gt;&#10;                    规则写死在合约里 —— 赔付额、阈值、保障期全是 constant，部署后连我们也改不了&#10;                &lt;/Text&gt;&#10;            &lt;/Box&gt;&#10;            &lt;Box style={{ width: 368, borderTop: '2px solid rgba(255,255,255,0.16)', paddingTop: 10 }}&gt;&#10;                &lt;Text style={{ fontFamily: 'Microsoft YaHei', fontSize: 14, color: 'rgba(255,255,255,0.62)', lineHeight: 1.55 }}&gt;&#10;                    claim() 没有任何权限修饰符 —— 任何人可触发，钱只进保单登记的骑手地址&#10;                &lt;/Text&gt;&#10;            &lt;/Box&gt;&#10;            &lt;Box style={{ width: 368, borderTop: '2px solid rgba(255,255,255,0.16)', paddingTop: 10 }}&gt;&#10;                &lt;Text style={{ fontFamily: 'Microsoft YaHei', fontSize: 14, color: 'rgba(255,255,255,0.62)', lineHeight: 1.55 }}&gt;&#10;                    保费由脚本按触发概率算出来写进链，不是手填 —— 每次改价都留一条依据哈希&#10;                &lt;/Text&gt;&#10;            &lt;/Box&gt;&#10;        &lt;/Box&gt;&#10;&#10;    &lt;/Box&gt;&#10;&#10;    &lt;Box style={{ height: 40, flexDirection: 'row', alignItems: 'center' }}&gt;&#10;        &lt;Text style={{ fontFamily: 'Microsoft YaHei', fontSize: 15, color: 'rgba(255,255,255,0.40)' }}&gt;雨证 · RainProof&lt;/Text&gt;&#10;        &lt;Box style={{ flex: 1 }} /&gt;&#10;        &lt;Text style={{ fontFamily: 'Consolas', fontSize: 15, color: 'rgba(255,255,255,0.40)' }}&gt;05 / 1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矩形 20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210" name="矩形 209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211" name="文本框 210" descr="{&quot;isTemplate&quot;:true,&quot;type&quot;:&quot;text&quot;}"/>
          <p:cNvSpPr txBox="1"/>
          <p:nvPr/>
        </p:nvSpPr>
        <p:spPr>
          <a:xfrm>
            <a:off x="914400" y="409575"/>
            <a:ext cx="54864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所以我们根本不问「你损失了多少」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2" name="文本框 211" descr="{&quot;isTemplate&quot;:true,&quot;type&quot;:&quot;text&quot;}"/>
          <p:cNvSpPr txBox="1"/>
          <p:nvPr/>
        </p:nvSpPr>
        <p:spPr>
          <a:xfrm>
            <a:off x="10163175" y="571500"/>
            <a:ext cx="13430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04 / THE TURN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13" name="圆角矩形 212"/>
          <p:cNvSpPr/>
          <p:nvPr/>
        </p:nvSpPr>
        <p:spPr>
          <a:xfrm>
            <a:off x="685800" y="1143000"/>
            <a:ext cx="10820400" cy="1123950"/>
          </a:xfrm>
          <a:prstGeom prst="roundRect">
            <a:avLst>
              <a:gd name="adj" fmla="val 5085"/>
            </a:avLst>
          </a:prstGeom>
          <a:solidFill>
            <a:srgbClr val="2D7FF9">
              <a:alpha val="10000"/>
            </a:srgbClr>
          </a:solidFill>
          <a:ln w="12700">
            <a:solidFill>
              <a:srgbClr val="2D7FF9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14" name="文本框 213" descr="{&quot;isTemplate&quot;:true,&quot;type&quot;:&quot;text&quot;}"/>
          <p:cNvSpPr txBox="1"/>
          <p:nvPr/>
        </p:nvSpPr>
        <p:spPr>
          <a:xfrm>
            <a:off x="990600" y="1457325"/>
            <a:ext cx="6858000" cy="5048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只看一个公开数字：保单期内，这个区域下了多少雨。</a:t>
            </a:r>
            <a:endParaRPr lang="zh-CN"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5" name="圆角矩形 214"/>
          <p:cNvSpPr/>
          <p:nvPr/>
        </p:nvSpPr>
        <p:spPr>
          <a:xfrm>
            <a:off x="685800" y="2667000"/>
            <a:ext cx="1866900" cy="800100"/>
          </a:xfrm>
          <a:prstGeom prst="roundRect">
            <a:avLst>
              <a:gd name="adj" fmla="val 5952"/>
            </a:avLst>
          </a:prstGeom>
          <a:solidFill>
            <a:srgbClr val="2D7FF9">
              <a:alpha val="12000"/>
            </a:srgbClr>
          </a:solidFill>
          <a:ln w="12700">
            <a:solidFill>
              <a:srgbClr val="2D7FF9"/>
            </a:solidFill>
            <a:prstDash val="solid"/>
          </a:ln>
        </p:spPr>
        <p:txBody>
          <a:bodyPr/>
          <a:p/>
        </p:txBody>
      </p:sp>
      <p:sp>
        <p:nvSpPr>
          <p:cNvPr id="216" name="文本框 215" descr="{&quot;isTemplate&quot;:true,&quot;type&quot;:&quot;text&quot;}"/>
          <p:cNvSpPr txBox="1"/>
          <p:nvPr/>
        </p:nvSpPr>
        <p:spPr>
          <a:xfrm>
            <a:off x="1333500" y="2867025"/>
            <a:ext cx="5810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STEP 01</a:t>
            </a:r>
            <a:endParaRPr lang="en-US" sz="900" spc="15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17" name="文本框 216" descr="{&quot;isTemplate&quot;:true,&quot;type&quot;:&quot;text&quot;}"/>
          <p:cNvSpPr txBox="1"/>
          <p:nvPr/>
        </p:nvSpPr>
        <p:spPr>
          <a:xfrm>
            <a:off x="1428750" y="3048000"/>
            <a:ext cx="381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投保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8" name="文本框 217" descr="{&quot;isTemplate&quot;:true,&quot;type&quot;:&quot;text&quot;}"/>
          <p:cNvSpPr txBox="1"/>
          <p:nvPr/>
        </p:nvSpPr>
        <p:spPr>
          <a:xfrm>
            <a:off x="2676525" y="2943225"/>
            <a:ext cx="1238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→</a:t>
            </a:r>
            <a:endParaRPr sz="1650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19" name="圆角矩形 218"/>
          <p:cNvSpPr/>
          <p:nvPr/>
        </p:nvSpPr>
        <p:spPr>
          <a:xfrm>
            <a:off x="2924175" y="2667000"/>
            <a:ext cx="1866900" cy="800100"/>
          </a:xfrm>
          <a:prstGeom prst="roundRect">
            <a:avLst>
              <a:gd name="adj" fmla="val 595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0" name="文本框 219" descr="{&quot;isTemplate&quot;:true,&quot;type&quot;:&quot;text&quot;}"/>
          <p:cNvSpPr txBox="1"/>
          <p:nvPr/>
        </p:nvSpPr>
        <p:spPr>
          <a:xfrm>
            <a:off x="3571875" y="2867025"/>
            <a:ext cx="5810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STEP 02</a:t>
            </a:r>
            <a:endParaRPr lang="en-US" sz="900" spc="15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21" name="文本框 220" descr="{&quot;isTemplate&quot;:true,&quot;type&quot;:&quot;text&quot;}"/>
          <p:cNvSpPr txBox="1"/>
          <p:nvPr/>
        </p:nvSpPr>
        <p:spPr>
          <a:xfrm>
            <a:off x="3667125" y="3048000"/>
            <a:ext cx="381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喂价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2" name="文本框 221" descr="{&quot;isTemplate&quot;:true,&quot;type&quot;:&quot;text&quot;}"/>
          <p:cNvSpPr txBox="1"/>
          <p:nvPr/>
        </p:nvSpPr>
        <p:spPr>
          <a:xfrm>
            <a:off x="4914900" y="2943225"/>
            <a:ext cx="1238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→</a:t>
            </a:r>
            <a:endParaRPr sz="1650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23" name="圆角矩形 222"/>
          <p:cNvSpPr/>
          <p:nvPr/>
        </p:nvSpPr>
        <p:spPr>
          <a:xfrm>
            <a:off x="5162550" y="2667000"/>
            <a:ext cx="1866900" cy="800100"/>
          </a:xfrm>
          <a:prstGeom prst="roundRect">
            <a:avLst>
              <a:gd name="adj" fmla="val 595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4" name="文本框 223" descr="{&quot;isTemplate&quot;:true,&quot;type&quot;:&quot;text&quot;}"/>
          <p:cNvSpPr txBox="1"/>
          <p:nvPr/>
        </p:nvSpPr>
        <p:spPr>
          <a:xfrm>
            <a:off x="5810250" y="2867025"/>
            <a:ext cx="5810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STEP 03</a:t>
            </a:r>
            <a:endParaRPr lang="en-US" sz="900" spc="15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25" name="文本框 224" descr="{&quot;isTemplate&quot;:true,&quot;type&quot;:&quot;text&quot;}"/>
          <p:cNvSpPr txBox="1"/>
          <p:nvPr/>
        </p:nvSpPr>
        <p:spPr>
          <a:xfrm>
            <a:off x="5905500" y="3048000"/>
            <a:ext cx="381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判定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6" name="文本框 225" descr="{&quot;isTemplate&quot;:true,&quot;type&quot;:&quot;text&quot;}"/>
          <p:cNvSpPr txBox="1"/>
          <p:nvPr/>
        </p:nvSpPr>
        <p:spPr>
          <a:xfrm>
            <a:off x="7153275" y="2943225"/>
            <a:ext cx="1238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→</a:t>
            </a:r>
            <a:endParaRPr sz="1650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27" name="圆角矩形 226"/>
          <p:cNvSpPr/>
          <p:nvPr/>
        </p:nvSpPr>
        <p:spPr>
          <a:xfrm>
            <a:off x="7400925" y="2667000"/>
            <a:ext cx="1866900" cy="800100"/>
          </a:xfrm>
          <a:prstGeom prst="roundRect">
            <a:avLst>
              <a:gd name="adj" fmla="val 595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28" name="文本框 227" descr="{&quot;isTemplate&quot;:true,&quot;type&quot;:&quot;text&quot;}"/>
          <p:cNvSpPr txBox="1"/>
          <p:nvPr/>
        </p:nvSpPr>
        <p:spPr>
          <a:xfrm>
            <a:off x="8048625" y="2867025"/>
            <a:ext cx="5810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STEP 04</a:t>
            </a:r>
            <a:endParaRPr lang="en-US" sz="900" spc="15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29" name="文本框 228" descr="{&quot;isTemplate&quot;:true,&quot;type&quot;:&quot;text&quot;}"/>
          <p:cNvSpPr txBox="1"/>
          <p:nvPr/>
        </p:nvSpPr>
        <p:spPr>
          <a:xfrm>
            <a:off x="8143875" y="3048000"/>
            <a:ext cx="381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赔付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0" name="文本框 229" descr="{&quot;isTemplate&quot;:true,&quot;type&quot;:&quot;text&quot;}"/>
          <p:cNvSpPr txBox="1"/>
          <p:nvPr/>
        </p:nvSpPr>
        <p:spPr>
          <a:xfrm>
            <a:off x="9391650" y="2943225"/>
            <a:ext cx="1238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→</a:t>
            </a:r>
            <a:endParaRPr sz="1650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31" name="圆角矩形 230"/>
          <p:cNvSpPr/>
          <p:nvPr/>
        </p:nvSpPr>
        <p:spPr>
          <a:xfrm>
            <a:off x="9639300" y="2667000"/>
            <a:ext cx="1866900" cy="800100"/>
          </a:xfrm>
          <a:prstGeom prst="roundRect">
            <a:avLst>
              <a:gd name="adj" fmla="val 595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32" name="文本框 231" descr="{&quot;isTemplate&quot;:true,&quot;type&quot;:&quot;text&quot;}"/>
          <p:cNvSpPr txBox="1"/>
          <p:nvPr/>
        </p:nvSpPr>
        <p:spPr>
          <a:xfrm>
            <a:off x="10287000" y="2867025"/>
            <a:ext cx="5810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STEP 05</a:t>
            </a:r>
            <a:endParaRPr lang="en-US" sz="900" spc="15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33" name="文本框 232" descr="{&quot;isTemplate&quot;:true,&quot;type&quot;:&quot;text&quot;}"/>
          <p:cNvSpPr txBox="1"/>
          <p:nvPr/>
        </p:nvSpPr>
        <p:spPr>
          <a:xfrm>
            <a:off x="10382250" y="3048000"/>
            <a:ext cx="38100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核验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4" name="文本框 233" descr="{&quot;isTemplate&quot;:true,&quot;type&quot;:&quot;text&quot;}"/>
          <p:cNvSpPr txBox="1"/>
          <p:nvPr/>
        </p:nvSpPr>
        <p:spPr>
          <a:xfrm>
            <a:off x="685800" y="3867150"/>
            <a:ext cx="10820400" cy="6858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345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定损成本，接近零。</a:t>
            </a:r>
            <a:endParaRPr lang="zh-CN" sz="3450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5" name="任意多边形 234"/>
          <p:cNvSpPr/>
          <p:nvPr/>
        </p:nvSpPr>
        <p:spPr>
          <a:xfrm>
            <a:off x="734695" y="4953000"/>
            <a:ext cx="3505200" cy="638175"/>
          </a:xfrm>
          <a:custGeom>
            <a:avLst/>
            <a:gdLst/>
            <a:ahLst/>
            <a:cxnLst/>
            <a:pathLst>
              <a:path w="368" h="67">
                <a:moveTo>
                  <a:pt x="0" y="0"/>
                </a:moveTo>
                <a:lnTo>
                  <a:pt x="368" y="0"/>
                </a:lnTo>
                <a:lnTo>
                  <a:pt x="368" y="2"/>
                </a:lnTo>
                <a:lnTo>
                  <a:pt x="0" y="2"/>
                </a:lnTo>
                <a:close/>
              </a:path>
            </a:pathLst>
          </a:custGeom>
          <a:solidFill>
            <a:srgbClr val="FFFFFF">
              <a:alpha val="16000"/>
            </a:srgbClr>
          </a:solidFill>
        </p:spPr>
        <p:txBody>
          <a:bodyPr/>
          <a:p/>
        </p:txBody>
      </p:sp>
      <p:sp>
        <p:nvSpPr>
          <p:cNvPr id="236" name="文本框 235" descr="{&quot;isTemplate&quot;:true,&quot;type&quot;:&quot;text&quot;}"/>
          <p:cNvSpPr txBox="1"/>
          <p:nvPr/>
        </p:nvSpPr>
        <p:spPr>
          <a:xfrm>
            <a:off x="734695" y="4953000"/>
            <a:ext cx="3505200" cy="504825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>
              <a:lnSpc>
                <a:spcPct val="155000"/>
              </a:lnSpc>
            </a:pPr>
            <a:r>
              <a:rPr lang="zh-CN" sz="20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赔付档线、档位比例、单笔上限写死在合约里；价格可以调，但每调一次都要上链，并附一条依据哈希</a:t>
            </a:r>
            <a:endParaRPr lang="zh-CN" sz="2000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7" name="任意多边形 236"/>
          <p:cNvSpPr/>
          <p:nvPr/>
        </p:nvSpPr>
        <p:spPr>
          <a:xfrm>
            <a:off x="4343400" y="4953000"/>
            <a:ext cx="3505200" cy="638175"/>
          </a:xfrm>
          <a:custGeom>
            <a:avLst/>
            <a:gdLst/>
            <a:ahLst/>
            <a:cxnLst/>
            <a:pathLst>
              <a:path w="368" h="67">
                <a:moveTo>
                  <a:pt x="0" y="0"/>
                </a:moveTo>
                <a:lnTo>
                  <a:pt x="368" y="0"/>
                </a:lnTo>
                <a:lnTo>
                  <a:pt x="368" y="2"/>
                </a:lnTo>
                <a:lnTo>
                  <a:pt x="0" y="2"/>
                </a:lnTo>
                <a:close/>
              </a:path>
            </a:pathLst>
          </a:custGeom>
          <a:solidFill>
            <a:srgbClr val="FFFFFF">
              <a:alpha val="16000"/>
            </a:srgbClr>
          </a:solidFill>
        </p:spPr>
        <p:txBody>
          <a:bodyPr/>
          <a:p/>
        </p:txBody>
      </p:sp>
      <p:sp>
        <p:nvSpPr>
          <p:cNvPr id="238" name="文本框 237" descr="{&quot;isTemplate&quot;:true,&quot;type&quot;:&quot;text&quot;}"/>
          <p:cNvSpPr txBox="1"/>
          <p:nvPr/>
        </p:nvSpPr>
        <p:spPr>
          <a:xfrm>
            <a:off x="4343400" y="4953000"/>
            <a:ext cx="3505200" cy="504825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>
              <a:lnSpc>
                <a:spcPct val="155000"/>
              </a:lnSpc>
            </a:pPr>
            <a:r>
              <a:rPr lang="en-US" sz="20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claim() </a:t>
            </a:r>
            <a:r>
              <a:rPr lang="zh-CN" sz="20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没有任何权限修饰符</a:t>
            </a:r>
            <a:r>
              <a:rPr lang="en-US" sz="20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20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任何人可触发，钱只进保单登记的骑手地址</a:t>
            </a:r>
            <a:endParaRPr lang="zh-CN" sz="2000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9" name="任意多边形 238"/>
          <p:cNvSpPr/>
          <p:nvPr/>
        </p:nvSpPr>
        <p:spPr>
          <a:xfrm>
            <a:off x="8048625" y="4943475"/>
            <a:ext cx="3505200" cy="638175"/>
          </a:xfrm>
          <a:custGeom>
            <a:avLst/>
            <a:gdLst/>
            <a:ahLst/>
            <a:cxnLst/>
            <a:pathLst>
              <a:path w="368" h="67">
                <a:moveTo>
                  <a:pt x="0" y="0"/>
                </a:moveTo>
                <a:lnTo>
                  <a:pt x="368" y="0"/>
                </a:lnTo>
                <a:lnTo>
                  <a:pt x="368" y="2"/>
                </a:lnTo>
                <a:lnTo>
                  <a:pt x="0" y="2"/>
                </a:lnTo>
                <a:close/>
              </a:path>
            </a:pathLst>
          </a:custGeom>
          <a:solidFill>
            <a:srgbClr val="FFFFFF">
              <a:alpha val="16000"/>
            </a:srgbClr>
          </a:solidFill>
        </p:spPr>
        <p:txBody>
          <a:bodyPr/>
          <a:p/>
        </p:txBody>
      </p:sp>
      <p:sp>
        <p:nvSpPr>
          <p:cNvPr id="240" name="文本框 239" descr="{&quot;isTemplate&quot;:true,&quot;type&quot;:&quot;text&quot;}"/>
          <p:cNvSpPr txBox="1"/>
          <p:nvPr/>
        </p:nvSpPr>
        <p:spPr>
          <a:xfrm>
            <a:off x="7990205" y="4953000"/>
            <a:ext cx="3505200" cy="504825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>
              <a:lnSpc>
                <a:spcPct val="155000"/>
              </a:lnSpc>
            </a:pPr>
            <a:r>
              <a:rPr lang="zh-CN" sz="2000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保费由脚本按触发概率算出来写进链，不是手填；但判定这一环仍须有人提交，合约里没有定时器</a:t>
            </a:r>
            <a:endParaRPr lang="zh-CN" sz="2000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2" name="文本框 241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05 / 12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43" name="TextBox 242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So we never ask how much you lost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2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2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2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500" fill="hold"/>
                                        <p:tgtEl>
                                          <p:spTgt spid="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92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2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3" dur="500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7" dur="500" fill="hold"/>
                                        <p:tgtEl>
                                          <p:spTgt spid="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1" dur="500" fill="hold"/>
                                        <p:tgtEl>
                                          <p:spTgt spid="2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5" dur="500" fill="hold"/>
                                        <p:tgtEl>
                                          <p:spTgt spid="2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2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9" grpId="0" bldLvl="0" animBg="1"/>
      <p:bldP spid="210" grpId="0"/>
      <p:bldP spid="211" grpId="0"/>
      <p:bldP spid="212" grpId="0"/>
      <p:bldP spid="213" grpId="0"/>
      <p:bldP spid="214" grpId="0"/>
      <p:bldP spid="215" grpId="0"/>
      <p:bldP spid="216" grpId="0"/>
      <p:bldP spid="217" grpId="0"/>
      <p:bldP spid="218" grpId="0"/>
      <p:bldP spid="219" grpId="0"/>
      <p:bldP spid="220" grpId="0"/>
      <p:bldP spid="221" grpId="0"/>
      <p:bldP spid="222" grpId="0"/>
      <p:bldP spid="223" grpId="0"/>
      <p:bldP spid="224" grpId="0"/>
      <p:bldP spid="225" grpId="0"/>
      <p:bldP spid="226" grpId="0"/>
      <p:bldP spid="227" grpId="0"/>
      <p:bldP spid="228" grpId="0"/>
      <p:bldP spid="229" grpId="0"/>
      <p:bldP spid="230" grpId="0"/>
      <p:bldP spid="231" grpId="0"/>
      <p:bldP spid="232" grpId="0"/>
      <p:bldP spid="233" grpId="0"/>
      <p:bldP spid="234" grpId="0"/>
      <p:bldP spid="235" grpId="0" bldLvl="0" animBg="1"/>
      <p:bldP spid="236" grpId="0"/>
      <p:bldP spid="237" grpId="0" bldLvl="0" animBg="1"/>
      <p:bldP spid="238" grpId="0"/>
      <p:bldP spid="239" grpId="0" bldLvl="0" animBg="1"/>
      <p:bldP spid="24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243" name="" descr="&lt;Slide style={{ width: 1280, height: 720, background: '#0A1422', padding: '20px 72px' }}&gt;&#13;&#10;&#13;&#10;    &lt;Box style={{ height: 100, flexDirection: 'row', alignItems: 'center', gap: 20 }}&gt;&#13;&#10;        &lt;Box style={{ width: 4, height: 30, background: 'linear-gradient(135deg, #2D7FF9 0%, #22D3EE 100%)' }} /&gt;&#13;&#10;        &lt;Text style={{ fontFamily: 'Microsoft YaHei', fontSize: 36, fontWeight: 'bold', color: '#FFFFFF', lineHeight: 1.25 }}&gt;&#13;&#10;            三条链上证据，两种相反的结论&#13;&#10;        &lt;/Text&gt;&#13;&#10;        &lt;Box style={{ flex: 1 }} /&gt;&#13;&#10;        &lt;Text style={{ fontFamily: 'Consolas', fontSize: 16, color: 'rgba(255,255,255,0.34)', letterSpacing: 2 }}&gt;&#13;&#10;            05 / EVIDENCE&#13;&#10;        &lt;/Text&gt;&#13;&#10;    &lt;/Box&gt;&#13;&#10;&#13;&#10;    &lt;Box style={{ height: 540, flexDirection: 'row', gap: 26 }}&gt;&#13;&#10;&#13;&#10;        &lt;Box style={{ width: 605, height: 540, flexDirection: 'column', overflow: 'hidden' }}&gt;&#13;&#10;            &lt;Text style={{ fontFamily: 'Consolas', fontSize: 15, color: '#22D3EE', letterSpacing: 4 }}&gt;&#13;&#10;                PAYOUT PER CLAIM&#13;&#10;            &lt;/Text&gt;&#13;&#10;&#13;&#10;            &lt;Box style={{ flexDirection: 'row', alignItems: 'flex-end', gap: 12, marginTop: 8 }}&gt;&#13;&#10;                &lt;Text style={{ fontFamily: 'Consolas', fontSize: 104, fontWeight: 'bold', color: '#F5A524', lineHeight: 1.0 }}&gt;&#13;&#10;                    0.01&#13;&#10;                &lt;/Text&gt;&#13;&#10;                &lt;Text style={{ fontFamily: 'Consolas', fontSize: 30, color: 'rgba(255,255,255,0.50)', lineHeight: 1.6 }}&gt;&#13;&#10;                    ETH&#13;&#10;                &lt;/Text&gt;&#13;&#10;            &lt;/Box&gt;&#13;&#10;&#13;&#10;            &lt;Text style={{ fontFamily: 'Microsoft YaHei', fontSize: 20, color: 'rgba(255,255,255,0.72)', lineHeight: 1.55, marginTop: 12 }}&gt;&#13;&#10;                触发到到账是分钟级。含判定与赔付的链上总成本约 0.00025 ETH，只占赔付额的 2.5% —— 传统保险的钱花在「查」，我们的钱花在「给」。&#13;&#10;            &lt;/Text&gt;&#13;&#10;&#13;&#10;            &lt;Box style={{ height: 1, background: 'rgba(255,255,255,0.14)', marginTop: 18, marginBottom: 16 }} /&gt;&#13;&#10;&#13;&#10;            &lt;Box style={{ flexDirection: 'column', gap: 10 }}&gt;&#13;&#10;&#13;&#10;                &lt;Box style={{ height: 58, background: 'rgba(255,255,255,0.04)', borderRadius: 4, padding: '0 16px', flexDirection: 'row', alignItems: 'center', border: '1px solid rgba(255,255,255,0.10)' }}&gt;&#13;&#10;                    &lt;Box style={{ width: 3, height: 30, background: '#22D3EE', marginRight: 14 }} /&gt;&#13;&#10;                    &lt;Box style={{ flexDirection: 'column', flex: 1 }}&gt;&#13;&#10;                        &lt;Text style={{ fontFamily: 'Microsoft YaHei', fontSize: 17, fontWeight: 'bold', color: '#FFFFFF' }}&gt;保单 #0 · 上海 · 真实气象数据&lt;/Text&gt;&#13;&#10;                        &lt;Text style={{ fontFamily: 'Microsoft YaHei', fontSize: 14, color: 'rgba(255,255,255,0.54)', marginTop: 3 }}&gt;链上增量 34 mm 低于 50 mm 阈值&lt;/Text&gt;&#13;&#10;                    &lt;/Box&gt;&#13;&#10;                    &lt;Text style={{ fontFamily: 'Microsoft YaHei', fontSize: 17, fontWeight: 'bold', color: '#FFFFFF' }}&gt;DENY 95&lt;/Text&gt;&#13;&#10;                    &lt;Text style={{ fontFamily: 'Microsoft YaHei', fontSize: 15, color: 'rgba(255,255,255,0.60)', width: 62, textAlign: 'right' }}&gt;不赔&lt;/Text&gt;&#13;&#10;                &lt;/Box&gt;&#13;&#10;&#13;&#10;                &lt;Box style={{ height: 58, background: 'rgba(255,255,255,0.04)', borderRadius: 4, padding: '0 16px', flexDirection: 'row', alignItems: 'center', border: '1px solid rgba(255,255,255,0.10)' }}&gt;&#13;&#10;                    &lt;Box style={{ width: 3, height: 30, background: '#22D3EE', marginRight: 14 }} /&gt;&#13;&#10;                    &lt;Box style={{ flexDirection: 'column', flex: 1 }}&gt;&#13;&#10;                        &lt;Text style={{ fontFamily: 'Microsoft YaHei', fontSize: 17, fontWeight: 'bold', color: '#FFFFFF' }}&gt;保单 #1 · 成都 · 模拟暴雨&lt;/Text&gt;&#13;&#10;                        &lt;Text style={{ fontFamily: 'Microsoft YaHei', fontSize: 14, color: 'rgba(255,255,255,0.54)', marginTop: 3 }}&gt;6 → 120 mm，链上永久标记 simulated&lt;/Text&gt;&#13;&#10;                    &lt;/Box&gt;&#13;&#10;                    &lt;Text style={{ fontFamily: 'Microsoft YaHei', fontSize: 17, fontWeight: 'bold', color: '#22D3EE' }}&gt;PAY 94&lt;/Text&gt;&#13;&#10;                    &lt;Text style={{ fontFamily: 'Microsoft YaHei', fontSize: 15, color: 'rgba(255,255,255,0.82)', width: 62, textAlign: 'right' }}&gt;赔付&lt;/Text&gt;&#13;&#10;                &lt;/Box&gt;&#13;&#10;&#13;&#10;                &lt;Box style={{ height: 58, background: 'rgba(255,255,255,0.04)', borderRadius: 4, padding: '0 16px', flexDirection: 'row', alignItems: 'center', border: '1px solid rgba(255,255,255,0.10)' }}&gt;&#13;&#10;                    &lt;Box style={{ width: 3, height: 30, background: '#22D3EE', marginRight: 14 }} /&gt;&#13;&#10;                    &lt;Box style={{ flexDirection: 'column', flex: 1 }}&gt;&#13;&#10;                        &lt;Text style={{ fontFamily: 'Microsoft YaHei', fontSize: 17, fontWeight: 'bold', color: '#FFFFFF' }}&gt;历史回放 · 武汉 2024-06-27 至 29&lt;/Text&gt;&#13;&#10;                        &lt;Text style={{ fontFamily: 'Microsoft YaHei', fontSize: 14, color: 'rgba(255,255,255,0.54)', marginTop: 3 }}&gt;真实历史累计 230 mm，simulated = false&lt;/Text&gt;&#13;&#10;                    &lt;/Box&gt;&#13;&#10;                    &lt;Text style={{ fontFamily: 'Microsoft YaHei', fontSize: 17, fontWeight: 'bold', color: '#22D3EE' }}&gt;PAY 76&lt;/Text&gt;&#13;&#10;                    &lt;Text style={{ fontFamily: 'Microsoft YaHei', fontSize: 15, color: 'rgba(255,255,255,0.82)', width: 62, textAlign: 'right' }}&gt;赔付&lt;/Text&gt;&#13;&#10;                &lt;/Box&gt;&#13;&#10;&#13;&#10;            &lt;/Box&gt;&#13;&#10;&#13;&#10;            &lt;Box style={{ marginTop: 'auto', flexDirection: 'row', alignItems: 'center', gap: 10 }}&gt;&#13;&#10;                &lt;Text style={{ fontFamily: 'Consolas', fontSize: 14, color: 'rgba(255,255,255,0.44)' }}&gt;&#13;&#10;                    Sepolia · 合约 0x89e7C942535930B61cB61631051E8b0bD670596a · 运行时代码 10,758 字节&#13;&#10;                &lt;/Text&gt;&#13;&#10;            &lt;/Box&gt;&#13;&#10;        &lt;/Box&gt;&#13;&#10;&#13;&#10;        &lt;Box style={{ width: 505, height: 540, flexDirection: 'column', overflow: 'hidden' }}&gt;&#13;&#10;            &lt;Text style={{ fontFamily: 'Consolas', fontSize: 15, color: '#22D3EE', letterSpacing: 4 }}&gt;&#13;&#10;                LIVE VERIFIER&#13;&#10;            &lt;/Text&gt;&#13;&#10;&#13;&#10;            &lt;Box style={{ flex: 1, minHeight: 0, marginTop: 12, borderRadius: 6, overflow: 'hidden', border: '1px solid rgba(255,255,255,0.14)' }}&gt;&#13;&#10;                &lt;Image src=&quot;assets/shot_verifier.png&quot; style={{ width: '100%', height: '100%', objectFit: 'cover' }} /&gt;&#13;&#10;            &lt;/Box&gt;&#13;&#10;&#13;&#10;            &lt;Text style={{ fontFamily: 'Microsoft YaHei', fontSize: 17, color: 'rgba(255,255,255,0.80)', lineHeight: 1.5, marginTop: 14 }}&gt;&#13;&#10;                核验台粘一个地址或哈希，就能读到：&lt;span style={{ color: '#FFFFFF', fontWeight: 'bold' }}&gt;这是不是合约、代码多长、事件逐条说了什么&lt;/span&gt; —— 不依赖任何在线区块浏览器。&#13;&#10;            &lt;/Text&gt;&#13;&#10;            &lt;Text style={{ fontFamily: 'Microsoft YaHei', fontSize: 14, color: 'rgba(255,255,255,0.44)', marginTop: 8 }}&gt;&#13;&#10;                截图为 2026-10-07 线上实读，现场可当场重查&#13;&#10;            &lt;/Text&gt;&#13;&#10;        &lt;/Box&gt;&#13;&#10;&#13;&#10;    &lt;/Box&gt;&#13;&#10;&#13;&#10;    &lt;Box style={{ height: 40, flexDirection: 'row', alignItems: 'center' }}&gt;&#13;&#10;        &lt;Text style={{ fontFamily: 'Microsoft YaHei', fontSize: 15, color: 'rgba(255,255,255,0.40)' }}&gt;雨证 · RainProof&lt;/Text&gt;&#13;&#10;        &lt;Box style={{ flex: 1 }} /&gt;&#13;&#10;        &lt;Text style={{ fontFamily: 'Consolas', fontSize: 15, color: 'rgba(255,255,255,0.40)' }}&gt;06 / 11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矩形 24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245" name="矩形 244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246" name="文本框 245" descr="{&quot;isTemplate&quot;:true,&quot;type&quot;:&quot;text&quot;}"/>
          <p:cNvSpPr txBox="1"/>
          <p:nvPr/>
        </p:nvSpPr>
        <p:spPr>
          <a:xfrm>
            <a:off x="914400" y="409575"/>
            <a:ext cx="48006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三条链上证据，两种相反的结论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7" name="文本框 246" descr="{&quot;isTemplate&quot;:true,&quot;type&quot;:&quot;text&quot;}"/>
          <p:cNvSpPr txBox="1"/>
          <p:nvPr/>
        </p:nvSpPr>
        <p:spPr>
          <a:xfrm>
            <a:off x="10163175" y="571500"/>
            <a:ext cx="13430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05 / EVIDENCE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48" name="文本框 247" descr="{&quot;isTemplate&quot;:true,&quot;type&quot;:&quot;text&quot;}"/>
          <p:cNvSpPr txBox="1"/>
          <p:nvPr/>
        </p:nvSpPr>
        <p:spPr>
          <a:xfrm>
            <a:off x="685800" y="1143000"/>
            <a:ext cx="57626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0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PAYOUT PER CLAIM</a:t>
            </a:r>
            <a:endParaRPr lang="en-US" sz="1125" spc="30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49" name="文本框 248" descr="{&quot;isTemplate&quot;:true,&quot;type&quot;:&quot;text&quot;}"/>
          <p:cNvSpPr txBox="1"/>
          <p:nvPr/>
        </p:nvSpPr>
        <p:spPr>
          <a:xfrm>
            <a:off x="685800" y="1390650"/>
            <a:ext cx="2181225" cy="11906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00" b="1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0.01</a:t>
            </a:r>
            <a:endParaRPr lang="en-US" sz="7800" b="1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50" name="文本框 249" descr="{&quot;isTemplate&quot;:true,&quot;type&quot;:&quot;text&quot;}"/>
          <p:cNvSpPr txBox="1"/>
          <p:nvPr/>
        </p:nvSpPr>
        <p:spPr>
          <a:xfrm>
            <a:off x="2981325" y="2028825"/>
            <a:ext cx="47625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2250">
                <a:solidFill>
                  <a:srgbClr val="FFFFFF">
                    <a:alpha val="50000"/>
                  </a:srgbClr>
                </a:solidFill>
                <a:latin typeface="Consolas" panose="020B0609020204030204"/>
                <a:ea typeface="Consolas" panose="020B0609020204030204"/>
              </a:rPr>
              <a:t>ETH</a:t>
            </a:r>
            <a:endParaRPr lang="en-US" sz="2250">
              <a:solidFill>
                <a:srgbClr val="FFFFFF">
                  <a:alpha val="5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51" name="文本框 250" descr="{&quot;isTemplate&quot;:true,&quot;type&quot;:&quot;text&quot;}"/>
          <p:cNvSpPr txBox="1"/>
          <p:nvPr/>
        </p:nvSpPr>
        <p:spPr>
          <a:xfrm>
            <a:off x="685800" y="2695575"/>
            <a:ext cx="5762625" cy="10668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0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触发到账是分钟级。含判定与赔付的链上总成本约</a:t>
            </a:r>
            <a:r>
              <a:rPr lang="en-US" sz="150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0.00025 ETH（Sepolia 实测、1 Gwei）</a:t>
            </a:r>
            <a:r>
              <a:rPr lang="zh-CN" sz="150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，只占赔付额的</a:t>
            </a:r>
            <a:r>
              <a:rPr lang="en-US" sz="150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2.5%（968 未摊薄 ≈0.0043 BOT，靠批量摊薄）—— </a:t>
            </a:r>
            <a:r>
              <a:rPr lang="zh-CN" sz="150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传统保险的钱花在「查」，我们的钱花在「给」。</a:t>
            </a:r>
            <a:endParaRPr lang="zh-CN" sz="1500">
              <a:solidFill>
                <a:srgbClr val="FFFFFF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2" name="矩形 251"/>
          <p:cNvSpPr/>
          <p:nvPr/>
        </p:nvSpPr>
        <p:spPr>
          <a:xfrm>
            <a:off x="685800" y="3933825"/>
            <a:ext cx="5762625" cy="9525"/>
          </a:xfrm>
          <a:prstGeom prst="rect">
            <a:avLst/>
          </a:prstGeom>
          <a:solidFill>
            <a:srgbClr val="FFFFFF">
              <a:alpha val="14000"/>
            </a:srgbClr>
          </a:solidFill>
        </p:spPr>
        <p:txBody>
          <a:bodyPr/>
          <a:p/>
        </p:txBody>
      </p:sp>
      <p:sp>
        <p:nvSpPr>
          <p:cNvPr id="253" name="圆角矩形 252"/>
          <p:cNvSpPr/>
          <p:nvPr>
            <p:custDataLst>
              <p:tags r:id="rId1"/>
            </p:custDataLst>
          </p:nvPr>
        </p:nvSpPr>
        <p:spPr>
          <a:xfrm>
            <a:off x="685800" y="4095750"/>
            <a:ext cx="5762625" cy="552450"/>
          </a:xfrm>
          <a:prstGeom prst="roundRect">
            <a:avLst>
              <a:gd name="adj" fmla="val 6897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54" name="矩形 253"/>
          <p:cNvSpPr/>
          <p:nvPr>
            <p:custDataLst>
              <p:tags r:id="rId2"/>
            </p:custDataLst>
          </p:nvPr>
        </p:nvSpPr>
        <p:spPr>
          <a:xfrm>
            <a:off x="838200" y="4229100"/>
            <a:ext cx="28575" cy="285750"/>
          </a:xfrm>
          <a:prstGeom prst="rect">
            <a:avLst/>
          </a:prstGeom>
          <a:solidFill>
            <a:srgbClr val="22D3EE"/>
          </a:solidFill>
        </p:spPr>
        <p:txBody>
          <a:bodyPr/>
          <a:p/>
        </p:txBody>
      </p:sp>
      <p:sp>
        <p:nvSpPr>
          <p:cNvPr id="255" name="文本框 254" descr="{&quot;isTemplate&quot;:true,&quot;type&quot;:&quot;text&quot;}"/>
          <p:cNvSpPr txBox="1"/>
          <p:nvPr>
            <p:custDataLst>
              <p:tags r:id="rId3"/>
            </p:custDataLst>
          </p:nvPr>
        </p:nvSpPr>
        <p:spPr>
          <a:xfrm>
            <a:off x="1000125" y="4181475"/>
            <a:ext cx="39909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保单</a:t>
            </a: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#0 · </a:t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上海</a:t>
            </a: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真实气象数据</a:t>
            </a:r>
            <a:endParaRPr lang="zh-CN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6" name="文本框 255" descr="{&quot;isTemplate&quot;:true,&quot;type&quot;:&quot;text&quot;}"/>
          <p:cNvSpPr txBox="1"/>
          <p:nvPr>
            <p:custDataLst>
              <p:tags r:id="rId4"/>
            </p:custDataLst>
          </p:nvPr>
        </p:nvSpPr>
        <p:spPr>
          <a:xfrm>
            <a:off x="1000125" y="4410075"/>
            <a:ext cx="39909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链上增量</a:t>
            </a:r>
            <a:r>
              <a:rPr lang="en-US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34 mm </a:t>
            </a:r>
            <a:r>
              <a:rPr lang="zh-CN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低于</a:t>
            </a:r>
            <a:r>
              <a:rPr lang="en-US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50 mm </a:t>
            </a:r>
            <a:r>
              <a:rPr lang="zh-CN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阈值</a:t>
            </a:r>
            <a:endParaRPr lang="zh-CN" sz="1050">
              <a:solidFill>
                <a:srgbClr val="FFFFFF">
                  <a:alpha val="5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7" name="文本框 256" descr="{&quot;isTemplate&quot;:true,&quot;type&quot;:&quot;text&quot;}"/>
          <p:cNvSpPr txBox="1"/>
          <p:nvPr>
            <p:custDataLst>
              <p:tags r:id="rId5"/>
            </p:custDataLst>
          </p:nvPr>
        </p:nvSpPr>
        <p:spPr>
          <a:xfrm>
            <a:off x="4991100" y="4276725"/>
            <a:ext cx="7143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DENY 95</a:t>
            </a:r>
            <a:endParaRPr lang="en-US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8" name="文本框 257" descr="{&quot;isTemplate&quot;:true,&quot;type&quot;:&quot;text&quot;}"/>
          <p:cNvSpPr txBox="1"/>
          <p:nvPr>
            <p:custDataLst>
              <p:tags r:id="rId6"/>
            </p:custDataLst>
          </p:nvPr>
        </p:nvSpPr>
        <p:spPr>
          <a:xfrm>
            <a:off x="5705475" y="4286250"/>
            <a:ext cx="590550" cy="17145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不赔</a:t>
            </a:r>
            <a:endParaRPr lang="zh-CN" sz="1125">
              <a:solidFill>
                <a:srgbClr val="FFFFFF">
                  <a:alpha val="6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9" name="圆角矩形 258"/>
          <p:cNvSpPr/>
          <p:nvPr>
            <p:custDataLst>
              <p:tags r:id="rId7"/>
            </p:custDataLst>
          </p:nvPr>
        </p:nvSpPr>
        <p:spPr>
          <a:xfrm>
            <a:off x="685800" y="4743450"/>
            <a:ext cx="5762625" cy="552450"/>
          </a:xfrm>
          <a:prstGeom prst="roundRect">
            <a:avLst>
              <a:gd name="adj" fmla="val 6897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0" name="矩形 259"/>
          <p:cNvSpPr/>
          <p:nvPr>
            <p:custDataLst>
              <p:tags r:id="rId8"/>
            </p:custDataLst>
          </p:nvPr>
        </p:nvSpPr>
        <p:spPr>
          <a:xfrm>
            <a:off x="838200" y="4876800"/>
            <a:ext cx="28575" cy="285750"/>
          </a:xfrm>
          <a:prstGeom prst="rect">
            <a:avLst/>
          </a:prstGeom>
          <a:solidFill>
            <a:srgbClr val="22D3EE"/>
          </a:solidFill>
        </p:spPr>
        <p:txBody>
          <a:bodyPr/>
          <a:p/>
        </p:txBody>
      </p:sp>
      <p:sp>
        <p:nvSpPr>
          <p:cNvPr id="261" name="文本框 260" descr="{&quot;isTemplate&quot;:true,&quot;type&quot;:&quot;text&quot;}"/>
          <p:cNvSpPr txBox="1"/>
          <p:nvPr>
            <p:custDataLst>
              <p:tags r:id="rId9"/>
            </p:custDataLst>
          </p:nvPr>
        </p:nvSpPr>
        <p:spPr>
          <a:xfrm>
            <a:off x="1000125" y="4829175"/>
            <a:ext cx="41433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保单</a:t>
            </a: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#1 · </a:t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成都</a:t>
            </a: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模拟暴雨</a:t>
            </a:r>
            <a:endParaRPr lang="zh-CN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2" name="文本框 261" descr="{&quot;isTemplate&quot;:true,&quot;type&quot;:&quot;text&quot;}"/>
          <p:cNvSpPr txBox="1"/>
          <p:nvPr>
            <p:custDataLst>
              <p:tags r:id="rId10"/>
            </p:custDataLst>
          </p:nvPr>
        </p:nvSpPr>
        <p:spPr>
          <a:xfrm>
            <a:off x="1000125" y="5057775"/>
            <a:ext cx="41433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6 → 120 mm</a:t>
            </a:r>
            <a:r>
              <a:rPr lang="zh-CN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，链上永久标记</a:t>
            </a:r>
            <a:r>
              <a:rPr lang="en-US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simulated</a:t>
            </a:r>
            <a:endParaRPr lang="en-US" sz="1050">
              <a:solidFill>
                <a:srgbClr val="FFFFFF">
                  <a:alpha val="5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3" name="文本框 262" descr="{&quot;isTemplate&quot;:true,&quot;type&quot;:&quot;text&quot;}"/>
          <p:cNvSpPr txBox="1"/>
          <p:nvPr>
            <p:custDataLst>
              <p:tags r:id="rId11"/>
            </p:custDataLst>
          </p:nvPr>
        </p:nvSpPr>
        <p:spPr>
          <a:xfrm>
            <a:off x="5143500" y="4924425"/>
            <a:ext cx="5619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PAY 94</a:t>
            </a:r>
            <a:endParaRPr lang="en-US" sz="1275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4" name="文本框 263" descr="{&quot;isTemplate&quot;:true,&quot;type&quot;:&quot;text&quot;}"/>
          <p:cNvSpPr txBox="1"/>
          <p:nvPr>
            <p:custDataLst>
              <p:tags r:id="rId12"/>
            </p:custDataLst>
          </p:nvPr>
        </p:nvSpPr>
        <p:spPr>
          <a:xfrm>
            <a:off x="5705475" y="4933950"/>
            <a:ext cx="590550" cy="17145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8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赔付</a:t>
            </a:r>
            <a:endParaRPr lang="zh-CN" sz="1125">
              <a:solidFill>
                <a:srgbClr val="FFFFFF">
                  <a:alpha val="8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5" name="圆角矩形 264"/>
          <p:cNvSpPr/>
          <p:nvPr>
            <p:custDataLst>
              <p:tags r:id="rId13"/>
            </p:custDataLst>
          </p:nvPr>
        </p:nvSpPr>
        <p:spPr>
          <a:xfrm>
            <a:off x="685800" y="5391150"/>
            <a:ext cx="5762625" cy="552450"/>
          </a:xfrm>
          <a:prstGeom prst="roundRect">
            <a:avLst>
              <a:gd name="adj" fmla="val 6897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66" name="矩形 265"/>
          <p:cNvSpPr/>
          <p:nvPr>
            <p:custDataLst>
              <p:tags r:id="rId14"/>
            </p:custDataLst>
          </p:nvPr>
        </p:nvSpPr>
        <p:spPr>
          <a:xfrm>
            <a:off x="838200" y="5524500"/>
            <a:ext cx="28575" cy="285750"/>
          </a:xfrm>
          <a:prstGeom prst="rect">
            <a:avLst/>
          </a:prstGeom>
          <a:solidFill>
            <a:srgbClr val="22D3EE"/>
          </a:solidFill>
        </p:spPr>
        <p:txBody>
          <a:bodyPr/>
          <a:p/>
        </p:txBody>
      </p:sp>
      <p:sp>
        <p:nvSpPr>
          <p:cNvPr id="267" name="文本框 266" descr="{&quot;isTemplate&quot;:true,&quot;type&quot;:&quot;text&quot;}"/>
          <p:cNvSpPr txBox="1"/>
          <p:nvPr>
            <p:custDataLst>
              <p:tags r:id="rId15"/>
            </p:custDataLst>
          </p:nvPr>
        </p:nvSpPr>
        <p:spPr>
          <a:xfrm>
            <a:off x="1000125" y="5476875"/>
            <a:ext cx="4143375" cy="200025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历史回放</a:t>
            </a: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上海 2026-08-09</a:t>
            </a:r>
            <a:endParaRPr lang="en-US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8" name="文本框 267" descr="{&quot;isTemplate&quot;:true,&quot;type&quot;:&quot;text&quot;}"/>
          <p:cNvSpPr txBox="1"/>
          <p:nvPr>
            <p:custDataLst>
              <p:tags r:id="rId16"/>
            </p:custDataLst>
          </p:nvPr>
        </p:nvSpPr>
        <p:spPr>
          <a:xfrm>
            <a:off x="1000125" y="5705475"/>
            <a:ext cx="4143375" cy="161925"/>
          </a:xfrm>
          <a:prstGeom prst="rect">
            <a:avLst/>
          </a:prstGeom>
        </p:spPr>
        <p:txBody>
          <a:bodyPr wrap="none" lIns="0" tIns="0" rIns="0" bIns="0"/>
          <a:p>
            <a:pPr algn="l"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54000"/>
                  </a:srgb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链上增量 105 mm（448 → 553），simulated = false</a:t>
            </a:r>
            <a:endParaRPr lang="en-US" sz="1050">
              <a:solidFill>
                <a:srgbClr val="FFFFFF">
                  <a:alpha val="5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9" name="文本框 268" descr="{&quot;isTemplate&quot;:true,&quot;type&quot;:&quot;text&quot;}"/>
          <p:cNvSpPr txBox="1"/>
          <p:nvPr>
            <p:custDataLst>
              <p:tags r:id="rId17"/>
            </p:custDataLst>
          </p:nvPr>
        </p:nvSpPr>
        <p:spPr>
          <a:xfrm>
            <a:off x="5143500" y="5572125"/>
            <a:ext cx="561975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75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PAY 91</a:t>
            </a:r>
            <a:endParaRPr lang="en-US" sz="1275" b="1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0" name="文本框 269" descr="{&quot;isTemplate&quot;:true,&quot;type&quot;:&quot;text&quot;}"/>
          <p:cNvSpPr txBox="1"/>
          <p:nvPr>
            <p:custDataLst>
              <p:tags r:id="rId18"/>
            </p:custDataLst>
          </p:nvPr>
        </p:nvSpPr>
        <p:spPr>
          <a:xfrm>
            <a:off x="5705475" y="5581650"/>
            <a:ext cx="590550" cy="171450"/>
          </a:xfrm>
          <a:prstGeom prst="rect">
            <a:avLst/>
          </a:prstGeom>
        </p:spPr>
        <p:txBody>
          <a:bodyPr wrap="none" lIns="0" tIns="0" rIns="0" bIns="0"/>
          <a:p>
            <a:pPr algn="r"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8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赔付</a:t>
            </a:r>
            <a:endParaRPr lang="zh-CN" sz="1125">
              <a:solidFill>
                <a:srgbClr val="FFFFFF">
                  <a:alpha val="8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1" name="文本框 270" descr="{&quot;isTemplate&quot;:true,&quot;type&quot;:&quot;text&quot;}"/>
          <p:cNvSpPr txBox="1"/>
          <p:nvPr/>
        </p:nvSpPr>
        <p:spPr>
          <a:xfrm>
            <a:off x="685800" y="5962650"/>
            <a:ext cx="5762625" cy="323850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>
              <a:lnSpc>
                <a:spcPct val="100000"/>
              </a:lnSpc>
            </a:pPr>
            <a:r>
              <a:rPr lang="en-US">
                <a:solidFill>
                  <a:srgbClr val="FFFFFF">
                    <a:alpha val="44000"/>
                  </a:srgbClr>
                </a:solidFill>
                <a:latin typeface="Consolas" panose="020B0609020204030204"/>
                <a:ea typeface="Consolas" panose="020B0609020204030204"/>
              </a:rPr>
              <a:t>前两条为 Sepolia v1 留痕 · 第三条是 v3 本地回放链（2026-08-09 上海）· 演示基线 968 v2（12,378 字节）：6 张保单已全部按档位赔付</a:t>
            </a:r>
            <a:endParaRPr lang="zh-CN">
              <a:solidFill>
                <a:srgbClr val="FFFFFF">
                  <a:alpha val="4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72" name="文本框 271" descr="{&quot;isTemplate&quot;:true,&quot;type&quot;:&quot;text&quot;}"/>
          <p:cNvSpPr txBox="1"/>
          <p:nvPr/>
        </p:nvSpPr>
        <p:spPr>
          <a:xfrm>
            <a:off x="6696075" y="1143000"/>
            <a:ext cx="4810125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30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TWO CHAINS · ONE PROCESS</a:t>
            </a:r>
            <a:endParaRPr lang="en-US" sz="1125" spc="30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73" name="圆角矩形 272"/>
          <p:cNvSpPr/>
          <p:nvPr/>
        </p:nvSpPr>
        <p:spPr>
          <a:xfrm>
            <a:off x="6696075" y="1428750"/>
            <a:ext cx="4810125" cy="3895725"/>
          </a:xfrm>
          <a:prstGeom prst="roundRect">
            <a:avLst>
              <a:gd name="adj" fmla="val 1467"/>
            </a:avLst>
          </a:prstGeom>
          <a:ln w="12700">
            <a:solidFill>
              <a:srgbClr val="FFFFFF">
                <a:alpha val="14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274" name="图片 273"/>
          <p:cNvPicPr>
            <a:picLocks noChangeAspect="1"/>
          </p:cNvPicPr>
          <p:nvPr/>
        </p:nvPicPr>
        <p:blipFill>
          <a:blip r:embed="rId19"/>
          <a:srcRect/>
          <a:stretch>
            <a:fillRect/>
          </a:stretch>
        </p:blipFill>
        <p:spPr>
          <a:xfrm>
            <a:off x="6696075" y="1428750"/>
            <a:ext cx="4810125" cy="3895725"/>
          </a:xfrm>
          <a:custGeom>
            <a:avLst/>
            <a:gdLst/>
            <a:ahLst/>
            <a:cxnLst/>
            <a:pathLst>
              <a:path w="505" h="409">
                <a:moveTo>
                  <a:pt x="499" y="0"/>
                </a:moveTo>
                <a:cubicBezTo>
                  <a:pt x="502" y="0"/>
                  <a:pt x="505" y="3"/>
                  <a:pt x="505" y="6"/>
                </a:cubicBezTo>
                <a:lnTo>
                  <a:pt x="505" y="403"/>
                </a:lnTo>
                <a:cubicBezTo>
                  <a:pt x="505" y="406"/>
                  <a:pt x="502" y="409"/>
                  <a:pt x="499" y="409"/>
                </a:cubicBezTo>
                <a:lnTo>
                  <a:pt x="6" y="409"/>
                </a:lnTo>
                <a:cubicBezTo>
                  <a:pt x="3" y="409"/>
                  <a:pt x="0" y="406"/>
                  <a:pt x="0" y="403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lnTo>
                  <a:pt x="499" y="0"/>
                </a:lnTo>
                <a:close/>
              </a:path>
            </a:pathLst>
          </a:custGeom>
        </p:spPr>
      </p:pic>
      <p:sp>
        <p:nvSpPr>
          <p:cNvPr id="275" name="文本框 274" descr="{&quot;isTemplate&quot;:true,&quot;type&quot;:&quot;text&quot;}"/>
          <p:cNvSpPr txBox="1"/>
          <p:nvPr/>
        </p:nvSpPr>
        <p:spPr>
          <a:xfrm>
            <a:off x="6696075" y="5457825"/>
            <a:ext cx="4810125" cy="5905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7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核验台粘一个地址或哈希，就能读到：</a:t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这是不是合约、代码多长、事件逐条说了什么</a:t>
            </a:r>
            <a:r>
              <a:rPr lang="en-US" sz="127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27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不依赖任何在线区块浏览器。</a:t>
            </a:r>
            <a:endParaRPr lang="zh-CN" sz="127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6" name="文本框 275" descr="{&quot;isTemplate&quot;:true,&quot;type&quot;:&quot;text&quot;}"/>
          <p:cNvSpPr txBox="1"/>
          <p:nvPr/>
        </p:nvSpPr>
        <p:spPr>
          <a:xfrm>
            <a:off x="6696075" y="6124575"/>
            <a:ext cx="4810125" cy="74231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00">
                <a:solidFill>
                  <a:srgbClr val="FFFFFF">
                    <a:alpha val="4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截图为</a:t>
            </a:r>
            <a:r>
              <a:rPr lang="en-US" sz="1600">
                <a:solidFill>
                  <a:srgbClr val="FFFFFF">
                    <a:alpha val="4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2026-10-07 </a:t>
            </a:r>
            <a:r>
              <a:rPr lang="zh-CN" sz="1600">
                <a:solidFill>
                  <a:srgbClr val="FFFFFF">
                    <a:alpha val="4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线上实读；核验台默认读 968，</a:t>
            </a:r>
            <a:endParaRPr lang="zh-CN" sz="1600">
              <a:solidFill>
                <a:srgbClr val="FFFFFF">
                  <a:alpha val="4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00000"/>
              </a:lnSpc>
            </a:pPr>
            <a:r>
              <a:rPr lang="zh-CN" sz="1600">
                <a:solidFill>
                  <a:srgbClr val="FFFFFF">
                    <a:alpha val="4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可指定任意节点重查</a:t>
            </a:r>
            <a:endParaRPr lang="zh-CN" sz="1600">
              <a:solidFill>
                <a:srgbClr val="FFFFFF">
                  <a:alpha val="4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8" name="文本框 277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06 / 12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79" name="TextBox 278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Three on-chain proofs, two opposite conclusions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6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600" fill="hold"/>
                                        <p:tgtEl>
                                          <p:spTgt spid="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4074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7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8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2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2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2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2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6" dur="500" fill="hold"/>
                                        <p:tgtEl>
                                          <p:spTgt spid="2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2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6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6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26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2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2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2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2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2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4" grpId="0"/>
      <p:bldP spid="245" grpId="0"/>
      <p:bldP spid="246" grpId="0"/>
      <p:bldP spid="247" grpId="0"/>
      <p:bldP spid="248" grpId="0"/>
      <p:bldP spid="249" grpId="0"/>
      <p:bldP spid="251" grpId="0"/>
      <p:bldP spid="250" grpId="0"/>
      <p:bldP spid="272" grpId="0"/>
      <p:bldP spid="273" grpId="0"/>
      <p:bldP spid="274" grpId="0"/>
      <p:bldP spid="252" grpId="0"/>
      <p:bldP spid="253" grpId="0"/>
      <p:bldP spid="254" grpId="0"/>
      <p:bldP spid="255" grpId="0"/>
      <p:bldP spid="256" grpId="0"/>
      <p:bldP spid="257" grpId="0"/>
      <p:bldP spid="258" grpId="0"/>
      <p:bldP spid="259" grpId="0"/>
      <p:bldP spid="260" grpId="0"/>
      <p:bldP spid="261" grpId="0"/>
      <p:bldP spid="262" grpId="0"/>
      <p:bldP spid="263" grpId="0"/>
      <p:bldP spid="264" grpId="0"/>
      <p:bldP spid="265" grpId="0"/>
      <p:bldP spid="266" grpId="0"/>
      <p:bldP spid="267" grpId="0"/>
      <p:bldP spid="268" grpId="0"/>
      <p:bldP spid="269" grpId="0"/>
      <p:bldP spid="270" grpId="0"/>
      <p:bldP spid="271" grpId="0"/>
      <p:bldP spid="275" grpId="0"/>
      <p:bldP spid="27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99" name="" descr="演示站三格截图：链上降雨看板 / 链上动态 / 投保面板，全部直读 BOT Chain 测试网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矩形 99"/>
          <p:cNvSpPr/>
          <p:nvPr/>
        </p:nvSpPr>
        <p:spPr>
          <a:xfrm>
            <a:off x="0" y="0"/>
            <a:ext cx="12191970" cy="6858000"/>
          </a:xfrm>
          <a:solidFill>
            <a:srgbClr val="0A1422"/>
          </a:solidFill>
        </p:spPr>
        <p:txBody>
          <a:bodyPr/>
          <a:p/>
        </p:txBody>
      </p:sp>
      <p:sp>
        <p:nvSpPr>
          <p:cNvPr id="101" name="矩形 100"/>
          <p:cNvSpPr/>
          <p:nvPr/>
        </p:nvSpPr>
        <p:spPr>
          <a:xfrm>
            <a:off x="685800" y="521208"/>
            <a:ext cx="36576" cy="283464"/>
          </a:xfr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02" name="文本框 101" descr="{&quot;isTemplate&quot;:true,&quot;type&quot;:&quot;text&quot;}"/>
          <p:cNvSpPr txBox="1"/>
          <p:nvPr/>
        </p:nvSpPr>
        <p:spPr>
          <a:xfrm>
            <a:off x="914400" y="411480"/>
            <a:ext cx="7863840" cy="512064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不用信这份 PPT，自己点一遍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3" name="文本框 102" descr="{&quot;isTemplate&quot;:true,&quot;type&quot;:&quot;text&quot;}"/>
          <p:cNvSpPr txBox="1"/>
          <p:nvPr/>
        </p:nvSpPr>
        <p:spPr>
          <a:xfrm>
            <a:off x="10058400" y="566928"/>
            <a:ext cx="1453896" cy="192024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06 / LIVE DEMO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04" name="文本框 103" descr="{&quot;isTemplate&quot;:true,&quot;type&quot;:&quot;text&quot;}"/>
          <p:cNvSpPr txBox="1"/>
          <p:nvPr/>
        </p:nvSpPr>
        <p:spPr>
          <a:xfrm>
            <a:off x="685800" y="1143000"/>
            <a:ext cx="5760720" cy="173736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spc="40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LIVE DEMO · BOT CHAIN 968</a:t>
            </a:r>
            <a:endParaRPr lang="en-US" sz="1500" spc="40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pic>
        <p:nvPicPr>
          <p:cNvPr id="110" name="image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600200"/>
            <a:ext cx="10817352" cy="2170220"/>
          </a:xfrm>
          <a:prstGeom prst="rect">
            <a:avLst/>
          </a:prstGeom>
        </p:spPr>
      </p:pic>
      <p:sp>
        <p:nvSpPr>
          <p:cNvPr id="111" name="文本框 110" descr="{&quot;isTemplate&quot;:true,&quot;type&quot;:&quot;text&quot;}"/>
          <p:cNvSpPr txBox="1"/>
          <p:nvPr/>
        </p:nvSpPr>
        <p:spPr>
          <a:xfrm>
            <a:off x="685800" y="3913632"/>
            <a:ext cx="3749040" cy="201168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01 · 降雨看板</a:t>
            </a:r>
            <a:endParaRPr lang="zh-CN"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2" name="文本框 111" descr="{&quot;isTemplate&quot;:true,&quot;type&quot;:&quot;text&quot;}"/>
          <p:cNvSpPr txBox="1"/>
          <p:nvPr/>
        </p:nvSpPr>
        <p:spPr>
          <a:xfrm>
            <a:off x="685800" y="4142232"/>
            <a:ext cx="3749040" cy="475488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五城实时雨量直读链上 —— 武汉 101、北京 109、成都 227 均未到线，上海 287、广州 303 已经越过 150 mm 的 72 小时触发线，保单只看买入后的增量。</a:t>
            </a:r>
            <a:endParaRPr lang="zh-CN" sz="1050">
              <a:solidFill>
                <a:srgbClr val="FFFFFF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3" name="文本框 112" descr="{&quot;isTemplate&quot;:true,&quot;type&quot;:&quot;text&quot;}"/>
          <p:cNvSpPr txBox="1"/>
          <p:nvPr/>
        </p:nvSpPr>
        <p:spPr>
          <a:xfrm>
            <a:off x="4590288" y="3913632"/>
            <a:ext cx="3547872" cy="201168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02 · 链上动态</a:t>
            </a:r>
            <a:endParaRPr lang="zh-CN"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" name="文本框 113" descr="{&quot;isTemplate&quot;:true,&quot;type&quot;:&quot;text&quot;}"/>
          <p:cNvSpPr txBox="1"/>
          <p:nvPr/>
        </p:nvSpPr>
        <p:spPr>
          <a:xfrm>
            <a:off x="4590288" y="4142232"/>
            <a:ext cx="3547872" cy="475488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AI 判定（PAY 94）与赔付（0.0075 BOT）逐条留痕，每条右侧都能点「核验」跳回链上；背景雨幕强度也是链上雨量算出来的，不是画的。</a:t>
            </a:r>
            <a:endParaRPr lang="zh-CN" sz="1050">
              <a:solidFill>
                <a:srgbClr val="FFFFFF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5" name="文本框 114" descr="{&quot;isTemplate&quot;:true,&quot;type&quot;:&quot;text&quot;}"/>
          <p:cNvSpPr txBox="1"/>
          <p:nvPr/>
        </p:nvSpPr>
        <p:spPr>
          <a:xfrm>
            <a:off x="8284464" y="3913632"/>
            <a:ext cx="3163824" cy="201168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03 · 投保面板</a:t>
            </a:r>
            <a:endParaRPr lang="zh-CN"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6" name="文本框 115" descr="{&quot;isTemplate&quot;:true,&quot;type&quot;:&quot;text&quot;}"/>
          <p:cNvSpPr txBox="1"/>
          <p:nvPr/>
        </p:nvSpPr>
        <p:spPr>
          <a:xfrm>
            <a:off x="8284464" y="4142232"/>
            <a:ext cx="3163824" cy="475488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05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武汉 72 小时：保费 0.0008 BOT、触发线 150 mm —— 两个数都是合约函数返回的。</a:t>
            </a:r>
            <a:endParaRPr lang="zh-CN" sz="1050">
              <a:solidFill>
                <a:srgbClr val="FFFFFF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" name="圆角矩形 116"/>
          <p:cNvSpPr/>
          <p:nvPr/>
        </p:nvSpPr>
        <p:spPr>
          <a:xfrm>
            <a:off x="685800" y="4956048"/>
            <a:ext cx="10817352" cy="914400"/>
          </a:xfrm>
          <a:prstGeom prst="roundRect">
            <a:avLst>
              <a:gd name="adj" fmla="val 6250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8" name="矩形 117"/>
          <p:cNvSpPr/>
          <p:nvPr/>
        </p:nvSpPr>
        <p:spPr>
          <a:xfrm>
            <a:off x="832104" y="5120640"/>
            <a:ext cx="27432" cy="530352"/>
          </a:xfr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19" name="文本框 118" descr="{&quot;isTemplate&quot;:true,&quot;type&quot;:&quot;text&quot;}"/>
          <p:cNvSpPr txBox="1"/>
          <p:nvPr/>
        </p:nvSpPr>
        <p:spPr>
          <a:xfrm>
            <a:off x="1005840" y="5111496"/>
            <a:ext cx="10314432" cy="603504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35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三个面板读的是同一份合约。页面是纯静态 HTML：没有后端、没有数据库 —— 浏览器打开它，直接向 968 要数。</a:t>
            </a:r>
            <a:endParaRPr lang="zh-CN" sz="1350">
              <a:solidFill>
                <a:srgbClr val="FFFFFF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zh-CN" sz="135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保费来自 </a:t>
            </a:r>
            <a:r>
              <a:rPr lang="en-US" sz="135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premiumOf(regionId, hours)</a:t>
            </a:r>
            <a:r>
              <a:rPr lang="zh-CN" sz="135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，触发线来自 </a:t>
            </a:r>
            <a:r>
              <a:rPr lang="en-US" sz="1350" b="1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thresholdOf(hours)</a:t>
            </a:r>
            <a:r>
              <a:rPr lang="zh-CN" sz="135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：都不是页面算的，是合约返回的。</a:t>
            </a:r>
            <a:endParaRPr lang="zh-CN" sz="1350">
              <a:solidFill>
                <a:srgbClr val="FFFFFF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1" name="文本框 120" descr="{&quot;isTemplate&quot;:true,&quot;type&quot;:&quot;text&quot;}"/>
          <p:cNvSpPr txBox="1"/>
          <p:nvPr/>
        </p:nvSpPr>
        <p:spPr>
          <a:xfrm>
            <a:off x="10954512" y="6391656"/>
            <a:ext cx="548640" cy="173736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07 / 12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22" name="TextBox 121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Do not trust this deck - click through it yourself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8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26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38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52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64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/>
      <p:bldP spid="101" grpId="0"/>
      <p:bldP spid="102" grpId="0"/>
      <p:bldP spid="103" grpId="0"/>
      <p:bldP spid="104" grpId="0"/>
      <p:bldP spid="110" grpId="0"/>
      <p:bldP spid="111" grpId="0"/>
      <p:bldP spid="112" grpId="0"/>
      <p:bldP spid="113" grpId="0"/>
      <p:bldP spid="114" grpId="0"/>
      <p:bldP spid="115" grpId="0"/>
      <p:bldP spid="116" grpId="0"/>
      <p:bldP spid="117" grpId="0"/>
      <p:bldP spid="118" grpId="0"/>
      <p:bldP spid="1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279" name="" descr="&lt;Slide style={{ width: 1280, height: 720, background: '#0A1422', padding: '20px 72px' }}&gt;&#13;&#10;&#13;&#10;    &lt;Box style={{ height: 100, flexDirection: 'row', alignItems: 'center', gap: 20 }}&gt;&#13;&#10;        &lt;Box style={{ width: 4, height: 30, background: 'linear-gradient(135deg, #2D7FF9 0%, #22D3EE 100%)' }} /&gt;&#13;&#10;        &lt;Text style={{ fontFamily: 'Microsoft YaHei', fontSize: 36, fontWeight: 'bold', color: '#FFFFFF', lineHeight: 1.25 }}&gt;&#13;&#10;            统一定价是错的&#13;&#10;        &lt;/Text&gt;&#13;&#10;        &lt;Box style={{ flex: 1 }} /&gt;&#13;&#10;        &lt;Text style={{ fontFamily: 'Consolas', fontSize: 16, color: 'rgba(255,255,255,0.34)', letterSpacing: 2 }}&gt;&#13;&#10;            06 / ACTUARY&#13;&#10;        &lt;/Text&gt;&#13;&#10;    &lt;/Box&gt;&#13;&#10;&#13;&#10;    &lt;Box style={{ height: 540, flexDirection: 'row', gap: 26 }}&gt;&#13;&#10;&#13;&#10;        &lt;Box style={{ width: 760, height: 540, flexDirection: 'column', overflow: 'hidden' }}&gt;&#13;&#10;            &lt;Text style={{ fontFamily: 'Consolas', fontSize: 15, color: '#22D3EE', letterSpacing: 3 }}&gt;&#13;&#10;                11 YEARS · 96,432 HOURS PER CITY&#13;&#10;            &lt;/Text&gt;&#13;&#10;&#13;&#10;            &lt;Box style={{ flex: 1, minHeight: 0, marginTop: 12 }}&gt;&#13;&#10;                &lt;Chart&#13;&#10;                    style={{ width: '100%', height: '100%' }}&#13;&#10;                    chartType='barChart'&#13;&#10;                    grouping='clustered'&#13;&#10;                    title='72 小时窗口内累计降雨达到 50 mm 的概率（%）'&#13;&#10;                    titleColor='#FFFFFF'&#13;&#10;                    legendColor='rgba(255,255,255,0.62)'&#13;&#10;                    axisColor='rgba(255,255,255,0.50)'&#13;&#10;                    dataLabelColor='#FFFFFF'&#13;&#10;                    showLegend={true}&#13;&#10;                    showDataLabels={true}&#13;&#10;                    colors={['#2D7FF9', '#F5A524']}&#13;&#10;                    background='#0A1422'&#13;&#10;                    data={[&#13;&#10;                        ['城市', '72h 触发概率 (%)', '10% 保本线'],&#13;&#10;                        ['武汉', 4.756, 10],&#13;&#10;                        ['上海', 4.557, 10],&#13;&#10;                        ['北京', 2.265, 10],&#13;&#10;                        ['广州', 11.524, 10],&#13;&#10;                        ['成都', 3.719, 10],&#13;&#10;                    ]}&#13;&#10;                /&gt;&#13;&#10;            &lt;/Box&gt;&#13;&#10;&#13;&#10;        &lt;/Box&gt;&#13;&#10;&#13;&#10;        &lt;Box style={{ width: 350, height: 540, flexDirection: 'column', overflow: 'hidden' }}&gt;&#13;&#10;&#13;&#10;            &lt;Box style={{ background: 'rgba(245,165,36,0.10)', border: '1px solid rgba(245,165,36,0.40)', borderRadius: 5, padding: 16, flexDirection: 'column' }}&gt;&#13;&#10;                &lt;Text style={{ fontFamily: 'Consolas', fontSize: 15, color: '#F5A524', letterSpacing: 2 }}&gt;OUT OF BOUNDS&lt;/Text&gt;&#13;&#10;                &lt;Text style={{ fontFamily: 'Consolas', fontSize: 40, fontWeight: 'bold', color: '#F5A524', lineHeight: 1.15, marginTop: 6 }}&gt;&#13;&#10;                    11.524%&#13;&#10;                &lt;/Text&gt;&#13;&#10;                &lt;Text style={{ fontFamily: 'Microsoft YaHei', fontSize: 16, color: '#FFFFFF', lineHeight: 1.5, marginTop: 8 }}&gt;&#13;&#10;                    广州越过 10% 保本线 —— 按统一价 0.001 ETH 卖 72 小时保单，赔付率 &lt;span style={{ fontWeight: 'bold' }}&gt;115.2%&lt;/span&gt;：收 1 赔 1.15。&#13;&#10;                &lt;/Text&gt;&#13;&#10;            &lt;/Box&gt;&#13;&#10;&#13;&#10;            &lt;Box style={{ background: 'rgba(255,255,255,0.04)', border: '1px solid rgba(255,255,255,0.12)', borderRadius: 5, padding: 16, marginTop: 14, flexDirection: 'column' }}&gt;&#13;&#10;                &lt;Text style={{ fontFamily: 'Microsoft YaHei', fontSize: 17, fontWeight: 'bold', color: '#FFFFFF' }}&gt;链上现行价（ETH）&lt;/Text&gt;&#13;&#10;                &lt;Box style={{ flexDirection: 'column', gap: 7, marginTop: 10 }}&gt;&#13;&#10;                    &lt;Box style={{ flexDirection: 'row' }}&gt;&#13;&#10;                        &lt;Text style={{ fontFamily: 'Microsoft YaHei', fontSize: 16, color: 'rgba(255,255,255,0.66)', flex: 1 }}&gt;武汉 / 上海&lt;/Text&gt;&#13;&#10;                        &lt;Text style={{ fontFamily: 'Consolas', fontSize: 16, color: '#FFFFFF' }}&gt;0.0008&lt;/Text&gt;&#13;&#10;                    &lt;/Box&gt;&#13;&#10;                    &lt;Box style={{ flexDirection: 'row' }}&gt;&#13;&#10;                        &lt;Text style={{ fontFamily: 'Microsoft YaHei', fontSize: 16, color: 'rgba(255,255,255,0.66)', flex: 1 }}&gt;成都&lt;/Text&gt;&#13;&#10;                        &lt;Text style={{ fontFamily: 'Consolas', fontSize: 16, color: '#FFFFFF' }}&gt;0.0007&lt;/Text&gt;&#13;&#10;                    &lt;/Box&gt;&#13;&#10;                    &lt;Box style={{ flexDirection: 'row' }}&gt;&#13;&#10;                        &lt;Text style={{ fontFamily: 'Microsoft YaHei', fontSize: 16, color: 'rgba(255,255,255,0.66)', flex: 1 }}&gt;北京&lt;/Text&gt;&#13;&#10;                        &lt;Text style={{ fontFamily: 'Consolas', fontSize: 16, color: '#FFFFFF' }}&gt;0.0004&lt;/Text&gt;&#13;&#10;                    &lt;/Box&gt;&#13;&#10;                    &lt;Box style={{ flexDirection: 'row' }}&gt;&#13;&#10;                        &lt;Text style={{ fontFamily: 'Microsoft YaHei', fontSize: 16, color: '#F5A524', flex: 1 }}&gt;广州 · RISK_LOADED&lt;/Text&gt;&#13;&#10;                        &lt;Text style={{ fontFamily: 'Consolas', fontSize: 16, color: '#F5A524', fontWeight: 'bold' }}&gt;0.0020&lt;/Text&gt;&#13;&#10;                    &lt;/Box&gt;&#13;&#10;                &lt;/Box&gt;&#13;&#10;            &lt;/Box&gt;&#13;&#10;&#13;&#10;            &lt;Box style={{ marginTop: 'auto', borderLeft: '3px solid #2D7FF9', background: 'rgba(45,127,249,0.10)', padding: '12px 14px' }}&gt;&#13;&#10;                &lt;Text style={{ fontFamily: 'Microsoft YaHei', fontSize: 16, color: 'rgba(255,255,255,0.86)', lineHeight: 1.5 }}&gt;&#13;&#10;                    保费由脚本按「触发概率 × 赔付额 ÷ 目标赔付率 60%」算出写进合约，&lt;span style={{ color: '#FFFFFF', fontWeight: 'bold' }}&gt;不是手填的&lt;/span&gt;；每次改价都留一条带依据哈希的事件。&#13;&#10;                &lt;/Text&gt;&#13;&#10;            &lt;/Box&gt;&#13;&#10;&#13;&#10;        &lt;/Box&gt;&#13;&#10;&#13;&#10;    &lt;/Box&gt;&#13;&#10;&#13;&#10;    &lt;Box style={{ height: 40, flexDirection: 'row', alignItems: 'center' }}&gt;&#13;&#10;        &lt;Text style={{ fontFamily: 'Microsoft YaHei', fontSize: 15, color: 'rgba(255,255,255,0.40)' }}&gt;雨证 · RainProof&lt;/Text&gt;&#13;&#10;        &lt;Box style={{ flex: 1 }} /&gt;&#13;&#10;        &lt;Text style={{ fontFamily: 'Consolas', fontSize: 15, color: 'rgba(255,255,255,0.40)' }}&gt;07 / 11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矩形 27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281" name="矩形 280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282" name="文本框 281" descr="{&quot;isTemplate&quot;:true,&quot;type&quot;:&quot;text&quot;}"/>
          <p:cNvSpPr txBox="1"/>
          <p:nvPr/>
        </p:nvSpPr>
        <p:spPr>
          <a:xfrm>
            <a:off x="914400" y="409575"/>
            <a:ext cx="24003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统一定价是错的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3" name="文本框 282" descr="{&quot;isTemplate&quot;:true,&quot;type&quot;:&quot;text&quot;}"/>
          <p:cNvSpPr txBox="1"/>
          <p:nvPr/>
        </p:nvSpPr>
        <p:spPr>
          <a:xfrm>
            <a:off x="10267950" y="571500"/>
            <a:ext cx="1238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07 / ACTUARY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84" name="文本框 283" descr="{&quot;isTemplate&quot;:true,&quot;type&quot;:&quot;text&quot;}"/>
          <p:cNvSpPr txBox="1"/>
          <p:nvPr/>
        </p:nvSpPr>
        <p:spPr>
          <a:xfrm>
            <a:off x="685800" y="1143000"/>
            <a:ext cx="72390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22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11 YEARS · 96,432 HOURS PER CITY</a:t>
            </a:r>
            <a:endParaRPr lang="en-US" sz="1125" spc="22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graphicFrame>
        <p:nvGraphicFramePr>
          <p:cNvPr id="285" name="285"/>
          <p:cNvGraphicFramePr/>
          <p:nvPr/>
        </p:nvGraphicFramePr>
        <p:xfrm>
          <a:off x="685800" y="1428750"/>
          <a:ext cx="7239000" cy="4857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86" name="圆角矩形 285"/>
          <p:cNvSpPr/>
          <p:nvPr/>
        </p:nvSpPr>
        <p:spPr>
          <a:xfrm>
            <a:off x="8172450" y="1143000"/>
            <a:ext cx="3333750" cy="1971675"/>
          </a:xfrm>
          <a:prstGeom prst="roundRect">
            <a:avLst>
              <a:gd name="adj" fmla="val 2415"/>
            </a:avLst>
          </a:prstGeom>
          <a:solidFill>
            <a:srgbClr val="F5A524">
              <a:alpha val="10000"/>
            </a:srgbClr>
          </a:solidFill>
          <a:ln w="12700">
            <a:solidFill>
              <a:srgbClr val="F5A524">
                <a:alpha val="4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87" name="文本框 286" descr="{&quot;isTemplate&quot;:true,&quot;type&quot;:&quot;text&quot;}"/>
          <p:cNvSpPr txBox="1"/>
          <p:nvPr/>
        </p:nvSpPr>
        <p:spPr>
          <a:xfrm>
            <a:off x="8324850" y="1295400"/>
            <a:ext cx="30289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spc="150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OUT OF BOUNDS</a:t>
            </a:r>
            <a:endParaRPr lang="en-US" sz="1125" spc="150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88" name="文本框 287" descr="{&quot;isTemplate&quot;:true,&quot;type&quot;:&quot;text&quot;}"/>
          <p:cNvSpPr txBox="1"/>
          <p:nvPr/>
        </p:nvSpPr>
        <p:spPr>
          <a:xfrm>
            <a:off x="8343900" y="1428750"/>
            <a:ext cx="3028950" cy="533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15000"/>
              </a:lnSpc>
            </a:pPr>
            <a:r>
              <a:rPr lang="en-US" sz="3000" b="1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11.574%</a:t>
            </a:r>
            <a:endParaRPr lang="en-US" sz="3000" b="1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89" name="文本框 288" descr="{&quot;isTemplate&quot;:true,&quot;type&quot;:&quot;text&quot;}"/>
          <p:cNvSpPr txBox="1"/>
          <p:nvPr/>
        </p:nvSpPr>
        <p:spPr>
          <a:xfrm>
            <a:off x="8343900" y="1885950"/>
            <a:ext cx="3028950" cy="828675"/>
          </a:xfrm>
          <a:prstGeom prst="rect">
            <a:avLst/>
          </a:prstGeom>
        </p:spPr>
        <p:txBody>
          <a:bodyPr wrap="square" lIns="0" tIns="0" rIns="0" bIns="0">
            <a:noAutofit/>
          </a:bodyPr>
          <a:p>
            <a:pPr>
              <a:lnSpc>
                <a:spcPct val="150000"/>
              </a:lnSpc>
            </a:pPr>
            <a:r>
              <a:rPr lang="zh-CN" sz="10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广州越过 10% 保本线 —— 按统一价 0.001 ETH 卖 72 小时保单，赔付率 115.7%：收 1 赔 1.16。月聚类自举 95% 区间是 [9.35%, 13.88%]，下界低于保本线，所以能站住的说法是「显著高于其余四城，故单独加价」。</a:t>
            </a:r>
            <a:endParaRPr lang="zh-CN" sz="10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0" name="圆角矩形 289"/>
          <p:cNvSpPr/>
          <p:nvPr/>
        </p:nvSpPr>
        <p:spPr>
          <a:xfrm>
            <a:off x="8172450" y="3248025"/>
            <a:ext cx="3333750" cy="1562100"/>
          </a:xfrm>
          <a:prstGeom prst="roundRect">
            <a:avLst>
              <a:gd name="adj" fmla="val 3049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291" name="文本框 290" descr="{&quot;isTemplate&quot;:true,&quot;type&quot;:&quot;text&quot;}"/>
          <p:cNvSpPr txBox="1"/>
          <p:nvPr/>
        </p:nvSpPr>
        <p:spPr>
          <a:xfrm>
            <a:off x="8324850" y="3400425"/>
            <a:ext cx="302895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链上现行价（</a:t>
            </a:r>
            <a:r>
              <a:rPr lang="en-US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968 · 72h 档</a:t>
            </a:r>
            <a:r>
              <a:rPr lang="zh-CN" sz="127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endParaRPr lang="zh-CN" sz="127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2" name="文本框 291" descr="{&quot;isTemplate&quot;:true,&quot;type&quot;:&quot;text&quot;}"/>
          <p:cNvSpPr txBox="1"/>
          <p:nvPr/>
        </p:nvSpPr>
        <p:spPr>
          <a:xfrm>
            <a:off x="8324850" y="3695700"/>
            <a:ext cx="25241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武汉</a:t>
            </a:r>
            <a:r>
              <a:rPr lang="en-US" sz="12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2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上海</a:t>
            </a:r>
            <a:endParaRPr lang="zh-CN" sz="1200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3" name="文本框 292" descr="{&quot;isTemplate&quot;:true,&quot;type&quot;:&quot;text&quot;}"/>
          <p:cNvSpPr txBox="1"/>
          <p:nvPr/>
        </p:nvSpPr>
        <p:spPr>
          <a:xfrm>
            <a:off x="10848975" y="3695700"/>
            <a:ext cx="5048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0.0008</a:t>
            </a:r>
            <a:endParaRPr lang="en-US" sz="1200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94" name="文本框 293" descr="{&quot;isTemplate&quot;:true,&quot;type&quot;:&quot;text&quot;}"/>
          <p:cNvSpPr txBox="1"/>
          <p:nvPr/>
        </p:nvSpPr>
        <p:spPr>
          <a:xfrm>
            <a:off x="8324850" y="3952875"/>
            <a:ext cx="25241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成都</a:t>
            </a:r>
            <a:endParaRPr lang="zh-CN" sz="1200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5" name="文本框 294" descr="{&quot;isTemplate&quot;:true,&quot;type&quot;:&quot;text&quot;}"/>
          <p:cNvSpPr txBox="1"/>
          <p:nvPr/>
        </p:nvSpPr>
        <p:spPr>
          <a:xfrm>
            <a:off x="10848975" y="3952875"/>
            <a:ext cx="5048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0.0007</a:t>
            </a:r>
            <a:endParaRPr lang="en-US" sz="1200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96" name="文本框 295" descr="{&quot;isTemplate&quot;:true,&quot;type&quot;:&quot;text&quot;}"/>
          <p:cNvSpPr txBox="1"/>
          <p:nvPr/>
        </p:nvSpPr>
        <p:spPr>
          <a:xfrm>
            <a:off x="8324850" y="4210050"/>
            <a:ext cx="25241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北京</a:t>
            </a:r>
            <a:endParaRPr lang="zh-CN" sz="1200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7" name="文本框 296" descr="{&quot;isTemplate&quot;:true,&quot;type&quot;:&quot;text&quot;}"/>
          <p:cNvSpPr txBox="1"/>
          <p:nvPr/>
        </p:nvSpPr>
        <p:spPr>
          <a:xfrm>
            <a:off x="10848975" y="4210050"/>
            <a:ext cx="5048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>
                <a:solidFill>
                  <a:srgbClr val="FFFFFF"/>
                </a:solidFill>
                <a:latin typeface="Consolas" panose="020B0609020204030204"/>
                <a:ea typeface="Consolas" panose="020B0609020204030204"/>
              </a:rPr>
              <a:t>0.0004</a:t>
            </a:r>
            <a:endParaRPr lang="en-US" sz="1200">
              <a:solidFill>
                <a:srgbClr val="FFFFFF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298" name="文本框 297" descr="{&quot;isTemplate&quot;:true,&quot;type&quot;:&quot;text&quot;}"/>
          <p:cNvSpPr txBox="1"/>
          <p:nvPr/>
        </p:nvSpPr>
        <p:spPr>
          <a:xfrm>
            <a:off x="8324850" y="4467225"/>
            <a:ext cx="25241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广州</a:t>
            </a:r>
            <a:r>
              <a:rPr lang="en-US" sz="1200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 · RISK_LOADED</a:t>
            </a:r>
            <a:endParaRPr lang="en-US" sz="1200">
              <a:solidFill>
                <a:srgbClr val="F5A524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9" name="文本框 298" descr="{&quot;isTemplate&quot;:true,&quot;type&quot;:&quot;text&quot;}"/>
          <p:cNvSpPr txBox="1"/>
          <p:nvPr/>
        </p:nvSpPr>
        <p:spPr>
          <a:xfrm>
            <a:off x="10848975" y="4467225"/>
            <a:ext cx="5048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5A524"/>
                </a:solidFill>
                <a:latin typeface="Consolas" panose="020B0609020204030204"/>
                <a:ea typeface="Consolas" panose="020B0609020204030204"/>
              </a:rPr>
              <a:t>0.0020</a:t>
            </a:r>
            <a:endParaRPr lang="en-US" sz="1200" b="1">
              <a:solidFill>
                <a:srgbClr val="F5A524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00" name="任意多边形 299"/>
          <p:cNvSpPr/>
          <p:nvPr/>
        </p:nvSpPr>
        <p:spPr>
          <a:xfrm>
            <a:off x="8201025" y="5229225"/>
            <a:ext cx="3333750" cy="1057275"/>
          </a:xfrm>
          <a:custGeom>
            <a:avLst/>
            <a:gdLst/>
            <a:ahLst/>
            <a:cxnLst/>
            <a:pathLst>
              <a:path w="350" h="111">
                <a:moveTo>
                  <a:pt x="347" y="111"/>
                </a:moveTo>
                <a:lnTo>
                  <a:pt x="0" y="111"/>
                </a:lnTo>
                <a:lnTo>
                  <a:pt x="0" y="0"/>
                </a:lnTo>
                <a:lnTo>
                  <a:pt x="347" y="0"/>
                </a:lnTo>
                <a:close/>
              </a:path>
            </a:pathLst>
          </a:custGeom>
          <a:solidFill>
            <a:srgbClr val="2D7FF9">
              <a:alpha val="10000"/>
            </a:srgbClr>
          </a:solidFill>
        </p:spPr>
        <p:txBody>
          <a:bodyPr/>
          <a:p/>
        </p:txBody>
      </p:sp>
      <p:sp>
        <p:nvSpPr>
          <p:cNvPr id="301" name="任意多边形 300"/>
          <p:cNvSpPr/>
          <p:nvPr/>
        </p:nvSpPr>
        <p:spPr>
          <a:xfrm>
            <a:off x="8172450" y="5229225"/>
            <a:ext cx="3362325" cy="1057275"/>
          </a:xfrm>
          <a:custGeom>
            <a:avLst/>
            <a:gdLst/>
            <a:ahLst/>
            <a:cxnLst/>
            <a:pathLst>
              <a:path w="353" h="111">
                <a:moveTo>
                  <a:pt x="0" y="0"/>
                </a:moveTo>
                <a:lnTo>
                  <a:pt x="3" y="0"/>
                </a:lnTo>
                <a:lnTo>
                  <a:pt x="3" y="111"/>
                </a:lnTo>
                <a:lnTo>
                  <a:pt x="0" y="111"/>
                </a:lnTo>
                <a:close/>
              </a:path>
            </a:pathLst>
          </a:custGeom>
          <a:solidFill>
            <a:srgbClr val="2D7FF9"/>
          </a:solidFill>
        </p:spPr>
        <p:txBody>
          <a:bodyPr/>
          <a:p/>
        </p:txBody>
      </p:sp>
      <p:sp>
        <p:nvSpPr>
          <p:cNvPr id="302" name="文本框 301" descr="{&quot;isTemplate&quot;:true,&quot;type&quot;:&quot;text&quot;}"/>
          <p:cNvSpPr txBox="1"/>
          <p:nvPr/>
        </p:nvSpPr>
        <p:spPr>
          <a:xfrm>
            <a:off x="8334375" y="5343525"/>
            <a:ext cx="3038475" cy="828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保费由脚本按「触发概率</a:t>
            </a:r>
            <a:r>
              <a:rPr lang="en-US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× </a:t>
            </a:r>
            <a:r>
              <a:rPr lang="zh-CN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赔付额</a:t>
            </a:r>
            <a:r>
              <a:rPr lang="en-US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÷ </a:t>
            </a:r>
            <a:r>
              <a:rPr lang="zh-CN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目标赔付率</a:t>
            </a:r>
            <a:r>
              <a:rPr lang="en-US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60%</a:t>
            </a:r>
            <a:r>
              <a:rPr lang="zh-CN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」算出写进合约，</a:t>
            </a: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不是手填的</a:t>
            </a:r>
            <a:r>
              <a:rPr lang="zh-CN" sz="1200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；每次改价都留一条带依据哈希的事件。</a:t>
            </a:r>
            <a:endParaRPr lang="zh-CN" sz="1200">
              <a:solidFill>
                <a:srgbClr val="FFFFFF">
                  <a:alpha val="8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4" name="文本框 303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08 / 12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05" name="TextBox 304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Flat pricing is wrong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8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92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92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92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92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2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2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2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2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0" grpId="0"/>
      <p:bldP spid="281" grpId="0"/>
      <p:bldP spid="282" grpId="0"/>
      <p:bldP spid="283" grpId="0"/>
      <p:bldP spid="284" grpId="0"/>
      <p:bldP spid="285" grpId="0"/>
      <p:bldP spid="286" grpId="0"/>
      <p:bldP spid="287" grpId="0"/>
      <p:bldP spid="288" grpId="0"/>
      <p:bldP spid="289" grpId="0"/>
      <p:bldP spid="290" grpId="0"/>
      <p:bldP spid="291" grpId="0"/>
      <p:bldP spid="292" grpId="0"/>
      <p:bldP spid="293" grpId="0"/>
      <p:bldP spid="294" grpId="0"/>
      <p:bldP spid="295" grpId="0"/>
      <p:bldP spid="296" grpId="0"/>
      <p:bldP spid="297" grpId="0"/>
      <p:bldP spid="298" grpId="0"/>
      <p:bldP spid="299" grpId="0"/>
      <p:bldP spid="301" grpId="0"/>
      <p:bldP spid="300" grpId="0"/>
      <p:bldP spid="30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305" name="" descr="&lt;Slide style={{ width: 1280, height: 720, background: '#0A1422', padding: '20px 72px' }}&gt;&#13;&#10;&#13;&#10;    &lt;Box style={{ height: 100, flexDirection: 'row', alignItems: 'center', gap: 20 }}&gt;&#13;&#10;        &lt;Box style={{ width: 4, height: 30, background: 'linear-gradient(135deg, #2D7FF9 0%, #22D3EE 100%)' }} /&gt;&#13;&#10;        &lt;Text style={{ fontFamily: 'Microsoft YaHei', fontSize: 36, fontWeight: 'bold', color: '#FFFFFF', lineHeight: 1.25 }}&gt;&#13;&#10;            那谁为这个风险付钱？&#13;&#10;        &lt;/Text&gt;&#13;&#10;        &lt;Box style={{ flex: 1 }} /&gt;&#13;&#10;        &lt;Text style={{ fontFamily: 'Consolas', fontSize: 16, color: 'rgba(255,255,255,0.34)', letterSpacing: 2 }}&gt;&#13;&#10;            07 / BUSINESS&#13;&#10;        &lt;/Text&gt;&#13;&#10;    &lt;/Box&gt;&#13;&#10;&#13;&#10;    &lt;Box style={{ height: 540, flexDirection: 'row', gap: 26 }}&gt;&#13;&#10;&#13;&#10;        &lt;Box style={{ width: 400, height: 540, flexDirection: 'column' }}&gt;&#13;&#10;            &lt;Text style={{ fontFamily: 'Consolas', fontSize: 14, color: '#22D3EE', letterSpacing: 4 }}&gt;&#13;&#10;                WHO PAYS&#13;&#10;            &lt;/Text&gt;&#13;&#10;&#13;&#10;            &lt;Text style={{ fontFamily: 'Microsoft YaHei', fontSize: 30, fontWeight: 'bold', color: '#FFFFFF', lineHeight: 1.35, marginTop: 14 }}&gt;&#13;&#10;                骑手自己不付钱。&#13;&#10;                &lt;br /&gt;&#13;&#10;                向有合规与舆情压力的一方收费。&#13;&#10;            &lt;/Text&gt;&#13;&#10;&#13;&#10;            &lt;Box style={{ height: 1, background: 'rgba(255,255,255,0.14)', marginTop: 20, marginBottom: 18 }} /&gt;&#13;&#10;&#13;&#10;            &lt;Text style={{ fontFamily: 'Microsoft YaHei', fontSize: 17, color: 'rgba(255,255,255,0.66)', lineHeight: 1.6 }}&gt;&#13;&#10;                单均保费只有千分之几 ETH，靠骑手逐单付费撑不起渠道成本；但平台一次决策就能覆盖成千上万骑手，边际获客成本趋近于零。&#13;&#10;            &lt;/Text&gt;&#13;&#10;&#13;&#10;            &lt;Text style={{ fontFamily: 'Microsoft YaHei', fontSize: 17, color: 'rgba(255,255,255,0.66)', lineHeight: 1.6, marginTop: 12 }}&gt;&#13;&#10;                更关键的是：暴雨天的运力缺口与事故舆情，本身就是平台必须花的钱。&#13;&#10;            &lt;/Text&gt;&#13;&#10;&#13;&#10;            &lt;Box style={{ marginTop: 'auto', background: 'rgba(45,127,249,0.10)', border: '1px solid rgba(45,127,249,0.30)', borderRadius: 5, padding: 16 }}&gt;&#13;&#10;                &lt;Text style={{ fontFamily: 'Consolas', fontSize: 14, color: '#22D3EE', letterSpacing: 3 }}&gt;&#13;&#10;                    RECOMMENDED PATH&#13;&#10;                &lt;/Text&gt;&#13;&#10;                &lt;Text style={{ fontFamily: 'Microsoft YaHei', fontSize: 16, color: 'rgba(255,255,255,0.88)', lineHeight: 1.5, marginTop: 8 }}&gt;&#13;&#10;                    先以平台为客户做 &lt;span style={{ fontFamily: 'Consolas', fontWeight: 'bold', color: '#FFFFFF' }}&gt;B2B2C&lt;/span&gt;，把单区域在保规模做起来；规模起来后，再向保险公司输出定价与证据能力。&#13;&#10;                &lt;/Text&gt;&#13;&#10;            &lt;/Box&gt;&#13;&#10;        &lt;/Box&gt;&#13;&#10;&#13;&#10;        &lt;Box style={{ width: 710, height: 540, flexDirection: 'column' }}&gt;&#13;&#10;&#13;&#10;            &lt;Box style={{ flex: 1, minHeight: 0, flexDirection: 'column' }}&gt;&#13;&#10;                &lt;Text style={{ fontFamily: 'Consolas', fontSize: 14, color: '#22D3EE', letterSpacing: 3 }}&gt;&#13;&#10;                    THREE BUYERS&#13;&#10;                &lt;/Text&gt;&#13;&#10;&#13;&#10;                &lt;Box style={{ flexDirection: 'column', gap: 8, marginTop: 12 }}&gt;&#13;&#10;&#13;&#10;                    &lt;Box style={{ height: 68, flexDirection: 'row', alignItems: 'center', background: 'rgba(255,255,255,0.03)', borderLeft: '3px solid rgba(255,255,255,0.14)', borderRadius: 4, padding: '0 18px' }}&gt;&#13;&#10;                        &lt;Text style={{ width: 172, fontFamily: 'Microsoft YaHei', fontSize: 18, fontWeight: 'bold', color: 'rgba(255,255,255,0.62)' }}&gt;骑手自付&lt;/Text&gt;&#13;&#10;                        &lt;Text style={{ flex: 1, fontFamily: 'Microsoft YaHei', fontSize: 15, color: 'rgba(255,255,255,0.50)', lineHeight: 1.45 }}&gt;&#13;&#10;                            获客成本高、价格极敏感、单均太小撑不起渠道 —— 不推荐作为主路径&#13;&#10;                        &lt;/Text&gt;&#13;&#10;                    &lt;/Box&gt;&#13;&#10;&#13;&#10;                    &lt;Box style={{ height: 102, flexDirection: 'column', justifyContent: 'center', background: 'rgba(45,127,249,0.12)', borderLeft: '3px solid #2D7FF9', borderRadius: 4, padding: '0 18px' }}&gt;&#13;&#10;                        &lt;Box style={{ flexDirection: 'row', alignItems: 'center', gap: 12 }}&gt;&#13;&#10;                            &lt;Text style={{ fontFamily: 'Microsoft YaHei', fontSize: 20, fontWeight: 'bold', color: '#FFFFFF' }}&gt;平台 / 众包服务商&lt;/Text&gt;&#13;&#10;                            &lt;Box style={{ background: 'rgba(34,211,238,0.16)', border: '1px solid rgba(34,211,238,0.42)', borderRadius: 3, padding: '2px 10px' }}&gt;&#13;&#10;                                &lt;Text style={{ fontFamily: 'Microsoft YaHei', fontSize: 13, color: '#22D3EE' }}&gt;推荐&lt;/Text&gt;&#13;&#10;                            &lt;/Box&gt;&#13;&#10;                        &lt;/Box&gt;&#13;&#10;                        &lt;Text style={{ fontFamily: 'Microsoft YaHei', fontSize: 15, color: 'rgba(255,255,255,0.74)', lineHeight: 1.45, marginTop: 6 }}&gt;&#13;&#10;                            一次决策覆盖成千上万骑手，边际获客成本≈0；且它的合规成本、骑手留存与舆情风险对冲都指向同一笔支出&#13;&#10;                        &lt;/Text&gt;&#13;&#10;                    &lt;/Box&gt;&#13;&#10;&#13;&#10;                    &lt;Box style={{ height: 68, flexDirection: 'row', alignItems: 'center', background: 'rgba(255,255,255,0.04)', borderLeft: '3px solid #22D3EE', borderRadius: 4, padding: '0 18px' }}&gt;&#13;&#10;                        &lt;Text style={{ width: 172, fontFamily: 'Microsoft YaHei', fontSize: 18, fontWeight: 'bold', color: '#FFFFFF' }}&gt;保险公司&lt;/Text&gt;&#13;&#10;                        &lt;Text style={{ flex: 1, fontFamily: 'Microsoft YaHei', fontSize: 15, color: 'rgba(255,255,255,0.62)', lineHeight: 1.45 }}&gt;&#13;&#10;                            我们做风控与技术方：输出参数化定价与链上证据层 —— 第二阶段&#13;&#10;                        &lt;/Text&gt;&#13;&#10;                    &lt;/Box&gt;&#13;&#10;&#13;&#10;                &lt;/Box&gt;&#13;&#10;            &lt;/Box&gt;&#13;&#10;&#13;&#10;        &lt;/Box&gt;&#13;&#10;&#13;&#10;    &lt;/Box&gt;&#13;&#10;&#13;&#10;    &lt;Box style={{ height: 40, flexDirection: 'row', alignItems: 'center' }}&gt;&#13;&#10;        &lt;Text style={{ fontFamily: 'Microsoft YaHei', fontSize: 15, color: 'rgba(255,255,255,0.40)' }}&gt;雨证 · RainProof&lt;/Text&gt;&#13;&#10;        &lt;Box style={{ flex: 1 }} /&gt;&#13;&#10;        &lt;Text style={{ fontFamily: 'Consolas', fontSize: 15, color: 'rgba(255,255,255,0.40)' }}&gt;08 / 11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矩形 30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307" name="矩形 306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308" name="文本框 307" descr="{&quot;isTemplate&quot;:true,&quot;type&quot;:&quot;text&quot;}"/>
          <p:cNvSpPr txBox="1"/>
          <p:nvPr/>
        </p:nvSpPr>
        <p:spPr>
          <a:xfrm>
            <a:off x="914400" y="409575"/>
            <a:ext cx="34290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那谁为这个风险付钱？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9" name="文本框 308" descr="{&quot;isTemplate&quot;:true,&quot;type&quot;:&quot;text&quot;}"/>
          <p:cNvSpPr txBox="1"/>
          <p:nvPr/>
        </p:nvSpPr>
        <p:spPr>
          <a:xfrm>
            <a:off x="10163175" y="571500"/>
            <a:ext cx="13430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08 / BUSINESS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10" name="文本框 309" descr="{&quot;isTemplate&quot;:true,&quot;type&quot;:&quot;text&quot;}"/>
          <p:cNvSpPr txBox="1"/>
          <p:nvPr/>
        </p:nvSpPr>
        <p:spPr>
          <a:xfrm>
            <a:off x="685800" y="1143000"/>
            <a:ext cx="3810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0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WHO PAYS</a:t>
            </a:r>
            <a:endParaRPr lang="en-US" sz="1050" spc="30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11" name="文本框 310" descr="{&quot;isTemplate&quot;:true,&quot;type&quot;:&quot;text&quot;}"/>
          <p:cNvSpPr txBox="1"/>
          <p:nvPr/>
        </p:nvSpPr>
        <p:spPr>
          <a:xfrm>
            <a:off x="685800" y="1438275"/>
            <a:ext cx="3810000" cy="1390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骑手自己不付钱。</a:t>
            </a:r>
            <a:endParaRPr lang="zh-CN"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35000"/>
              </a:lnSpc>
            </a:pPr>
            <a:r>
              <a:rPr lang="zh-CN" sz="22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向有合规与舆情压力的一方收费。</a:t>
            </a:r>
            <a:endParaRPr lang="zh-CN" sz="22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2" name="矩形 311"/>
          <p:cNvSpPr/>
          <p:nvPr/>
        </p:nvSpPr>
        <p:spPr>
          <a:xfrm>
            <a:off x="685800" y="3019425"/>
            <a:ext cx="3810000" cy="9525"/>
          </a:xfrm>
          <a:prstGeom prst="rect">
            <a:avLst/>
          </a:prstGeom>
          <a:solidFill>
            <a:srgbClr val="FFFFFF">
              <a:alpha val="14000"/>
            </a:srgbClr>
          </a:solidFill>
        </p:spPr>
        <p:txBody>
          <a:bodyPr/>
          <a:p/>
        </p:txBody>
      </p:sp>
      <p:sp>
        <p:nvSpPr>
          <p:cNvPr id="313" name="文本框 312" descr="{&quot;isTemplate&quot;:true,&quot;type&quot;:&quot;text&quot;}"/>
          <p:cNvSpPr txBox="1"/>
          <p:nvPr/>
        </p:nvSpPr>
        <p:spPr>
          <a:xfrm>
            <a:off x="685800" y="3200400"/>
            <a:ext cx="3810000" cy="9334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单均保费只有千分之几</a:t>
            </a:r>
            <a:r>
              <a:rPr lang="en-US" sz="1275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ETH</a:t>
            </a:r>
            <a:r>
              <a:rPr lang="zh-CN" sz="1275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，靠骑手逐单付费撑不起渠道成本；但平台一次决策就能覆盖成千上万骑手，边际获客成本趋近于零。</a:t>
            </a:r>
            <a:endParaRPr lang="zh-CN" sz="1275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4" name="文本框 313" descr="{&quot;isTemplate&quot;:true,&quot;type&quot;:&quot;text&quot;}"/>
          <p:cNvSpPr txBox="1"/>
          <p:nvPr/>
        </p:nvSpPr>
        <p:spPr>
          <a:xfrm>
            <a:off x="685800" y="4248150"/>
            <a:ext cx="3810000" cy="6286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更关键的是：暴雨天的运力缺口与事故舆情，本身就是平台必须花的钱。</a:t>
            </a:r>
            <a:endParaRPr lang="zh-CN" sz="1275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5" name="圆角矩形 314"/>
          <p:cNvSpPr/>
          <p:nvPr/>
        </p:nvSpPr>
        <p:spPr>
          <a:xfrm>
            <a:off x="685800" y="4914900"/>
            <a:ext cx="3810000" cy="1371600"/>
          </a:xfrm>
          <a:prstGeom prst="roundRect">
            <a:avLst>
              <a:gd name="adj" fmla="val 3472"/>
            </a:avLst>
          </a:prstGeom>
          <a:solidFill>
            <a:srgbClr val="2D7FF9">
              <a:alpha val="10000"/>
            </a:srgbClr>
          </a:solidFill>
          <a:ln w="12700">
            <a:solidFill>
              <a:srgbClr val="2D7FF9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16" name="文本框 315" descr="{&quot;isTemplate&quot;:true,&quot;type&quot;:&quot;text&quot;}"/>
          <p:cNvSpPr txBox="1"/>
          <p:nvPr/>
        </p:nvSpPr>
        <p:spPr>
          <a:xfrm>
            <a:off x="838200" y="5067300"/>
            <a:ext cx="35052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RECOMMENDED PATH</a:t>
            </a:r>
            <a:endParaRPr lang="en-US" sz="1050" spc="22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17" name="文本框 316" descr="{&quot;isTemplate&quot;:true,&quot;type&quot;:&quot;text&quot;}"/>
          <p:cNvSpPr txBox="1"/>
          <p:nvPr/>
        </p:nvSpPr>
        <p:spPr>
          <a:xfrm>
            <a:off x="838200" y="5305425"/>
            <a:ext cx="3505200" cy="82867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先以平台为客户做</a:t>
            </a:r>
            <a:r>
              <a:rPr lang="en-US" sz="120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B2B2C</a:t>
            </a:r>
            <a:r>
              <a:rPr lang="zh-CN" sz="120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，把单区域在保规模做起来；规模起来后，再向保险公司输出定价与证据能力。</a:t>
            </a:r>
            <a:endParaRPr lang="zh-CN" sz="1200">
              <a:solidFill>
                <a:srgbClr val="FFFFFF">
                  <a:alpha val="8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8" name="文本框 317" descr="{&quot;isTemplate&quot;:true,&quot;type&quot;:&quot;text&quot;}"/>
          <p:cNvSpPr txBox="1"/>
          <p:nvPr/>
        </p:nvSpPr>
        <p:spPr>
          <a:xfrm>
            <a:off x="4743450" y="1143000"/>
            <a:ext cx="67627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THREE BUYERS</a:t>
            </a:r>
            <a:endParaRPr lang="en-US" sz="1050" spc="22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19" name="圆角矩形 318"/>
          <p:cNvSpPr/>
          <p:nvPr/>
        </p:nvSpPr>
        <p:spPr>
          <a:xfrm>
            <a:off x="4772025" y="1419225"/>
            <a:ext cx="6762750" cy="647700"/>
          </a:xfrm>
          <a:prstGeom prst="roundRect">
            <a:avLst>
              <a:gd name="adj" fmla="val 5882"/>
            </a:avLst>
          </a:prstGeom>
          <a:solidFill>
            <a:srgbClr val="FFFFFF">
              <a:alpha val="3000"/>
            </a:srgbClr>
          </a:solidFill>
        </p:spPr>
        <p:txBody>
          <a:bodyPr/>
          <a:p/>
        </p:txBody>
      </p:sp>
      <p:sp>
        <p:nvSpPr>
          <p:cNvPr id="320" name="任意多边形 319"/>
          <p:cNvSpPr/>
          <p:nvPr/>
        </p:nvSpPr>
        <p:spPr>
          <a:xfrm>
            <a:off x="4772025" y="1419225"/>
            <a:ext cx="6762750" cy="647700"/>
          </a:xfrm>
          <a:custGeom>
            <a:avLst/>
            <a:gdLst/>
            <a:ahLst/>
            <a:cxnLst/>
            <a:pathLst>
              <a:path w="710" h="68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67"/>
                </a:lnTo>
                <a:cubicBezTo>
                  <a:pt x="3" y="67"/>
                  <a:pt x="3" y="68"/>
                  <a:pt x="4" y="68"/>
                </a:cubicBezTo>
                <a:cubicBezTo>
                  <a:pt x="2" y="68"/>
                  <a:pt x="0" y="66"/>
                  <a:pt x="0" y="6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FFFFFF">
              <a:alpha val="14000"/>
            </a:srgbClr>
          </a:solidFill>
        </p:spPr>
        <p:txBody>
          <a:bodyPr/>
          <a:p/>
        </p:txBody>
      </p:sp>
      <p:sp>
        <p:nvSpPr>
          <p:cNvPr id="321" name="文本框 320" descr="{&quot;isTemplate&quot;:true,&quot;type&quot;:&quot;text&quot;}"/>
          <p:cNvSpPr txBox="1"/>
          <p:nvPr/>
        </p:nvSpPr>
        <p:spPr>
          <a:xfrm>
            <a:off x="4943475" y="1638300"/>
            <a:ext cx="16383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骑手自付</a:t>
            </a:r>
            <a:endParaRPr lang="zh-CN" sz="1350" b="1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2" name="文本框 321" descr="{&quot;isTemplate&quot;:true,&quot;type&quot;:&quot;text&quot;}"/>
          <p:cNvSpPr txBox="1"/>
          <p:nvPr/>
        </p:nvSpPr>
        <p:spPr>
          <a:xfrm>
            <a:off x="6581775" y="1619250"/>
            <a:ext cx="47529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获客成本高、价格极敏感、单均太小撑不起渠道</a:t>
            </a:r>
            <a:r>
              <a:rPr lang="en-US" sz="1125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125">
                <a:solidFill>
                  <a:srgbClr val="FFFFFF">
                    <a:alpha val="5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不推荐作为主路径</a:t>
            </a:r>
            <a:endParaRPr lang="zh-CN" sz="1125">
              <a:solidFill>
                <a:srgbClr val="FFFFFF">
                  <a:alpha val="5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3" name="圆角矩形 322"/>
          <p:cNvSpPr/>
          <p:nvPr/>
        </p:nvSpPr>
        <p:spPr>
          <a:xfrm>
            <a:off x="4772025" y="2143125"/>
            <a:ext cx="6762750" cy="971550"/>
          </a:xfrm>
          <a:prstGeom prst="roundRect">
            <a:avLst>
              <a:gd name="adj" fmla="val 3922"/>
            </a:avLst>
          </a:prstGeom>
          <a:solidFill>
            <a:srgbClr val="2D7FF9">
              <a:alpha val="12000"/>
            </a:srgbClr>
          </a:solidFill>
        </p:spPr>
        <p:txBody>
          <a:bodyPr/>
          <a:p/>
        </p:txBody>
      </p:sp>
      <p:sp>
        <p:nvSpPr>
          <p:cNvPr id="324" name="任意多边形 323"/>
          <p:cNvSpPr/>
          <p:nvPr/>
        </p:nvSpPr>
        <p:spPr>
          <a:xfrm>
            <a:off x="4772025" y="2143125"/>
            <a:ext cx="6762750" cy="971550"/>
          </a:xfrm>
          <a:custGeom>
            <a:avLst/>
            <a:gdLst/>
            <a:ahLst/>
            <a:cxnLst/>
            <a:pathLst>
              <a:path w="710" h="102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101"/>
                </a:lnTo>
                <a:cubicBezTo>
                  <a:pt x="3" y="101"/>
                  <a:pt x="3" y="102"/>
                  <a:pt x="4" y="102"/>
                </a:cubicBezTo>
                <a:cubicBezTo>
                  <a:pt x="2" y="102"/>
                  <a:pt x="0" y="100"/>
                  <a:pt x="0" y="9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2D7FF9"/>
          </a:solidFill>
        </p:spPr>
        <p:txBody>
          <a:bodyPr/>
          <a:p/>
        </p:txBody>
      </p:sp>
      <p:sp>
        <p:nvSpPr>
          <p:cNvPr id="325" name="文本框 324" descr="{&quot;isTemplate&quot;:true,&quot;type&quot;:&quot;text&quot;}"/>
          <p:cNvSpPr txBox="1"/>
          <p:nvPr/>
        </p:nvSpPr>
        <p:spPr>
          <a:xfrm>
            <a:off x="4943475" y="2238375"/>
            <a:ext cx="1543050" cy="228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平台</a:t>
            </a:r>
            <a:r>
              <a:rPr 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/ </a:t>
            </a:r>
            <a:r>
              <a:rPr 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众包服务商</a:t>
            </a:r>
            <a:endParaRPr 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6" name="圆角矩形 325"/>
          <p:cNvSpPr/>
          <p:nvPr/>
        </p:nvSpPr>
        <p:spPr>
          <a:xfrm>
            <a:off x="6600825" y="2257425"/>
            <a:ext cx="438150" cy="190500"/>
          </a:xfrm>
          <a:prstGeom prst="roundRect">
            <a:avLst>
              <a:gd name="adj" fmla="val 15000"/>
            </a:avLst>
          </a:prstGeom>
          <a:solidFill>
            <a:srgbClr val="22D3EE">
              <a:alpha val="16000"/>
            </a:srgbClr>
          </a:solidFill>
          <a:ln w="12700">
            <a:solidFill>
              <a:srgbClr val="22D3EE">
                <a:alpha val="4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27" name="文本框 326" descr="{&quot;isTemplate&quot;:true,&quot;type&quot;:&quot;text&quot;}"/>
          <p:cNvSpPr txBox="1"/>
          <p:nvPr/>
        </p:nvSpPr>
        <p:spPr>
          <a:xfrm>
            <a:off x="6696075" y="2276475"/>
            <a:ext cx="2476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推荐</a:t>
            </a:r>
            <a:endParaRPr lang="zh-CN" sz="975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8" name="文本框 327" descr="{&quot;isTemplate&quot;:true,&quot;type&quot;:&quot;text&quot;}"/>
          <p:cNvSpPr txBox="1"/>
          <p:nvPr/>
        </p:nvSpPr>
        <p:spPr>
          <a:xfrm>
            <a:off x="4943475" y="2524125"/>
            <a:ext cx="6391275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一次决策覆盖成千上万骑手，边际获客成本≈</a:t>
            </a:r>
            <a:r>
              <a:rPr lang="en-US" sz="112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0</a:t>
            </a:r>
            <a:r>
              <a:rPr lang="zh-CN" sz="1125">
                <a:solidFill>
                  <a:srgbClr val="FFFFFF">
                    <a:alpha val="7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；且它的合规成本、骑手留存与舆情风险对冲都指向同一笔支出</a:t>
            </a:r>
            <a:endParaRPr lang="zh-CN" sz="1125">
              <a:solidFill>
                <a:srgbClr val="FFFFFF">
                  <a:alpha val="7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9" name="圆角矩形 328"/>
          <p:cNvSpPr/>
          <p:nvPr/>
        </p:nvSpPr>
        <p:spPr>
          <a:xfrm>
            <a:off x="4772025" y="3190875"/>
            <a:ext cx="6762750" cy="647700"/>
          </a:xfrm>
          <a:prstGeom prst="roundRect">
            <a:avLst>
              <a:gd name="adj" fmla="val 5882"/>
            </a:avLst>
          </a:prstGeom>
          <a:solidFill>
            <a:srgbClr val="FFFFFF">
              <a:alpha val="4000"/>
            </a:srgbClr>
          </a:solidFill>
        </p:spPr>
        <p:txBody>
          <a:bodyPr/>
          <a:p/>
        </p:txBody>
      </p:sp>
      <p:sp>
        <p:nvSpPr>
          <p:cNvPr id="330" name="任意多边形 329"/>
          <p:cNvSpPr/>
          <p:nvPr/>
        </p:nvSpPr>
        <p:spPr>
          <a:xfrm>
            <a:off x="4772025" y="3190875"/>
            <a:ext cx="6762750" cy="647700"/>
          </a:xfrm>
          <a:custGeom>
            <a:avLst/>
            <a:gdLst/>
            <a:ahLst/>
            <a:cxnLst/>
            <a:pathLst>
              <a:path w="710" h="68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67"/>
                </a:lnTo>
                <a:cubicBezTo>
                  <a:pt x="3" y="67"/>
                  <a:pt x="3" y="68"/>
                  <a:pt x="4" y="68"/>
                </a:cubicBezTo>
                <a:cubicBezTo>
                  <a:pt x="2" y="68"/>
                  <a:pt x="0" y="66"/>
                  <a:pt x="0" y="64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22D3EE"/>
          </a:solidFill>
        </p:spPr>
        <p:txBody>
          <a:bodyPr/>
          <a:p/>
        </p:txBody>
      </p:sp>
      <p:sp>
        <p:nvSpPr>
          <p:cNvPr id="331" name="文本框 330" descr="{&quot;isTemplate&quot;:true,&quot;type&quot;:&quot;text&quot;}"/>
          <p:cNvSpPr txBox="1"/>
          <p:nvPr/>
        </p:nvSpPr>
        <p:spPr>
          <a:xfrm>
            <a:off x="4943475" y="3409950"/>
            <a:ext cx="1638300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保险公司</a:t>
            </a:r>
            <a:endParaRPr lang="zh-CN"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2" name="文本框 331" descr="{&quot;isTemplate&quot;:true,&quot;type&quot;:&quot;text&quot;}"/>
          <p:cNvSpPr txBox="1"/>
          <p:nvPr/>
        </p:nvSpPr>
        <p:spPr>
          <a:xfrm>
            <a:off x="6581775" y="3390900"/>
            <a:ext cx="47529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我们做风控与技术方：输出参数化定价与链上证据层</a:t>
            </a:r>
            <a:r>
              <a:rPr lang="en-US" sz="1125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125">
                <a:solidFill>
                  <a:srgbClr val="FFFFFF">
                    <a:alpha val="6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第二阶段</a:t>
            </a:r>
            <a:endParaRPr lang="zh-CN" sz="1125">
              <a:solidFill>
                <a:srgbClr val="FFFFFF">
                  <a:alpha val="6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4" name="文本框 333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09 / 12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35" name="TextBox 334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So who pays for this risk?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3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3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3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3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3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3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3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3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500" fill="hold"/>
                                        <p:tgtEl>
                                          <p:spTgt spid="3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3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3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9" dur="500" fill="hold"/>
                                        <p:tgtEl>
                                          <p:spTgt spid="3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6" grpId="0"/>
      <p:bldP spid="307" grpId="0"/>
      <p:bldP spid="308" grpId="0"/>
      <p:bldP spid="309" grpId="0"/>
      <p:bldP spid="310" grpId="0"/>
      <p:bldP spid="311" grpId="0"/>
      <p:bldP spid="318" grpId="0"/>
      <p:bldP spid="319" grpId="0"/>
      <p:bldP spid="321" grpId="0"/>
      <p:bldP spid="322" grpId="0"/>
      <p:bldP spid="320" grpId="0"/>
      <p:bldP spid="323" grpId="0"/>
      <p:bldP spid="325" grpId="0"/>
      <p:bldP spid="328" grpId="0"/>
      <p:bldP spid="324" grpId="0"/>
      <p:bldP spid="326" grpId="0"/>
      <p:bldP spid="327" grpId="0"/>
      <p:bldP spid="312" grpId="0"/>
      <p:bldP spid="313" grpId="0"/>
      <p:bldP spid="329" grpId="0"/>
      <p:bldP spid="331" grpId="0"/>
      <p:bldP spid="332" grpId="0"/>
      <p:bldP spid="330" grpId="0"/>
      <p:bldP spid="314" grpId="0"/>
      <p:bldP spid="315" grpId="0"/>
      <p:bldP spid="316" grpId="0"/>
      <p:bldP spid="31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335" name="" descr="&lt;Slide style={{ width: 1280, height: 720, background: '#0A1422', padding: '20px 72px' }}&gt;&#10;&#10;    &lt;Box style={{ height: 100, flexDirection: 'row', alignItems: 'center', gap: 20 }}&gt;&#10;        &lt;Box style={{ width: 4, height: 30, background: 'linear-gradient(135deg, #2D7FF9 0%, #22D3EE 100%)' }} /&gt;&#10;        &lt;Text style={{ fontFamily: 'Microsoft YaHei', fontSize: 36, fontWeight: 'bold', color: '#FFFFFF', lineHeight: 1.25 }}&gt;&#10;            回到那个骑手&#10;        &lt;/Text&gt;&#10;        &lt;Box style={{ flex: 1 }} /&gt;&#10;        &lt;Text style={{ fontFamily: 'Consolas', fontSize: 16, color: 'rgba(255,255,255,0.34)', letterSpacing: 2 }}&gt;&#10;            08 / BACK TO HIM&#10;        &lt;/Text&gt;&#10;    &lt;/Box&gt;&#10;&#10;    &lt;Box style={{ height: 540, flexDirection: 'column' }}&gt;&#10;&#10;        &lt;Box style={{ height: 216, position: 'relative', borderRadius: 6, overflow: 'hidden', border: '1px solid rgba(255,255,255,0.12)' }}&gt;&#10;            &lt;Image src=&quot;assets/rider_payout_phone.png&quot; style={{ width: '100%', height: '100%', objectFit: 'cover', objectPosition: 'center 35%' }} /&gt;&#10;            &lt;Box style={{ position: 'absolute', top: 0, left: 0, width: 1136, height: 216, background: 'linear-gradient(180deg, rgba(10,20,34,0) 26%, rgba(10,20,34,0.92) 100%)' }} /&gt;&#10;            &lt;Box style={{ position: 'absolute', left: 28, bottom: 22, width: 920, flexDirection: 'column' }}&gt;&#10;                &lt;Text style={{ fontFamily: 'Consolas', fontSize: 14, color: '#22D3EE', letterSpacing: 4 }}&gt;&#10;                    PRIMARY SCENARIO&#10;                &lt;/Text&gt;&#10;                &lt;Text style={{ fontFamily: 'Microsoft YaHei', fontSize: 22, fontWeight: 'bold', color: '#FFFFFF', lineHeight: 1.4, marginTop: 8 }}&gt;&#10;                    暴雨日平台限流、骑手停工 —— 收入中断由链上判定自动兜底&#10;                &lt;/Text&gt;&#10;            &lt;/Box&gt;&#10;        &lt;/Box&gt;&#10;&#10;        &lt;Box style={{ flexDirection: 'column', marginTop: 20 }}&gt;&#10;            &lt;Text style={{ fontFamily: 'Consolas', fontSize: 14, color: '#22D3EE', letterSpacing: 3 }}&gt;&#10;                TRADITIONAL RIDER ACCIDENT VS. RAINPROOF&#10;            &lt;/Text&gt;&#10;&#10;            &lt;Box style={{ height: 30, flexDirection: 'row', alignItems: 'center', marginTop: 8, gap: 20 }}&gt;&#10;                &lt;Text style={{ width: 140, fontFamily: 'Microsoft YaHei', fontSize: 14, color: 'rgba(255,255,255,0.40)' }}&gt;对比维度&lt;/Text&gt;&#10;                &lt;Text style={{ width: 450, fontFamily: 'Microsoft YaHei', fontSize: 14, color: 'rgba(255,255,255,0.40)' }}&gt;传统骑手意外险&lt;/Text&gt;&#10;                &lt;Text style={{ width: 450, fontFamily: 'Microsoft YaHei', fontSize: 14, color: '#22D3EE' }}&gt;雨证 · 参数化降雨险&lt;/Text&gt;&#10;            &lt;/Box&gt;&#10;&#10;            &lt;Box style={{ flexDirection: 'column', gap: 8, marginTop: 8 }}&gt;&#10;                &lt;Box style={{ height: 64, flexDirection: 'row', alignItems: 'center', gap: 20, background: 'rgba(255,255,255,0.04)', borderRadius: 5, padding: '0 18px', border: '1px solid rgba(255,255,255,0.08)' }}&gt;&#10;                    &lt;Text style={{ width: 140, fontFamily: 'Microsoft YaHei', fontSize: 16, fontWeight: 'bold', color: '#FFFFFF' }}&gt;触发依据&lt;/Text&gt;&#10;                    &lt;Text style={{ width: 450, fontFamily: 'Microsoft YaHei', fontSize: 16, color: 'rgba(255,255,255,0.56)' }}&gt;实际受伤与实际损失&lt;/Text&gt;&#10;                    &lt;Text style={{ width: 450, fontFamily: 'Microsoft YaHei', fontSize: 16, color: 'rgba(255,255,255,0.88)' }}&gt;链上降雨量是否越过国标线&lt;/Text&gt;&#10;                &lt;/Box&gt;&#10;                &lt;Box style={{ height: 64, flexDirection: 'row', alignItems: 'center', gap: 20, background: 'rgba(255,255,255,0.04)', borderRadius: 5, padding: '0 18px', border: '1px solid rgba(255,255,255,0.08)' }}&gt;&#10;                    &lt;Text style={{ width: 140, fontFamily: 'Microsoft YaHei', fontSize: 16, fontWeight: 'bold', color: '#FFFFFF' }}&gt;举证责任&lt;/Text&gt;&#10;                    &lt;Text style={{ width: 450, fontFamily: 'Microsoft YaHei', fontSize: 16, color: 'rgba(255,255,255,0.56)' }}&gt;骑手报案 + 人工查勘定损&lt;/Text&gt;&#10;                    &lt;Text style={{ width: 450, fontFamily: 'Microsoft YaHei', fontSize: 16, color: 'rgba(255,255,255,0.88)' }}&gt;无人报案，判定链上自证&lt;/Text&gt;&#10;                &lt;/Box&gt;&#10;            &lt;/Box&gt;&#10;        &lt;/Box&gt;&#10;&#10;        &lt;Box style={{ marginTop: 'auto', background: 'rgba(45,127,249,0.10)', border: '1px solid rgba(45,127,249,0.30)', borderRadius: 5, padding: '16px 26px' }}&gt;&#10;            &lt;Text style={{ fontFamily: 'Microsoft YaHei', fontSize: 28, fontWeight: 'bold', color: '#FFFFFF', lineHeight: 1.3 }}&gt;&#10;                贵的不是赔付，是「&lt;span style={{ color: '#22D3EE' }}&gt;查&lt;/span&gt;」。&#10;            &lt;/Text&gt;&#10;        &lt;/Box&gt;&#10;&#10;    &lt;/Box&gt;&#10;&#10;    &lt;Box style={{ height: 40, flexDirection: 'row', alignItems: 'center' }}&gt;&#10;        &lt;Text style={{ fontFamily: 'Microsoft YaHei', fontSize: 15, color: 'rgba(255,255,255,0.40)' }}&gt;雨证 · RainProof&lt;/Text&gt;&#10;        &lt;Box style={{ flex: 1 }} /&gt;&#10;        &lt;Text style={{ fontFamily: 'Consolas', fontSize: 15, color: 'rgba(255,255,255,0.40)' }}&gt;09 / 11&lt;/Text&gt;&#10;    &lt;/Box&gt;&#10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矩形 33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337" name="矩形 336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338" name="文本框 337" descr="{&quot;isTemplate&quot;:true,&quot;type&quot;:&quot;text&quot;}"/>
          <p:cNvSpPr txBox="1"/>
          <p:nvPr/>
        </p:nvSpPr>
        <p:spPr>
          <a:xfrm>
            <a:off x="914400" y="409575"/>
            <a:ext cx="205740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回到那个骑手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9" name="文本框 338" descr="{&quot;isTemplate&quot;:true,&quot;type&quot;:&quot;text&quot;}"/>
          <p:cNvSpPr txBox="1"/>
          <p:nvPr/>
        </p:nvSpPr>
        <p:spPr>
          <a:xfrm>
            <a:off x="9858375" y="571500"/>
            <a:ext cx="16478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09 / BACK TO HIM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40" name="文本框 339" descr="{&quot;isTemplate&quot;:true,&quot;type&quot;:&quot;text&quot;}"/>
          <p:cNvSpPr txBox="1"/>
          <p:nvPr/>
        </p:nvSpPr>
        <p:spPr>
          <a:xfrm>
            <a:off x="685800" y="3390900"/>
            <a:ext cx="108204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TRADITIONAL RIDER ACCIDENT VS. RAINPROOF</a:t>
            </a:r>
            <a:endParaRPr lang="en-US" sz="1050" spc="22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41" name="文本框 340" descr="{&quot;isTemplate&quot;:true,&quot;type&quot;:&quot;text&quot;}"/>
          <p:cNvSpPr txBox="1"/>
          <p:nvPr/>
        </p:nvSpPr>
        <p:spPr>
          <a:xfrm>
            <a:off x="685800" y="3695700"/>
            <a:ext cx="13335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4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对比维度</a:t>
            </a:r>
            <a:endParaRPr lang="zh-CN" sz="1050">
              <a:solidFill>
                <a:srgbClr val="FFFFFF">
                  <a:alpha val="4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2" name="文本框 341" descr="{&quot;isTemplate&quot;:true,&quot;type&quot;:&quot;text&quot;}"/>
          <p:cNvSpPr txBox="1"/>
          <p:nvPr/>
        </p:nvSpPr>
        <p:spPr>
          <a:xfrm>
            <a:off x="2209800" y="3695700"/>
            <a:ext cx="42862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4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传统骑手意外险</a:t>
            </a:r>
            <a:endParaRPr lang="zh-CN" sz="1050">
              <a:solidFill>
                <a:srgbClr val="FFFFFF">
                  <a:alpha val="4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3" name="文本框 342" descr="{&quot;isTemplate&quot;:true,&quot;type&quot;:&quot;text&quot;}"/>
          <p:cNvSpPr txBox="1"/>
          <p:nvPr/>
        </p:nvSpPr>
        <p:spPr>
          <a:xfrm>
            <a:off x="6686550" y="3695700"/>
            <a:ext cx="42862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雨证</a:t>
            </a:r>
            <a:r>
              <a:rPr lang="en-US" sz="105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050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参数化降雨险</a:t>
            </a:r>
            <a:endParaRPr lang="zh-CN" sz="1050">
              <a:solidFill>
                <a:srgbClr val="22D3EE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4" name="圆角矩形 343"/>
          <p:cNvSpPr/>
          <p:nvPr/>
        </p:nvSpPr>
        <p:spPr>
          <a:xfrm>
            <a:off x="685800" y="3990975"/>
            <a:ext cx="10820400" cy="609600"/>
          </a:xfrm>
          <a:prstGeom prst="roundRect">
            <a:avLst>
              <a:gd name="adj" fmla="val 781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5" name="文本框 344" descr="{&quot;isTemplate&quot;:true,&quot;type&quot;:&quot;text&quot;}"/>
          <p:cNvSpPr txBox="1"/>
          <p:nvPr/>
        </p:nvSpPr>
        <p:spPr>
          <a:xfrm>
            <a:off x="857250" y="4200525"/>
            <a:ext cx="13335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触发依据</a:t>
            </a:r>
            <a:endParaRPr 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6" name="文本框 345" descr="{&quot;isTemplate&quot;:true,&quot;type&quot;:&quot;text&quot;}"/>
          <p:cNvSpPr txBox="1"/>
          <p:nvPr/>
        </p:nvSpPr>
        <p:spPr>
          <a:xfrm>
            <a:off x="2381250" y="4200525"/>
            <a:ext cx="4286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实际受伤与实际损失</a:t>
            </a:r>
            <a:endParaRPr lang="zh-CN" sz="1200">
              <a:solidFill>
                <a:srgbClr val="FFFFFF">
                  <a:alpha val="5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7" name="文本框 346" descr="{&quot;isTemplate&quot;:true,&quot;type&quot;:&quot;text&quot;}"/>
          <p:cNvSpPr txBox="1"/>
          <p:nvPr/>
        </p:nvSpPr>
        <p:spPr>
          <a:xfrm>
            <a:off x="6858000" y="4200525"/>
            <a:ext cx="4286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链上降雨量是否越过合约阈值（72h 档 150 mm）</a:t>
            </a:r>
            <a:endParaRPr lang="zh-CN" sz="1200">
              <a:solidFill>
                <a:srgbClr val="FFFFFF">
                  <a:alpha val="8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8" name="圆角矩形 347"/>
          <p:cNvSpPr/>
          <p:nvPr/>
        </p:nvSpPr>
        <p:spPr>
          <a:xfrm>
            <a:off x="685800" y="4676775"/>
            <a:ext cx="10820400" cy="609600"/>
          </a:xfrm>
          <a:prstGeom prst="roundRect">
            <a:avLst>
              <a:gd name="adj" fmla="val 7813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49" name="文本框 348" descr="{&quot;isTemplate&quot;:true,&quot;type&quot;:&quot;text&quot;}"/>
          <p:cNvSpPr txBox="1"/>
          <p:nvPr/>
        </p:nvSpPr>
        <p:spPr>
          <a:xfrm>
            <a:off x="857250" y="4886325"/>
            <a:ext cx="13335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举证责任</a:t>
            </a:r>
            <a:endParaRPr lang="zh-CN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0" name="文本框 349" descr="{&quot;isTemplate&quot;:true,&quot;type&quot;:&quot;text&quot;}"/>
          <p:cNvSpPr txBox="1"/>
          <p:nvPr/>
        </p:nvSpPr>
        <p:spPr>
          <a:xfrm>
            <a:off x="2381250" y="4886325"/>
            <a:ext cx="4286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骑手报案</a:t>
            </a:r>
            <a:r>
              <a:rPr lang="en-US" sz="120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200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人工查勘定损</a:t>
            </a:r>
            <a:endParaRPr lang="zh-CN" sz="1200">
              <a:solidFill>
                <a:srgbClr val="FFFFFF">
                  <a:alpha val="5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1" name="文本框 350" descr="{&quot;isTemplate&quot;:true,&quot;type&quot;:&quot;text&quot;}"/>
          <p:cNvSpPr txBox="1"/>
          <p:nvPr/>
        </p:nvSpPr>
        <p:spPr>
          <a:xfrm>
            <a:off x="6858000" y="4886325"/>
            <a:ext cx="42862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FFFFF">
                    <a:alpha val="88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无人报案，判定链上自证</a:t>
            </a:r>
            <a:endParaRPr lang="zh-CN" sz="1200">
              <a:solidFill>
                <a:srgbClr val="FFFFFF">
                  <a:alpha val="88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2" name="圆角矩形 351"/>
          <p:cNvSpPr/>
          <p:nvPr/>
        </p:nvSpPr>
        <p:spPr>
          <a:xfrm>
            <a:off x="685800" y="5562600"/>
            <a:ext cx="10820400" cy="723900"/>
          </a:xfrm>
          <a:prstGeom prst="roundRect">
            <a:avLst>
              <a:gd name="adj" fmla="val 6579"/>
            </a:avLst>
          </a:prstGeom>
          <a:solidFill>
            <a:srgbClr val="2D7FF9">
              <a:alpha val="10000"/>
            </a:srgbClr>
          </a:solidFill>
          <a:ln w="12700">
            <a:solidFill>
              <a:srgbClr val="2D7FF9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353" name="文本框 352" descr="{&quot;isTemplate&quot;:true,&quot;type&quot;:&quot;text&quot;}"/>
          <p:cNvSpPr txBox="1"/>
          <p:nvPr/>
        </p:nvSpPr>
        <p:spPr>
          <a:xfrm>
            <a:off x="933450" y="5715000"/>
            <a:ext cx="10325100" cy="4191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贵的不是赔付，是「</a:t>
            </a:r>
            <a:r>
              <a:rPr lang="zh-CN" sz="2100" b="1">
                <a:solidFill>
                  <a:srgbClr val="22D3EE"/>
                </a:solidFill>
                <a:latin typeface="微软雅黑" panose="020B0503020204020204" charset="-122"/>
                <a:ea typeface="微软雅黑" panose="020B0503020204020204" charset="-122"/>
              </a:rPr>
              <a:t>查</a:t>
            </a:r>
            <a:r>
              <a:rPr lang="zh-CN"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」。</a:t>
            </a:r>
            <a:endParaRPr lang="zh-CN"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5" name="文本框 354" descr="{&quot;isTemplate&quot;:true,&quot;type&quot;:&quot;text&quot;}"/>
          <p:cNvSpPr txBox="1"/>
          <p:nvPr/>
        </p:nvSpPr>
        <p:spPr>
          <a:xfrm>
            <a:off x="10953750" y="6391275"/>
            <a:ext cx="5524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0000"/>
                  </a:srgbClr>
                </a:solidFill>
                <a:latin typeface="Consolas" panose="020B0609020204030204"/>
                <a:ea typeface="Consolas" panose="020B0609020204030204"/>
              </a:rPr>
              <a:t>10 / 12</a:t>
            </a:r>
            <a:endParaRPr lang="en-US" sz="1125">
              <a:solidFill>
                <a:srgbClr val="FFFFFF">
                  <a:alpha val="40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56" name="圆角矩形 355"/>
          <p:cNvSpPr/>
          <p:nvPr/>
        </p:nvSpPr>
        <p:spPr>
          <a:xfrm>
            <a:off x="685800" y="1143000"/>
            <a:ext cx="10820400" cy="2057400"/>
          </a:xfrm>
          <a:prstGeom prst="roundRect">
            <a:avLst>
              <a:gd name="adj" fmla="val 2778"/>
            </a:avLst>
          </a:prstGeom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p/>
        </p:txBody>
      </p:sp>
      <p:pic>
        <p:nvPicPr>
          <p:cNvPr id="357" name="图片 356"/>
          <p:cNvPicPr>
            <a:picLocks noChangeAspect="1"/>
          </p:cNvPicPr>
          <p:nvPr/>
        </p:nvPicPr>
        <p:blipFill>
          <a:blip r:embed="rId1"/>
          <a:srcRect t="34530" b="34530"/>
          <a:stretch>
            <a:fillRect/>
          </a:stretch>
        </p:blipFill>
        <p:spPr>
          <a:xfrm>
            <a:off x="685800" y="1143000"/>
            <a:ext cx="10820400" cy="2057400"/>
          </a:xfrm>
          <a:custGeom>
            <a:avLst/>
            <a:gdLst/>
            <a:ahLst/>
            <a:cxnLst/>
            <a:pathLst>
              <a:path w="1136" h="216">
                <a:moveTo>
                  <a:pt x="1130" y="0"/>
                </a:moveTo>
                <a:cubicBezTo>
                  <a:pt x="1133" y="0"/>
                  <a:pt x="1136" y="3"/>
                  <a:pt x="1136" y="6"/>
                </a:cubicBezTo>
                <a:lnTo>
                  <a:pt x="1136" y="210"/>
                </a:lnTo>
                <a:cubicBezTo>
                  <a:pt x="1136" y="213"/>
                  <a:pt x="1133" y="216"/>
                  <a:pt x="1130" y="216"/>
                </a:cubicBezTo>
                <a:lnTo>
                  <a:pt x="6" y="216"/>
                </a:lnTo>
                <a:cubicBezTo>
                  <a:pt x="3" y="216"/>
                  <a:pt x="0" y="213"/>
                  <a:pt x="0" y="21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lnTo>
                  <a:pt x="1130" y="0"/>
                </a:lnTo>
                <a:close/>
              </a:path>
            </a:pathLst>
          </a:custGeom>
        </p:spPr>
      </p:pic>
      <p:sp>
        <p:nvSpPr>
          <p:cNvPr id="358" name="任意多边形 357"/>
          <p:cNvSpPr/>
          <p:nvPr/>
        </p:nvSpPr>
        <p:spPr>
          <a:xfrm>
            <a:off x="685800" y="1143000"/>
            <a:ext cx="10820400" cy="2057400"/>
          </a:xfrm>
          <a:custGeom>
            <a:avLst/>
            <a:gdLst/>
            <a:ahLst/>
            <a:cxnLst/>
            <a:pathLst>
              <a:path w="1136" h="216">
                <a:moveTo>
                  <a:pt x="1130" y="0"/>
                </a:moveTo>
                <a:cubicBezTo>
                  <a:pt x="1133" y="0"/>
                  <a:pt x="1136" y="3"/>
                  <a:pt x="1136" y="6"/>
                </a:cubicBezTo>
                <a:lnTo>
                  <a:pt x="1136" y="210"/>
                </a:lnTo>
                <a:cubicBezTo>
                  <a:pt x="1136" y="213"/>
                  <a:pt x="1133" y="216"/>
                  <a:pt x="1130" y="216"/>
                </a:cubicBezTo>
                <a:lnTo>
                  <a:pt x="6" y="216"/>
                </a:lnTo>
                <a:cubicBezTo>
                  <a:pt x="3" y="216"/>
                  <a:pt x="0" y="213"/>
                  <a:pt x="0" y="21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lnTo>
                  <a:pt x="1130" y="0"/>
                </a:lnTo>
                <a:close/>
              </a:path>
            </a:pathLst>
          </a:custGeom>
          <a:gradFill>
            <a:gsLst>
              <a:gs pos="26000">
                <a:srgbClr val="0A1422">
                  <a:alpha val="0"/>
                </a:srgbClr>
              </a:gs>
              <a:gs pos="100000">
                <a:srgbClr val="0A1422">
                  <a:alpha val="92000"/>
                </a:srgbClr>
              </a:gs>
            </a:gsLst>
            <a:lin ang="5400000" scaled="1"/>
          </a:gradFill>
        </p:spPr>
        <p:txBody>
          <a:bodyPr/>
          <a:p/>
        </p:txBody>
      </p:sp>
      <p:sp>
        <p:nvSpPr>
          <p:cNvPr id="359" name="文本框 358" descr="{&quot;isTemplate&quot;:true,&quot;type&quot;:&quot;text&quot;}"/>
          <p:cNvSpPr txBox="1"/>
          <p:nvPr/>
        </p:nvSpPr>
        <p:spPr>
          <a:xfrm>
            <a:off x="952500" y="2400300"/>
            <a:ext cx="87630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0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PRIMARY SCENARIO</a:t>
            </a:r>
            <a:endParaRPr lang="en-US" sz="1050" spc="30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60" name="文本框 359" descr="{&quot;isTemplate&quot;:true,&quot;type&quot;:&quot;text&quot;}"/>
          <p:cNvSpPr txBox="1"/>
          <p:nvPr/>
        </p:nvSpPr>
        <p:spPr>
          <a:xfrm>
            <a:off x="952500" y="2638425"/>
            <a:ext cx="8763000" cy="3524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暴雨日平台限流、骑手停工</a:t>
            </a:r>
            <a:r>
              <a:rPr lang="en-US"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收入中断由链上判定自动兜底</a:t>
            </a:r>
            <a:endParaRPr lang="zh-CN" sz="1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1" name="TextBox 360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>
                <a:solidFill>
                  <a:srgbClr val="FFFFFF"/>
                </a:solidFill>
                <a:latin typeface="Consolas" panose="020B0609020204030204"/>
              </a:rPr>
              <a:t>Back to that rider</a:t>
            </a:r>
            <a:endParaRPr sz="1200">
              <a:solidFill>
                <a:srgbClr val="FFFFFF"/>
              </a:solidFill>
              <a:latin typeface="Consolas" panose="020B0609020204030204"/>
            </a:endParaRP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800"/>
                                        <p:tgtEl>
                                          <p:spTgt spid="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3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3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3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3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3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3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3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3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6" grpId="0"/>
      <p:bldP spid="337" grpId="0"/>
      <p:bldP spid="338" grpId="0"/>
      <p:bldP spid="339" grpId="0"/>
      <p:bldP spid="356" grpId="0"/>
      <p:bldP spid="359" grpId="0"/>
      <p:bldP spid="360" grpId="0"/>
      <p:bldP spid="357" grpId="0"/>
      <p:bldP spid="358" grpId="0"/>
      <p:bldP spid="340" grpId="0"/>
      <p:bldP spid="341" grpId="0"/>
      <p:bldP spid="342" grpId="0"/>
      <p:bldP spid="343" grpId="0"/>
      <p:bldP spid="344" grpId="0"/>
      <p:bldP spid="345" grpId="0"/>
      <p:bldP spid="346" grpId="0"/>
      <p:bldP spid="347" grpId="0"/>
      <p:bldP spid="348" grpId="0"/>
      <p:bldP spid="349" grpId="0"/>
      <p:bldP spid="350" grpId="0"/>
      <p:bldP spid="351" grpId="0"/>
      <p:bldP spid="352" grpId="0"/>
      <p:bldP spid="35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27" name="" descr="&lt;Slide style={{ width: 1280, height: 720, background: '#0A1422', position: 'relative', overflow: 'hidden', padding: 0 }}&gt;&#13;&#10;&#13;&#10;    &lt;Image src=&quot;assets/dawn_clear_city.png&quot; style={{ position: 'absolute', top: 0, left: 0, width: 1280, height: 720, objectFit: 'cover' }} /&gt;&#13;&#10;&#13;&#10;    &lt;Box style={{ position: 'absolute', top: 0, left: 0, width: 1280, height: 720, background: 'linear-gradient(90deg, rgba(10,20,34,0.96) 0%, rgba(10,20,34,0.86) 46%, rgba(10,20,34,0.30) 100%)' }} /&gt;&#13;&#10;&#13;&#10;    &lt;Box style={{ position: 'absolute', top: 0, left: 0, width: 1280, height: 720, background: 'linear-gradient(180deg, rgba(10,20,34,0.55) 0%, rgba(10,20,34,0) 34%, rgba(10,20,34,0.72) 100%)' }} /&gt;&#13;&#10;&#13;&#10;    &lt;Box style={{ position: 'absolute', top: 150, left: 96, width: 6, height: 4, background: 'linear-gradient(90deg, #2D7FF9 0%, #22D3EE 100%)' }} /&gt;&#13;&#10;&#13;&#10;    &lt;Box style={{ position: 'absolute', top: 186, left: 96, width: 760, flexDirection: 'column' }}&gt;&#13;&#10;        &lt;Text style={{ fontFamily: 'Consolas', fontSize: 17, letterSpacing: 5, color: '#22D3EE', lineHeight: 1.4 }}&gt;&#13;&#10;            汉客松 S1 · ETH Wuhan 2026&#13;&#10;        &lt;/Text&gt;&#13;&#10;&#13;&#10;        &lt;Text style={{ fontFamily: 'Microsoft YaHei', fontSize: 62, fontWeight: 'bold', color: '#FFFFFF', lineHeight: 1.22, marginTop: 24 }}&gt;&#13;&#10;            雨是数据，&#13;&#10;            &lt;br /&gt;&#13;&#10;            判定是代码，&#13;&#10;            &lt;br /&gt;&#13;&#10;            打款是自动的。&#13;&#10;        &lt;/Text&gt;&#13;&#10;&#13;&#10;        &lt;Box style={{ width: 640, height: 1, background: 'rgba(255,255,255,0.18)', marginTop: 26 }} /&gt;&#13;&#10;&#13;&#10;        &lt;Text style={{ fontFamily: 'Microsoft YaHei', fontSize: 24, color: 'rgba(255,255,255,0.80)', letterSpacing: 1, marginTop: 22 }}&gt;&#13;&#10;            规则和证据都在链上 —— &lt;span style={{ color: '#F5A524', fontWeight: 'bold' }}&gt;你自己验&lt;/span&gt;。&#13;&#10;        &lt;/Text&gt;&#13;&#10;    &lt;/Box&gt;&#13;&#10;&#13;&#10;    &lt;Box style={{ position: 'absolute', left: 96, bottom: 64, width: 760, flexDirection: 'column' }}&gt;&#13;&#10;        &lt;Text style={{ fontFamily: 'Microsoft YaHei', fontSize: 17, color: 'rgba(255,255,255,0.56)', letterSpacing: 1 }}&gt;&#13;&#10;            雨证 · RainProof　·　TEAM 神麻&#13;&#10;        &lt;/Text&gt;&#13;&#10;        &lt;Text style={{ fontFamily: 'Consolas', fontSize: 15, color: 'rgba(255,255,255,0.42)', marginTop: 8 }}&gt;&#13;&#10;            github.com/juice-butterfly/rainproof&#13;&#10;        &lt;/Text&gt;&#13;&#10;    &lt;/Box&gt;&#13;&#10;&#13;&#10;    &lt;Box style={{ position: 'absolute', right: 96, bottom: 62, width: 150, flexDirection: 'column', alignItems: 'center' }}&gt;&#13;&#10;        &lt;Box style={{ width: 132, height: 132, background: '#FFFFFF', borderRadius: 6, padding: 6 }}&gt;&#13;&#10;            &lt;QRCode text='https://juice-butterfly.github.io/rainproof/' width={120} height={120} darkColor='#0A1422' lightColor='#FFFFFF' errorCorrectionLevel='M' margin={0} /&gt;&#13;&#10;        &lt;/Box&gt;&#13;&#10;        &lt;Text style={{ fontFamily: 'Microsoft YaHei', fontSize: 14, color: 'rgba(255,255,255,0.72)', marginTop: 10 }}&gt;&#13;&#10;            扫码进演示站&#13;&#10;        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1"/>
          <a:srcRect t="4237" b="423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矩形 29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422">
                  <a:alpha val="96000"/>
                </a:srgbClr>
              </a:gs>
              <a:gs pos="46000">
                <a:srgbClr val="0A1422">
                  <a:alpha val="86000"/>
                </a:srgbClr>
              </a:gs>
              <a:gs pos="100000">
                <a:srgbClr val="0A1422">
                  <a:alpha val="30000"/>
                </a:srgbClr>
              </a:gs>
            </a:gsLst>
            <a:lin ang="0" scaled="1"/>
          </a:gradFill>
        </p:spPr>
        <p:txBody>
          <a:bodyPr/>
          <a:p/>
        </p:txBody>
      </p:sp>
      <p:sp>
        <p:nvSpPr>
          <p:cNvPr id="31" name="矩形 3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A1422">
                  <a:alpha val="55000"/>
                </a:srgbClr>
              </a:gs>
              <a:gs pos="34000">
                <a:srgbClr val="0A1422">
                  <a:alpha val="0"/>
                </a:srgbClr>
              </a:gs>
              <a:gs pos="100000">
                <a:srgbClr val="0A1422">
                  <a:alpha val="72000"/>
                </a:srgbClr>
              </a:gs>
            </a:gsLst>
            <a:lin ang="5400000" scaled="1"/>
          </a:gradFill>
        </p:spPr>
        <p:txBody>
          <a:bodyPr/>
          <a:p/>
        </p:txBody>
      </p:sp>
      <p:sp>
        <p:nvSpPr>
          <p:cNvPr id="32" name="矩形 31"/>
          <p:cNvSpPr/>
          <p:nvPr/>
        </p:nvSpPr>
        <p:spPr>
          <a:xfrm>
            <a:off x="914400" y="1428750"/>
            <a:ext cx="57150" cy="3810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0" scaled="1"/>
          </a:gradFill>
        </p:spPr>
        <p:txBody>
          <a:bodyPr/>
          <a:p/>
        </p:txBody>
      </p:sp>
      <p:sp>
        <p:nvSpPr>
          <p:cNvPr id="33" name="文本框 32" descr="{&quot;isTemplate&quot;:true,&quot;type&quot;:&quot;text&quot;}"/>
          <p:cNvSpPr txBox="1"/>
          <p:nvPr/>
        </p:nvSpPr>
        <p:spPr>
          <a:xfrm>
            <a:off x="914400" y="1771650"/>
            <a:ext cx="72390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275" spc="37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汉客松</a:t>
            </a:r>
            <a:r>
              <a:rPr lang="en-US" sz="1275" spc="37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 S1 · ETH Wuhan 2026</a:t>
            </a:r>
            <a:endParaRPr lang="en-US" sz="1275" spc="37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4" name="文本框 33" descr="{&quot;isTemplate&quot;:true,&quot;type&quot;:&quot;text&quot;}"/>
          <p:cNvSpPr txBox="1"/>
          <p:nvPr/>
        </p:nvSpPr>
        <p:spPr>
          <a:xfrm>
            <a:off x="914400" y="2276475"/>
            <a:ext cx="7239000" cy="26003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2000"/>
              </a:lnSpc>
            </a:pPr>
            <a:r>
              <a:rPr lang="zh-CN" sz="4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雨是数据，</a:t>
            </a:r>
            <a:endParaRPr lang="zh-CN" sz="4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2000"/>
              </a:lnSpc>
            </a:pPr>
            <a:r>
              <a:rPr lang="zh-CN" sz="4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判定是代码，</a:t>
            </a:r>
            <a:endParaRPr lang="zh-CN" sz="4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2000"/>
              </a:lnSpc>
            </a:pPr>
            <a:r>
              <a:rPr lang="zh-CN" sz="46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付款不需要我们点头。</a:t>
            </a:r>
            <a:endParaRPr lang="zh-CN" sz="46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914400" y="5124450"/>
            <a:ext cx="6096000" cy="9525"/>
          </a:xfrm>
          <a:prstGeom prst="rect">
            <a:avLst/>
          </a:prstGeom>
          <a:solidFill>
            <a:srgbClr val="FFFFFF">
              <a:alpha val="18000"/>
            </a:srgbClr>
          </a:solidFill>
        </p:spPr>
        <p:txBody>
          <a:bodyPr/>
          <a:p/>
        </p:txBody>
      </p:sp>
      <p:sp>
        <p:nvSpPr>
          <p:cNvPr id="36" name="文本框 35" descr="{&quot;isTemplate&quot;:true,&quot;type&quot;:&quot;text&quot;}"/>
          <p:cNvSpPr txBox="1"/>
          <p:nvPr/>
        </p:nvSpPr>
        <p:spPr>
          <a:xfrm>
            <a:off x="914400" y="5343525"/>
            <a:ext cx="7239000" cy="2762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spc="7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规则和证据都在链上</a:t>
            </a:r>
            <a:r>
              <a:rPr lang="en-US" sz="1800" spc="7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800" b="1" spc="75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你自己验</a:t>
            </a:r>
            <a:r>
              <a:rPr lang="zh-CN" sz="1800" spc="75">
                <a:solidFill>
                  <a:srgbClr val="FFFFFF">
                    <a:alpha val="8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sz="1800" spc="75">
              <a:solidFill>
                <a:srgbClr val="FFFFFF">
                  <a:alpha val="8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本框 36" descr="{&quot;isTemplate&quot;:true,&quot;type&quot;:&quot;text&quot;}"/>
          <p:cNvSpPr txBox="1"/>
          <p:nvPr/>
        </p:nvSpPr>
        <p:spPr>
          <a:xfrm>
            <a:off x="914400" y="5800725"/>
            <a:ext cx="7239000" cy="2000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spc="75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雨证</a:t>
            </a:r>
            <a:r>
              <a:rPr lang="en-US" sz="1275" spc="75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· RainProof</a:t>
            </a:r>
            <a:r>
              <a:rPr lang="zh-CN" sz="1275" spc="75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　·　</a:t>
            </a:r>
            <a:r>
              <a:rPr lang="en-US" sz="1275" spc="75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TEAM </a:t>
            </a:r>
            <a:r>
              <a:rPr lang="zh-CN" sz="1275" spc="75">
                <a:solidFill>
                  <a:srgbClr val="FFFFFF">
                    <a:alpha val="5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神麻</a:t>
            </a:r>
            <a:endParaRPr lang="zh-CN" sz="1275" spc="75">
              <a:solidFill>
                <a:srgbClr val="FFFFFF">
                  <a:alpha val="5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文本框 37" descr="{&quot;isTemplate&quot;:true,&quot;type&quot;:&quot;text&quot;}"/>
          <p:cNvSpPr txBox="1"/>
          <p:nvPr/>
        </p:nvSpPr>
        <p:spPr>
          <a:xfrm>
            <a:off x="914400" y="6076950"/>
            <a:ext cx="72390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FFFFFF">
                    <a:alpha val="42000"/>
                  </a:srgbClr>
                </a:solidFill>
                <a:latin typeface="Consolas" panose="020B0609020204030204"/>
                <a:ea typeface="Consolas" panose="020B0609020204030204"/>
              </a:rPr>
              <a:t>github.com/juice-butterfly/rainproof</a:t>
            </a:r>
            <a:endParaRPr lang="en-US" sz="1125">
              <a:solidFill>
                <a:srgbClr val="FFFFFF">
                  <a:alpha val="42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9934575" y="4752975"/>
            <a:ext cx="1257300" cy="1257300"/>
          </a:xfrm>
          <a:prstGeom prst="roundRect">
            <a:avLst>
              <a:gd name="adj" fmla="val 4545"/>
            </a:avLst>
          </a:prstGeom>
          <a:solidFill>
            <a:srgbClr val="FFFFFF"/>
          </a:solidFill>
        </p:spPr>
        <p:txBody>
          <a:bodyPr/>
          <a:p/>
        </p:txBody>
      </p:sp>
      <p:pic>
        <p:nvPicPr>
          <p:cNvPr id="40" name="图片 39" descr="QR Code: https://juice-butterfly.github.io/rainproof/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991725" y="4810125"/>
            <a:ext cx="1143000" cy="1143000"/>
          </a:xfrm>
          <a:prstGeom prst="rect">
            <a:avLst/>
          </a:prstGeom>
        </p:spPr>
      </p:pic>
      <p:sp>
        <p:nvSpPr>
          <p:cNvPr id="41" name="文本框 40" descr="{&quot;isTemplate&quot;:true,&quot;type&quot;:&quot;text&quot;}"/>
          <p:cNvSpPr txBox="1"/>
          <p:nvPr/>
        </p:nvSpPr>
        <p:spPr>
          <a:xfrm>
            <a:off x="10163175" y="6105525"/>
            <a:ext cx="8001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FFFFFF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扫码进演示站</a:t>
            </a:r>
            <a:endParaRPr lang="zh-CN" sz="1050">
              <a:solidFill>
                <a:srgbClr val="FFFFFF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914400" y="4956048"/>
            <a:ext cx="724204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/>
              <a:t>Rain is data. Judgement is code. Payment does not need our nod.</a:t>
            </a:r>
            <a:endParaRPr sz="1200"/>
          </a:p>
        </p:txBody>
      </p:sp>
      <p:sp>
        <p:nvSpPr>
          <p:cNvPr id="58" name="TextBox 57"/>
          <p:cNvSpPr txBox="1"/>
          <p:nvPr/>
        </p:nvSpPr>
        <p:spPr>
          <a:xfrm>
            <a:off x="914400" y="5577840"/>
            <a:ext cx="7242048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/>
              <a:t>The rules and the evidence are on-chain - verify it yourself.</a:t>
            </a:r>
            <a:endParaRPr sz="12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8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6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8" dur="6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5926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0" grpId="0"/>
      <p:bldP spid="31" grpId="0"/>
      <p:bldP spid="32" grpId="0"/>
      <p:bldP spid="33" grpId="0"/>
      <p:bldP spid="34" grpId="0"/>
      <p:bldP spid="39" grpId="0"/>
      <p:bldP spid="40" grpId="0"/>
      <p:bldP spid="35" grpId="0"/>
      <p:bldP spid="36" grpId="0"/>
      <p:bldP spid="37" grpId="0"/>
      <p:bldP spid="38" grpId="0"/>
      <p:bldP spid="4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86" name="" descr="&lt;Slide style={{ width: 1280, height: 720, background: '#0A1422', padding: '20px 72px' }}&gt;&#13;&#10;&#13;&#10;    &lt;Box style={{ height: 100, flexDirection: 'row', alignItems: 'center', gap: 20 }}&gt;&#13;&#10;        &lt;Box style={{ width: 4, height: 30, background: 'linear-gradient(135deg, #2D7FF9 0%, #22D3EE 100%)' }} /&gt;&#13;&#10;        &lt;Text style={{ fontFamily: 'Microsoft YaHei', fontSize: 36, fontWeight: 'bold', color: '#FFFFFF', lineHeight: 1.25 }}&gt;&#13;&#10;            附录 A2 · v2 九项改动（完整清单）&#13;&#10;        &lt;/Text&gt;&#13;&#10;        &lt;Box style={{ flex: 1 }} /&gt;&#13;&#10;        &lt;Text style={{ fontFamily: 'Consolas', fontSize: 16, color: 'rgba(255,255,255,0.34)', letterSpacing: 2 }}&gt;&#13;&#10;            APPENDIX A2&#13;&#10;        &lt;/Text&gt;&#13;&#10;    &lt;/Box&gt;&#13;&#10;&#13;&#10;    &lt;Box style={{ height: 540, flexDirection: 'row', gap: 26 }}&gt;&#13;&#10;&#13;&#10;        &lt;Box style={{ width: 658, height: 540 }}&gt;&#13;&#10;            &lt;svg width={658} height={540} viewBox='0 0 658 540'&gt;&#13;&#10;                &lt;line x1='118' y1='38' x2='118' y2='498' stroke='rgba(255,255,255,0.18)' strokeWidth='2' /&gt;&#13;&#10;&#13;&#10;                &lt;circle cx='118' cy='88' r='9' fill='#0A1422' stroke='#2D7FF9' strokeWidth='3' /&gt;&#13;&#10;                &lt;rect x='148' y='38' width='510' height='100' rx='6' fill='rgba(45,127,249,0.12)' stroke='#2D7FF9' strokeWidth='1' /&gt;&#13;&#10;                &lt;text x='168' y='64' fontFamily='Consolas' fontSize='13' fill='#22D3EE'&gt;PHASE 01&lt;/text&gt;&#13;&#10;                &lt;text x='252' y='64' fontFamily='Microsoft YaHei' fontSize='17' fontWeight='bold' fill='#FFFFFF'&gt;国标分档&lt;/text&gt;&#13;&#10;                &lt;text x='350' y='64' fontFamily='Consolas' fontSize='13' fill='#34D399'&gt;已落地 · v2&lt;/text&gt;&#13;&#10;                &lt;text x='168' y='90' fontFamily='Microsoft YaHei' fontSize='13' fill='rgba(255,255,255,0.62)'&gt;thresholdOf(h) = 50 × h / 24 把阈值绑回窗口；档线按国标三级&lt;/text&gt;&#13;&#10;                &lt;text x='168' y='109' fontFamily='Microsoft YaHei' fontSize='13' fill='rgba(255,255,255,0.62)'&gt;50 / 100 / 250 mm，赔付 50% / 75% / 100% —— 一次修掉「为什么是&lt;/text&gt;&#13;&#10;                &lt;text x='168' y='128' fontFamily='Microsoft YaHei' fontSize='13' fill='rgba(255,255,255,0.62)'&gt;50 毫米」与「为什么是 72 小时」两个追问&lt;/text&gt;&#13;&#10;&#13;&#10;                &lt;circle cx='118' cy='208' r='9' fill='#0A1422' stroke='#22D3EE' strokeWidth='3' /&gt;&#13;&#10;                &lt;rect x='148' y='158' width='510' height='100' rx='6' fill='rgba(34,211,238,0.10)' stroke='#22D3EE' strokeWidth='1' /&gt;&#13;&#10;                &lt;text x='168' y='184' fontFamily='Consolas' fontSize='13' fill='#22D3EE'&gt;PHASE 02&lt;/text&gt;&#13;&#10;                &lt;text x='252' y='184' fontFamily='Microsoft YaHei' fontSize='17' fontWeight='bold' fill='#FFFFFF'&gt;防逆选择&lt;/text&gt;&#13;&#10;                &lt;text x='350' y='184' fontFamily='Consolas' fontSize='13' fill='rgba(255,255,255,0.50)'&gt;下一步&lt;/text&gt;&#13;&#10;                &lt;text x='168' y='210' fontFamily='Microsoft YaHei' fontSize='13' fill='rgba(255,255,255,0.62)'&gt;保单保的是明确窗口内的累计降雨，且必须在窗口开始前投保 —— 雨落在&lt;/text&gt;&#13;&#10;                &lt;text x='168' y='229' fontFamily='Microsoft YaHei' fontSize='13' fill='rgba(255,255,255,0.62)'&gt;窗口之前的不进这张保单，事后投保在定义上消失；再加 t+3 冷静期、&lt;/text&gt;&#13;&#10;                &lt;text x='168' y='248' fontFamily='Microsoft YaHei' fontSize='13' fill='rgba(255,255,255,0.62)'&gt;按地址限购与保额封顶，把当日套利从 12.5 倍压回盲买水平&lt;/text&gt;&#13;&#10;&#13;&#10;                &lt;circle cx='118' cy='328' r='9' fill='#0A1422' stroke='#22D3EE' strokeWidth='3' /&gt;&#13;&#10;                &lt;rect x='148' y='278' width='510' height='100' rx='6' fill='rgba(255,255,255,0.05)' stroke='rgba(255,255,255,0.16)' strokeWidth='1' /&gt;&#13;&#10;                &lt;text x='168' y='304' fontFamily='Consolas' fontSize='13' fill='#22D3EE'&gt;PHASE 03&lt;/text&gt;&#13;&#10;                &lt;text x='252' y='304' fontFamily='Microsoft YaHei' fontSize='17' fontWeight='bold' fill='#FFFFFF'&gt;身份认定&lt;/text&gt;&#13;&#10;                &lt;text x='350' y='304' fontFamily='Consolas' fontSize='13' fill='rgba(255,255,255,0.50)'&gt;需商务落地&lt;/text&gt;&#13;&#10;                &lt;text x='168' y='330' fontFamily='Microsoft YaHei' fontSize='13' fill='rgba(255,255,255,0.62)'&gt;平台 attestation 白名单 + B2B2C（平台作投保人、骑手为受益人）。这是&lt;/text&gt;&#13;&#10;                &lt;text x='168' y='349' fontFamily='Microsoft YaHei' fontSize='13' fill='rgba(255,255,255,0.62)'&gt;唯一阻塞「能不能叫保险」的一条，也是保险利益原则的补齐路径 ——&lt;/text&gt;&#13;&#10;                &lt;text x='168' y='368' fontFamily='Microsoft YaHei' fontSize='13' fill='rgba(255,255,255,0.62)'&gt;链上能验证的只是「被平台签过字的地址」，话必须这么说&lt;/text&gt;&#13;&#10;&#13;&#10;                &lt;circle cx='118' cy='448' r='9' fill='#0A1422' stroke='#F5A524' strokeWidth='3' /&gt;&#13;&#10;                &lt;rect x='148' y='398' width='510' height='100' rx='6' fill='rgba(245,165,36,0.08)' stroke='rgba(245,165,36,0.30)' strokeWidth='1' /&gt;&#13;&#10;                &lt;text x='168' y='424' fontFamily='Consolas' fontSize='13' fill='#F5A524'&gt;PHASE 04&lt;/text&gt;&#13;&#10;                &lt;text x='252' y='424' fontFamily='Microsoft YaHei' fontSize='17' fontWeight='bold' fill='#FFFFFF'&gt;险种泛化&lt;/text&gt;&#13;&#10;                &lt;text x='350' y='424' fontFamily='Consolas' fontSize='13' fill='rgba(255,255,255,0.50)'&gt;验证后启动&lt;/text&gt;&#13;&#10;                &lt;text x='168' y='450' fontFamily='Microsoft YaHei' fontSize='13' fill='rgba(255,255,255,0.62)'&gt;合约把五个 constant 提成构造参数；同一套「数据触发 + AI 验收 + 链上&lt;/text&gt;&#13;&#10;                &lt;text x='168' y='469' fontFamily='Microsoft YaHei' fontSize='13' fill='rgba(255,255,255,0.62)'&gt;结算」骨架可迁移到高温（≥40 ℃，锚停止室外露天作业）、大风&lt;/text&gt;&#13;&#10;                &lt;text x='168' y='488' fontFamily='Microsoft YaHei' fontSize='13' fill='rgba(255,255,255,0.62)'&gt;（17.2 m/s）与空气污染 —— 数据源同为 Open-Meteo，智能层基本不改&lt;/text&gt;&#13;&#10;            &lt;/svg&gt;&#13;&#10;        &lt;/Box&gt;&#13;&#10;&#13;&#10;        &lt;Box style={{ width: 452, height: 540, flexDirection: 'column' }}&gt;&#13;&#10;            &lt;Text style={{ fontFamily: 'Consolas', fontSize: 14, color: '#22D3EE', letterSpacing: 3 }}&gt;&#13;&#10;                V2 ALREADY SHIPPED · 九项承保层改动&#13;&#10;            &lt;/Text&gt;&#13;&#10;&#13;&#10;            &lt;Box style={{ flexDirection: 'row', flexWrap: 'wrap', gap: 8, marginTop: 12 }}&gt;&#13;&#10;                &lt;Box style={{ width: 145, height: 62, background: 'rgba(255,255,255,0.04)', border: '1px solid rgba(255,255,255,0.10)', borderRadius: 4, padding: '8px 12px', flexDirection: 'column', justifyContent: 'center' }}&gt;&#13;&#10;                    &lt;Text style={{ fontFamily: 'Consolas', fontSize: 12, color: '#2D7FF9', fontWeight: 'bold' }}&gt;A1&lt;/Text&gt;&#13;&#10;                    &lt;Text style={{ fontFamily: 'Microsoft YaHei', fontSize: 13, color: 'rgba(255,255,255,0.84)', marginTop: 3 }}&gt;分档保费网格&lt;/Text&gt;&#13;&#10;                &lt;/Box&gt;&#13;&#10;                &lt;Box style={{ width: 145, height: 62, background: 'rgba(255,255,255,0.04)', border: '1px solid rgba(255,255,255,0.10)', borderRadius: 4, padding: '8px 12px', flexDirection: 'column', justifyContent: 'center' }}&gt;&#13;&#10;                    &lt;Text style={{ fontFamily: 'Consolas', fontSize: 12, color: '#2D7FF9', fontWeight: 'bold' }}&gt;A3&lt;/Text&gt;&#13;&#10;                    &lt;Text style={{ fontFamily: 'Microsoft YaHei', fontSize: 13, color: 'rgba(255,255,255,0.84)', marginTop: 3 }}&gt;限购&lt;/Text&gt;&#13;&#10;                &lt;/Box&gt;&#13;&#10;                &lt;Box style={{ width: 145, height: 62, background: 'rgba(255,255,255,0.04)', border: '1px solid rgba(255,255,255,0.10)', borderRadius: 4, padding: '8px 12px', flexDirection: 'column', justifyContent: 'center' }}&gt;&#13;&#10;                    &lt;Text style={{ fontFamily: 'Consolas', fontSize: 12, color: '#2D7FF9', fontWeight: 'bold' }}&gt;A4&lt;/Text&gt;&#13;&#10;                    &lt;Text style={{ fontFamily: 'Microsoft YaHei', fontSize: 13, color: 'rgba(255,255,255,0.84)', marginTop: 3 }}&gt;冷静期&lt;/Text&gt;&#13;&#10;                &lt;/Box&gt;&#13;&#10;                &lt;Box style={{ width: 145, height: 62, background: 'rgba(255,255,255,0.04)', border: '1px solid rgba(255,255,255,0.10)', borderRadius: 4, padding: '8px 12px', flexDirection: 'column', justifyContent: 'center' }}&gt;&#13;&#10;                    &lt;Text style={{ fontFamily: 'Consolas', fontSize: 12, color: '#2D7FF9', fontWeight: 'bold' }}&gt;A4b&lt;/Text&gt;&#13;&#10;                    &lt;Text style={{ fontFamily: 'Microsoft YaHei', fontSize: 13, color: 'rgba(255,255,255,0.84)', marginTop: 3 }}&gt;喂价新鲜度&lt;/Text&gt;&#13;&#10;                &lt;/Box&gt;&#13;&#10;                &lt;Box style={{ width: 145, height: 62, background: 'rgba(255,255,255,0.04)', border: '1px solid rgba(255,255,255,0.10)', borderRadius: 4, padding: '8px 12px', flexDirection: 'column', justifyContent: 'center' }}&gt;&#13;&#10;                    &lt;Text style={{ fontFamily: 'Consolas', fontSize: 12, color: '#2D7FF9', fontWeight: 'bold' }}&gt;A5&lt;/Text&gt;&#13;&#10;                    &lt;Text style={{ fontFamily: 'Microsoft YaHei', fontSize: 13, color: 'rgba(255,255,255,0.84)', marginTop: 3 }}&gt;sources 上链&lt;/Text&gt;&#13;&#10;                &lt;/Box&gt;&#13;&#10;                &lt;Box style={{ width: 145, height: 62, background: 'rgba(255,255,255,0.04)', border: '1px solid rgba(255,255,255,0.10)', borderRadius: 4, padding: '8px 12px', flexDirection: 'column', justifyContent: 'center' }}&gt;&#13;&#10;                    &lt;Text style={{ fontFamily: 'Consolas', fontSize: 12, color: '#2D7FF9', fontWeight: 'bold' }}&gt;A6&lt;/Text&gt;&#13;&#10;                    &lt;Text style={{ fontFamily: 'Microsoft YaHei', fontSize: 13, color: 'rgba(255,255,255,0.84)', marginTop: 3 }}&gt;在保敞口&lt;/Text&gt;&#13;&#10;                &lt;/Box&gt;&#13;&#10;                &lt;Box style={{ width: 145, height: 62, background: 'rgba(45,127,249,0.12)', border: '1px solid rgba(45,127,249,0.42)', borderRadius: 4, padding: '8px 12px', flexDirection: 'column', justifyContent: 'center' }}&gt;&#13;&#10;                    &lt;Text style={{ fontFamily: 'Consolas', fontSize: 12, color: '#22D3EE', fontWeight: 'bold' }}&gt;A7&lt;/Text&gt;&#13;&#10;                    &lt;Text style={{ fontFamily: 'Microsoft YaHei', fontSize: 13, color: '#FFFFFF', marginTop: 3 }}&gt;国标三级分档&lt;/Text&gt;&#13;&#10;                &lt;/Box&gt;&#13;&#10;                &lt;Box style={{ width: 145, height: 62, background: 'rgba(255,255,255,0.04)', border: '1px solid rgba(255,255,255,0.10)', borderRadius: 4, padding: '8px 12px', flexDirection: 'column', justifyContent: 'center' }}&gt;&#13;&#10;                    &lt;Text style={{ fontFamily: 'Consolas', fontSize: 12, color: '#2D7FF9', fontWeight: 'bold' }}&gt;A8&lt;/Text&gt;&#13;&#10;                    &lt;Text style={{ fontFamily: 'Microsoft YaHei', fontSize: 13, color: 'rgba(255,255,255,0.84)', marginTop: 3 }}&gt;白名单&lt;/Text&gt;&#13;&#10;                &lt;/Box&gt;&#13;&#10;                &lt;Box style={{ width: 145, height: 62, background: 'rgba(255,255,255,0.04)', border: '1px solid rgba(255,255,255,0.10)', borderRadius: 4, padding: '8px 12px', flexDirection: 'column', justifyContent: 'center' }}&gt;&#13;&#10;                    &lt;Text style={{ fontFamily: 'Consolas', fontSize: 12, color: '#2D7FF9', fontWeight: 'bold' }}&gt;A9&lt;/Text&gt;&#13;&#10;                    &lt;Text style={{ fontFamily: 'Microsoft YaHei', fontSize: 13, color: 'rgba(255,255,255,0.84)', marginTop: 3 }}&gt;险种化&lt;/Text&gt;&#13;&#10;                &lt;/Box&gt;&#13;&#10;            &lt;/Box&gt;&#13;&#10;&#13;&#10;            &lt;Box style={{ marginTop: 16, background: 'rgba(45,127,249,0.10)', border: '1px solid rgba(45,127,249,0.30)', borderRadius: 5, padding: 14, flexDirection: 'column', gap: 7 }}&gt;&#13;&#10;                &lt;Text style={{ fontFamily: 'Microsoft YaHei', fontSize: 15, color: 'rgba(255,255,255,0.86)' }}&gt;&#13;&#10;                    已部署 &lt;span style={{ color: '#FFFFFF', fontWeight: 'bold' }}&gt;BOT Chain 测试网 968&lt;/span&gt;&#13;&#10;                &lt;/Text&gt;&#13;&#10;                &lt;Text style={{ fontFamily: 'Consolas', fontSize: 13, color: '#22D3EE' }}&gt;&#13;&#10;                    0x89e7C942535930B61cB61631051E8b0bD670596a&#13;&#10;                &lt;/Text&gt;&#13;&#10;                &lt;Text style={{ fontFamily: 'Microsoft YaHei', fontSize: 12, color: 'rgba(245,165,36,0.88)', lineHeight: 1.45 }}&gt;&#13;&#10;                    与 Sepolia 上第一阶段 v1 &lt;span style={{ fontWeight: 'bold' }}&gt;同址但不同合约&lt;/span&gt;（两链部署账户 nonce 均为 0）—— 按地址查询须带 chainId；本页只用 968&#13;&#10;                &lt;/Text&gt;&#13;&#10;                &lt;Text style={{ fontFamily: 'Microsoft YaHei', fontSize: 14, color: 'rgba(255,255,255,0.66)' }}&gt;&#13;&#10;                    e2e_v2 101 项断言全绿 · 真链彩排 25 项全过（含完整的投保 → 喂价 → 判定 → 第三方触发赔付）&#13;&#10;                &lt;/Text&gt;&#13;&#10;            &lt;/Box&gt;&#13;&#10;&#13;&#10;            &lt;Box style={{ marginTop: 'auto', borderLeft: '3px solid #F5A524', background: 'rgba(245,165,36,0.10)', borderRadius: 4, padding: 14 }}&gt;&#13;&#10;                &lt;Text style={{ fontFamily: 'Microsoft YaHei', fontSize: 15, color: '#FFFFFF', lineHeight: 1.5 }}&gt;&#13;&#10;                    改的是阈值与数据结构，&lt;span style={{ color: '#F5A524', fontWeight: 'bold' }}&gt;判定层不用重写&lt;/span&gt; —— 因为跨层的契约是哈希，不是模型。&#13;&#10;                &lt;/Text&gt;&#13;&#10;            &lt;/Box&gt;&#13;&#10;        &lt;/Box&gt;&#13;&#10;&#13;&#10;    &lt;/Box&gt;&#13;&#10;&#13;&#10;    &lt;Box style={{ height: 40, flexDirection: 'row', alignItems: 'center' }}&gt;&#13;&#10;        &lt;Text style={{ fontFamily: 'Microsoft YaHei', fontSize: 15, color: 'rgba(255,255,255,0.40)' }}&gt;雨证 · RainProof&lt;/Text&gt;&#13;&#10;        &lt;Box style={{ flex: 1 }} /&gt;&#13;&#10;        &lt;Text style={{ fontFamily: 'Consolas', fontSize: 15, color: 'rgba(255,255,255,0.40)' }}&gt;附录 · 不计入路演时间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矩形 8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88" name="矩形 87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89" name="文本框 88" descr="{&quot;isTemplate&quot;:true,&quot;type&quot;:&quot;text&quot;}"/>
          <p:cNvSpPr txBox="1"/>
          <p:nvPr/>
        </p:nvSpPr>
        <p:spPr>
          <a:xfrm>
            <a:off x="914400" y="409575"/>
            <a:ext cx="5553075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附录</a:t>
            </a:r>
            <a:r>
              <a:rPr lang="en-US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A1 · v3 </a:t>
            </a: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九项改动（完整清单）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" name="文本框 89" descr="{&quot;isTemplate&quot;:true,&quot;type&quot;:&quot;text&quot;}"/>
          <p:cNvSpPr txBox="1"/>
          <p:nvPr/>
        </p:nvSpPr>
        <p:spPr>
          <a:xfrm>
            <a:off x="10372725" y="571500"/>
            <a:ext cx="11334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APPENDIX A1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pic>
        <p:nvPicPr>
          <p:cNvPr id="91" name="图片 90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5800" y="1143000"/>
            <a:ext cx="6267450" cy="5143500"/>
          </a:xfrm>
          <a:prstGeom prst="rect">
            <a:avLst/>
          </a:prstGeom>
        </p:spPr>
      </p:pic>
      <p:sp>
        <p:nvSpPr>
          <p:cNvPr id="92" name="文本框 91" descr="{&quot;isTemplate&quot;:true,&quot;type&quot;:&quot;text&quot;}"/>
          <p:cNvSpPr txBox="1"/>
          <p:nvPr/>
        </p:nvSpPr>
        <p:spPr>
          <a:xfrm>
            <a:off x="7200900" y="1143000"/>
            <a:ext cx="43053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22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V2 SHIPPED · CARRIED INTO V3 · </a:t>
            </a:r>
            <a:r>
              <a:rPr lang="zh-CN" sz="1050" spc="22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九项承保层改动</a:t>
            </a:r>
            <a:endParaRPr lang="zh-CN" sz="1050" spc="22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93" name="圆角矩形 92"/>
          <p:cNvSpPr/>
          <p:nvPr/>
        </p:nvSpPr>
        <p:spPr>
          <a:xfrm>
            <a:off x="7200900" y="1419225"/>
            <a:ext cx="1381125" cy="590550"/>
          </a:xfrm>
          <a:prstGeom prst="roundRect">
            <a:avLst>
              <a:gd name="adj" fmla="val 645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4" name="文本框 93" descr="{&quot;isTemplate&quot;:true,&quot;type&quot;:&quot;text&quot;}"/>
          <p:cNvSpPr txBox="1"/>
          <p:nvPr/>
        </p:nvSpPr>
        <p:spPr>
          <a:xfrm>
            <a:off x="7315200" y="1552575"/>
            <a:ext cx="11525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A1</a:t>
            </a:r>
            <a:endParaRPr lang="en-US" sz="900" b="1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95" name="文本框 94" descr="{&quot;isTemplate&quot;:true,&quot;type&quot;:&quot;text&quot;}"/>
          <p:cNvSpPr txBox="1"/>
          <p:nvPr/>
        </p:nvSpPr>
        <p:spPr>
          <a:xfrm>
            <a:off x="7315200" y="1724025"/>
            <a:ext cx="11525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8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分档保费网格</a:t>
            </a:r>
            <a:endParaRPr lang="zh-CN" sz="975">
              <a:solidFill>
                <a:srgbClr val="FFFFFF">
                  <a:alpha val="8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6" name="圆角矩形 95"/>
          <p:cNvSpPr/>
          <p:nvPr/>
        </p:nvSpPr>
        <p:spPr>
          <a:xfrm>
            <a:off x="8658225" y="1419225"/>
            <a:ext cx="1381125" cy="590550"/>
          </a:xfrm>
          <a:prstGeom prst="roundRect">
            <a:avLst>
              <a:gd name="adj" fmla="val 645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7" name="文本框 96" descr="{&quot;isTemplate&quot;:true,&quot;type&quot;:&quot;text&quot;}"/>
          <p:cNvSpPr txBox="1"/>
          <p:nvPr/>
        </p:nvSpPr>
        <p:spPr>
          <a:xfrm>
            <a:off x="8772525" y="1552575"/>
            <a:ext cx="11525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A3</a:t>
            </a:r>
            <a:endParaRPr lang="en-US" sz="900" b="1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98" name="文本框 97" descr="{&quot;isTemplate&quot;:true,&quot;type&quot;:&quot;text&quot;}"/>
          <p:cNvSpPr txBox="1"/>
          <p:nvPr/>
        </p:nvSpPr>
        <p:spPr>
          <a:xfrm>
            <a:off x="8772525" y="1724025"/>
            <a:ext cx="11525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8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限购</a:t>
            </a:r>
            <a:endParaRPr lang="zh-CN" sz="975">
              <a:solidFill>
                <a:srgbClr val="FFFFFF">
                  <a:alpha val="8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9" name="圆角矩形 98"/>
          <p:cNvSpPr/>
          <p:nvPr/>
        </p:nvSpPr>
        <p:spPr>
          <a:xfrm>
            <a:off x="10115550" y="1419225"/>
            <a:ext cx="1381125" cy="590550"/>
          </a:xfrm>
          <a:prstGeom prst="roundRect">
            <a:avLst>
              <a:gd name="adj" fmla="val 645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0" name="文本框 99" descr="{&quot;isTemplate&quot;:true,&quot;type&quot;:&quot;text&quot;}"/>
          <p:cNvSpPr txBox="1"/>
          <p:nvPr/>
        </p:nvSpPr>
        <p:spPr>
          <a:xfrm>
            <a:off x="10229850" y="1552575"/>
            <a:ext cx="11525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A4</a:t>
            </a:r>
            <a:endParaRPr lang="en-US" sz="900" b="1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01" name="文本框 100" descr="{&quot;isTemplate&quot;:true,&quot;type&quot;:&quot;text&quot;}"/>
          <p:cNvSpPr txBox="1"/>
          <p:nvPr/>
        </p:nvSpPr>
        <p:spPr>
          <a:xfrm>
            <a:off x="10229850" y="1724025"/>
            <a:ext cx="11525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8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冷静期</a:t>
            </a:r>
            <a:endParaRPr lang="zh-CN" sz="975">
              <a:solidFill>
                <a:srgbClr val="FFFFFF">
                  <a:alpha val="8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" name="圆角矩形 101"/>
          <p:cNvSpPr/>
          <p:nvPr/>
        </p:nvSpPr>
        <p:spPr>
          <a:xfrm>
            <a:off x="7200900" y="2085975"/>
            <a:ext cx="1381125" cy="590550"/>
          </a:xfrm>
          <a:prstGeom prst="roundRect">
            <a:avLst>
              <a:gd name="adj" fmla="val 645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3" name="文本框 102" descr="{&quot;isTemplate&quot;:true,&quot;type&quot;:&quot;text&quot;}"/>
          <p:cNvSpPr txBox="1"/>
          <p:nvPr/>
        </p:nvSpPr>
        <p:spPr>
          <a:xfrm>
            <a:off x="7315200" y="2219325"/>
            <a:ext cx="11525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A4b</a:t>
            </a:r>
            <a:endParaRPr lang="en-US" sz="900" b="1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04" name="文本框 103" descr="{&quot;isTemplate&quot;:true,&quot;type&quot;:&quot;text&quot;}"/>
          <p:cNvSpPr txBox="1"/>
          <p:nvPr/>
        </p:nvSpPr>
        <p:spPr>
          <a:xfrm>
            <a:off x="7315200" y="2390775"/>
            <a:ext cx="11525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8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喂价新鲜度</a:t>
            </a:r>
            <a:endParaRPr lang="zh-CN" sz="975">
              <a:solidFill>
                <a:srgbClr val="FFFFFF">
                  <a:alpha val="8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5" name="圆角矩形 104"/>
          <p:cNvSpPr/>
          <p:nvPr/>
        </p:nvSpPr>
        <p:spPr>
          <a:xfrm>
            <a:off x="8658225" y="2085975"/>
            <a:ext cx="1381125" cy="590550"/>
          </a:xfrm>
          <a:prstGeom prst="roundRect">
            <a:avLst>
              <a:gd name="adj" fmla="val 645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6" name="文本框 105" descr="{&quot;isTemplate&quot;:true,&quot;type&quot;:&quot;text&quot;}"/>
          <p:cNvSpPr txBox="1"/>
          <p:nvPr/>
        </p:nvSpPr>
        <p:spPr>
          <a:xfrm>
            <a:off x="8772525" y="2219325"/>
            <a:ext cx="11525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A5</a:t>
            </a:r>
            <a:endParaRPr lang="en-US" sz="900" b="1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07" name="文本框 106" descr="{&quot;isTemplate&quot;:true,&quot;type&quot;:&quot;text&quot;}"/>
          <p:cNvSpPr txBox="1"/>
          <p:nvPr/>
        </p:nvSpPr>
        <p:spPr>
          <a:xfrm>
            <a:off x="8772525" y="2390775"/>
            <a:ext cx="11525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FFFFFF">
                    <a:alpha val="8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sources </a:t>
            </a:r>
            <a:r>
              <a:rPr lang="zh-CN" sz="975">
                <a:solidFill>
                  <a:srgbClr val="FFFFFF">
                    <a:alpha val="8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上链</a:t>
            </a:r>
            <a:endParaRPr lang="zh-CN" sz="975">
              <a:solidFill>
                <a:srgbClr val="FFFFFF">
                  <a:alpha val="8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8" name="圆角矩形 107"/>
          <p:cNvSpPr/>
          <p:nvPr/>
        </p:nvSpPr>
        <p:spPr>
          <a:xfrm>
            <a:off x="10115550" y="2085975"/>
            <a:ext cx="1381125" cy="590550"/>
          </a:xfrm>
          <a:prstGeom prst="roundRect">
            <a:avLst>
              <a:gd name="adj" fmla="val 645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09" name="文本框 108" descr="{&quot;isTemplate&quot;:true,&quot;type&quot;:&quot;text&quot;}"/>
          <p:cNvSpPr txBox="1"/>
          <p:nvPr/>
        </p:nvSpPr>
        <p:spPr>
          <a:xfrm>
            <a:off x="10229850" y="2219325"/>
            <a:ext cx="11525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A6</a:t>
            </a:r>
            <a:endParaRPr lang="en-US" sz="900" b="1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10" name="文本框 109" descr="{&quot;isTemplate&quot;:true,&quot;type&quot;:&quot;text&quot;}"/>
          <p:cNvSpPr txBox="1"/>
          <p:nvPr/>
        </p:nvSpPr>
        <p:spPr>
          <a:xfrm>
            <a:off x="10229850" y="2390775"/>
            <a:ext cx="11525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8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在保敞口</a:t>
            </a:r>
            <a:endParaRPr lang="zh-CN" sz="975">
              <a:solidFill>
                <a:srgbClr val="FFFFFF">
                  <a:alpha val="8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1" name="圆角矩形 110"/>
          <p:cNvSpPr/>
          <p:nvPr/>
        </p:nvSpPr>
        <p:spPr>
          <a:xfrm>
            <a:off x="7200900" y="2752725"/>
            <a:ext cx="1381125" cy="590550"/>
          </a:xfrm>
          <a:prstGeom prst="roundRect">
            <a:avLst>
              <a:gd name="adj" fmla="val 6452"/>
            </a:avLst>
          </a:prstGeom>
          <a:solidFill>
            <a:srgbClr val="2D7FF9">
              <a:alpha val="12000"/>
            </a:srgbClr>
          </a:solidFill>
          <a:ln w="12700">
            <a:solidFill>
              <a:srgbClr val="2D7FF9">
                <a:alpha val="42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2" name="文本框 111" descr="{&quot;isTemplate&quot;:true,&quot;type&quot;:&quot;text&quot;}"/>
          <p:cNvSpPr txBox="1"/>
          <p:nvPr/>
        </p:nvSpPr>
        <p:spPr>
          <a:xfrm>
            <a:off x="7315200" y="2886075"/>
            <a:ext cx="11525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A7</a:t>
            </a:r>
            <a:endParaRPr lang="en-US" sz="900" b="1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13" name="文本框 112" descr="{&quot;isTemplate&quot;:true,&quot;type&quot;:&quot;text&quot;}"/>
          <p:cNvSpPr txBox="1"/>
          <p:nvPr/>
        </p:nvSpPr>
        <p:spPr>
          <a:xfrm>
            <a:off x="7315200" y="3057525"/>
            <a:ext cx="11525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按档位比例赔付</a:t>
            </a:r>
            <a:endParaRPr lang="zh-CN" sz="97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4" name="圆角矩形 113"/>
          <p:cNvSpPr/>
          <p:nvPr/>
        </p:nvSpPr>
        <p:spPr>
          <a:xfrm>
            <a:off x="8658225" y="2752725"/>
            <a:ext cx="1381125" cy="590550"/>
          </a:xfrm>
          <a:prstGeom prst="roundRect">
            <a:avLst>
              <a:gd name="adj" fmla="val 645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5" name="文本框 114" descr="{&quot;isTemplate&quot;:true,&quot;type&quot;:&quot;text&quot;}"/>
          <p:cNvSpPr txBox="1"/>
          <p:nvPr/>
        </p:nvSpPr>
        <p:spPr>
          <a:xfrm>
            <a:off x="8772525" y="2886075"/>
            <a:ext cx="11525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A8</a:t>
            </a:r>
            <a:endParaRPr lang="en-US" sz="900" b="1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16" name="文本框 115" descr="{&quot;isTemplate&quot;:true,&quot;type&quot;:&quot;text&quot;}"/>
          <p:cNvSpPr txBox="1"/>
          <p:nvPr/>
        </p:nvSpPr>
        <p:spPr>
          <a:xfrm>
            <a:off x="8772525" y="3057525"/>
            <a:ext cx="11525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8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白名单</a:t>
            </a:r>
            <a:endParaRPr lang="zh-CN" sz="975">
              <a:solidFill>
                <a:srgbClr val="FFFFFF">
                  <a:alpha val="8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7" name="圆角矩形 116"/>
          <p:cNvSpPr/>
          <p:nvPr/>
        </p:nvSpPr>
        <p:spPr>
          <a:xfrm>
            <a:off x="10115550" y="2752725"/>
            <a:ext cx="1381125" cy="590550"/>
          </a:xfrm>
          <a:prstGeom prst="roundRect">
            <a:avLst>
              <a:gd name="adj" fmla="val 645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8" name="文本框 117" descr="{&quot;isTemplate&quot;:true,&quot;type&quot;:&quot;text&quot;}"/>
          <p:cNvSpPr txBox="1"/>
          <p:nvPr/>
        </p:nvSpPr>
        <p:spPr>
          <a:xfrm>
            <a:off x="10229850" y="2886075"/>
            <a:ext cx="1152525" cy="1428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A9</a:t>
            </a:r>
            <a:endParaRPr lang="en-US" sz="900" b="1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19" name="文本框 118" descr="{&quot;isTemplate&quot;:true,&quot;type&quot;:&quot;text&quot;}"/>
          <p:cNvSpPr txBox="1"/>
          <p:nvPr/>
        </p:nvSpPr>
        <p:spPr>
          <a:xfrm>
            <a:off x="10229850" y="3057525"/>
            <a:ext cx="11525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>
                    <a:alpha val="84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险种化</a:t>
            </a:r>
            <a:endParaRPr lang="zh-CN" sz="975">
              <a:solidFill>
                <a:srgbClr val="FFFFFF">
                  <a:alpha val="84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0" name="圆角矩形 119"/>
          <p:cNvSpPr/>
          <p:nvPr/>
        </p:nvSpPr>
        <p:spPr>
          <a:xfrm>
            <a:off x="7200900" y="3495675"/>
            <a:ext cx="4305300" cy="1514475"/>
          </a:xfrm>
          <a:prstGeom prst="roundRect">
            <a:avLst>
              <a:gd name="adj" fmla="val 3145"/>
            </a:avLst>
          </a:prstGeom>
          <a:solidFill>
            <a:srgbClr val="2D7FF9">
              <a:alpha val="10000"/>
            </a:srgbClr>
          </a:solidFill>
          <a:ln w="12700">
            <a:solidFill>
              <a:srgbClr val="2D7FF9">
                <a:alpha val="3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21" name="文本框 120" descr="{&quot;isTemplate&quot;:true,&quot;type&quot;:&quot;text&quot;}"/>
          <p:cNvSpPr txBox="1"/>
          <p:nvPr/>
        </p:nvSpPr>
        <p:spPr>
          <a:xfrm>
            <a:off x="7334250" y="3629025"/>
            <a:ext cx="403860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已部署</a:t>
            </a:r>
            <a:r>
              <a:rPr lang="en-US" sz="1125">
                <a:solidFill>
                  <a:srgbClr val="FFFFFF">
                    <a:alpha val="8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en-US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BOT Chain </a:t>
            </a:r>
            <a:r>
              <a:rPr lang="zh-CN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测试网</a:t>
            </a:r>
            <a:r>
              <a:rPr lang="en-US" sz="11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968</a:t>
            </a:r>
            <a:endParaRPr lang="en-US" sz="11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2" name="文本框 121" descr="{&quot;isTemplate&quot;:true,&quot;type&quot;:&quot;text&quot;}"/>
          <p:cNvSpPr txBox="1"/>
          <p:nvPr/>
        </p:nvSpPr>
        <p:spPr>
          <a:xfrm>
            <a:off x="7334250" y="3867150"/>
            <a:ext cx="40386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0x89e7C942535930B61cB61631051E8b0bD670596a</a:t>
            </a:r>
            <a:endParaRPr lang="en-US" sz="975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23" name="文本框 122" descr="{&quot;isTemplate&quot;:true,&quot;type&quot;:&quot;text&quot;}"/>
          <p:cNvSpPr txBox="1"/>
          <p:nvPr/>
        </p:nvSpPr>
        <p:spPr>
          <a:xfrm>
            <a:off x="7334250" y="4086225"/>
            <a:ext cx="4038600" cy="4000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v3（运行时 15,823 B）：国标两档阈值 · 判定快照 · 定价模块 · 可代付 · 可退保 · 无权限结算</a:t>
            </a:r>
            <a:endParaRPr lang="zh-CN" sz="1050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4" name="文本框 123" descr="{&quot;isTemplate&quot;:true,&quot;type&quot;:&quot;text&quot;}"/>
          <p:cNvSpPr txBox="1"/>
          <p:nvPr/>
        </p:nvSpPr>
        <p:spPr>
          <a:xfrm>
            <a:off x="7334250" y="4552950"/>
            <a:ext cx="4038600" cy="3238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050">
                <a:solidFill>
                  <a:srgbClr val="FFFFFF">
                    <a:alpha val="66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九道自动化门禁 426 项断言全绿（8/29/27/19/9/73/101/73/87）· 真链彩排 25 项全过（含完整的投保 → 喂价 → 判定 → 第三方触发赔付）</a:t>
            </a:r>
            <a:endParaRPr lang="zh-CN" sz="1050">
              <a:solidFill>
                <a:srgbClr val="FFFFFF">
                  <a:alpha val="66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5" name="圆角矩形 124"/>
          <p:cNvSpPr/>
          <p:nvPr/>
        </p:nvSpPr>
        <p:spPr>
          <a:xfrm>
            <a:off x="7229475" y="5505450"/>
            <a:ext cx="4305300" cy="781050"/>
          </a:xfrm>
          <a:prstGeom prst="roundRect">
            <a:avLst>
              <a:gd name="adj" fmla="val 4878"/>
            </a:avLst>
          </a:prstGeom>
          <a:solidFill>
            <a:srgbClr val="F5A524">
              <a:alpha val="10000"/>
            </a:srgbClr>
          </a:solidFill>
        </p:spPr>
        <p:txBody>
          <a:bodyPr/>
          <a:p/>
        </p:txBody>
      </p:sp>
      <p:sp>
        <p:nvSpPr>
          <p:cNvPr id="126" name="任意多边形 125"/>
          <p:cNvSpPr/>
          <p:nvPr/>
        </p:nvSpPr>
        <p:spPr>
          <a:xfrm>
            <a:off x="7229475" y="5505450"/>
            <a:ext cx="4305300" cy="781050"/>
          </a:xfrm>
          <a:custGeom>
            <a:avLst/>
            <a:gdLst/>
            <a:ahLst/>
            <a:cxnLst/>
            <a:pathLst>
              <a:path w="452" h="82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81"/>
                </a:lnTo>
                <a:cubicBezTo>
                  <a:pt x="3" y="81"/>
                  <a:pt x="3" y="82"/>
                  <a:pt x="4" y="82"/>
                </a:cubicBezTo>
                <a:cubicBezTo>
                  <a:pt x="2" y="82"/>
                  <a:pt x="0" y="80"/>
                  <a:pt x="0" y="78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F5A524"/>
          </a:solidFill>
        </p:spPr>
        <p:txBody>
          <a:bodyPr/>
          <a:p/>
        </p:txBody>
      </p:sp>
      <p:sp>
        <p:nvSpPr>
          <p:cNvPr id="127" name="文本框 126" descr="{&quot;isTemplate&quot;:true,&quot;type&quot;:&quot;text&quot;}"/>
          <p:cNvSpPr txBox="1"/>
          <p:nvPr/>
        </p:nvSpPr>
        <p:spPr>
          <a:xfrm>
            <a:off x="7362825" y="5638800"/>
            <a:ext cx="4010025" cy="514350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1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改的是阈值与数据结构，</a:t>
            </a:r>
            <a:r>
              <a:rPr lang="zh-CN" sz="1125" b="1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判定层不用重写</a:t>
            </a:r>
            <a:r>
              <a:rPr lang="en-US" sz="11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—— </a:t>
            </a:r>
            <a:r>
              <a:rPr lang="zh-CN" sz="1125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因为跨层的契约是哈希，不是模型。</a:t>
            </a:r>
            <a:endParaRPr lang="zh-CN" sz="1125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9" name="文本框 128" descr="{&quot;isTemplate&quot;:true,&quot;type&quot;:&quot;text&quot;}"/>
          <p:cNvSpPr txBox="1"/>
          <p:nvPr/>
        </p:nvSpPr>
        <p:spPr>
          <a:xfrm>
            <a:off x="9467850" y="6391275"/>
            <a:ext cx="20383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</a:p>
        </p:txBody>
      </p:sp>
      <p:sp>
        <p:nvSpPr>
          <p:cNvPr id="167" name="TextBox 166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/>
              <a:t>Appendix A1 - v3: nine underwriting-layer changes (full list)</a:t>
            </a:r>
            <a:endParaRPr sz="12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8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252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266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grpId="0" nodeType="withEffect">
                                  <p:stCondLst>
                                    <p:cond delay="294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308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322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grpId="0" nodeType="withEffect">
                                  <p:stCondLst>
                                    <p:cond delay="336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350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364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grpId="0" nodeType="withEffect">
                                  <p:stCondLst>
                                    <p:cond delay="378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392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406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1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grpId="0" nodeType="with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434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1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448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1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462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grpId="0" nodeType="withEffect">
                                  <p:stCondLst>
                                    <p:cond delay="476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2" dur="500" fill="hold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490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1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504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0" dur="500" fill="hold"/>
                                        <p:tgtEl>
                                          <p:spTgt spid="1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1" presetID="10" presetClass="entr" presetSubtype="0" fill="hold" grpId="0" nodeType="withEffect">
                                  <p:stCondLst>
                                    <p:cond delay="518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5" presetID="10" presetClass="entr" presetSubtype="0" fill="hold" grpId="0" nodeType="withEffect">
                                  <p:stCondLst>
                                    <p:cond delay="532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7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8" dur="5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grpId="0" nodeType="withEffect">
                                  <p:stCondLst>
                                    <p:cond delay="546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2" dur="500" fill="hold"/>
                                        <p:tgtEl>
                                          <p:spTgt spid="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grpId="0" nodeType="withEffect">
                                  <p:stCondLst>
                                    <p:cond delay="560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66" dur="500" fill="hold"/>
                                        <p:tgtEl>
                                          <p:spTgt spid="1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/>
      <p:bldP spid="88" grpId="0"/>
      <p:bldP spid="89" grpId="0"/>
      <p:bldP spid="90" grpId="0"/>
      <p:bldP spid="91" grpId="0"/>
      <p:bldP spid="92" grpId="0"/>
      <p:bldP spid="93" grpId="0"/>
      <p:bldP spid="94" grpId="0"/>
      <p:bldP spid="95" grpId="0"/>
      <p:bldP spid="96" grpId="0"/>
      <p:bldP spid="97" grpId="0"/>
      <p:bldP spid="98" grpId="0"/>
      <p:bldP spid="99" grpId="0"/>
      <p:bldP spid="100" grpId="0"/>
      <p:bldP spid="101" grpId="0"/>
      <p:bldP spid="102" grpId="0"/>
      <p:bldP spid="103" grpId="0"/>
      <p:bldP spid="104" grpId="0"/>
      <p:bldP spid="105" grpId="0"/>
      <p:bldP spid="106" grpId="0"/>
      <p:bldP spid="107" grpId="0"/>
      <p:bldP spid="108" grpId="0"/>
      <p:bldP spid="109" grpId="0"/>
      <p:bldP spid="110" grpId="0"/>
      <p:bldP spid="111" grpId="0"/>
      <p:bldP spid="112" grpId="0"/>
      <p:bldP spid="113" grpId="0"/>
      <p:bldP spid="114" grpId="0"/>
      <p:bldP spid="115" grpId="0"/>
      <p:bldP spid="116" grpId="0"/>
      <p:bldP spid="117" grpId="0"/>
      <p:bldP spid="118" grpId="0"/>
      <p:bldP spid="119" grpId="0"/>
      <p:bldP spid="120" grpId="0"/>
      <p:bldP spid="121" grpId="0"/>
      <p:bldP spid="122" grpId="0"/>
      <p:bldP spid="123" grpId="0"/>
      <p:bldP spid="124" grpId="0"/>
      <p:bldP spid="125" grpId="0"/>
      <p:bldP spid="127" grpId="0"/>
      <p:bldP spid="12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422"/>
        </a:solidFill>
        <a:effectLst/>
      </p:bgPr>
    </p:bg>
    <p:spTree>
      <p:nvGrpSpPr>
        <p:cNvPr id="130" name="" descr="&lt;Slide style={{ width: 1280, height: 720, background: '#0A1422', padding: '20px 72px' }}&gt;&#13;&#10;&#13;&#10;    &lt;Box style={{ height: 100, flexDirection: 'row', alignItems: 'center', gap: 20 }}&gt;&#13;&#10;        &lt;Box style={{ width: 4, height: 30, background: 'linear-gradient(135deg, #2D7FF9 0%, #22D3EE 100%)' }} /&gt;&#13;&#10;        &lt;Text style={{ fontFamily: 'Microsoft YaHei', fontSize: 36, fontWeight: 'bold', color: '#FFFFFF', lineHeight: 1.25 }}&gt;&#13;&#10;            附录 A3 · 五层架构与三条硬规则&#13;&#10;        &lt;/Text&gt;&#13;&#10;        &lt;Box style={{ flex: 1 }} /&gt;&#13;&#10;        &lt;Text style={{ fontFamily: 'Consolas', fontSize: 16, color: 'rgba(255,255,255,0.34)', letterSpacing: 2 }}&gt;&#13;&#10;            APPENDIX A3&#13;&#10;        &lt;/Text&gt;&#13;&#10;    &lt;/Box&gt;&#13;&#10;&#13;&#10;    &lt;Box style={{ height: 540, flexDirection: 'row', gap: 26 }}&gt;&#13;&#10;&#13;&#10;        &lt;Box style={{ width: 658, height: 540 }}&gt;&#13;&#10;            &lt;svg width={658} height={540} viewBox='0 0 658 540'&gt;&#13;&#10;                &lt;rect x='0' y='16' width='658' height='88' rx='6' fill='rgba(255,255,255,0.05)' stroke='rgba(255,255,255,0.16)' strokeWidth='1' /&gt;&#13;&#10;                &lt;rect x='0' y='16' width='4' height='88' fill='#22D3EE' /&gt;&#13;&#10;                &lt;text x='20' y='44' fontFamily='Microsoft YaHei' fontSize='17' fontWeight='bold' fill='#FFFFFF'&gt;① 外部数据层&lt;/text&gt;&#13;&#10;                &lt;text x='20' y='70' fontFamily='Microsoft YaHei' fontSize='13' fill='rgba(255,255,255,0.60)'&gt;Open-Meteo Archive（ERA5 逐小时，11 年回测）· Forecast（ECMWF / GFS / ICON 三模型）&lt;/text&gt;&#13;&#10;                &lt;text x='20' y='90' fontFamily='Microsoft YaHei' fontSize='13' fill='rgba(255,255,255,0.60)'&gt;气象灾害预警信号、GB/T 28592-2012 降水量等级 —— HTTP 直连，免费、无需密钥&lt;/text&gt;&#13;&#10;&#13;&#10;                &lt;rect x='0' y='117' width='658' height='88' rx='6' fill='rgba(34,211,238,0.10)' stroke='#22D3EE' strokeWidth='1' /&gt;&#13;&#10;                &lt;rect x='0' y='117' width='4' height='88' fill='#22D3EE' /&gt;&#13;&#10;                &lt;text x='20' y='145' fontFamily='Microsoft YaHei' fontSize='17' fontWeight='bold' fill='#FFFFFF'&gt;② AI 判定层&lt;/text&gt;&#13;&#10;                &lt;text x='20' y='171' fontFamily='Microsoft YaHei' fontSize='13' fill='rgba(255,255,255,0.62)'&gt;ai-collect 取数 → canonical 确定性哈希 → ai-judge（R1–R5）→ submit-judgement 上链&lt;/text&gt;&#13;&#10;                &lt;text x='20' y='191' fontFamily='Microsoft YaHei' fontSize='13' fill='rgba(255,255,255,0.62)'&gt;提交前重算哈希比对，提交后读回校验 6/6 字段一致&lt;/text&gt;&#13;&#10;&#13;&#10;                &lt;rect x='0' y='218' width='658' height='88' rx='6' fill='rgba(45,127,249,0.12)' stroke='#2D7FF9' strokeWidth='1' /&gt;&#13;&#10;                &lt;rect x='0' y='218' width='4' height='88' fill='#2D7FF9' /&gt;&#13;&#10;                &lt;text x='20' y='246' fontFamily='Microsoft YaHei' fontSize='17' fontWeight='bold' fill='#FFFFFF'&gt;③ 共识与结算层&lt;/text&gt;&#13;&#10;                &lt;text x='20' y='272' fontFamily='Microsoft YaHei' fontSize='13' fill='rgba(255,255,255,0.62)'&gt;updateRainfall · rejectFeed · setUnderwriting · submitJudgement · claim · fundPool&lt;/text&gt;&#13;&#10;                &lt;text x='20' y='292' fontFamily='Microsoft YaHei' fontSize='13' fill='rgba(255,255,255,0.62)'&gt;Solidity 合约 · v1 上 Sepolia 实链（10,758 字节）；v2 在 BOT Chain 968 彩排通过&lt;/text&gt;&#13;&#10;&#13;&#10;                &lt;rect x='0' y='319' width='658' height='88' rx='6' fill='rgba(255,255,255,0.05)' stroke='rgba(255,255,255,0.16)' strokeWidth='1' /&gt;&#13;&#10;                &lt;rect x='0' y='319' width='4' height='88' fill='#22D3EE' /&gt;&#13;&#10;                &lt;text x='20' y='347' fontFamily='Microsoft YaHei' fontSize='17' fontWeight='bold' fill='#FFFFFF'&gt;④ 自动化与证据层&lt;/text&gt;&#13;&#10;                &lt;text x='20' y='373' fontFamily='Microsoft YaHei' fontSize='13' fill='rgba(255,255,255,0.60)'&gt;keeper.js 轮询保单状态、发现可赔即触发；09-AI判定留痕/ 存档每张保单的输入与输出哈希&lt;/text&gt;&#13;&#10;                &lt;text x='20' y='393' fontFamily='Microsoft YaHei' fontSize='13' fill='rgba(255,255,255,0.60)'&gt;五套自动化门禁共 229 项断言，含「每条留痕的哈希都能当场重算」&lt;/text&gt;&#13;&#10;&#13;&#10;                &lt;rect x='0' y='420' width='658' height='88' rx='6' fill='rgba(255,255,255,0.05)' stroke='rgba(255,255,255,0.16)' strokeWidth='1' /&gt;&#13;&#10;                &lt;rect x='0' y='420' width='4' height='88' fill='#22D3EE' /&gt;&#13;&#10;                &lt;text x='20' y='448' fontFamily='Microsoft YaHei' fontSize='17' fontWeight='bold' fill='#FFFFFF'&gt;⑤ 产品前端层&lt;/text&gt;&#13;&#10;                &lt;text x='20' y='474' fontFamily='Microsoft YaHei' fontSize='13' fill='rgba(255,255,255,0.60)'&gt;index.html 投保 / 五城降雨看板 / 我的保单；verifier.html 粘交易哈希即解码事件&lt;/text&gt;&#13;&#10;                &lt;text x='20' y='494' fontFamily='Microsoft YaHei' fontSize='13' fill='rgba(255,255,255,0.60)'&gt;单文件核验台零依赖，双击即开 —— 前端只读链，不读自家后端&lt;/text&gt;&#13;&#10;            &lt;/svg&gt;&#13;&#10;        &lt;/Box&gt;&#13;&#10;&#13;&#10;        &lt;Box style={{ width: 452, height: 540, flexDirection: 'column', overflow: 'hidden' }}&gt;&#13;&#10;            &lt;Text style={{ fontFamily: 'Consolas', fontSize: 14, color: '#22D3EE', letterSpacing: 4, flexShrink: 0 }}&gt;&#13;&#10;                THREE HARD RULES&#13;&#10;            &lt;/Text&gt;&#13;&#10;&#13;&#10;            &lt;Box style={{ height: 1, background: 'rgba(255,255,255,0.14)', marginTop: 12, marginBottom: 14, flexShrink: 0 }} /&gt;&#13;&#10;&#13;&#10;            &lt;Box style={{ flexDirection: 'column', gap: 11 }}&gt;&#13;&#10;                &lt;Box style={{ flexDirection: 'row', gap: 12 }}&gt;&#13;&#10;                    &lt;Text style={{ fontFamily: 'Consolas', fontSize: 16, color: '#2D7FF9', fontWeight: 'bold' }}&gt;01&lt;/Text&gt;&#13;&#10;                    &lt;Box style={{ flexDirection: 'column' }}&gt;&#13;&#10;                        &lt;Text style={{ fontFamily: 'Microsoft YaHei', fontSize: 18, fontWeight: 'bold', color: '#FFFFFF' }}&gt;数据来源单一化&lt;/Text&gt;&#13;&#10;                        &lt;Text style={{ fontFamily: 'Microsoft YaHei', fontSize: 15, color: 'rgba(255,255,255,0.60)', lineHeight: 1.45, marginTop: 3 }}&gt;&#13;&#10;                            一个账号体系覆盖降水、气温、风速、空气质量 —— 换险种不必换数据方。&#13;&#10;                        &lt;/Text&gt;&#13;&#10;                    &lt;/Box&gt;&#13;&#10;                &lt;/Box&gt;&#13;&#10;&#13;&#10;                &lt;Box style={{ flexDirection: 'row', gap: 12 }}&gt;&#13;&#10;                    &lt;Text style={{ fontFamily: 'Consolas', fontSize: 16, color: '#2D7FF9', fontWeight: 'bold' }}&gt;02&lt;/Text&gt;&#13;&#10;                    &lt;Box style={{ flexDirection: 'column' }}&gt;&#13;&#10;                        &lt;Text style={{ fontFamily: 'Microsoft YaHei', fontSize: 18, fontWeight: 'bold', color: '#FFFFFF' }}&gt;哈希是唯一的跨层契约&lt;/Text&gt;&#13;&#10;                        &lt;Text style={{ fontFamily: 'Microsoft YaHei', fontSize: 15, color: 'rgba(255,255,255,0.60)', lineHeight: 1.45, marginTop: 3 }}&gt;&#13;&#10;                            inputHash 锁输入、outputHash 锁判定，两者都不含任何会变的字段。&#13;&#10;                        &lt;/Text&gt;&#13;&#10;                    &lt;/Box&gt;&#13;&#10;                &lt;/Box&gt;&#13;&#10;&#13;&#10;                &lt;Box style={{ flexDirection: 'row', gap: 12 }}&gt;&#13;&#10;                    &lt;Text style={{ fontFamily: 'Consolas', fontSize: 16, color: '#2D7FF9', fontWeight: 'bold' }}&gt;03&lt;/Text&gt;&#13;&#10;                    &lt;Box style={{ flexDirection: 'column' }}&gt;&#13;&#10;                        &lt;Text style={{ fontFamily: 'Microsoft YaHei', fontSize: 18, fontWeight: 'bold', color: '#FFFFFF' }}&gt;写链操作只有一个出口&lt;/Text&gt;&#13;&#10;                        &lt;Text style={{ fontFamily: 'Microsoft YaHei', fontSize: 15, color: 'rgba(255,255,255,0.60)', lineHeight: 1.45, marginTop: 3 }}&gt;&#13;&#10;                            一张保单的判定只允许写一次，重复提交会被合约直接拒绝。&#13;&#10;                        &lt;/Text&gt;&#13;&#10;                    &lt;/Box&gt;&#13;&#10;                &lt;/Box&gt;&#13;&#10;            &lt;/Box&gt;&#13;&#10;&#13;&#10;            &lt;Box style={{ marginTop: 'auto', background: 'rgba(245,165,36,0.10)', border: '1px solid rgba(245,165,36,0.34)', borderRadius: 5, padding: 13, flexShrink: 0 }}&gt;&#13;&#10;                &lt;Text style={{ fontFamily: 'Microsoft YaHei', fontSize: 16, color: '#FFFFFF', lineHeight: 1.48 }}&gt;&#13;&#10;                    这三层的接缝是&lt;span style={{ color: '#F5A524', fontWeight: 'bold' }}&gt;「哈希」&lt;/span&gt;，不是「模型」。精算与 AI 都可以被替换，只要它们的输入输出能落成同一个可复算的哈希。&#13;&#10;                &lt;/Text&gt;&#13;&#10;            &lt;/Box&gt;&#13;&#10;        &lt;/Box&gt;&#13;&#10;&#13;&#10;    &lt;/Box&gt;&#13;&#10;&#13;&#10;    &lt;Box style={{ height: 40, flexDirection: 'row', alignItems: 'center' }}&gt;&#13;&#10;        &lt;Text style={{ fontFamily: 'Microsoft YaHei', fontSize: 15, color: 'rgba(255,255,255,0.40)' }}&gt;雨证 · RainProof&lt;/Text&gt;&#13;&#10;        &lt;Box style={{ flex: 1 }} /&gt;&#13;&#10;        &lt;Text style={{ fontFamily: 'Consolas', fontSize: 15, color: 'rgba(255,255,255,0.40)' }}&gt;附录 · 不计入路演时间&lt;/Text&gt;&#13;&#10;    &lt;/Box&gt;&#13;&#10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矩形 13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422"/>
          </a:solidFill>
        </p:spPr>
        <p:txBody>
          <a:bodyPr/>
          <a:p/>
        </p:txBody>
      </p:sp>
      <p:sp>
        <p:nvSpPr>
          <p:cNvPr id="132" name="矩形 131"/>
          <p:cNvSpPr/>
          <p:nvPr/>
        </p:nvSpPr>
        <p:spPr>
          <a:xfrm>
            <a:off x="685800" y="523875"/>
            <a:ext cx="38100" cy="285750"/>
          </a:xfrm>
          <a:prstGeom prst="rect">
            <a:avLst/>
          </a:prstGeom>
          <a:gradFill>
            <a:gsLst>
              <a:gs pos="0">
                <a:srgbClr val="2D7FF9"/>
              </a:gs>
              <a:gs pos="100000">
                <a:srgbClr val="22D3EE"/>
              </a:gs>
            </a:gsLst>
            <a:lin ang="2700000" scaled="1"/>
          </a:gradFill>
        </p:spPr>
        <p:txBody>
          <a:bodyPr/>
          <a:p/>
        </p:txBody>
      </p:sp>
      <p:sp>
        <p:nvSpPr>
          <p:cNvPr id="133" name="文本框 132" descr="{&quot;isTemplate&quot;:true,&quot;type&quot;:&quot;text&quot;}"/>
          <p:cNvSpPr txBox="1"/>
          <p:nvPr/>
        </p:nvSpPr>
        <p:spPr>
          <a:xfrm>
            <a:off x="914400" y="409575"/>
            <a:ext cx="5048250" cy="5143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25000"/>
              </a:lnSpc>
            </a:pP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附录</a:t>
            </a:r>
            <a:r>
              <a:rPr lang="en-US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A2 · </a:t>
            </a:r>
            <a:r>
              <a:rPr lang="zh-CN" sz="27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五层架构与三条硬规则</a:t>
            </a:r>
            <a:endParaRPr lang="zh-CN" sz="27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4" name="文本框 133" descr="{&quot;isTemplate&quot;:true,&quot;type&quot;:&quot;text&quot;}"/>
          <p:cNvSpPr txBox="1"/>
          <p:nvPr/>
        </p:nvSpPr>
        <p:spPr>
          <a:xfrm>
            <a:off x="10372725" y="571500"/>
            <a:ext cx="11334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150">
                <a:solidFill>
                  <a:srgbClr val="FFFFFF">
                    <a:alpha val="34000"/>
                  </a:srgbClr>
                </a:solidFill>
                <a:latin typeface="Consolas" panose="020B0609020204030204"/>
                <a:ea typeface="Consolas" panose="020B0609020204030204"/>
              </a:rPr>
              <a:t>APPENDIX A2</a:t>
            </a:r>
            <a:endParaRPr lang="en-US" sz="1200" spc="150">
              <a:solidFill>
                <a:srgbClr val="FFFFFF">
                  <a:alpha val="34000"/>
                </a:srgbClr>
              </a:solidFill>
              <a:latin typeface="Consolas" panose="020B0609020204030204"/>
              <a:ea typeface="Consolas" panose="020B0609020204030204"/>
            </a:endParaRPr>
          </a:p>
        </p:txBody>
      </p:sp>
      <p:pic>
        <p:nvPicPr>
          <p:cNvPr id="135" name="图片 134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5800" y="1143000"/>
            <a:ext cx="6267450" cy="5143500"/>
          </a:xfrm>
          <a:prstGeom prst="rect">
            <a:avLst/>
          </a:prstGeom>
        </p:spPr>
      </p:pic>
      <p:sp>
        <p:nvSpPr>
          <p:cNvPr id="136" name="文本框 135" descr="{&quot;isTemplate&quot;:true,&quot;type&quot;:&quot;text&quot;}"/>
          <p:cNvSpPr txBox="1"/>
          <p:nvPr/>
        </p:nvSpPr>
        <p:spPr>
          <a:xfrm>
            <a:off x="7200900" y="1143000"/>
            <a:ext cx="43053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00">
                <a:solidFill>
                  <a:srgbClr val="22D3EE"/>
                </a:solidFill>
                <a:latin typeface="Consolas" panose="020B0609020204030204"/>
                <a:ea typeface="Consolas" panose="020B0609020204030204"/>
              </a:rPr>
              <a:t>THREE HARD RULES</a:t>
            </a:r>
            <a:endParaRPr lang="en-US" sz="1050" spc="300">
              <a:solidFill>
                <a:srgbClr val="22D3EE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37" name="矩形 136"/>
          <p:cNvSpPr/>
          <p:nvPr/>
        </p:nvSpPr>
        <p:spPr>
          <a:xfrm>
            <a:off x="7200900" y="1419225"/>
            <a:ext cx="4305300" cy="9525"/>
          </a:xfrm>
          <a:prstGeom prst="rect">
            <a:avLst/>
          </a:prstGeom>
          <a:solidFill>
            <a:srgbClr val="FFFFFF">
              <a:alpha val="14000"/>
            </a:srgbClr>
          </a:solidFill>
        </p:spPr>
        <p:txBody>
          <a:bodyPr/>
          <a:p/>
        </p:txBody>
      </p:sp>
      <p:sp>
        <p:nvSpPr>
          <p:cNvPr id="138" name="文本框 137" descr="{&quot;isTemplate&quot;:true,&quot;type&quot;:&quot;text&quot;}"/>
          <p:cNvSpPr txBox="1"/>
          <p:nvPr/>
        </p:nvSpPr>
        <p:spPr>
          <a:xfrm>
            <a:off x="7200900" y="1562100"/>
            <a:ext cx="161925" cy="7429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01</a:t>
            </a:r>
            <a:endParaRPr lang="en-US" sz="1200" b="1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39" name="文本框 138" descr="{&quot;isTemplate&quot;:true,&quot;type&quot;:&quot;text&quot;}"/>
          <p:cNvSpPr txBox="1"/>
          <p:nvPr/>
        </p:nvSpPr>
        <p:spPr>
          <a:xfrm>
            <a:off x="7477125" y="1562100"/>
            <a:ext cx="40290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数据来源单一化</a:t>
            </a:r>
            <a:endParaRPr lang="zh-CN"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0" name="文本框 139" descr="{&quot;isTemplate&quot;:true,&quot;type&quot;:&quot;text&quot;}"/>
          <p:cNvSpPr txBox="1"/>
          <p:nvPr/>
        </p:nvSpPr>
        <p:spPr>
          <a:xfrm>
            <a:off x="7477125" y="1800225"/>
            <a:ext cx="4029075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zh-CN" sz="1125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一个 Open-Meteo 账号体系覆盖降水、气温、风速、空气质量 —— 换险种不必换数据方（数据源同一家）。</a:t>
            </a:r>
            <a:endParaRPr lang="zh-CN" sz="1125">
              <a:solidFill>
                <a:srgbClr val="FFFFFF">
                  <a:alpha val="6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1" name="文本框 140" descr="{&quot;isTemplate&quot;:true,&quot;type&quot;:&quot;text&quot;}"/>
          <p:cNvSpPr txBox="1"/>
          <p:nvPr/>
        </p:nvSpPr>
        <p:spPr>
          <a:xfrm>
            <a:off x="7200900" y="2409825"/>
            <a:ext cx="161925" cy="7429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02</a:t>
            </a:r>
            <a:endParaRPr lang="en-US" sz="1200" b="1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42" name="文本框 141" descr="{&quot;isTemplate&quot;:true,&quot;type&quot;:&quot;text&quot;}"/>
          <p:cNvSpPr txBox="1"/>
          <p:nvPr/>
        </p:nvSpPr>
        <p:spPr>
          <a:xfrm>
            <a:off x="7477125" y="2409825"/>
            <a:ext cx="402907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哈希是唯一的跨层契约</a:t>
            </a:r>
            <a:endParaRPr lang="zh-CN"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3" name="文本框 142" descr="{&quot;isTemplate&quot;:true,&quot;type&quot;:&quot;text&quot;}"/>
          <p:cNvSpPr txBox="1"/>
          <p:nvPr/>
        </p:nvSpPr>
        <p:spPr>
          <a:xfrm>
            <a:off x="7477125" y="2647950"/>
            <a:ext cx="4029075" cy="5048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5000"/>
              </a:lnSpc>
            </a:pPr>
            <a:r>
              <a:rPr lang="en-US" sz="1125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inputHash </a:t>
            </a:r>
            <a:r>
              <a:rPr lang="zh-CN" sz="1125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锁输入、</a:t>
            </a:r>
            <a:r>
              <a:rPr lang="en-US" sz="1125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outputHash </a:t>
            </a:r>
            <a:r>
              <a:rPr lang="zh-CN" sz="1125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锁判定，两者都不含任何会变的字段。</a:t>
            </a:r>
            <a:endParaRPr lang="zh-CN" sz="1125">
              <a:solidFill>
                <a:srgbClr val="FFFFFF">
                  <a:alpha val="6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4" name="文本框 143" descr="{&quot;isTemplate&quot;:true,&quot;type&quot;:&quot;text&quot;}"/>
          <p:cNvSpPr txBox="1"/>
          <p:nvPr/>
        </p:nvSpPr>
        <p:spPr>
          <a:xfrm>
            <a:off x="7200900" y="3257550"/>
            <a:ext cx="171450" cy="4953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2D7FF9"/>
                </a:solidFill>
                <a:latin typeface="Consolas" panose="020B0609020204030204"/>
                <a:ea typeface="Consolas" panose="020B0609020204030204"/>
              </a:rPr>
              <a:t>03</a:t>
            </a:r>
            <a:endParaRPr lang="en-US" sz="1200" b="1">
              <a:solidFill>
                <a:srgbClr val="2D7FF9"/>
              </a:solidFill>
              <a:latin typeface="Consolas" panose="020B0609020204030204"/>
              <a:ea typeface="Consolas" panose="020B0609020204030204"/>
            </a:endParaRPr>
          </a:p>
        </p:txBody>
      </p:sp>
      <p:sp>
        <p:nvSpPr>
          <p:cNvPr id="145" name="文本框 144" descr="{&quot;isTemplate&quot;:true,&quot;type&quot;:&quot;text&quot;}"/>
          <p:cNvSpPr txBox="1"/>
          <p:nvPr/>
        </p:nvSpPr>
        <p:spPr>
          <a:xfrm>
            <a:off x="7486650" y="3257550"/>
            <a:ext cx="3857625" cy="2095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写链操作只有一个出口</a:t>
            </a:r>
            <a:endParaRPr lang="zh-CN"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6" name="文本框 145" descr="{&quot;isTemplate&quot;:true,&quot;type&quot;:&quot;text&quot;}"/>
          <p:cNvSpPr txBox="1"/>
          <p:nvPr/>
        </p:nvSpPr>
        <p:spPr>
          <a:xfrm>
            <a:off x="7486650" y="3495675"/>
            <a:ext cx="38576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125">
                <a:solidFill>
                  <a:srgbClr val="FFFFFF">
                    <a:alpha val="60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一张保单的判定只允许写一次，重复提交会被合约直接拒绝。</a:t>
            </a:r>
            <a:endParaRPr lang="zh-CN" sz="1125">
              <a:solidFill>
                <a:srgbClr val="FFFFFF">
                  <a:alpha val="60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7" name="圆角矩形 146"/>
          <p:cNvSpPr/>
          <p:nvPr/>
        </p:nvSpPr>
        <p:spPr>
          <a:xfrm>
            <a:off x="7200900" y="5495925"/>
            <a:ext cx="4305300" cy="790575"/>
          </a:xfrm>
          <a:prstGeom prst="roundRect">
            <a:avLst>
              <a:gd name="adj" fmla="val 6024"/>
            </a:avLst>
          </a:prstGeom>
          <a:solidFill>
            <a:srgbClr val="F5A524">
              <a:alpha val="10000"/>
            </a:srgbClr>
          </a:solidFill>
          <a:ln w="12700">
            <a:solidFill>
              <a:srgbClr val="F5A524">
                <a:alpha val="34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48" name="文本框 147" descr="{&quot;isTemplate&quot;:true,&quot;type&quot;:&quot;text&quot;}"/>
          <p:cNvSpPr txBox="1"/>
          <p:nvPr/>
        </p:nvSpPr>
        <p:spPr>
          <a:xfrm>
            <a:off x="7324725" y="5619750"/>
            <a:ext cx="4057650" cy="542925"/>
          </a:xfrm>
          <a:prstGeom prst="rect">
            <a:avLst/>
          </a:prstGeom>
        </p:spPr>
        <p:txBody>
          <a:bodyPr wrap="square" lIns="0" tIns="0" rIns="0" bIns="0">
            <a:normAutofit/>
          </a:bodyPr>
          <a:p>
            <a:pPr>
              <a:lnSpc>
                <a:spcPct val="148000"/>
              </a:lnSpc>
            </a:pPr>
            <a:r>
              <a:rPr 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这三层的接缝是</a:t>
            </a:r>
            <a:r>
              <a:rPr lang="zh-CN" sz="1200" b="1">
                <a:solidFill>
                  <a:srgbClr val="F5A524"/>
                </a:solidFill>
                <a:latin typeface="微软雅黑" panose="020B0503020204020204" charset="-122"/>
                <a:ea typeface="微软雅黑" panose="020B0503020204020204" charset="-122"/>
              </a:rPr>
              <a:t>「哈希」</a:t>
            </a:r>
            <a:r>
              <a:rPr 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，不是「模型」。精算与</a:t>
            </a:r>
            <a:r>
              <a:rPr lang="en-US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 AI </a:t>
            </a:r>
            <a:r>
              <a:rPr lang="zh-CN" sz="12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都可以被替换，只要它们的输入输出能落成同一个可复算的哈希。</a:t>
            </a:r>
            <a:endParaRPr lang="zh-CN" sz="12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0" name="文本框 149" descr="{&quot;isTemplate&quot;:true,&quot;type&quot;:&quot;text&quot;}"/>
          <p:cNvSpPr txBox="1"/>
          <p:nvPr/>
        </p:nvSpPr>
        <p:spPr>
          <a:xfrm>
            <a:off x="9467850" y="6391275"/>
            <a:ext cx="2038350" cy="171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</a:p>
        </p:txBody>
      </p:sp>
      <p:sp>
        <p:nvSpPr>
          <p:cNvPr id="151" name="TextBox 150"/>
          <p:cNvSpPr txBox="1"/>
          <p:nvPr/>
        </p:nvSpPr>
        <p:spPr>
          <a:xfrm>
            <a:off x="914400" y="914400"/>
            <a:ext cx="9144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200"/>
              <a:t>Appendix A2 - five-layer architecture and three hard rules</a:t>
            </a:r>
            <a:endParaRPr sz="120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8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82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224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238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02037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1" grpId="0"/>
      <p:bldP spid="132" grpId="0"/>
      <p:bldP spid="133" grpId="0"/>
      <p:bldP spid="134" grpId="0"/>
      <p:bldP spid="135" grpId="0"/>
      <p:bldP spid="136" grpId="0"/>
      <p:bldP spid="137" grpId="0"/>
      <p:bldP spid="138" grpId="0"/>
      <p:bldP spid="139" grpId="0"/>
      <p:bldP spid="140" grpId="0"/>
      <p:bldP spid="141" grpId="0"/>
      <p:bldP spid="142" grpId="0"/>
      <p:bldP spid="143" grpId="0"/>
      <p:bldP spid="144" grpId="0"/>
      <p:bldP spid="145" grpId="0"/>
      <p:bldP spid="146" grpId="0"/>
      <p:bldP spid="147" grpId="0"/>
      <p:bldP spid="148" grpId="0"/>
    </p:bldLst>
  </p:timing>
</p:sld>
</file>

<file path=ppt/tags/tag1.xml><?xml version="1.0" encoding="utf-8"?>
<p:tagLst xmlns:p="http://schemas.openxmlformats.org/presentationml/2006/main">
  <p:tag name="KSO_WM_DIAGRAM_VIRTUALLY_FRAME" val="{&quot;height&quot;:145.5,&quot;left&quot;:54,&quot;top&quot;:322.5,&quot;width&quot;:453.75}"/>
</p:tagLst>
</file>

<file path=ppt/tags/tag2.xml><?xml version="1.0" encoding="utf-8"?>
<p:tagLst xmlns:p="http://schemas.openxmlformats.org/presentationml/2006/main">
  <p:tag name="KSO_WM_DIAGRAM_VIRTUALLY_FRAME" val="{&quot;height&quot;:145.5,&quot;left&quot;:54,&quot;top&quot;:322.5,&quot;width&quot;:453.75}"/>
</p:tagLst>
</file>

<file path=ppt/tags/tag3.xml><?xml version="1.0" encoding="utf-8"?>
<p:tagLst xmlns:p="http://schemas.openxmlformats.org/presentationml/2006/main">
  <p:tag name="KSO_WM_DIAGRAM_VIRTUALLY_FRAME" val="{&quot;height&quot;:145.5,&quot;left&quot;:54,&quot;top&quot;:322.5,&quot;width&quot;:453.75}"/>
</p:tagLst>
</file>

<file path=ppt/tags/tag4.xml><?xml version="1.0" encoding="utf-8"?>
<p:tagLst xmlns:p="http://schemas.openxmlformats.org/presentationml/2006/main">
  <p:tag name="KSO_WM_DIAGRAM_VIRTUALLY_FRAME" val="{&quot;height&quot;:145.5,&quot;left&quot;:54,&quot;top&quot;:322.5,&quot;width&quot;:453.75}"/>
</p:tagLst>
</file>

<file path=ppt/tags/tag5.xml><?xml version="1.0" encoding="utf-8"?>
<p:tagLst xmlns:p="http://schemas.openxmlformats.org/presentationml/2006/main">
  <p:tag name="KSO_WM_DIAGRAM_VIRTUALLY_FRAME" val="{&quot;height&quot;:145.5,&quot;left&quot;:54,&quot;top&quot;:322.5,&quot;width&quot;:453.75}"/>
</p:tagLst>
</file>

<file path=ppt/tags/tag6.xml><?xml version="1.0" encoding="utf-8"?>
<p:tagLst xmlns:p="http://schemas.openxmlformats.org/presentationml/2006/main">
  <p:tag name="KSO_WM_DIAGRAM_VIRTUALLY_FRAME" val="{&quot;height&quot;:145.5,&quot;left&quot;:54,&quot;top&quot;:322.5,&quot;width&quot;:453.75}"/>
</p:tagLst>
</file>

<file path=ppt/tags/tag7.xml><?xml version="1.0" encoding="utf-8"?>
<p:tagLst xmlns:p="http://schemas.openxmlformats.org/presentationml/2006/main">
  <p:tag name="KSO_WM_DIAGRAM_VIRTUALLY_FRAME" val="{&quot;height&quot;:145.5,&quot;left&quot;:54,&quot;top&quot;:322.5,&quot;width&quot;:453.75}"/>
</p:tagLst>
</file>

<file path=ppt/tags/tag8.xml><?xml version="1.0" encoding="utf-8"?>
<p:tagLst xmlns:p="http://schemas.openxmlformats.org/presentationml/2006/main">
  <p:tag name="KSO_WM_DIAGRAM_VIRTUALLY_FRAME" val="{&quot;height&quot;:145.5,&quot;left&quot;:54,&quot;top&quot;:322.5,&quot;width&quot;:453.75}"/>
</p:tagLst>
</file>

<file path=ppt/tags/tag9.xml><?xml version="1.0" encoding="utf-8"?>
<p:tagLst xmlns:p="http://schemas.openxmlformats.org/presentationml/2006/main">
  <p:tag name="KSO_WM_DIAGRAM_VIRTUALLY_FRAME" val="{&quot;height&quot;:145.5,&quot;left&quot;:54,&quot;top&quot;:322.5,&quot;width&quot;:453.75}"/>
</p:tagLst>
</file>

<file path=ppt/tags/tag10.xml><?xml version="1.0" encoding="utf-8"?>
<p:tagLst xmlns:p="http://schemas.openxmlformats.org/presentationml/2006/main">
  <p:tag name="KSO_WM_DIAGRAM_VIRTUALLY_FRAME" val="{&quot;height&quot;:145.5,&quot;left&quot;:54,&quot;top&quot;:322.5,&quot;width&quot;:453.75}"/>
</p:tagLst>
</file>

<file path=ppt/tags/tag11.xml><?xml version="1.0" encoding="utf-8"?>
<p:tagLst xmlns:p="http://schemas.openxmlformats.org/presentationml/2006/main">
  <p:tag name="KSO_WM_DIAGRAM_VIRTUALLY_FRAME" val="{&quot;height&quot;:145.5,&quot;left&quot;:54,&quot;top&quot;:322.5,&quot;width&quot;:453.75}"/>
</p:tagLst>
</file>

<file path=ppt/tags/tag12.xml><?xml version="1.0" encoding="utf-8"?>
<p:tagLst xmlns:p="http://schemas.openxmlformats.org/presentationml/2006/main">
  <p:tag name="KSO_WM_DIAGRAM_VIRTUALLY_FRAME" val="{&quot;height&quot;:145.5,&quot;left&quot;:54,&quot;top&quot;:322.5,&quot;width&quot;:453.75}"/>
</p:tagLst>
</file>

<file path=ppt/tags/tag13.xml><?xml version="1.0" encoding="utf-8"?>
<p:tagLst xmlns:p="http://schemas.openxmlformats.org/presentationml/2006/main">
  <p:tag name="KSO_WM_DIAGRAM_VIRTUALLY_FRAME" val="{&quot;height&quot;:145.5,&quot;left&quot;:54,&quot;top&quot;:322.5,&quot;width&quot;:453.75}"/>
</p:tagLst>
</file>

<file path=ppt/tags/tag14.xml><?xml version="1.0" encoding="utf-8"?>
<p:tagLst xmlns:p="http://schemas.openxmlformats.org/presentationml/2006/main">
  <p:tag name="KSO_WM_DIAGRAM_VIRTUALLY_FRAME" val="{&quot;height&quot;:145.5,&quot;left&quot;:54,&quot;top&quot;:322.5,&quot;width&quot;:453.75}"/>
</p:tagLst>
</file>

<file path=ppt/tags/tag15.xml><?xml version="1.0" encoding="utf-8"?>
<p:tagLst xmlns:p="http://schemas.openxmlformats.org/presentationml/2006/main">
  <p:tag name="KSO_WM_DIAGRAM_VIRTUALLY_FRAME" val="{&quot;height&quot;:145.5,&quot;left&quot;:54,&quot;top&quot;:322.5,&quot;width&quot;:453.75}"/>
</p:tagLst>
</file>

<file path=ppt/tags/tag16.xml><?xml version="1.0" encoding="utf-8"?>
<p:tagLst xmlns:p="http://schemas.openxmlformats.org/presentationml/2006/main">
  <p:tag name="KSO_WM_DIAGRAM_VIRTUALLY_FRAME" val="{&quot;height&quot;:145.5,&quot;left&quot;:54,&quot;top&quot;:322.5,&quot;width&quot;:453.75}"/>
</p:tagLst>
</file>

<file path=ppt/tags/tag17.xml><?xml version="1.0" encoding="utf-8"?>
<p:tagLst xmlns:p="http://schemas.openxmlformats.org/presentationml/2006/main">
  <p:tag name="KSO_WM_DIAGRAM_VIRTUALLY_FRAME" val="{&quot;height&quot;:145.5,&quot;left&quot;:54,&quot;top&quot;:322.5,&quot;width&quot;:453.75}"/>
</p:tagLst>
</file>

<file path=ppt/tags/tag18.xml><?xml version="1.0" encoding="utf-8"?>
<p:tagLst xmlns:p="http://schemas.openxmlformats.org/presentationml/2006/main">
  <p:tag name="KSO_WM_DIAGRAM_VIRTUALLY_FRAME" val="{&quot;height&quot;:145.5,&quot;left&quot;:54,&quot;top&quot;:322.5,&quot;width&quot;:453.7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4135</Words>
  <Application>WPS 演示</Application>
  <PresentationFormat/>
  <Paragraphs>417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Arial</vt:lpstr>
      <vt:lpstr>宋体</vt:lpstr>
      <vt:lpstr>Wingdings</vt:lpstr>
      <vt:lpstr>Consolas</vt:lpstr>
      <vt:lpstr>微软雅黑</vt:lpstr>
      <vt:lpstr>Calibri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Juice</cp:lastModifiedBy>
  <cp:revision>3</cp:revision>
  <dcterms:created xsi:type="dcterms:W3CDTF">2026-10-07T10:26:00Z</dcterms:created>
  <dcterms:modified xsi:type="dcterms:W3CDTF">2026-10-08T03:07:43Z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{"AIGC":{"Label":"1","ContentProducer":"00119111010856365494821B355","ProduceID":"01a1152f4a507fc48604b92d4294d604","ReservedCode1":"","ContentPropagator":"00119111010856365494821B355","PropagateID":"01a1152f4a507fc48604b92d4294d604","ReservedCode2":""}}</vt:lpwstr>
  </property>
  <property fmtid="{D5CDD505-2E9C-101B-9397-08002B2CF9AE}" pid="3" name="KSOProductBuildVer">
    <vt:lpwstr>2052-12.1.0.28505</vt:lpwstr>
  </property>
  <property fmtid="{D5CDD505-2E9C-101B-9397-08002B2CF9AE}" pid="4" name="ICV">
    <vt:lpwstr>55D065AEE67241BE9B8C10C6B4723582_12</vt:lpwstr>
  </property>
</Properties>
</file>